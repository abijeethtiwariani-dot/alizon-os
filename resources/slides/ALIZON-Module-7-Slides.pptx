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7</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800"/>
              </a:lnSpc>
              <a:buNone/>
            </a:pPr>
            <a:r>
              <a:rPr lang="en-US" sz="4100" b="1" dirty="0">
                <a:solidFill>
                  <a:srgbClr val="FFFFFF"/>
                </a:solidFill>
                <a:latin typeface="Cambria" pitchFamily="34" charset="0"/>
                <a:ea typeface="Cambria" pitchFamily="34" charset="-122"/>
                <a:cs typeface="Cambria" pitchFamily="34" charset="-120"/>
              </a:rPr>
              <a:t>Robotics &amp; Automation in Pharmacy Practice</a:t>
            </a:r>
            <a:endParaRPr lang="en-US" sz="41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Machines, Workflow and Quality</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4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Introduction to Pharmacy Robotics</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Introduction to Pharmacy Robotics</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Automated Dispensing &amp; Storage Systems</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Automated Dispensing &amp; Storage Systems</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Smart Packaging &amp; Medication Tracking</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Smart Packaging &amp; Medication Tracking</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Workflow Optimisation &amp; Quality Assurance</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Workflow Optimisation &amp; Quality Assurance</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4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Automation Business Case · Automated Dispensing Cabinet Investigation · Serialisation &amp; Falsified Medicine Trace · Workflow Optimisation &amp; Root Cause</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Introduction to Pharmacy Robotics</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Automated Dispensing &amp; Storage Systems</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Smart Packaging &amp; Medication Tracking</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Workflow Optimisation &amp; Quality Assurance</a:t>
            </a:r>
            <a:endParaRPr lang="en-US" sz="1250" dirty="0"/>
          </a:p>
        </p:txBody>
      </p:sp>
      <p:sp>
        <p:nvSpPr>
          <p:cNvPr id="22" name="Shape 20"/>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23" name="Text 21"/>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4 faculty-evaluated practicals  +  100-question internal examination (4 units × 25)</a:t>
            </a:r>
            <a:endParaRPr lang="en-US" sz="1200" dirty="0"/>
          </a:p>
        </p:txBody>
      </p:sp>
      <p:sp>
        <p:nvSpPr>
          <p:cNvPr id="24" name="Text 2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25" name="Text 2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ROBOTICS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Integration of robotics and automation</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The integration of robotics and automation is transforming modern pharmacy practice by enhancing accuracy, efficiency, and patient safety. As healthcare systems increasingly adopt digital technologies, pharmacies are evolving from traditional dispensing centers into highly automated, data-driven environments.</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ROBOTICS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Introduction to Pharmacy Robotics</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The module also highlights emerging trends such as AI-powered robotic systems, telepharmacy, and integration with electronic health records (EHRs). Ethical considerations, cost implications, and the future scope of automation in pharmacy practice are also discussed to provide a balanced understanding.</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ROBOTICS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Artificial intelligence plays a pivotal role in enhancing the capabilities of pharmacy robotics. AI-driven systems can analyze large volumes of data to identify patterns, predict medication demand, detect potential errors, and support clinical decision-making. For instance, AI algorithms can flag high-risk prescriptions, identify drug interactions, and provide real-time alerts to pharmacists. Machine learning enables these systems to continuously improve their performance by learning from past data, thereby increasing accuracy and efficiency over time.</a:t>
            </a:r>
            <a:endParaRPr lang="en-US" sz="140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 integration of AI with robotics creates intelligent systems that not only perform tasks but also make informed decisions, significantly improving the quality of pharmacy services.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ROBOTICS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Introduction to Pharmacy Robotics (2)</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One of the most significant advantages of robotics and automation in pharmacy practice is the reduction of medication errors. Errors in dispensing and administration can have serious consequences for patient safety. Automated systems incorporate multiple safety features, including barcode verification, real-time monitoring, and automated alerts, to minimize the risk of errors.</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By standardizing processes and reducing manual handling, these systems ensure consistent and accurate medication delivery.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INTRODUCTION TO PHARMACY ROBOTICS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Robotics and automation</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In conclusion, robotics and automation are revolutionizing pharmacy practice by enhancing efficiency, accuracy, and patient safety. These technologies enable pharmacies to manage increasing workloads while maintaining high standards of care. By integrating robotics with artificial intelligence and digital health systems, modern pharmacy practice is evolving into a highly sophisticated, patient-centered discipline.</a:t>
            </a:r>
            <a:endParaRPr lang="en-US" sz="1550" dirty="0"/>
          </a:p>
        </p:txBody>
      </p:sp>
      <p:sp>
        <p:nvSpPr>
          <p:cNvPr id="7" name="Shape 5"/>
          <p:cNvSpPr/>
          <p:nvPr/>
        </p:nvSpPr>
        <p:spPr>
          <a:xfrm>
            <a:off x="7680960" y="1536192"/>
            <a:ext cx="4005072" cy="2505456"/>
          </a:xfrm>
          <a:prstGeom prst="roundRect">
            <a:avLst>
              <a:gd name="adj" fmla="val 219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645920"/>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This module provides a comprehensive understanding of the principles, technologies, applications, and future directions of robotics and automation in pharmacy practice, preparing learners to adapt to and lead in this rapidly advancing field.</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AUTOMATED DISPENSING &amp; STORAGE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Automated dispensing and storage systems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Automated dispensing and storage systems form the backbone of modern pharmacy robotics, enabling safe, efficient, and intelligent medication management across healthcare settings. With the increasing demand for accuracy, speed, and patient safety, traditional manual pharmacy processes are being replaced by advanced automated systems that integrate robotics, artificial intelligence (AI), and real-time data analytics. These systems are designed to minimize human intervention in repetitive and error-prone tasks, ensuring consistent and reliable medication handling while allowing pharmacists to focus on clinical and patient-centered responsibilities.</a:t>
            </a:r>
            <a:endParaRPr lang="en-US" sz="1400" dirty="0"/>
          </a:p>
        </p:txBody>
      </p:sp>
      <p:sp>
        <p:nvSpPr>
          <p:cNvPr id="7" name="Shape 5"/>
          <p:cNvSpPr/>
          <p:nvPr/>
        </p:nvSpPr>
        <p:spPr>
          <a:xfrm>
            <a:off x="7680960" y="1536192"/>
            <a:ext cx="4005072" cy="2990088"/>
          </a:xfrm>
          <a:prstGeom prst="roundRect">
            <a:avLst>
              <a:gd name="adj" fmla="val 183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2130552"/>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Automated dispensing and storage technologies encompass a wide range of solutions, including automated dispensing cabinets, robotic picking and packaging systems, and smart inventory management platforms, all of which contribute to improved operational efficiency and enhanced healthcare outcomes.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AUTOMATED DISPENSING &amp; STORAGE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Error reduction</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Error reduction is one of the most critical advantages of automated dispensing and storage systems. Medication errors can occur at various stages, including prescribing, dispensing, and administration, and can have serious consequences for patient safety. Automated systems incorporate multiple safety features to minimize these risks. Barcode verification ensures that the correct medication is selected and dispensed, while automated alerts notify users of potential errors such as incorrect dosages or drug interactions. Standardized processes reduce variability in medication handling, and reduced manual intervention minimizes the likelihood of human error.</a:t>
            </a:r>
            <a:endParaRPr lang="en-US" sz="140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systems also support double-check mechanisms, where critical steps are verified electronically before completion.</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AUTOMATED DISPENSING &amp; STORAGE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Benefits and Limitations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Benefits</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Limitations</a:t>
            </a:r>
            <a:endParaRPr lang="en-US" sz="1150" dirty="0"/>
          </a:p>
        </p:txBody>
      </p:sp>
      <p:sp>
        <p:nvSpPr>
          <p:cNvPr id="10" name="Shape 8"/>
          <p:cNvSpPr/>
          <p:nvPr/>
        </p:nvSpPr>
        <p:spPr>
          <a:xfrm>
            <a:off x="502920" y="2066544"/>
            <a:ext cx="11183112" cy="566928"/>
          </a:xfrm>
          <a:prstGeom prst="rect">
            <a:avLst/>
          </a:prstGeom>
          <a:solidFill>
            <a:srgbClr val="FFFFFF"/>
          </a:solidFill>
          <a:ln w="9525">
            <a:solidFill>
              <a:srgbClr val="DDD5CE"/>
            </a:solidFill>
            <a:prstDash val="solid"/>
          </a:ln>
        </p:spPr>
      </p:sp>
      <p:sp>
        <p:nvSpPr>
          <p:cNvPr id="11" name="Text 9"/>
          <p:cNvSpPr/>
          <p:nvPr/>
        </p:nvSpPr>
        <p:spPr>
          <a:xfrm>
            <a:off x="685800" y="206654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Accuracy</a:t>
            </a:r>
            <a:endParaRPr lang="en-US" sz="1150" dirty="0"/>
          </a:p>
        </p:txBody>
      </p:sp>
      <p:sp>
        <p:nvSpPr>
          <p:cNvPr id="12" name="Text 10"/>
          <p:cNvSpPr/>
          <p:nvPr/>
        </p:nvSpPr>
        <p:spPr>
          <a:xfrm>
            <a:off x="3886200" y="206654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Minimizes dispensing errors</a:t>
            </a:r>
            <a:endParaRPr lang="en-US" sz="1150" dirty="0"/>
          </a:p>
        </p:txBody>
      </p:sp>
      <p:sp>
        <p:nvSpPr>
          <p:cNvPr id="13" name="Text 11"/>
          <p:cNvSpPr/>
          <p:nvPr/>
        </p:nvSpPr>
        <p:spPr>
          <a:xfrm>
            <a:off x="7872984" y="206654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System dependency</a:t>
            </a:r>
            <a:endParaRPr lang="en-US" sz="1150" dirty="0"/>
          </a:p>
        </p:txBody>
      </p:sp>
      <p:sp>
        <p:nvSpPr>
          <p:cNvPr id="14" name="Shape 12"/>
          <p:cNvSpPr/>
          <p:nvPr/>
        </p:nvSpPr>
        <p:spPr>
          <a:xfrm>
            <a:off x="502920" y="2633472"/>
            <a:ext cx="11183112" cy="566928"/>
          </a:xfrm>
          <a:prstGeom prst="rect">
            <a:avLst/>
          </a:prstGeom>
          <a:solidFill>
            <a:srgbClr val="FAF8F6"/>
          </a:solidFill>
          <a:ln w="9525">
            <a:solidFill>
              <a:srgbClr val="DDD5CE"/>
            </a:solidFill>
            <a:prstDash val="solid"/>
          </a:ln>
        </p:spPr>
      </p:sp>
      <p:sp>
        <p:nvSpPr>
          <p:cNvPr id="15" name="Text 13"/>
          <p:cNvSpPr/>
          <p:nvPr/>
        </p:nvSpPr>
        <p:spPr>
          <a:xfrm>
            <a:off x="685800" y="2633472"/>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Efficiency</a:t>
            </a:r>
            <a:endParaRPr lang="en-US" sz="1150" dirty="0"/>
          </a:p>
        </p:txBody>
      </p:sp>
      <p:sp>
        <p:nvSpPr>
          <p:cNvPr id="16" name="Text 14"/>
          <p:cNvSpPr/>
          <p:nvPr/>
        </p:nvSpPr>
        <p:spPr>
          <a:xfrm>
            <a:off x="3886200" y="2633472"/>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High-speed operations</a:t>
            </a:r>
            <a:endParaRPr lang="en-US" sz="1150" dirty="0"/>
          </a:p>
        </p:txBody>
      </p:sp>
      <p:sp>
        <p:nvSpPr>
          <p:cNvPr id="17" name="Text 15"/>
          <p:cNvSpPr/>
          <p:nvPr/>
        </p:nvSpPr>
        <p:spPr>
          <a:xfrm>
            <a:off x="7872984" y="2633472"/>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High installation cost</a:t>
            </a:r>
            <a:endParaRPr lang="en-US" sz="1150" dirty="0"/>
          </a:p>
        </p:txBody>
      </p:sp>
      <p:sp>
        <p:nvSpPr>
          <p:cNvPr id="18" name="Shape 16"/>
          <p:cNvSpPr/>
          <p:nvPr/>
        </p:nvSpPr>
        <p:spPr>
          <a:xfrm>
            <a:off x="502920" y="3200400"/>
            <a:ext cx="11183112" cy="566928"/>
          </a:xfrm>
          <a:prstGeom prst="rect">
            <a:avLst/>
          </a:prstGeom>
          <a:solidFill>
            <a:srgbClr val="FFFFFF"/>
          </a:solidFill>
          <a:ln w="9525">
            <a:solidFill>
              <a:srgbClr val="DDD5CE"/>
            </a:solidFill>
            <a:prstDash val="solid"/>
          </a:ln>
        </p:spPr>
      </p:sp>
      <p:sp>
        <p:nvSpPr>
          <p:cNvPr id="19" name="Text 17"/>
          <p:cNvSpPr/>
          <p:nvPr/>
        </p:nvSpPr>
        <p:spPr>
          <a:xfrm>
            <a:off x="685800" y="3200400"/>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Safety</a:t>
            </a:r>
            <a:endParaRPr lang="en-US" sz="1150" dirty="0"/>
          </a:p>
        </p:txBody>
      </p:sp>
      <p:sp>
        <p:nvSpPr>
          <p:cNvPr id="20" name="Text 18"/>
          <p:cNvSpPr/>
          <p:nvPr/>
        </p:nvSpPr>
        <p:spPr>
          <a:xfrm>
            <a:off x="3886200" y="3200400"/>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Enhanced patient safety</a:t>
            </a:r>
            <a:endParaRPr lang="en-US" sz="1150" dirty="0"/>
          </a:p>
        </p:txBody>
      </p:sp>
      <p:sp>
        <p:nvSpPr>
          <p:cNvPr id="21" name="Text 19"/>
          <p:cNvSpPr/>
          <p:nvPr/>
        </p:nvSpPr>
        <p:spPr>
          <a:xfrm>
            <a:off x="7872984" y="3200400"/>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Technical failures</a:t>
            </a:r>
            <a:endParaRPr lang="en-US" sz="1150" dirty="0"/>
          </a:p>
        </p:txBody>
      </p:sp>
      <p:sp>
        <p:nvSpPr>
          <p:cNvPr id="22" name="Shape 20"/>
          <p:cNvSpPr/>
          <p:nvPr/>
        </p:nvSpPr>
        <p:spPr>
          <a:xfrm>
            <a:off x="502920" y="3767328"/>
            <a:ext cx="11183112" cy="566928"/>
          </a:xfrm>
          <a:prstGeom prst="rect">
            <a:avLst/>
          </a:prstGeom>
          <a:solidFill>
            <a:srgbClr val="FAF8F6"/>
          </a:solidFill>
          <a:ln w="9525">
            <a:solidFill>
              <a:srgbClr val="DDD5CE"/>
            </a:solidFill>
            <a:prstDash val="solid"/>
          </a:ln>
        </p:spPr>
      </p:sp>
      <p:sp>
        <p:nvSpPr>
          <p:cNvPr id="23" name="Text 21"/>
          <p:cNvSpPr/>
          <p:nvPr/>
        </p:nvSpPr>
        <p:spPr>
          <a:xfrm>
            <a:off x="685800" y="3767328"/>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Inventory</a:t>
            </a:r>
            <a:endParaRPr lang="en-US" sz="1150" dirty="0"/>
          </a:p>
        </p:txBody>
      </p:sp>
      <p:sp>
        <p:nvSpPr>
          <p:cNvPr id="24" name="Text 22"/>
          <p:cNvSpPr/>
          <p:nvPr/>
        </p:nvSpPr>
        <p:spPr>
          <a:xfrm>
            <a:off x="3886200" y="3767328"/>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Real-time optimization</a:t>
            </a:r>
            <a:endParaRPr lang="en-US" sz="1150" dirty="0"/>
          </a:p>
        </p:txBody>
      </p:sp>
      <p:sp>
        <p:nvSpPr>
          <p:cNvPr id="25" name="Text 23"/>
          <p:cNvSpPr/>
          <p:nvPr/>
        </p:nvSpPr>
        <p:spPr>
          <a:xfrm>
            <a:off x="7872984" y="3767328"/>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Integration challenges</a:t>
            </a:r>
            <a:endParaRPr lang="en-US" sz="1150" dirty="0"/>
          </a:p>
        </p:txBody>
      </p:sp>
      <p:sp>
        <p:nvSpPr>
          <p:cNvPr id="26" name="Shape 24"/>
          <p:cNvSpPr/>
          <p:nvPr/>
        </p:nvSpPr>
        <p:spPr>
          <a:xfrm>
            <a:off x="502920" y="4334256"/>
            <a:ext cx="11183112" cy="566928"/>
          </a:xfrm>
          <a:prstGeom prst="rect">
            <a:avLst/>
          </a:prstGeom>
          <a:solidFill>
            <a:srgbClr val="FFFFFF"/>
          </a:solidFill>
          <a:ln w="9525">
            <a:solidFill>
              <a:srgbClr val="DDD5CE"/>
            </a:solidFill>
            <a:prstDash val="solid"/>
          </a:ln>
        </p:spPr>
      </p:sp>
      <p:sp>
        <p:nvSpPr>
          <p:cNvPr id="27" name="Text 25"/>
          <p:cNvSpPr/>
          <p:nvPr/>
        </p:nvSpPr>
        <p:spPr>
          <a:xfrm>
            <a:off x="685800" y="4334256"/>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Workforce</a:t>
            </a:r>
            <a:endParaRPr lang="en-US" sz="1150" dirty="0"/>
          </a:p>
        </p:txBody>
      </p:sp>
      <p:sp>
        <p:nvSpPr>
          <p:cNvPr id="28" name="Text 26"/>
          <p:cNvSpPr/>
          <p:nvPr/>
        </p:nvSpPr>
        <p:spPr>
          <a:xfrm>
            <a:off x="3886200" y="4334256"/>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Reduced manual workload</a:t>
            </a:r>
            <a:endParaRPr lang="en-US" sz="1150" dirty="0"/>
          </a:p>
        </p:txBody>
      </p:sp>
      <p:sp>
        <p:nvSpPr>
          <p:cNvPr id="29" name="Text 27"/>
          <p:cNvSpPr/>
          <p:nvPr/>
        </p:nvSpPr>
        <p:spPr>
          <a:xfrm>
            <a:off x="7872984" y="4334256"/>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Training needs</a:t>
            </a:r>
            <a:endParaRPr lang="en-US" sz="1150" dirty="0"/>
          </a:p>
        </p:txBody>
      </p:sp>
      <p:sp>
        <p:nvSpPr>
          <p:cNvPr id="30" name="Shape 28"/>
          <p:cNvSpPr/>
          <p:nvPr/>
        </p:nvSpPr>
        <p:spPr>
          <a:xfrm>
            <a:off x="502920" y="4901184"/>
            <a:ext cx="11183112" cy="566928"/>
          </a:xfrm>
          <a:prstGeom prst="rect">
            <a:avLst/>
          </a:prstGeom>
          <a:solidFill>
            <a:srgbClr val="FAF8F6"/>
          </a:solidFill>
          <a:ln w="9525">
            <a:solidFill>
              <a:srgbClr val="DDD5CE"/>
            </a:solidFill>
            <a:prstDash val="solid"/>
          </a:ln>
        </p:spPr>
      </p:sp>
      <p:sp>
        <p:nvSpPr>
          <p:cNvPr id="31" name="Text 29"/>
          <p:cNvSpPr/>
          <p:nvPr/>
        </p:nvSpPr>
        <p:spPr>
          <a:xfrm>
            <a:off x="685800" y="490118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AI Integration</a:t>
            </a:r>
            <a:endParaRPr lang="en-US" sz="1150" dirty="0"/>
          </a:p>
        </p:txBody>
      </p:sp>
      <p:sp>
        <p:nvSpPr>
          <p:cNvPr id="32" name="Text 30"/>
          <p:cNvSpPr/>
          <p:nvPr/>
        </p:nvSpPr>
        <p:spPr>
          <a:xfrm>
            <a:off x="3886200" y="490118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Predictive insights</a:t>
            </a:r>
            <a:endParaRPr lang="en-US" sz="1150" dirty="0"/>
          </a:p>
        </p:txBody>
      </p:sp>
      <p:sp>
        <p:nvSpPr>
          <p:cNvPr id="33" name="Text 31"/>
          <p:cNvSpPr/>
          <p:nvPr/>
        </p:nvSpPr>
        <p:spPr>
          <a:xfrm>
            <a:off x="7872984" y="490118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Data privacy concerns</a:t>
            </a:r>
            <a:endParaRPr lang="en-US" sz="1150" dirty="0"/>
          </a:p>
        </p:txBody>
      </p:sp>
      <p:sp>
        <p:nvSpPr>
          <p:cNvPr id="34" name="Text 3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5" name="Text 3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SMART PACKAGING &amp; MEDICATION TRACKING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Smart packaging and medication tracking technologies</a:t>
            </a:r>
            <a:endParaRPr lang="en-US" sz="24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Smart packaging and medication tracking technologies represent a critical advancement in modern pharmacy practice, enabling enhanced safety, traceability, and patient adherence. With the increasing complexity of global pharmaceutical supply chains and the growing risk of counterfeit medications, there is a strong need for robust systems that ensure the authenticity, integrity, and proper use of medications. Smart packaging integrates digital technologies such as barcoding, radio-frequency identification (RFID), sensors, and artificial intelligence (AI) to create intelligent systems capable of monitoring medications throughout their lifecycle—from manufacturing and distribution to dispensing and patient use.</a:t>
            </a:r>
            <a:endParaRPr lang="en-US" sz="140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These technologies not only improve operational efficiency but also play a vital role in safeguarding public health.</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SMART PACKAGING &amp; MEDICATION TRACKING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Anti-counterfeiting measures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Anti-counterfeiting measures are a critical component of smart packaging and medication tracking. Counterfeit medications pose a significant threat to public health, as they may contain incorrect or harmful ingredients. Smart packaging technologies incorporate various security features to prevent counterfeiting and ensure product authenticity. These include holograms, tamper-evident seals, QR codes, and digital watermarks. Advanced systems use cryptographic techniques and blockchain technology to verify the authenticity of medications. Patients and healthcare providers can scan QR codes or use mobile applications to verify product details and confirm authenticity.</a:t>
            </a:r>
            <a:endParaRPr lang="en-US" sz="140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AI-based image recognition systems can also detect counterfeit packaging by analyzing visual features and identifying inconsistencies.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SMART PACKAGING &amp; MEDICATION TRACKING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Benefits and Limitations · Unit 3</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Benefits</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Limitations</a:t>
            </a:r>
            <a:endParaRPr lang="en-US" sz="1150" dirty="0"/>
          </a:p>
        </p:txBody>
      </p:sp>
      <p:sp>
        <p:nvSpPr>
          <p:cNvPr id="10" name="Shape 8"/>
          <p:cNvSpPr/>
          <p:nvPr/>
        </p:nvSpPr>
        <p:spPr>
          <a:xfrm>
            <a:off x="502920" y="2066544"/>
            <a:ext cx="11183112" cy="658368"/>
          </a:xfrm>
          <a:prstGeom prst="rect">
            <a:avLst/>
          </a:prstGeom>
          <a:solidFill>
            <a:srgbClr val="FFFFFF"/>
          </a:solidFill>
          <a:ln w="9525">
            <a:solidFill>
              <a:srgbClr val="DDD5CE"/>
            </a:solidFill>
            <a:prstDash val="solid"/>
          </a:ln>
        </p:spPr>
      </p:sp>
      <p:sp>
        <p:nvSpPr>
          <p:cNvPr id="11" name="Text 9"/>
          <p:cNvSpPr/>
          <p:nvPr/>
        </p:nvSpPr>
        <p:spPr>
          <a:xfrm>
            <a:off x="685800" y="2066544"/>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Safety</a:t>
            </a:r>
            <a:endParaRPr lang="en-US" sz="1150" dirty="0"/>
          </a:p>
        </p:txBody>
      </p:sp>
      <p:sp>
        <p:nvSpPr>
          <p:cNvPr id="12" name="Text 10"/>
          <p:cNvSpPr/>
          <p:nvPr/>
        </p:nvSpPr>
        <p:spPr>
          <a:xfrm>
            <a:off x="3886200" y="2066544"/>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Reduced medication errors</a:t>
            </a:r>
            <a:endParaRPr lang="en-US" sz="1150" dirty="0"/>
          </a:p>
        </p:txBody>
      </p:sp>
      <p:sp>
        <p:nvSpPr>
          <p:cNvPr id="13" name="Text 11"/>
          <p:cNvSpPr/>
          <p:nvPr/>
        </p:nvSpPr>
        <p:spPr>
          <a:xfrm>
            <a:off x="7872984" y="2066544"/>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Technology dependence</a:t>
            </a:r>
            <a:endParaRPr lang="en-US" sz="1150" dirty="0"/>
          </a:p>
        </p:txBody>
      </p:sp>
      <p:sp>
        <p:nvSpPr>
          <p:cNvPr id="14" name="Shape 12"/>
          <p:cNvSpPr/>
          <p:nvPr/>
        </p:nvSpPr>
        <p:spPr>
          <a:xfrm>
            <a:off x="502920" y="2724912"/>
            <a:ext cx="11183112" cy="658368"/>
          </a:xfrm>
          <a:prstGeom prst="rect">
            <a:avLst/>
          </a:prstGeom>
          <a:solidFill>
            <a:srgbClr val="FAF8F6"/>
          </a:solidFill>
          <a:ln w="9525">
            <a:solidFill>
              <a:srgbClr val="DDD5CE"/>
            </a:solidFill>
            <a:prstDash val="solid"/>
          </a:ln>
        </p:spPr>
      </p:sp>
      <p:sp>
        <p:nvSpPr>
          <p:cNvPr id="15" name="Text 13"/>
          <p:cNvSpPr/>
          <p:nvPr/>
        </p:nvSpPr>
        <p:spPr>
          <a:xfrm>
            <a:off x="685800" y="2724912"/>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Tracking</a:t>
            </a:r>
            <a:endParaRPr lang="en-US" sz="1150" dirty="0"/>
          </a:p>
        </p:txBody>
      </p:sp>
      <p:sp>
        <p:nvSpPr>
          <p:cNvPr id="16" name="Text 14"/>
          <p:cNvSpPr/>
          <p:nvPr/>
        </p:nvSpPr>
        <p:spPr>
          <a:xfrm>
            <a:off x="3886200" y="2724912"/>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Full supply chain visibility</a:t>
            </a:r>
            <a:endParaRPr lang="en-US" sz="1150" dirty="0"/>
          </a:p>
        </p:txBody>
      </p:sp>
      <p:sp>
        <p:nvSpPr>
          <p:cNvPr id="17" name="Text 15"/>
          <p:cNvSpPr/>
          <p:nvPr/>
        </p:nvSpPr>
        <p:spPr>
          <a:xfrm>
            <a:off x="7872984" y="2724912"/>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High implementation cost</a:t>
            </a:r>
            <a:endParaRPr lang="en-US" sz="1150" dirty="0"/>
          </a:p>
        </p:txBody>
      </p:sp>
      <p:sp>
        <p:nvSpPr>
          <p:cNvPr id="18" name="Shape 16"/>
          <p:cNvSpPr/>
          <p:nvPr/>
        </p:nvSpPr>
        <p:spPr>
          <a:xfrm>
            <a:off x="502920" y="3383280"/>
            <a:ext cx="11183112" cy="658368"/>
          </a:xfrm>
          <a:prstGeom prst="rect">
            <a:avLst/>
          </a:prstGeom>
          <a:solidFill>
            <a:srgbClr val="FFFFFF"/>
          </a:solidFill>
          <a:ln w="9525">
            <a:solidFill>
              <a:srgbClr val="DDD5CE"/>
            </a:solidFill>
            <a:prstDash val="solid"/>
          </a:ln>
        </p:spPr>
      </p:sp>
      <p:sp>
        <p:nvSpPr>
          <p:cNvPr id="19" name="Text 17"/>
          <p:cNvSpPr/>
          <p:nvPr/>
        </p:nvSpPr>
        <p:spPr>
          <a:xfrm>
            <a:off x="685800" y="3383280"/>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Authentication</a:t>
            </a:r>
            <a:endParaRPr lang="en-US" sz="1150" dirty="0"/>
          </a:p>
        </p:txBody>
      </p:sp>
      <p:sp>
        <p:nvSpPr>
          <p:cNvPr id="20" name="Text 18"/>
          <p:cNvSpPr/>
          <p:nvPr/>
        </p:nvSpPr>
        <p:spPr>
          <a:xfrm>
            <a:off x="3886200" y="3383280"/>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Prevention of counterfeit drugs</a:t>
            </a:r>
            <a:endParaRPr lang="en-US" sz="1150" dirty="0"/>
          </a:p>
        </p:txBody>
      </p:sp>
      <p:sp>
        <p:nvSpPr>
          <p:cNvPr id="21" name="Text 19"/>
          <p:cNvSpPr/>
          <p:nvPr/>
        </p:nvSpPr>
        <p:spPr>
          <a:xfrm>
            <a:off x="7872984" y="3383280"/>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Data privacy concerns</a:t>
            </a:r>
            <a:endParaRPr lang="en-US" sz="1150" dirty="0"/>
          </a:p>
        </p:txBody>
      </p:sp>
      <p:sp>
        <p:nvSpPr>
          <p:cNvPr id="22" name="Shape 20"/>
          <p:cNvSpPr/>
          <p:nvPr/>
        </p:nvSpPr>
        <p:spPr>
          <a:xfrm>
            <a:off x="502920" y="4041648"/>
            <a:ext cx="11183112" cy="658368"/>
          </a:xfrm>
          <a:prstGeom prst="rect">
            <a:avLst/>
          </a:prstGeom>
          <a:solidFill>
            <a:srgbClr val="FAF8F6"/>
          </a:solidFill>
          <a:ln w="9525">
            <a:solidFill>
              <a:srgbClr val="DDD5CE"/>
            </a:solidFill>
            <a:prstDash val="solid"/>
          </a:ln>
        </p:spPr>
      </p:sp>
      <p:sp>
        <p:nvSpPr>
          <p:cNvPr id="23" name="Text 21"/>
          <p:cNvSpPr/>
          <p:nvPr/>
        </p:nvSpPr>
        <p:spPr>
          <a:xfrm>
            <a:off x="685800" y="4041648"/>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Adherence</a:t>
            </a:r>
            <a:endParaRPr lang="en-US" sz="1150" dirty="0"/>
          </a:p>
        </p:txBody>
      </p:sp>
      <p:sp>
        <p:nvSpPr>
          <p:cNvPr id="24" name="Text 22"/>
          <p:cNvSpPr/>
          <p:nvPr/>
        </p:nvSpPr>
        <p:spPr>
          <a:xfrm>
            <a:off x="3886200" y="4041648"/>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Improved patient compliance</a:t>
            </a:r>
            <a:endParaRPr lang="en-US" sz="1150" dirty="0"/>
          </a:p>
        </p:txBody>
      </p:sp>
      <p:sp>
        <p:nvSpPr>
          <p:cNvPr id="25" name="Text 23"/>
          <p:cNvSpPr/>
          <p:nvPr/>
        </p:nvSpPr>
        <p:spPr>
          <a:xfrm>
            <a:off x="7872984" y="4041648"/>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Requires patient engagement</a:t>
            </a:r>
            <a:endParaRPr lang="en-US" sz="1150" dirty="0"/>
          </a:p>
        </p:txBody>
      </p:sp>
      <p:sp>
        <p:nvSpPr>
          <p:cNvPr id="26" name="Shape 24"/>
          <p:cNvSpPr/>
          <p:nvPr/>
        </p:nvSpPr>
        <p:spPr>
          <a:xfrm>
            <a:off x="502920" y="4700016"/>
            <a:ext cx="11183112" cy="658368"/>
          </a:xfrm>
          <a:prstGeom prst="rect">
            <a:avLst/>
          </a:prstGeom>
          <a:solidFill>
            <a:srgbClr val="FFFFFF"/>
          </a:solidFill>
          <a:ln w="9525">
            <a:solidFill>
              <a:srgbClr val="DDD5CE"/>
            </a:solidFill>
            <a:prstDash val="solid"/>
          </a:ln>
        </p:spPr>
      </p:sp>
      <p:sp>
        <p:nvSpPr>
          <p:cNvPr id="27" name="Text 25"/>
          <p:cNvSpPr/>
          <p:nvPr/>
        </p:nvSpPr>
        <p:spPr>
          <a:xfrm>
            <a:off x="685800" y="4700016"/>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AI Integration</a:t>
            </a:r>
            <a:endParaRPr lang="en-US" sz="1150" dirty="0"/>
          </a:p>
        </p:txBody>
      </p:sp>
      <p:sp>
        <p:nvSpPr>
          <p:cNvPr id="28" name="Text 26"/>
          <p:cNvSpPr/>
          <p:nvPr/>
        </p:nvSpPr>
        <p:spPr>
          <a:xfrm>
            <a:off x="3886200" y="4700016"/>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Predictive insights</a:t>
            </a:r>
            <a:endParaRPr lang="en-US" sz="1150" dirty="0"/>
          </a:p>
        </p:txBody>
      </p:sp>
      <p:sp>
        <p:nvSpPr>
          <p:cNvPr id="29" name="Text 27"/>
          <p:cNvSpPr/>
          <p:nvPr/>
        </p:nvSpPr>
        <p:spPr>
          <a:xfrm>
            <a:off x="7872984" y="4700016"/>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Complex system integration</a:t>
            </a:r>
            <a:endParaRPr lang="en-US" sz="1150" dirty="0"/>
          </a:p>
        </p:txBody>
      </p:sp>
      <p:sp>
        <p:nvSpPr>
          <p:cNvPr id="30" name="Text 28"/>
          <p:cNvSpPr/>
          <p:nvPr/>
        </p:nvSpPr>
        <p:spPr>
          <a:xfrm>
            <a:off x="502920" y="5559552"/>
            <a:ext cx="11183112" cy="704088"/>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In conclusion, smart packaging and medication tracking technologies are transforming pharmacy practice by enhancing safety, transparency, and patient engagement. The integration of barcoding, RFID, track-and-trace…</a:t>
            </a:r>
            <a:endParaRPr lang="en-US" sz="120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WORKFLOW OPTIMISATION &amp; QUALITY ASSURANCE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Workflow optimisation and quality assurance</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Workflow optimisation and quality assurance are fundamental components of modern pharmacy practice, particularly in an era increasingly driven by automation, robotics, and artificial intelligence (AI). As healthcare systems become more complex and patient demands continue to rise, pharmacies must adopt efficient, standardized, and technology-enabled workflows to ensure safe, timely, and accurate medication delivery. Workflow optimisation focuses on improving the efficiency and coordination of pharmacy processes, while quality assurance ensures that these processes meet established standards of safety, accuracy, and regulatory compliance.</a:t>
            </a:r>
            <a:endParaRPr lang="en-US" sz="140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Together, they form a critical framework for enhancing patient outcomes and operational excellence.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WORKFLOW OPTIMISATION &amp; QUALITY ASSURANCE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Workflow Optimisation &amp; Quality Assurance (2)</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Integration with Electronic Health Records (EHR) and pharmacy management software is a key aspect of workflow optimisation. EHR systems provide comprehensive patient information, including medical history, current medications, allergies, and laboratory results. By integrating pharmacy systems with EHRs, pharmacists can access real-time patient data, enabling more informed decision-making and reducing the risk of medication errors.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Pharmacy management software further enhances workflow efficiency by automating administrative tasks such as billing, documentation, and reporting.</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WORKFLOW OPTIMISATION &amp; QUALITY ASSURANCE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Validation of automated systems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Validation of automated systems is particularly important, as it ensures that the technology functions correctly and reliably. This involves testing the system under various conditions to verify its performance and accuracy. Validation processes may include installation qualification (IQ), operational qualification (OQ), and performance qualification (PQ), each of which assesses different aspects of system functionality.</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Regular calibration and maintenance are also necessary to ensure consistent performance.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WORKFLOW OPTIMISATION &amp; QUALITY ASSURANCE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Automated systems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Automated systems support regulatory compliance by maintaining detailed audit trails of all activities. These records provide a comprehensive history of medication handling, including dispensing, inventory updates, and user access. Audit trails enhance transparency and accountability, enabling healthcare organizations to demonstrate compliance during inspections and audits.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In addition, automated systems incorporate safety features such as access controls, alerts, and verification mechanisms to ensure adherence to safety standards.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WORKFLOW OPTIMISATION &amp; QUALITY ASSURANCE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Benefits and Limitations · Unit 4</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Benefits</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Limitations</a:t>
            </a:r>
            <a:endParaRPr lang="en-US" sz="1150" dirty="0"/>
          </a:p>
        </p:txBody>
      </p:sp>
      <p:sp>
        <p:nvSpPr>
          <p:cNvPr id="10" name="Shape 8"/>
          <p:cNvSpPr/>
          <p:nvPr/>
        </p:nvSpPr>
        <p:spPr>
          <a:xfrm>
            <a:off x="502920" y="2066544"/>
            <a:ext cx="11183112" cy="566928"/>
          </a:xfrm>
          <a:prstGeom prst="rect">
            <a:avLst/>
          </a:prstGeom>
          <a:solidFill>
            <a:srgbClr val="FFFFFF"/>
          </a:solidFill>
          <a:ln w="9525">
            <a:solidFill>
              <a:srgbClr val="DDD5CE"/>
            </a:solidFill>
            <a:prstDash val="solid"/>
          </a:ln>
        </p:spPr>
      </p:sp>
      <p:sp>
        <p:nvSpPr>
          <p:cNvPr id="11" name="Text 9"/>
          <p:cNvSpPr/>
          <p:nvPr/>
        </p:nvSpPr>
        <p:spPr>
          <a:xfrm>
            <a:off x="685800" y="206654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Efficiency</a:t>
            </a:r>
            <a:endParaRPr lang="en-US" sz="1150" dirty="0"/>
          </a:p>
        </p:txBody>
      </p:sp>
      <p:sp>
        <p:nvSpPr>
          <p:cNvPr id="12" name="Text 10"/>
          <p:cNvSpPr/>
          <p:nvPr/>
        </p:nvSpPr>
        <p:spPr>
          <a:xfrm>
            <a:off x="3886200" y="206654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Streamlined workflows</a:t>
            </a:r>
            <a:endParaRPr lang="en-US" sz="1150" dirty="0"/>
          </a:p>
        </p:txBody>
      </p:sp>
      <p:sp>
        <p:nvSpPr>
          <p:cNvPr id="13" name="Text 11"/>
          <p:cNvSpPr/>
          <p:nvPr/>
        </p:nvSpPr>
        <p:spPr>
          <a:xfrm>
            <a:off x="7872984" y="206654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Initial setup complexity</a:t>
            </a:r>
            <a:endParaRPr lang="en-US" sz="1150" dirty="0"/>
          </a:p>
        </p:txBody>
      </p:sp>
      <p:sp>
        <p:nvSpPr>
          <p:cNvPr id="14" name="Shape 12"/>
          <p:cNvSpPr/>
          <p:nvPr/>
        </p:nvSpPr>
        <p:spPr>
          <a:xfrm>
            <a:off x="502920" y="2633472"/>
            <a:ext cx="11183112" cy="566928"/>
          </a:xfrm>
          <a:prstGeom prst="rect">
            <a:avLst/>
          </a:prstGeom>
          <a:solidFill>
            <a:srgbClr val="FAF8F6"/>
          </a:solidFill>
          <a:ln w="9525">
            <a:solidFill>
              <a:srgbClr val="DDD5CE"/>
            </a:solidFill>
            <a:prstDash val="solid"/>
          </a:ln>
        </p:spPr>
      </p:sp>
      <p:sp>
        <p:nvSpPr>
          <p:cNvPr id="15" name="Text 13"/>
          <p:cNvSpPr/>
          <p:nvPr/>
        </p:nvSpPr>
        <p:spPr>
          <a:xfrm>
            <a:off x="685800" y="2633472"/>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Accuracy</a:t>
            </a:r>
            <a:endParaRPr lang="en-US" sz="1150" dirty="0"/>
          </a:p>
        </p:txBody>
      </p:sp>
      <p:sp>
        <p:nvSpPr>
          <p:cNvPr id="16" name="Text 14"/>
          <p:cNvSpPr/>
          <p:nvPr/>
        </p:nvSpPr>
        <p:spPr>
          <a:xfrm>
            <a:off x="3886200" y="2633472"/>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Reduced errors</a:t>
            </a:r>
            <a:endParaRPr lang="en-US" sz="1150" dirty="0"/>
          </a:p>
        </p:txBody>
      </p:sp>
      <p:sp>
        <p:nvSpPr>
          <p:cNvPr id="17" name="Text 15"/>
          <p:cNvSpPr/>
          <p:nvPr/>
        </p:nvSpPr>
        <p:spPr>
          <a:xfrm>
            <a:off x="7872984" y="2633472"/>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Dependence on technology</a:t>
            </a:r>
            <a:endParaRPr lang="en-US" sz="1150" dirty="0"/>
          </a:p>
        </p:txBody>
      </p:sp>
      <p:sp>
        <p:nvSpPr>
          <p:cNvPr id="18" name="Shape 16"/>
          <p:cNvSpPr/>
          <p:nvPr/>
        </p:nvSpPr>
        <p:spPr>
          <a:xfrm>
            <a:off x="502920" y="3200400"/>
            <a:ext cx="11183112" cy="566928"/>
          </a:xfrm>
          <a:prstGeom prst="rect">
            <a:avLst/>
          </a:prstGeom>
          <a:solidFill>
            <a:srgbClr val="FFFFFF"/>
          </a:solidFill>
          <a:ln w="9525">
            <a:solidFill>
              <a:srgbClr val="DDD5CE"/>
            </a:solidFill>
            <a:prstDash val="solid"/>
          </a:ln>
        </p:spPr>
      </p:sp>
      <p:sp>
        <p:nvSpPr>
          <p:cNvPr id="19" name="Text 17"/>
          <p:cNvSpPr/>
          <p:nvPr/>
        </p:nvSpPr>
        <p:spPr>
          <a:xfrm>
            <a:off x="685800" y="3200400"/>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Integration</a:t>
            </a:r>
            <a:endParaRPr lang="en-US" sz="1150" dirty="0"/>
          </a:p>
        </p:txBody>
      </p:sp>
      <p:sp>
        <p:nvSpPr>
          <p:cNvPr id="20" name="Text 18"/>
          <p:cNvSpPr/>
          <p:nvPr/>
        </p:nvSpPr>
        <p:spPr>
          <a:xfrm>
            <a:off x="3886200" y="3200400"/>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Seamless data flow</a:t>
            </a:r>
            <a:endParaRPr lang="en-US" sz="1150" dirty="0"/>
          </a:p>
        </p:txBody>
      </p:sp>
      <p:sp>
        <p:nvSpPr>
          <p:cNvPr id="21" name="Text 19"/>
          <p:cNvSpPr/>
          <p:nvPr/>
        </p:nvSpPr>
        <p:spPr>
          <a:xfrm>
            <a:off x="7872984" y="3200400"/>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Compatibility issues</a:t>
            </a:r>
            <a:endParaRPr lang="en-US" sz="1150" dirty="0"/>
          </a:p>
        </p:txBody>
      </p:sp>
      <p:sp>
        <p:nvSpPr>
          <p:cNvPr id="22" name="Shape 20"/>
          <p:cNvSpPr/>
          <p:nvPr/>
        </p:nvSpPr>
        <p:spPr>
          <a:xfrm>
            <a:off x="502920" y="3767328"/>
            <a:ext cx="11183112" cy="566928"/>
          </a:xfrm>
          <a:prstGeom prst="rect">
            <a:avLst/>
          </a:prstGeom>
          <a:solidFill>
            <a:srgbClr val="FAF8F6"/>
          </a:solidFill>
          <a:ln w="9525">
            <a:solidFill>
              <a:srgbClr val="DDD5CE"/>
            </a:solidFill>
            <a:prstDash val="solid"/>
          </a:ln>
        </p:spPr>
      </p:sp>
      <p:sp>
        <p:nvSpPr>
          <p:cNvPr id="23" name="Text 21"/>
          <p:cNvSpPr/>
          <p:nvPr/>
        </p:nvSpPr>
        <p:spPr>
          <a:xfrm>
            <a:off x="685800" y="3767328"/>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Quality</a:t>
            </a:r>
            <a:endParaRPr lang="en-US" sz="1150" dirty="0"/>
          </a:p>
        </p:txBody>
      </p:sp>
      <p:sp>
        <p:nvSpPr>
          <p:cNvPr id="24" name="Text 22"/>
          <p:cNvSpPr/>
          <p:nvPr/>
        </p:nvSpPr>
        <p:spPr>
          <a:xfrm>
            <a:off x="3886200" y="3767328"/>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Continuous monitoring</a:t>
            </a:r>
            <a:endParaRPr lang="en-US" sz="1150" dirty="0"/>
          </a:p>
        </p:txBody>
      </p:sp>
      <p:sp>
        <p:nvSpPr>
          <p:cNvPr id="25" name="Text 23"/>
          <p:cNvSpPr/>
          <p:nvPr/>
        </p:nvSpPr>
        <p:spPr>
          <a:xfrm>
            <a:off x="7872984" y="3767328"/>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Maintenance requirements</a:t>
            </a:r>
            <a:endParaRPr lang="en-US" sz="1150" dirty="0"/>
          </a:p>
        </p:txBody>
      </p:sp>
      <p:sp>
        <p:nvSpPr>
          <p:cNvPr id="26" name="Shape 24"/>
          <p:cNvSpPr/>
          <p:nvPr/>
        </p:nvSpPr>
        <p:spPr>
          <a:xfrm>
            <a:off x="502920" y="4334256"/>
            <a:ext cx="11183112" cy="566928"/>
          </a:xfrm>
          <a:prstGeom prst="rect">
            <a:avLst/>
          </a:prstGeom>
          <a:solidFill>
            <a:srgbClr val="FFFFFF"/>
          </a:solidFill>
          <a:ln w="9525">
            <a:solidFill>
              <a:srgbClr val="DDD5CE"/>
            </a:solidFill>
            <a:prstDash val="solid"/>
          </a:ln>
        </p:spPr>
      </p:sp>
      <p:sp>
        <p:nvSpPr>
          <p:cNvPr id="27" name="Text 25"/>
          <p:cNvSpPr/>
          <p:nvPr/>
        </p:nvSpPr>
        <p:spPr>
          <a:xfrm>
            <a:off x="685800" y="4334256"/>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Compliance</a:t>
            </a:r>
            <a:endParaRPr lang="en-US" sz="1150" dirty="0"/>
          </a:p>
        </p:txBody>
      </p:sp>
      <p:sp>
        <p:nvSpPr>
          <p:cNvPr id="28" name="Text 26"/>
          <p:cNvSpPr/>
          <p:nvPr/>
        </p:nvSpPr>
        <p:spPr>
          <a:xfrm>
            <a:off x="3886200" y="4334256"/>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Improved regulatory adherence</a:t>
            </a:r>
            <a:endParaRPr lang="en-US" sz="1150" dirty="0"/>
          </a:p>
        </p:txBody>
      </p:sp>
      <p:sp>
        <p:nvSpPr>
          <p:cNvPr id="29" name="Text 27"/>
          <p:cNvSpPr/>
          <p:nvPr/>
        </p:nvSpPr>
        <p:spPr>
          <a:xfrm>
            <a:off x="7872984" y="4334256"/>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Training needs</a:t>
            </a:r>
            <a:endParaRPr lang="en-US" sz="1150" dirty="0"/>
          </a:p>
        </p:txBody>
      </p:sp>
      <p:sp>
        <p:nvSpPr>
          <p:cNvPr id="30" name="Shape 28"/>
          <p:cNvSpPr/>
          <p:nvPr/>
        </p:nvSpPr>
        <p:spPr>
          <a:xfrm>
            <a:off x="502920" y="4901184"/>
            <a:ext cx="11183112" cy="566928"/>
          </a:xfrm>
          <a:prstGeom prst="rect">
            <a:avLst/>
          </a:prstGeom>
          <a:solidFill>
            <a:srgbClr val="FAF8F6"/>
          </a:solidFill>
          <a:ln w="9525">
            <a:solidFill>
              <a:srgbClr val="DDD5CE"/>
            </a:solidFill>
            <a:prstDash val="solid"/>
          </a:ln>
        </p:spPr>
      </p:sp>
      <p:sp>
        <p:nvSpPr>
          <p:cNvPr id="31" name="Text 29"/>
          <p:cNvSpPr/>
          <p:nvPr/>
        </p:nvSpPr>
        <p:spPr>
          <a:xfrm>
            <a:off x="685800" y="490118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AI Integration</a:t>
            </a:r>
            <a:endParaRPr lang="en-US" sz="1150" dirty="0"/>
          </a:p>
        </p:txBody>
      </p:sp>
      <p:sp>
        <p:nvSpPr>
          <p:cNvPr id="32" name="Text 30"/>
          <p:cNvSpPr/>
          <p:nvPr/>
        </p:nvSpPr>
        <p:spPr>
          <a:xfrm>
            <a:off x="3886200" y="490118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Predictive optimization</a:t>
            </a:r>
            <a:endParaRPr lang="en-US" sz="1150" dirty="0"/>
          </a:p>
        </p:txBody>
      </p:sp>
      <p:sp>
        <p:nvSpPr>
          <p:cNvPr id="33" name="Text 31"/>
          <p:cNvSpPr/>
          <p:nvPr/>
        </p:nvSpPr>
        <p:spPr>
          <a:xfrm>
            <a:off x="7872984" y="490118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Data privacy concerns</a:t>
            </a:r>
            <a:endParaRPr lang="en-US" sz="1150" dirty="0"/>
          </a:p>
        </p:txBody>
      </p:sp>
      <p:sp>
        <p:nvSpPr>
          <p:cNvPr id="34" name="Text 3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5" name="Text 3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868680"/>
          </a:xfrm>
          <a:prstGeom prst="roundRect">
            <a:avLst>
              <a:gd name="adj" fmla="val 6316"/>
            </a:avLst>
          </a:prstGeom>
          <a:solidFill>
            <a:srgbClr val="241A19"/>
          </a:solidFill>
          <a:ln w="9525">
            <a:solidFill>
              <a:srgbClr val="3E2A28"/>
            </a:solidFill>
            <a:prstDash val="solid"/>
          </a:ln>
        </p:spPr>
      </p:sp>
      <p:sp>
        <p:nvSpPr>
          <p:cNvPr id="7" name="Shape 5"/>
          <p:cNvSpPr/>
          <p:nvPr/>
        </p:nvSpPr>
        <p:spPr>
          <a:xfrm>
            <a:off x="1097280" y="3003804"/>
            <a:ext cx="384048" cy="384048"/>
          </a:xfrm>
          <a:prstGeom prst="ellipse">
            <a:avLst/>
          </a:prstGeom>
          <a:solidFill>
            <a:srgbClr val="8C1515"/>
          </a:solidFill>
          <a:ln/>
        </p:spPr>
      </p:sp>
      <p:sp>
        <p:nvSpPr>
          <p:cNvPr id="8" name="Text 6"/>
          <p:cNvSpPr/>
          <p:nvPr/>
        </p:nvSpPr>
        <p:spPr>
          <a:xfrm>
            <a:off x="1097280" y="30038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7 · Unit 1 · Practical 1</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Automation Business Case</a:t>
            </a:r>
            <a:endParaRPr lang="en-US" sz="1350" dirty="0"/>
          </a:p>
        </p:txBody>
      </p:sp>
      <p:sp>
        <p:nvSpPr>
          <p:cNvPr id="11" name="Shape 9"/>
          <p:cNvSpPr/>
          <p:nvPr/>
        </p:nvSpPr>
        <p:spPr>
          <a:xfrm>
            <a:off x="777240" y="3803904"/>
            <a:ext cx="10607040" cy="868680"/>
          </a:xfrm>
          <a:prstGeom prst="roundRect">
            <a:avLst>
              <a:gd name="adj" fmla="val 6316"/>
            </a:avLst>
          </a:prstGeom>
          <a:solidFill>
            <a:srgbClr val="241A19"/>
          </a:solidFill>
          <a:ln w="9525">
            <a:solidFill>
              <a:srgbClr val="3E2A28"/>
            </a:solidFill>
            <a:prstDash val="solid"/>
          </a:ln>
        </p:spPr>
      </p:sp>
      <p:sp>
        <p:nvSpPr>
          <p:cNvPr id="12" name="Shape 10"/>
          <p:cNvSpPr/>
          <p:nvPr/>
        </p:nvSpPr>
        <p:spPr>
          <a:xfrm>
            <a:off x="1097280" y="4046220"/>
            <a:ext cx="384048" cy="384048"/>
          </a:xfrm>
          <a:prstGeom prst="ellipse">
            <a:avLst/>
          </a:prstGeom>
          <a:solidFill>
            <a:srgbClr val="8C1515"/>
          </a:solidFill>
          <a:ln/>
        </p:spPr>
      </p:sp>
      <p:sp>
        <p:nvSpPr>
          <p:cNvPr id="13" name="Text 11"/>
          <p:cNvSpPr/>
          <p:nvPr/>
        </p:nvSpPr>
        <p:spPr>
          <a:xfrm>
            <a:off x="1097280" y="40462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87705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7 · Unit 2 · Practical 1</a:t>
            </a:r>
            <a:endParaRPr lang="en-US" sz="1000" dirty="0"/>
          </a:p>
        </p:txBody>
      </p:sp>
      <p:sp>
        <p:nvSpPr>
          <p:cNvPr id="15" name="Text 13"/>
          <p:cNvSpPr/>
          <p:nvPr/>
        </p:nvSpPr>
        <p:spPr>
          <a:xfrm>
            <a:off x="1664208" y="409651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Automated Dispensing Cabinet Investigation</a:t>
            </a:r>
            <a:endParaRPr lang="en-US" sz="1350" dirty="0"/>
          </a:p>
        </p:txBody>
      </p:sp>
      <p:sp>
        <p:nvSpPr>
          <p:cNvPr id="16" name="Shape 14"/>
          <p:cNvSpPr/>
          <p:nvPr/>
        </p:nvSpPr>
        <p:spPr>
          <a:xfrm>
            <a:off x="777240" y="4846320"/>
            <a:ext cx="10607040" cy="868680"/>
          </a:xfrm>
          <a:prstGeom prst="roundRect">
            <a:avLst>
              <a:gd name="adj" fmla="val 6316"/>
            </a:avLst>
          </a:prstGeom>
          <a:solidFill>
            <a:srgbClr val="241A19"/>
          </a:solidFill>
          <a:ln w="9525">
            <a:solidFill>
              <a:srgbClr val="3E2A28"/>
            </a:solidFill>
            <a:prstDash val="solid"/>
          </a:ln>
        </p:spPr>
      </p:sp>
      <p:sp>
        <p:nvSpPr>
          <p:cNvPr id="17" name="Shape 15"/>
          <p:cNvSpPr/>
          <p:nvPr/>
        </p:nvSpPr>
        <p:spPr>
          <a:xfrm>
            <a:off x="1097280" y="5088636"/>
            <a:ext cx="384048" cy="384048"/>
          </a:xfrm>
          <a:prstGeom prst="ellipse">
            <a:avLst/>
          </a:prstGeom>
          <a:solidFill>
            <a:srgbClr val="8C1515"/>
          </a:solidFill>
          <a:ln/>
        </p:spPr>
      </p:sp>
      <p:sp>
        <p:nvSpPr>
          <p:cNvPr id="18" name="Text 16"/>
          <p:cNvSpPr/>
          <p:nvPr/>
        </p:nvSpPr>
        <p:spPr>
          <a:xfrm>
            <a:off x="1097280" y="50886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64208" y="4919472"/>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7 · Unit 3 · Practical 2</a:t>
            </a:r>
            <a:endParaRPr lang="en-US" sz="1000" dirty="0"/>
          </a:p>
        </p:txBody>
      </p:sp>
      <p:sp>
        <p:nvSpPr>
          <p:cNvPr id="20" name="Text 18"/>
          <p:cNvSpPr/>
          <p:nvPr/>
        </p:nvSpPr>
        <p:spPr>
          <a:xfrm>
            <a:off x="1664208" y="5138928"/>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Serialisation &amp; Falsified Medicine Trace</a:t>
            </a:r>
            <a:endParaRPr lang="en-US" sz="1350" dirty="0"/>
          </a:p>
        </p:txBody>
      </p:sp>
      <p:sp>
        <p:nvSpPr>
          <p:cNvPr id="21" name="Shape 19"/>
          <p:cNvSpPr/>
          <p:nvPr/>
        </p:nvSpPr>
        <p:spPr>
          <a:xfrm>
            <a:off x="777240" y="5888736"/>
            <a:ext cx="10607040" cy="868680"/>
          </a:xfrm>
          <a:prstGeom prst="roundRect">
            <a:avLst>
              <a:gd name="adj" fmla="val 6316"/>
            </a:avLst>
          </a:prstGeom>
          <a:solidFill>
            <a:srgbClr val="241A19"/>
          </a:solidFill>
          <a:ln w="9525">
            <a:solidFill>
              <a:srgbClr val="3E2A28"/>
            </a:solidFill>
            <a:prstDash val="solid"/>
          </a:ln>
        </p:spPr>
      </p:sp>
      <p:sp>
        <p:nvSpPr>
          <p:cNvPr id="22" name="Shape 20"/>
          <p:cNvSpPr/>
          <p:nvPr/>
        </p:nvSpPr>
        <p:spPr>
          <a:xfrm>
            <a:off x="1097280" y="6131052"/>
            <a:ext cx="384048" cy="384048"/>
          </a:xfrm>
          <a:prstGeom prst="ellipse">
            <a:avLst/>
          </a:prstGeom>
          <a:solidFill>
            <a:srgbClr val="8C1515"/>
          </a:solidFill>
          <a:ln/>
        </p:spPr>
      </p:sp>
      <p:sp>
        <p:nvSpPr>
          <p:cNvPr id="23" name="Text 21"/>
          <p:cNvSpPr/>
          <p:nvPr/>
        </p:nvSpPr>
        <p:spPr>
          <a:xfrm>
            <a:off x="1097280" y="61310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664208" y="5961888"/>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7 · Unit 4 · Practical 3</a:t>
            </a:r>
            <a:endParaRPr lang="en-US" sz="1000" dirty="0"/>
          </a:p>
        </p:txBody>
      </p:sp>
      <p:sp>
        <p:nvSpPr>
          <p:cNvPr id="25" name="Text 23"/>
          <p:cNvSpPr/>
          <p:nvPr/>
        </p:nvSpPr>
        <p:spPr>
          <a:xfrm>
            <a:off x="1664208" y="6181344"/>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Workflow Optimisation &amp; Root Cause</a:t>
            </a:r>
            <a:endParaRPr lang="en-US" sz="1350" dirty="0"/>
          </a:p>
        </p:txBody>
      </p:sp>
      <p:sp>
        <p:nvSpPr>
          <p:cNvPr id="26" name="Text 2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27" name="Text 2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7 · UNIT 1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Automation Business Case</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appraise a proposal to automate pharmacy picking: to identify the constraint that actually limits throughput, predict the effect of improving a step that is not the constraint, judge whether automation addresses the true source of error, and make a recommendation the board can act on.</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Throughput is set by the slowest step. Capacity added anywhere else converts into work in progress rather than output. A constraint is the step whose capacity limits the whole process; improving any other step raises work in progress and leaves output unchanged.</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appraisal as the pharmacist advising the board.</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sources you judge necessary; each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Identify the step that constrains throughput.</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Predict the effect on total output of automating picking.</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Judge whether automation addresses the actual causes of picking error.</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Make and record your recommendation.</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7 · UNIT 2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Automated Dispensing Cabinet Investigation</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investigate a controlled-drug discrepancy reported by an automated dispensing cabinet, establish the true cause from the available evidence, assess the harm caused, and decide the immediate action — distinguishing a systems failure from individual wrongdoing.</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cabinet records who removed what and when, so the person named against a discrepancy is highly visible. That person is very often the one who discovered the problem rather than the one who caused it. Automated dispensing cabinets combine controlled access with a complete audit trail.</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investigation as the responsible pharmacist following an overnight discrepancy flag.</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the evidence sources. Each one you open is recorded, and you may proceed at any point.</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Identify the cause of the discrepancy from the evidence rather than from who is named.</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Assess the level of patient harm using the administration record and the nursing observations together.</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the immediate action and record it.</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the outcome, the marks for each element, and the two indices.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7 · UNIT 3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Serialisation &amp; Falsified Medicine Trace</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verify a delivery of serialised packs at goods-in, decide the disposition of each, and demonstrate that a verified scan answers one narrow question rather than establishing that a pack is safe to supply.</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Serialisation identifies the individual pack rather than the product, and decommissioning at the point of supply is what prevents one genuine serial authenticating an unlimited number of copies. A falsified pack bearing a copied serial will therefore scan as verified; only the register history reveals that the number has already been retired elsewhere. A 2D data matrix carries the product code, batch, expiry and a unique serial.</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goods-in as the pharmacist verifying the delivery.</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each pack and inspect the scan result, the physical condition and the register history; what you open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a disposition for each pack — accept, quarantine and investigate, or quarantine and escalate as suspected…</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principal reason for that disposition.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Close the delivery and review the outcomes and the two indices.</a:t>
            </a:r>
            <a:endParaRPr lang="en-US" sz="1150" dirty="0"/>
          </a:p>
        </p:txBody>
      </p:sp>
      <p:sp>
        <p:nvSpPr>
          <p:cNvPr id="28" name="Text 2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29" name="Text 2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7 · UNIT 4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Workflow Optimisation &amp; Root Cause</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review a workflow redesign reported as a success, judge it on the whole distribution rather than the mean, and carry a near-miss investigation past the individual to a cause the organisation controls.</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An average conceals the cases that harm patients. A redesign can lower mean turnaround while doubling the slowest five per cent, and the slowest five per cent is where time-critical medicines sit. Turnaround should be monitored as a distribution — median and a high percentile — because the mean is dominated by routine work and hides the extremes.</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review as the pharmacist asked to appraise the redesign and the near miss together.</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sources you judge necessary; each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whether the redesign improved the service, using the distribution rather than the headline.</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Judge why the deterioration in the tail matters.</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Determine the root cause of the near miss.</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what to take back to the board, including the measure by which success will be judged.</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7</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4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7 · Robotics &amp; Automation in Pharmacy Practice</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 Robotics &amp; Automation in Pharmacy Practice</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