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00F"/>
        </a:solidFill>
      </p:bgPr>
    </p:bg>
    <p:spTree>
      <p:nvGrpSpPr>
        <p:cNvPr id="1" name=""/>
        <p:cNvGrpSpPr/>
        <p:nvPr/>
      </p:nvGrpSpPr>
      <p:grpSpPr>
        <a:xfrm>
          <a:off x="0" y="0"/>
          <a:ext cx="0" cy="0"/>
          <a:chOff x="0" y="0"/>
          <a:chExt cx="0" cy="0"/>
        </a:xfrm>
      </p:grpSpPr>
      <p:sp>
        <p:nvSpPr>
          <p:cNvPr id="2" name="Shape 0"/>
          <p:cNvSpPr/>
          <p:nvPr/>
        </p:nvSpPr>
        <p:spPr>
          <a:xfrm>
            <a:off x="9509760" y="-1371600"/>
            <a:ext cx="4754880" cy="4754880"/>
          </a:xfrm>
          <a:prstGeom prst="ellipse">
            <a:avLst/>
          </a:prstGeom>
          <a:solidFill>
            <a:srgbClr val="8C1515">
              <a:alpha val="28000"/>
            </a:srgbClr>
          </a:solidFill>
          <a:ln/>
        </p:spPr>
      </p:sp>
      <p:sp>
        <p:nvSpPr>
          <p:cNvPr id="3" name="Shape 1"/>
          <p:cNvSpPr/>
          <p:nvPr/>
        </p:nvSpPr>
        <p:spPr>
          <a:xfrm>
            <a:off x="10607040" y="4297680"/>
            <a:ext cx="2926080" cy="2926080"/>
          </a:xfrm>
          <a:prstGeom prst="ellipse">
            <a:avLst/>
          </a:prstGeom>
          <a:solidFill>
            <a:srgbClr val="9A7B3F">
              <a:alpha val="20000"/>
            </a:srgbClr>
          </a:solidFill>
          <a:ln/>
        </p:spPr>
      </p:sp>
      <p:sp>
        <p:nvSpPr>
          <p:cNvPr id="4" name="Text 2"/>
          <p:cNvSpPr/>
          <p:nvPr/>
        </p:nvSpPr>
        <p:spPr>
          <a:xfrm>
            <a:off x="777240" y="777240"/>
            <a:ext cx="9692640" cy="274320"/>
          </a:xfrm>
          <a:prstGeom prst="rect">
            <a:avLst/>
          </a:prstGeom>
          <a:noFill/>
          <a:ln/>
        </p:spPr>
        <p:txBody>
          <a:bodyPr wrap="square" lIns="0" tIns="0" rIns="0" bIns="0" rtlCol="0" anchor="ctr"/>
          <a:lstStyle/>
          <a:p>
            <a:pPr indent="0" marL="0">
              <a:buNone/>
            </a:pPr>
            <a:r>
              <a:rPr lang="en-US" sz="1100" b="1" spc="220" kern="0" dirty="0">
                <a:solidFill>
                  <a:srgbClr val="E8B4B4"/>
                </a:solidFill>
                <a:latin typeface="Calibri" pitchFamily="34" charset="0"/>
                <a:ea typeface="Calibri" pitchFamily="34" charset="-122"/>
                <a:cs typeface="Calibri" pitchFamily="34" charset="-120"/>
              </a:rPr>
              <a:t>ALIZON SCHOOL OF MEDICAL &amp; DIGITAL INTELLIGENCE</a:t>
            </a:r>
            <a:endParaRPr lang="en-US" sz="1100" dirty="0"/>
          </a:p>
        </p:txBody>
      </p:sp>
      <p:sp>
        <p:nvSpPr>
          <p:cNvPr id="5" name="Text 3"/>
          <p:cNvSpPr/>
          <p:nvPr/>
        </p:nvSpPr>
        <p:spPr>
          <a:xfrm>
            <a:off x="777240" y="1444752"/>
            <a:ext cx="8229600" cy="548640"/>
          </a:xfrm>
          <a:prstGeom prst="rect">
            <a:avLst/>
          </a:prstGeom>
          <a:noFill/>
          <a:ln/>
        </p:spPr>
        <p:txBody>
          <a:bodyPr wrap="square" lIns="0" tIns="0" rIns="0" bIns="0" rtlCol="0" anchor="ctr"/>
          <a:lstStyle/>
          <a:p>
            <a:pPr indent="0" marL="0">
              <a:buNone/>
            </a:pPr>
            <a:r>
              <a:rPr lang="en-US" sz="2000" dirty="0">
                <a:solidFill>
                  <a:srgbClr val="9A7B3F"/>
                </a:solidFill>
                <a:latin typeface="Calibri" pitchFamily="34" charset="0"/>
                <a:ea typeface="Calibri" pitchFamily="34" charset="-122"/>
                <a:cs typeface="Calibri" pitchFamily="34" charset="-120"/>
              </a:rPr>
              <a:t>Module 6</a:t>
            </a:r>
            <a:endParaRPr lang="en-US" sz="2000" dirty="0"/>
          </a:p>
        </p:txBody>
      </p:sp>
      <p:sp>
        <p:nvSpPr>
          <p:cNvPr id="6" name="Text 4"/>
          <p:cNvSpPr/>
          <p:nvPr/>
        </p:nvSpPr>
        <p:spPr>
          <a:xfrm>
            <a:off x="777240" y="1993392"/>
            <a:ext cx="9692640" cy="1920240"/>
          </a:xfrm>
          <a:prstGeom prst="rect">
            <a:avLst/>
          </a:prstGeom>
          <a:noFill/>
          <a:ln/>
        </p:spPr>
        <p:txBody>
          <a:bodyPr wrap="square" lIns="0" tIns="0" rIns="0" bIns="0" rtlCol="0" anchor="ctr"/>
          <a:lstStyle/>
          <a:p>
            <a:pPr indent="0" marL="0">
              <a:lnSpc>
                <a:spcPts val="4800"/>
              </a:lnSpc>
              <a:buNone/>
            </a:pPr>
            <a:r>
              <a:rPr lang="en-US" sz="4100" b="1" dirty="0">
                <a:solidFill>
                  <a:srgbClr val="FFFFFF"/>
                </a:solidFill>
                <a:latin typeface="Cambria" pitchFamily="34" charset="0"/>
                <a:ea typeface="Cambria" pitchFamily="34" charset="-122"/>
                <a:cs typeface="Cambria" pitchFamily="34" charset="-120"/>
              </a:rPr>
              <a:t>Pharmacy Data Analytics &amp; Predictive Modelling</a:t>
            </a:r>
            <a:endParaRPr lang="en-US" sz="4100" dirty="0"/>
          </a:p>
        </p:txBody>
      </p:sp>
      <p:sp>
        <p:nvSpPr>
          <p:cNvPr id="7" name="Text 5"/>
          <p:cNvSpPr/>
          <p:nvPr/>
        </p:nvSpPr>
        <p:spPr>
          <a:xfrm>
            <a:off x="777240" y="4023360"/>
            <a:ext cx="8961120" cy="384048"/>
          </a:xfrm>
          <a:prstGeom prst="rect">
            <a:avLst/>
          </a:prstGeom>
          <a:noFill/>
          <a:ln/>
        </p:spPr>
        <p:txBody>
          <a:bodyPr wrap="square" lIns="0" tIns="0" rIns="0" bIns="0" rtlCol="0" anchor="ctr"/>
          <a:lstStyle/>
          <a:p>
            <a:pPr indent="0" marL="0">
              <a:buNone/>
            </a:pPr>
            <a:r>
              <a:rPr lang="en-US" sz="1600" i="1" dirty="0">
                <a:solidFill>
                  <a:srgbClr val="C9C2BA"/>
                </a:solidFill>
                <a:latin typeface="Calibri" pitchFamily="34" charset="0"/>
                <a:ea typeface="Calibri" pitchFamily="34" charset="-122"/>
                <a:cs typeface="Calibri" pitchFamily="34" charset="-120"/>
              </a:rPr>
              <a:t>From Records to Decisions</a:t>
            </a:r>
            <a:endParaRPr lang="en-US" sz="1600" dirty="0"/>
          </a:p>
        </p:txBody>
      </p:sp>
      <p:sp>
        <p:nvSpPr>
          <p:cNvPr id="8" name="Text 6"/>
          <p:cNvSpPr/>
          <p:nvPr/>
        </p:nvSpPr>
        <p:spPr>
          <a:xfrm>
            <a:off x="777240" y="4846320"/>
            <a:ext cx="9509760" cy="868680"/>
          </a:xfrm>
          <a:prstGeom prst="rect">
            <a:avLst/>
          </a:prstGeom>
          <a:noFill/>
          <a:ln/>
        </p:spPr>
        <p:txBody>
          <a:bodyPr wrap="square" lIns="0" tIns="0" rIns="0" bIns="0" rtlCol="0" anchor="ctr"/>
          <a:lstStyle/>
          <a:p>
            <a:pPr indent="0" marL="0">
              <a:lnSpc>
                <a:spcPts val="2100"/>
              </a:lnSpc>
              <a:buNone/>
            </a:pPr>
            <a:r>
              <a:rPr lang="en-US" sz="1300" dirty="0">
                <a:solidFill>
                  <a:srgbClr val="9A938C"/>
                </a:solidFill>
                <a:latin typeface="Calibri" pitchFamily="34" charset="0"/>
                <a:ea typeface="Calibri" pitchFamily="34" charset="-122"/>
                <a:cs typeface="Calibri" pitchFamily="34" charset="-120"/>
              </a:rPr>
              <a:t>Certificate Course in Digital Health &amp; Artificial Intelligence for Pharmacy</a:t>
            </a:r>
            <a:endParaRPr lang="en-US" sz="1300" dirty="0"/>
          </a:p>
          <a:p>
            <a:pPr indent="0" marL="0">
              <a:lnSpc>
                <a:spcPts val="2100"/>
              </a:lnSpc>
              <a:buNone/>
            </a:pPr>
            <a:r>
              <a:rPr lang="en-US" sz="1300" dirty="0">
                <a:solidFill>
                  <a:srgbClr val="9A938C"/>
                </a:solidFill>
                <a:latin typeface="Calibri" pitchFamily="34" charset="0"/>
                <a:ea typeface="Calibri" pitchFamily="34" charset="-122"/>
                <a:cs typeface="Calibri" pitchFamily="34" charset="-120"/>
              </a:rPr>
              <a:t>4 units  ·  4 assessed practicals  ·  100 examination questions</a:t>
            </a:r>
            <a:endParaRPr lang="en-US" sz="1300" dirty="0"/>
          </a:p>
        </p:txBody>
      </p:sp>
      <p:sp>
        <p:nvSpPr>
          <p:cNvPr id="9" name="Text 7"/>
          <p:cNvSpPr/>
          <p:nvPr/>
        </p:nvSpPr>
        <p:spPr>
          <a:xfrm>
            <a:off x="777240" y="6291072"/>
            <a:ext cx="7315200" cy="274320"/>
          </a:xfrm>
          <a:prstGeom prst="rect">
            <a:avLst/>
          </a:prstGeom>
          <a:noFill/>
          <a:ln/>
        </p:spPr>
        <p:txBody>
          <a:bodyPr wrap="square" lIns="0" tIns="0" rIns="0" bIns="0" rtlCol="0" anchor="ctr"/>
          <a:lstStyle/>
          <a:p>
            <a:pPr indent="0" marL="0">
              <a:buNone/>
            </a:pPr>
            <a:r>
              <a:rPr lang="en-US" sz="1000" dirty="0">
                <a:solidFill>
                  <a:srgbClr val="6E6058"/>
                </a:solidFill>
                <a:latin typeface="Calibri" pitchFamily="34" charset="0"/>
                <a:ea typeface="Calibri" pitchFamily="34" charset="-122"/>
                <a:cs typeface="Calibri" pitchFamily="34" charset="-120"/>
              </a:rPr>
              <a:t>ASAP Kerala  ·  www.alizongov.com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MODULE MAP</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What this module covers</a:t>
            </a:r>
            <a:endParaRPr lang="en-US" sz="2900" dirty="0"/>
          </a:p>
        </p:txBody>
      </p:sp>
      <p:sp>
        <p:nvSpPr>
          <p:cNvPr id="6" name="Shape 4"/>
          <p:cNvSpPr/>
          <p:nvPr/>
        </p:nvSpPr>
        <p:spPr>
          <a:xfrm>
            <a:off x="502920" y="1481328"/>
            <a:ext cx="5440680" cy="1371600"/>
          </a:xfrm>
          <a:prstGeom prst="roundRect">
            <a:avLst>
              <a:gd name="adj" fmla="val 4000"/>
            </a:avLst>
          </a:prstGeom>
          <a:solidFill>
            <a:srgbClr val="FAF8F6"/>
          </a:solidFill>
          <a:ln w="9525">
            <a:solidFill>
              <a:srgbClr val="DDD5CE"/>
            </a:solidFill>
            <a:prstDash val="solid"/>
          </a:ln>
        </p:spPr>
      </p:sp>
      <p:sp>
        <p:nvSpPr>
          <p:cNvPr id="7" name="Shape 5"/>
          <p:cNvSpPr/>
          <p:nvPr/>
        </p:nvSpPr>
        <p:spPr>
          <a:xfrm>
            <a:off x="740664" y="1755648"/>
            <a:ext cx="384048" cy="384048"/>
          </a:xfrm>
          <a:prstGeom prst="ellipse">
            <a:avLst/>
          </a:prstGeom>
          <a:solidFill>
            <a:srgbClr val="8C1515"/>
          </a:solidFill>
          <a:ln/>
        </p:spPr>
      </p:sp>
      <p:sp>
        <p:nvSpPr>
          <p:cNvPr id="8" name="Text 6"/>
          <p:cNvSpPr/>
          <p:nvPr/>
        </p:nvSpPr>
        <p:spPr>
          <a:xfrm>
            <a:off x="740664" y="175564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9" name="Text 7"/>
          <p:cNvSpPr/>
          <p:nvPr/>
        </p:nvSpPr>
        <p:spPr>
          <a:xfrm>
            <a:off x="1252728" y="1664208"/>
            <a:ext cx="4480560" cy="493776"/>
          </a:xfrm>
          <a:prstGeom prst="rect">
            <a:avLst/>
          </a:prstGeom>
          <a:noFill/>
          <a:ln/>
        </p:spPr>
        <p:txBody>
          <a:bodyPr wrap="square" lIns="0" tIns="0" rIns="0" bIns="0" rtlCol="0" anchor="ctr"/>
          <a:lstStyle/>
          <a:p>
            <a:pPr indent="0" marL="0">
              <a:buNone/>
            </a:pPr>
            <a:r>
              <a:rPr lang="en-US" sz="1350" b="1" dirty="0">
                <a:solidFill>
                  <a:srgbClr val="26221F"/>
                </a:solidFill>
                <a:latin typeface="Calibri" pitchFamily="34" charset="0"/>
                <a:ea typeface="Calibri" pitchFamily="34" charset="-122"/>
                <a:cs typeface="Calibri" pitchFamily="34" charset="-120"/>
              </a:rPr>
              <a:t>Introduction to Pharmacy Data &amp; Analytics</a:t>
            </a:r>
            <a:endParaRPr lang="en-US" sz="1350" dirty="0"/>
          </a:p>
        </p:txBody>
      </p:sp>
      <p:sp>
        <p:nvSpPr>
          <p:cNvPr id="10" name="Text 8"/>
          <p:cNvSpPr/>
          <p:nvPr/>
        </p:nvSpPr>
        <p:spPr>
          <a:xfrm>
            <a:off x="1252728" y="2157984"/>
            <a:ext cx="4480560" cy="566928"/>
          </a:xfrm>
          <a:prstGeom prst="rect">
            <a:avLst/>
          </a:prstGeom>
          <a:noFill/>
          <a:ln/>
        </p:spPr>
        <p:txBody>
          <a:bodyPr wrap="square" lIns="0" tIns="0" rIns="0" bIns="0" rtlCol="0" anchor="ctr"/>
          <a:lstStyle/>
          <a:p>
            <a:pPr indent="0" marL="0">
              <a:lnSpc>
                <a:spcPts val="1400"/>
              </a:lnSpc>
              <a:buNone/>
            </a:pPr>
            <a:r>
              <a:rPr lang="en-US" sz="1050" dirty="0">
                <a:solidFill>
                  <a:srgbClr val="6E6A63"/>
                </a:solidFill>
                <a:latin typeface="Calibri" pitchFamily="34" charset="0"/>
                <a:ea typeface="Calibri" pitchFamily="34" charset="-122"/>
                <a:cs typeface="Calibri" pitchFamily="34" charset="-120"/>
              </a:rPr>
              <a:t>Types of Pharmacy and Healthcare Data · Data Collection, Cleaning and Validation · Role of Data in Clinical and Hospital…</a:t>
            </a:r>
            <a:endParaRPr lang="en-US" sz="1050" dirty="0"/>
          </a:p>
        </p:txBody>
      </p:sp>
      <p:sp>
        <p:nvSpPr>
          <p:cNvPr id="11" name="Shape 9"/>
          <p:cNvSpPr/>
          <p:nvPr/>
        </p:nvSpPr>
        <p:spPr>
          <a:xfrm>
            <a:off x="6263640" y="1481328"/>
            <a:ext cx="5440680" cy="1371600"/>
          </a:xfrm>
          <a:prstGeom prst="roundRect">
            <a:avLst>
              <a:gd name="adj" fmla="val 4000"/>
            </a:avLst>
          </a:prstGeom>
          <a:solidFill>
            <a:srgbClr val="FAF8F6"/>
          </a:solidFill>
          <a:ln w="9525">
            <a:solidFill>
              <a:srgbClr val="DDD5CE"/>
            </a:solidFill>
            <a:prstDash val="solid"/>
          </a:ln>
        </p:spPr>
      </p:sp>
      <p:sp>
        <p:nvSpPr>
          <p:cNvPr id="12" name="Shape 10"/>
          <p:cNvSpPr/>
          <p:nvPr/>
        </p:nvSpPr>
        <p:spPr>
          <a:xfrm>
            <a:off x="6501384" y="1755648"/>
            <a:ext cx="384048" cy="384048"/>
          </a:xfrm>
          <a:prstGeom prst="ellipse">
            <a:avLst/>
          </a:prstGeom>
          <a:solidFill>
            <a:srgbClr val="8C1515"/>
          </a:solidFill>
          <a:ln/>
        </p:spPr>
      </p:sp>
      <p:sp>
        <p:nvSpPr>
          <p:cNvPr id="13" name="Text 11"/>
          <p:cNvSpPr/>
          <p:nvPr/>
        </p:nvSpPr>
        <p:spPr>
          <a:xfrm>
            <a:off x="6501384" y="175564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4" name="Text 12"/>
          <p:cNvSpPr/>
          <p:nvPr/>
        </p:nvSpPr>
        <p:spPr>
          <a:xfrm>
            <a:off x="7013448" y="1664208"/>
            <a:ext cx="4480560" cy="493776"/>
          </a:xfrm>
          <a:prstGeom prst="rect">
            <a:avLst/>
          </a:prstGeom>
          <a:noFill/>
          <a:ln/>
        </p:spPr>
        <p:txBody>
          <a:bodyPr wrap="square" lIns="0" tIns="0" rIns="0" bIns="0" rtlCol="0" anchor="ctr"/>
          <a:lstStyle/>
          <a:p>
            <a:pPr indent="0" marL="0">
              <a:buNone/>
            </a:pPr>
            <a:r>
              <a:rPr lang="en-US" sz="1350" b="1" dirty="0">
                <a:solidFill>
                  <a:srgbClr val="26221F"/>
                </a:solidFill>
                <a:latin typeface="Calibri" pitchFamily="34" charset="0"/>
                <a:ea typeface="Calibri" pitchFamily="34" charset="-122"/>
                <a:cs typeface="Calibri" pitchFamily="34" charset="-120"/>
              </a:rPr>
              <a:t>Machine Learning in Pharmacy Practice</a:t>
            </a:r>
            <a:endParaRPr lang="en-US" sz="1350" dirty="0"/>
          </a:p>
        </p:txBody>
      </p:sp>
      <p:sp>
        <p:nvSpPr>
          <p:cNvPr id="15" name="Text 13"/>
          <p:cNvSpPr/>
          <p:nvPr/>
        </p:nvSpPr>
        <p:spPr>
          <a:xfrm>
            <a:off x="7013448" y="2157984"/>
            <a:ext cx="4480560" cy="566928"/>
          </a:xfrm>
          <a:prstGeom prst="rect">
            <a:avLst/>
          </a:prstGeom>
          <a:noFill/>
          <a:ln/>
        </p:spPr>
        <p:txBody>
          <a:bodyPr wrap="square" lIns="0" tIns="0" rIns="0" bIns="0" rtlCol="0" anchor="ctr"/>
          <a:lstStyle/>
          <a:p>
            <a:pPr indent="0" marL="0">
              <a:lnSpc>
                <a:spcPts val="1400"/>
              </a:lnSpc>
              <a:buNone/>
            </a:pPr>
            <a:r>
              <a:rPr lang="en-US" sz="1050" dirty="0">
                <a:solidFill>
                  <a:srgbClr val="6E6A63"/>
                </a:solidFill>
                <a:latin typeface="Calibri" pitchFamily="34" charset="0"/>
                <a:ea typeface="Calibri" pitchFamily="34" charset="-122"/>
                <a:cs typeface="Calibri" pitchFamily="34" charset="-120"/>
              </a:rPr>
              <a:t>Supervised and Unsupervised Learning Concepts · Use of AI in Drug-Utilisation Analysis · Pattern Recognition and Risk…</a:t>
            </a:r>
            <a:endParaRPr lang="en-US" sz="1050" dirty="0"/>
          </a:p>
        </p:txBody>
      </p:sp>
      <p:sp>
        <p:nvSpPr>
          <p:cNvPr id="16" name="Shape 14"/>
          <p:cNvSpPr/>
          <p:nvPr/>
        </p:nvSpPr>
        <p:spPr>
          <a:xfrm>
            <a:off x="502920" y="3054096"/>
            <a:ext cx="5440680" cy="1371600"/>
          </a:xfrm>
          <a:prstGeom prst="roundRect">
            <a:avLst>
              <a:gd name="adj" fmla="val 4000"/>
            </a:avLst>
          </a:prstGeom>
          <a:solidFill>
            <a:srgbClr val="FAF8F6"/>
          </a:solidFill>
          <a:ln w="9525">
            <a:solidFill>
              <a:srgbClr val="DDD5CE"/>
            </a:solidFill>
            <a:prstDash val="solid"/>
          </a:ln>
        </p:spPr>
      </p:sp>
      <p:sp>
        <p:nvSpPr>
          <p:cNvPr id="17" name="Shape 15"/>
          <p:cNvSpPr/>
          <p:nvPr/>
        </p:nvSpPr>
        <p:spPr>
          <a:xfrm>
            <a:off x="740664" y="3328416"/>
            <a:ext cx="384048" cy="384048"/>
          </a:xfrm>
          <a:prstGeom prst="ellipse">
            <a:avLst/>
          </a:prstGeom>
          <a:solidFill>
            <a:srgbClr val="8C1515"/>
          </a:solidFill>
          <a:ln/>
        </p:spPr>
      </p:sp>
      <p:sp>
        <p:nvSpPr>
          <p:cNvPr id="18" name="Text 16"/>
          <p:cNvSpPr/>
          <p:nvPr/>
        </p:nvSpPr>
        <p:spPr>
          <a:xfrm>
            <a:off x="740664" y="332841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9" name="Text 17"/>
          <p:cNvSpPr/>
          <p:nvPr/>
        </p:nvSpPr>
        <p:spPr>
          <a:xfrm>
            <a:off x="1252728" y="3236976"/>
            <a:ext cx="4480560" cy="493776"/>
          </a:xfrm>
          <a:prstGeom prst="rect">
            <a:avLst/>
          </a:prstGeom>
          <a:noFill/>
          <a:ln/>
        </p:spPr>
        <p:txBody>
          <a:bodyPr wrap="square" lIns="0" tIns="0" rIns="0" bIns="0" rtlCol="0" anchor="ctr"/>
          <a:lstStyle/>
          <a:p>
            <a:pPr indent="0" marL="0">
              <a:buNone/>
            </a:pPr>
            <a:r>
              <a:rPr lang="en-US" sz="1350" b="1" dirty="0">
                <a:solidFill>
                  <a:srgbClr val="26221F"/>
                </a:solidFill>
                <a:latin typeface="Calibri" pitchFamily="34" charset="0"/>
                <a:ea typeface="Calibri" pitchFamily="34" charset="-122"/>
                <a:cs typeface="Calibri" pitchFamily="34" charset="-120"/>
              </a:rPr>
              <a:t>Prescription Analytics &amp; Safety Monitoring</a:t>
            </a:r>
            <a:endParaRPr lang="en-US" sz="1350" dirty="0"/>
          </a:p>
        </p:txBody>
      </p:sp>
      <p:sp>
        <p:nvSpPr>
          <p:cNvPr id="20" name="Text 18"/>
          <p:cNvSpPr/>
          <p:nvPr/>
        </p:nvSpPr>
        <p:spPr>
          <a:xfrm>
            <a:off x="1252728" y="3730752"/>
            <a:ext cx="4480560" cy="566928"/>
          </a:xfrm>
          <a:prstGeom prst="rect">
            <a:avLst/>
          </a:prstGeom>
          <a:noFill/>
          <a:ln/>
        </p:spPr>
        <p:txBody>
          <a:bodyPr wrap="square" lIns="0" tIns="0" rIns="0" bIns="0" rtlCol="0" anchor="ctr"/>
          <a:lstStyle/>
          <a:p>
            <a:pPr indent="0" marL="0">
              <a:lnSpc>
                <a:spcPts val="1400"/>
              </a:lnSpc>
              <a:buNone/>
            </a:pPr>
            <a:r>
              <a:rPr lang="en-US" sz="1050" dirty="0">
                <a:solidFill>
                  <a:srgbClr val="6E6A63"/>
                </a:solidFill>
                <a:latin typeface="Calibri" pitchFamily="34" charset="0"/>
                <a:ea typeface="Calibri" pitchFamily="34" charset="-122"/>
                <a:cs typeface="Calibri" pitchFamily="34" charset="-120"/>
              </a:rPr>
              <a:t>Prescription Trend Analysis · Detection of Irrational Drug Use · Identification of High-Risk Medicines and Patients · Digital…</a:t>
            </a:r>
            <a:endParaRPr lang="en-US" sz="1050" dirty="0"/>
          </a:p>
        </p:txBody>
      </p:sp>
      <p:sp>
        <p:nvSpPr>
          <p:cNvPr id="21" name="Shape 19"/>
          <p:cNvSpPr/>
          <p:nvPr/>
        </p:nvSpPr>
        <p:spPr>
          <a:xfrm>
            <a:off x="6263640" y="3054096"/>
            <a:ext cx="5440680" cy="1371600"/>
          </a:xfrm>
          <a:prstGeom prst="roundRect">
            <a:avLst>
              <a:gd name="adj" fmla="val 4000"/>
            </a:avLst>
          </a:prstGeom>
          <a:solidFill>
            <a:srgbClr val="FAF8F6"/>
          </a:solidFill>
          <a:ln w="9525">
            <a:solidFill>
              <a:srgbClr val="DDD5CE"/>
            </a:solidFill>
            <a:prstDash val="solid"/>
          </a:ln>
        </p:spPr>
      </p:sp>
      <p:sp>
        <p:nvSpPr>
          <p:cNvPr id="22" name="Shape 20"/>
          <p:cNvSpPr/>
          <p:nvPr/>
        </p:nvSpPr>
        <p:spPr>
          <a:xfrm>
            <a:off x="6501384" y="3328416"/>
            <a:ext cx="384048" cy="384048"/>
          </a:xfrm>
          <a:prstGeom prst="ellipse">
            <a:avLst/>
          </a:prstGeom>
          <a:solidFill>
            <a:srgbClr val="8C1515"/>
          </a:solidFill>
          <a:ln/>
        </p:spPr>
      </p:sp>
      <p:sp>
        <p:nvSpPr>
          <p:cNvPr id="23" name="Text 21"/>
          <p:cNvSpPr/>
          <p:nvPr/>
        </p:nvSpPr>
        <p:spPr>
          <a:xfrm>
            <a:off x="6501384" y="332841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24" name="Text 22"/>
          <p:cNvSpPr/>
          <p:nvPr/>
        </p:nvSpPr>
        <p:spPr>
          <a:xfrm>
            <a:off x="7013448" y="3236976"/>
            <a:ext cx="4480560" cy="493776"/>
          </a:xfrm>
          <a:prstGeom prst="rect">
            <a:avLst/>
          </a:prstGeom>
          <a:noFill/>
          <a:ln/>
        </p:spPr>
        <p:txBody>
          <a:bodyPr wrap="square" lIns="0" tIns="0" rIns="0" bIns="0" rtlCol="0" anchor="ctr"/>
          <a:lstStyle/>
          <a:p>
            <a:pPr indent="0" marL="0">
              <a:buNone/>
            </a:pPr>
            <a:r>
              <a:rPr lang="en-US" sz="1350" b="1" dirty="0">
                <a:solidFill>
                  <a:srgbClr val="26221F"/>
                </a:solidFill>
                <a:latin typeface="Calibri" pitchFamily="34" charset="0"/>
                <a:ea typeface="Calibri" pitchFamily="34" charset="-122"/>
                <a:cs typeface="Calibri" pitchFamily="34" charset="-120"/>
              </a:rPr>
              <a:t>Demand Forecasting &amp; Inventory Analytics</a:t>
            </a:r>
            <a:endParaRPr lang="en-US" sz="1350" dirty="0"/>
          </a:p>
        </p:txBody>
      </p:sp>
      <p:sp>
        <p:nvSpPr>
          <p:cNvPr id="25" name="Text 23"/>
          <p:cNvSpPr/>
          <p:nvPr/>
        </p:nvSpPr>
        <p:spPr>
          <a:xfrm>
            <a:off x="7013448" y="3730752"/>
            <a:ext cx="4480560" cy="566928"/>
          </a:xfrm>
          <a:prstGeom prst="rect">
            <a:avLst/>
          </a:prstGeom>
          <a:noFill/>
          <a:ln/>
        </p:spPr>
        <p:txBody>
          <a:bodyPr wrap="square" lIns="0" tIns="0" rIns="0" bIns="0" rtlCol="0" anchor="ctr"/>
          <a:lstStyle/>
          <a:p>
            <a:pPr indent="0" marL="0">
              <a:lnSpc>
                <a:spcPts val="1400"/>
              </a:lnSpc>
              <a:buNone/>
            </a:pPr>
            <a:r>
              <a:rPr lang="en-US" sz="1050" dirty="0">
                <a:solidFill>
                  <a:srgbClr val="6E6A63"/>
                </a:solidFill>
                <a:latin typeface="Calibri" pitchFamily="34" charset="0"/>
                <a:ea typeface="Calibri" pitchFamily="34" charset="-122"/>
                <a:cs typeface="Calibri" pitchFamily="34" charset="-120"/>
              </a:rPr>
              <a:t>Drug Consumption and Forecasting Models · Stock Optimisation and Wastage Reduction · Expiry, Batch and Recall Analytics ·…</a:t>
            </a:r>
            <a:endParaRPr lang="en-US" sz="1050" dirty="0"/>
          </a:p>
        </p:txBody>
      </p:sp>
      <p:sp>
        <p:nvSpPr>
          <p:cNvPr id="26" name="Shape 24"/>
          <p:cNvSpPr/>
          <p:nvPr/>
        </p:nvSpPr>
        <p:spPr>
          <a:xfrm>
            <a:off x="502920" y="4681728"/>
            <a:ext cx="11183112" cy="987552"/>
          </a:xfrm>
          <a:prstGeom prst="roundRect">
            <a:avLst>
              <a:gd name="adj" fmla="val 5556"/>
            </a:avLst>
          </a:prstGeom>
          <a:solidFill>
            <a:srgbClr val="2E1010"/>
          </a:solidFill>
          <a:ln w="9525">
            <a:solidFill>
              <a:srgbClr val="46201F"/>
            </a:solidFill>
            <a:prstDash val="solid"/>
          </a:ln>
        </p:spPr>
      </p:sp>
      <p:sp>
        <p:nvSpPr>
          <p:cNvPr id="27" name="Text 25"/>
          <p:cNvSpPr/>
          <p:nvPr/>
        </p:nvSpPr>
        <p:spPr>
          <a:xfrm>
            <a:off x="868680" y="4846320"/>
            <a:ext cx="3291840" cy="292608"/>
          </a:xfrm>
          <a:prstGeom prst="rect">
            <a:avLst/>
          </a:prstGeom>
          <a:noFill/>
          <a:ln/>
        </p:spPr>
        <p:txBody>
          <a:bodyPr wrap="square" lIns="0" tIns="0" rIns="0" bIns="0" rtlCol="0" anchor="ctr"/>
          <a:lstStyle/>
          <a:p>
            <a:pPr indent="0" marL="0">
              <a:buNone/>
            </a:pPr>
            <a:r>
              <a:rPr lang="en-US" sz="1350" b="1" dirty="0">
                <a:solidFill>
                  <a:srgbClr val="F0C9C9"/>
                </a:solidFill>
                <a:latin typeface="Calibri" pitchFamily="34" charset="0"/>
                <a:ea typeface="Calibri" pitchFamily="34" charset="-122"/>
                <a:cs typeface="Calibri" pitchFamily="34" charset="-120"/>
              </a:rPr>
              <a:t>4 assessed practicals</a:t>
            </a:r>
            <a:endParaRPr lang="en-US" sz="1350" dirty="0"/>
          </a:p>
        </p:txBody>
      </p:sp>
      <p:sp>
        <p:nvSpPr>
          <p:cNvPr id="28" name="Text 26"/>
          <p:cNvSpPr/>
          <p:nvPr/>
        </p:nvSpPr>
        <p:spPr>
          <a:xfrm>
            <a:off x="868680" y="5157216"/>
            <a:ext cx="10515600" cy="384048"/>
          </a:xfrm>
          <a:prstGeom prst="rect">
            <a:avLst/>
          </a:prstGeom>
          <a:noFill/>
          <a:ln/>
        </p:spPr>
        <p:txBody>
          <a:bodyPr wrap="square" lIns="0" tIns="0" rIns="0" bIns="0" rtlCol="0" anchor="ctr"/>
          <a:lstStyle/>
          <a:p>
            <a:pPr indent="0" marL="0">
              <a:buNone/>
            </a:pPr>
            <a:r>
              <a:rPr lang="en-US" sz="1150" dirty="0">
                <a:solidFill>
                  <a:srgbClr val="E7DCD8"/>
                </a:solidFill>
                <a:latin typeface="Calibri" pitchFamily="34" charset="0"/>
                <a:ea typeface="Calibri" pitchFamily="34" charset="-122"/>
                <a:cs typeface="Calibri" pitchFamily="34" charset="-120"/>
              </a:rPr>
              <a:t>Pharmacy Data Quality Audit · Model Evaluation Clinic · Prescribing Analytics Investigation · Demand Forecasting &amp; Stock Decisions</a:t>
            </a:r>
            <a:endParaRPr lang="en-US" sz="1150" dirty="0"/>
          </a:p>
        </p:txBody>
      </p:sp>
      <p:sp>
        <p:nvSpPr>
          <p:cNvPr id="29" name="Text 27"/>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6 · Pharmacy Data Analytics &amp; Predictive Modelling</a:t>
            </a:r>
            <a:endParaRPr lang="en-US" sz="950" dirty="0"/>
          </a:p>
        </p:txBody>
      </p:sp>
      <p:sp>
        <p:nvSpPr>
          <p:cNvPr id="30" name="Text 28"/>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LEARNING OUTCOMES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What you will be able to do</a:t>
            </a:r>
            <a:endParaRPr lang="en-US" sz="2900" dirty="0"/>
          </a:p>
        </p:txBody>
      </p:sp>
      <p:sp>
        <p:nvSpPr>
          <p:cNvPr id="6" name="Shape 4"/>
          <p:cNvSpPr/>
          <p:nvPr/>
        </p:nvSpPr>
        <p:spPr>
          <a:xfrm>
            <a:off x="502920" y="1591056"/>
            <a:ext cx="310896" cy="310896"/>
          </a:xfrm>
          <a:prstGeom prst="ellipse">
            <a:avLst/>
          </a:prstGeom>
          <a:solidFill>
            <a:srgbClr val="F2E4E4"/>
          </a:solidFill>
          <a:ln/>
        </p:spPr>
      </p:sp>
      <p:sp>
        <p:nvSpPr>
          <p:cNvPr id="7" name="Text 5"/>
          <p:cNvSpPr/>
          <p:nvPr/>
        </p:nvSpPr>
        <p:spPr>
          <a:xfrm>
            <a:off x="502920" y="1591056"/>
            <a:ext cx="310896" cy="310896"/>
          </a:xfrm>
          <a:prstGeom prst="rect">
            <a:avLst/>
          </a:prstGeom>
          <a:noFill/>
          <a:ln/>
        </p:spPr>
        <p:txBody>
          <a:bodyPr wrap="square" lIns="0" tIns="0" rIns="0" bIns="0" rtlCol="0" anchor="ctr"/>
          <a:lstStyle/>
          <a:p>
            <a:pPr algn="ctr" indent="0" marL="0">
              <a:buNone/>
            </a:pPr>
            <a:r>
              <a:rPr lang="en-US" sz="1200" b="1" dirty="0">
                <a:solidFill>
                  <a:srgbClr val="8C1515"/>
                </a:solidFill>
                <a:latin typeface="Calibri" pitchFamily="34" charset="0"/>
                <a:ea typeface="Calibri" pitchFamily="34" charset="-122"/>
                <a:cs typeface="Calibri" pitchFamily="34" charset="-120"/>
              </a:rPr>
              <a:t>▸</a:t>
            </a:r>
            <a:endParaRPr lang="en-US" sz="1200" dirty="0"/>
          </a:p>
        </p:txBody>
      </p:sp>
      <p:sp>
        <p:nvSpPr>
          <p:cNvPr id="8" name="Text 6"/>
          <p:cNvSpPr/>
          <p:nvPr/>
        </p:nvSpPr>
        <p:spPr>
          <a:xfrm>
            <a:off x="960120" y="1572768"/>
            <a:ext cx="4937760" cy="292608"/>
          </a:xfrm>
          <a:prstGeom prst="rect">
            <a:avLst/>
          </a:prstGeom>
          <a:noFill/>
          <a:ln/>
        </p:spPr>
        <p:txBody>
          <a:bodyPr wrap="square" lIns="0" tIns="0" rIns="0" bIns="0" rtlCol="0" anchor="ctr"/>
          <a:lstStyle/>
          <a:p>
            <a:pPr indent="0" marL="0">
              <a:buNone/>
            </a:pPr>
            <a:r>
              <a:rPr lang="en-US" sz="1400" b="1" dirty="0">
                <a:solidFill>
                  <a:srgbClr val="8C1515"/>
                </a:solidFill>
                <a:latin typeface="Calibri" pitchFamily="34" charset="0"/>
                <a:ea typeface="Calibri" pitchFamily="34" charset="-122"/>
                <a:cs typeface="Calibri" pitchFamily="34" charset="-120"/>
              </a:rPr>
              <a:t>Explain</a:t>
            </a:r>
            <a:endParaRPr lang="en-US" sz="1400" dirty="0"/>
          </a:p>
        </p:txBody>
      </p:sp>
      <p:sp>
        <p:nvSpPr>
          <p:cNvPr id="9" name="Text 7"/>
          <p:cNvSpPr/>
          <p:nvPr/>
        </p:nvSpPr>
        <p:spPr>
          <a:xfrm>
            <a:off x="960120" y="1901952"/>
            <a:ext cx="4937760" cy="822960"/>
          </a:xfrm>
          <a:prstGeom prst="rect">
            <a:avLst/>
          </a:prstGeom>
          <a:noFill/>
          <a:ln/>
        </p:spPr>
        <p:txBody>
          <a:bodyPr wrap="square" lIns="0" tIns="0" rIns="0" bIns="0" rtlCol="0" anchor="ctr"/>
          <a:lstStyle/>
          <a:p>
            <a:pPr indent="0" marL="0">
              <a:lnSpc>
                <a:spcPts val="1700"/>
              </a:lnSpc>
              <a:buNone/>
            </a:pPr>
            <a:r>
              <a:rPr lang="en-US" sz="1250" dirty="0">
                <a:solidFill>
                  <a:srgbClr val="26221F"/>
                </a:solidFill>
                <a:latin typeface="Calibri" pitchFamily="34" charset="0"/>
                <a:ea typeface="Calibri" pitchFamily="34" charset="-122"/>
                <a:cs typeface="Calibri" pitchFamily="34" charset="-120"/>
              </a:rPr>
              <a:t>Introduction to Pharmacy Data &amp; Analytics</a:t>
            </a:r>
            <a:endParaRPr lang="en-US" sz="1250" dirty="0"/>
          </a:p>
        </p:txBody>
      </p:sp>
      <p:sp>
        <p:nvSpPr>
          <p:cNvPr id="10" name="Shape 8"/>
          <p:cNvSpPr/>
          <p:nvPr/>
        </p:nvSpPr>
        <p:spPr>
          <a:xfrm>
            <a:off x="6263640" y="1591056"/>
            <a:ext cx="310896" cy="310896"/>
          </a:xfrm>
          <a:prstGeom prst="ellipse">
            <a:avLst/>
          </a:prstGeom>
          <a:solidFill>
            <a:srgbClr val="F2E4E4"/>
          </a:solidFill>
          <a:ln/>
        </p:spPr>
      </p:sp>
      <p:sp>
        <p:nvSpPr>
          <p:cNvPr id="11" name="Text 9"/>
          <p:cNvSpPr/>
          <p:nvPr/>
        </p:nvSpPr>
        <p:spPr>
          <a:xfrm>
            <a:off x="6263640" y="1591056"/>
            <a:ext cx="310896" cy="310896"/>
          </a:xfrm>
          <a:prstGeom prst="rect">
            <a:avLst/>
          </a:prstGeom>
          <a:noFill/>
          <a:ln/>
        </p:spPr>
        <p:txBody>
          <a:bodyPr wrap="square" lIns="0" tIns="0" rIns="0" bIns="0" rtlCol="0" anchor="ctr"/>
          <a:lstStyle/>
          <a:p>
            <a:pPr algn="ctr" indent="0" marL="0">
              <a:buNone/>
            </a:pPr>
            <a:r>
              <a:rPr lang="en-US" sz="1200" b="1" dirty="0">
                <a:solidFill>
                  <a:srgbClr val="8C1515"/>
                </a:solidFill>
                <a:latin typeface="Calibri" pitchFamily="34" charset="0"/>
                <a:ea typeface="Calibri" pitchFamily="34" charset="-122"/>
                <a:cs typeface="Calibri" pitchFamily="34" charset="-120"/>
              </a:rPr>
              <a:t>▸</a:t>
            </a:r>
            <a:endParaRPr lang="en-US" sz="1200" dirty="0"/>
          </a:p>
        </p:txBody>
      </p:sp>
      <p:sp>
        <p:nvSpPr>
          <p:cNvPr id="12" name="Text 10"/>
          <p:cNvSpPr/>
          <p:nvPr/>
        </p:nvSpPr>
        <p:spPr>
          <a:xfrm>
            <a:off x="6720840" y="1572768"/>
            <a:ext cx="4937760" cy="292608"/>
          </a:xfrm>
          <a:prstGeom prst="rect">
            <a:avLst/>
          </a:prstGeom>
          <a:noFill/>
          <a:ln/>
        </p:spPr>
        <p:txBody>
          <a:bodyPr wrap="square" lIns="0" tIns="0" rIns="0" bIns="0" rtlCol="0" anchor="ctr"/>
          <a:lstStyle/>
          <a:p>
            <a:pPr indent="0" marL="0">
              <a:buNone/>
            </a:pPr>
            <a:r>
              <a:rPr lang="en-US" sz="1400" b="1" dirty="0">
                <a:solidFill>
                  <a:srgbClr val="8C1515"/>
                </a:solidFill>
                <a:latin typeface="Calibri" pitchFamily="34" charset="0"/>
                <a:ea typeface="Calibri" pitchFamily="34" charset="-122"/>
                <a:cs typeface="Calibri" pitchFamily="34" charset="-120"/>
              </a:rPr>
              <a:t>Operate</a:t>
            </a:r>
            <a:endParaRPr lang="en-US" sz="1400" dirty="0"/>
          </a:p>
        </p:txBody>
      </p:sp>
      <p:sp>
        <p:nvSpPr>
          <p:cNvPr id="13" name="Text 11"/>
          <p:cNvSpPr/>
          <p:nvPr/>
        </p:nvSpPr>
        <p:spPr>
          <a:xfrm>
            <a:off x="6720840" y="1901952"/>
            <a:ext cx="4937760" cy="822960"/>
          </a:xfrm>
          <a:prstGeom prst="rect">
            <a:avLst/>
          </a:prstGeom>
          <a:noFill/>
          <a:ln/>
        </p:spPr>
        <p:txBody>
          <a:bodyPr wrap="square" lIns="0" tIns="0" rIns="0" bIns="0" rtlCol="0" anchor="ctr"/>
          <a:lstStyle/>
          <a:p>
            <a:pPr indent="0" marL="0">
              <a:lnSpc>
                <a:spcPts val="1700"/>
              </a:lnSpc>
              <a:buNone/>
            </a:pPr>
            <a:r>
              <a:rPr lang="en-US" sz="1250" dirty="0">
                <a:solidFill>
                  <a:srgbClr val="26221F"/>
                </a:solidFill>
                <a:latin typeface="Calibri" pitchFamily="34" charset="0"/>
                <a:ea typeface="Calibri" pitchFamily="34" charset="-122"/>
                <a:cs typeface="Calibri" pitchFamily="34" charset="-120"/>
              </a:rPr>
              <a:t>Types of Pharmacy and Healthcare Data</a:t>
            </a:r>
            <a:endParaRPr lang="en-US" sz="1250" dirty="0"/>
          </a:p>
        </p:txBody>
      </p:sp>
      <p:sp>
        <p:nvSpPr>
          <p:cNvPr id="14" name="Shape 12"/>
          <p:cNvSpPr/>
          <p:nvPr/>
        </p:nvSpPr>
        <p:spPr>
          <a:xfrm>
            <a:off x="502920" y="2962656"/>
            <a:ext cx="310896" cy="310896"/>
          </a:xfrm>
          <a:prstGeom prst="ellipse">
            <a:avLst/>
          </a:prstGeom>
          <a:solidFill>
            <a:srgbClr val="F2E4E4"/>
          </a:solidFill>
          <a:ln/>
        </p:spPr>
      </p:sp>
      <p:sp>
        <p:nvSpPr>
          <p:cNvPr id="15" name="Text 13"/>
          <p:cNvSpPr/>
          <p:nvPr/>
        </p:nvSpPr>
        <p:spPr>
          <a:xfrm>
            <a:off x="502920" y="2962656"/>
            <a:ext cx="310896" cy="310896"/>
          </a:xfrm>
          <a:prstGeom prst="rect">
            <a:avLst/>
          </a:prstGeom>
          <a:noFill/>
          <a:ln/>
        </p:spPr>
        <p:txBody>
          <a:bodyPr wrap="square" lIns="0" tIns="0" rIns="0" bIns="0" rtlCol="0" anchor="ctr"/>
          <a:lstStyle/>
          <a:p>
            <a:pPr algn="ctr" indent="0" marL="0">
              <a:buNone/>
            </a:pPr>
            <a:r>
              <a:rPr lang="en-US" sz="1200" b="1" dirty="0">
                <a:solidFill>
                  <a:srgbClr val="8C1515"/>
                </a:solidFill>
                <a:latin typeface="Calibri" pitchFamily="34" charset="0"/>
                <a:ea typeface="Calibri" pitchFamily="34" charset="-122"/>
                <a:cs typeface="Calibri" pitchFamily="34" charset="-120"/>
              </a:rPr>
              <a:t>▸</a:t>
            </a:r>
            <a:endParaRPr lang="en-US" sz="1200" dirty="0"/>
          </a:p>
        </p:txBody>
      </p:sp>
      <p:sp>
        <p:nvSpPr>
          <p:cNvPr id="16" name="Text 14"/>
          <p:cNvSpPr/>
          <p:nvPr/>
        </p:nvSpPr>
        <p:spPr>
          <a:xfrm>
            <a:off x="960120" y="2944368"/>
            <a:ext cx="4937760" cy="292608"/>
          </a:xfrm>
          <a:prstGeom prst="rect">
            <a:avLst/>
          </a:prstGeom>
          <a:noFill/>
          <a:ln/>
        </p:spPr>
        <p:txBody>
          <a:bodyPr wrap="square" lIns="0" tIns="0" rIns="0" bIns="0" rtlCol="0" anchor="ctr"/>
          <a:lstStyle/>
          <a:p>
            <a:pPr indent="0" marL="0">
              <a:buNone/>
            </a:pPr>
            <a:r>
              <a:rPr lang="en-US" sz="1400" b="1" dirty="0">
                <a:solidFill>
                  <a:srgbClr val="8C1515"/>
                </a:solidFill>
                <a:latin typeface="Calibri" pitchFamily="34" charset="0"/>
                <a:ea typeface="Calibri" pitchFamily="34" charset="-122"/>
                <a:cs typeface="Calibri" pitchFamily="34" charset="-120"/>
              </a:rPr>
              <a:t>Apply</a:t>
            </a:r>
            <a:endParaRPr lang="en-US" sz="1400" dirty="0"/>
          </a:p>
        </p:txBody>
      </p:sp>
      <p:sp>
        <p:nvSpPr>
          <p:cNvPr id="17" name="Text 15"/>
          <p:cNvSpPr/>
          <p:nvPr/>
        </p:nvSpPr>
        <p:spPr>
          <a:xfrm>
            <a:off x="960120" y="3273552"/>
            <a:ext cx="4937760" cy="822960"/>
          </a:xfrm>
          <a:prstGeom prst="rect">
            <a:avLst/>
          </a:prstGeom>
          <a:noFill/>
          <a:ln/>
        </p:spPr>
        <p:txBody>
          <a:bodyPr wrap="square" lIns="0" tIns="0" rIns="0" bIns="0" rtlCol="0" anchor="ctr"/>
          <a:lstStyle/>
          <a:p>
            <a:pPr indent="0" marL="0">
              <a:lnSpc>
                <a:spcPts val="1700"/>
              </a:lnSpc>
              <a:buNone/>
            </a:pPr>
            <a:r>
              <a:rPr lang="en-US" sz="1250" dirty="0">
                <a:solidFill>
                  <a:srgbClr val="26221F"/>
                </a:solidFill>
                <a:latin typeface="Calibri" pitchFamily="34" charset="0"/>
                <a:ea typeface="Calibri" pitchFamily="34" charset="-122"/>
                <a:cs typeface="Calibri" pitchFamily="34" charset="-120"/>
              </a:rPr>
              <a:t>Machine Learning in Pharmacy Practice</a:t>
            </a:r>
            <a:endParaRPr lang="en-US" sz="1250" dirty="0"/>
          </a:p>
        </p:txBody>
      </p:sp>
      <p:sp>
        <p:nvSpPr>
          <p:cNvPr id="18" name="Shape 16"/>
          <p:cNvSpPr/>
          <p:nvPr/>
        </p:nvSpPr>
        <p:spPr>
          <a:xfrm>
            <a:off x="6263640" y="2962656"/>
            <a:ext cx="310896" cy="310896"/>
          </a:xfrm>
          <a:prstGeom prst="ellipse">
            <a:avLst/>
          </a:prstGeom>
          <a:solidFill>
            <a:srgbClr val="F2E4E4"/>
          </a:solidFill>
          <a:ln/>
        </p:spPr>
      </p:sp>
      <p:sp>
        <p:nvSpPr>
          <p:cNvPr id="19" name="Text 17"/>
          <p:cNvSpPr/>
          <p:nvPr/>
        </p:nvSpPr>
        <p:spPr>
          <a:xfrm>
            <a:off x="6263640" y="2962656"/>
            <a:ext cx="310896" cy="310896"/>
          </a:xfrm>
          <a:prstGeom prst="rect">
            <a:avLst/>
          </a:prstGeom>
          <a:noFill/>
          <a:ln/>
        </p:spPr>
        <p:txBody>
          <a:bodyPr wrap="square" lIns="0" tIns="0" rIns="0" bIns="0" rtlCol="0" anchor="ctr"/>
          <a:lstStyle/>
          <a:p>
            <a:pPr algn="ctr" indent="0" marL="0">
              <a:buNone/>
            </a:pPr>
            <a:r>
              <a:rPr lang="en-US" sz="1200" b="1" dirty="0">
                <a:solidFill>
                  <a:srgbClr val="8C1515"/>
                </a:solidFill>
                <a:latin typeface="Calibri" pitchFamily="34" charset="0"/>
                <a:ea typeface="Calibri" pitchFamily="34" charset="-122"/>
                <a:cs typeface="Calibri" pitchFamily="34" charset="-120"/>
              </a:rPr>
              <a:t>▸</a:t>
            </a:r>
            <a:endParaRPr lang="en-US" sz="1200" dirty="0"/>
          </a:p>
        </p:txBody>
      </p:sp>
      <p:sp>
        <p:nvSpPr>
          <p:cNvPr id="20" name="Text 18"/>
          <p:cNvSpPr/>
          <p:nvPr/>
        </p:nvSpPr>
        <p:spPr>
          <a:xfrm>
            <a:off x="6720840" y="2944368"/>
            <a:ext cx="4937760" cy="292608"/>
          </a:xfrm>
          <a:prstGeom prst="rect">
            <a:avLst/>
          </a:prstGeom>
          <a:noFill/>
          <a:ln/>
        </p:spPr>
        <p:txBody>
          <a:bodyPr wrap="square" lIns="0" tIns="0" rIns="0" bIns="0" rtlCol="0" anchor="ctr"/>
          <a:lstStyle/>
          <a:p>
            <a:pPr indent="0" marL="0">
              <a:buNone/>
            </a:pPr>
            <a:r>
              <a:rPr lang="en-US" sz="1400" b="1" dirty="0">
                <a:solidFill>
                  <a:srgbClr val="8C1515"/>
                </a:solidFill>
                <a:latin typeface="Calibri" pitchFamily="34" charset="0"/>
                <a:ea typeface="Calibri" pitchFamily="34" charset="-122"/>
                <a:cs typeface="Calibri" pitchFamily="34" charset="-120"/>
              </a:rPr>
              <a:t>Evaluate</a:t>
            </a:r>
            <a:endParaRPr lang="en-US" sz="1400" dirty="0"/>
          </a:p>
        </p:txBody>
      </p:sp>
      <p:sp>
        <p:nvSpPr>
          <p:cNvPr id="21" name="Text 19"/>
          <p:cNvSpPr/>
          <p:nvPr/>
        </p:nvSpPr>
        <p:spPr>
          <a:xfrm>
            <a:off x="6720840" y="3273552"/>
            <a:ext cx="4937760" cy="822960"/>
          </a:xfrm>
          <a:prstGeom prst="rect">
            <a:avLst/>
          </a:prstGeom>
          <a:noFill/>
          <a:ln/>
        </p:spPr>
        <p:txBody>
          <a:bodyPr wrap="square" lIns="0" tIns="0" rIns="0" bIns="0" rtlCol="0" anchor="ctr"/>
          <a:lstStyle/>
          <a:p>
            <a:pPr indent="0" marL="0">
              <a:lnSpc>
                <a:spcPts val="1700"/>
              </a:lnSpc>
              <a:buNone/>
            </a:pPr>
            <a:r>
              <a:rPr lang="en-US" sz="1250" dirty="0">
                <a:solidFill>
                  <a:srgbClr val="26221F"/>
                </a:solidFill>
                <a:latin typeface="Calibri" pitchFamily="34" charset="0"/>
                <a:ea typeface="Calibri" pitchFamily="34" charset="-122"/>
                <a:cs typeface="Calibri" pitchFamily="34" charset="-120"/>
              </a:rPr>
              <a:t>Supervised and Unsupervised Learning Concepts</a:t>
            </a:r>
            <a:endParaRPr lang="en-US" sz="1250" dirty="0"/>
          </a:p>
        </p:txBody>
      </p:sp>
      <p:sp>
        <p:nvSpPr>
          <p:cNvPr id="22" name="Shape 20"/>
          <p:cNvSpPr/>
          <p:nvPr/>
        </p:nvSpPr>
        <p:spPr>
          <a:xfrm>
            <a:off x="502920" y="4334256"/>
            <a:ext cx="310896" cy="310896"/>
          </a:xfrm>
          <a:prstGeom prst="ellipse">
            <a:avLst/>
          </a:prstGeom>
          <a:solidFill>
            <a:srgbClr val="F2E4E4"/>
          </a:solidFill>
          <a:ln/>
        </p:spPr>
      </p:sp>
      <p:sp>
        <p:nvSpPr>
          <p:cNvPr id="23" name="Text 21"/>
          <p:cNvSpPr/>
          <p:nvPr/>
        </p:nvSpPr>
        <p:spPr>
          <a:xfrm>
            <a:off x="502920" y="4334256"/>
            <a:ext cx="310896" cy="310896"/>
          </a:xfrm>
          <a:prstGeom prst="rect">
            <a:avLst/>
          </a:prstGeom>
          <a:noFill/>
          <a:ln/>
        </p:spPr>
        <p:txBody>
          <a:bodyPr wrap="square" lIns="0" tIns="0" rIns="0" bIns="0" rtlCol="0" anchor="ctr"/>
          <a:lstStyle/>
          <a:p>
            <a:pPr algn="ctr" indent="0" marL="0">
              <a:buNone/>
            </a:pPr>
            <a:r>
              <a:rPr lang="en-US" sz="1200" b="1" dirty="0">
                <a:solidFill>
                  <a:srgbClr val="8C1515"/>
                </a:solidFill>
                <a:latin typeface="Calibri" pitchFamily="34" charset="0"/>
                <a:ea typeface="Calibri" pitchFamily="34" charset="-122"/>
                <a:cs typeface="Calibri" pitchFamily="34" charset="-120"/>
              </a:rPr>
              <a:t>▸</a:t>
            </a:r>
            <a:endParaRPr lang="en-US" sz="1200" dirty="0"/>
          </a:p>
        </p:txBody>
      </p:sp>
      <p:sp>
        <p:nvSpPr>
          <p:cNvPr id="24" name="Text 22"/>
          <p:cNvSpPr/>
          <p:nvPr/>
        </p:nvSpPr>
        <p:spPr>
          <a:xfrm>
            <a:off x="960120" y="4315968"/>
            <a:ext cx="4937760" cy="292608"/>
          </a:xfrm>
          <a:prstGeom prst="rect">
            <a:avLst/>
          </a:prstGeom>
          <a:noFill/>
          <a:ln/>
        </p:spPr>
        <p:txBody>
          <a:bodyPr wrap="square" lIns="0" tIns="0" rIns="0" bIns="0" rtlCol="0" anchor="ctr"/>
          <a:lstStyle/>
          <a:p>
            <a:pPr indent="0" marL="0">
              <a:buNone/>
            </a:pPr>
            <a:r>
              <a:rPr lang="en-US" sz="1400" b="1" dirty="0">
                <a:solidFill>
                  <a:srgbClr val="8C1515"/>
                </a:solidFill>
                <a:latin typeface="Calibri" pitchFamily="34" charset="0"/>
                <a:ea typeface="Calibri" pitchFamily="34" charset="-122"/>
                <a:cs typeface="Calibri" pitchFamily="34" charset="-120"/>
              </a:rPr>
              <a:t>Describe</a:t>
            </a:r>
            <a:endParaRPr lang="en-US" sz="1400" dirty="0"/>
          </a:p>
        </p:txBody>
      </p:sp>
      <p:sp>
        <p:nvSpPr>
          <p:cNvPr id="25" name="Text 23"/>
          <p:cNvSpPr/>
          <p:nvPr/>
        </p:nvSpPr>
        <p:spPr>
          <a:xfrm>
            <a:off x="960120" y="4645152"/>
            <a:ext cx="4937760" cy="822960"/>
          </a:xfrm>
          <a:prstGeom prst="rect">
            <a:avLst/>
          </a:prstGeom>
          <a:noFill/>
          <a:ln/>
        </p:spPr>
        <p:txBody>
          <a:bodyPr wrap="square" lIns="0" tIns="0" rIns="0" bIns="0" rtlCol="0" anchor="ctr"/>
          <a:lstStyle/>
          <a:p>
            <a:pPr indent="0" marL="0">
              <a:lnSpc>
                <a:spcPts val="1700"/>
              </a:lnSpc>
              <a:buNone/>
            </a:pPr>
            <a:r>
              <a:rPr lang="en-US" sz="1250" dirty="0">
                <a:solidFill>
                  <a:srgbClr val="26221F"/>
                </a:solidFill>
                <a:latin typeface="Calibri" pitchFamily="34" charset="0"/>
                <a:ea typeface="Calibri" pitchFamily="34" charset="-122"/>
                <a:cs typeface="Calibri" pitchFamily="34" charset="-120"/>
              </a:rPr>
              <a:t>Prescription Analytics &amp; Safety Monitoring</a:t>
            </a:r>
            <a:endParaRPr lang="en-US" sz="1250" dirty="0"/>
          </a:p>
        </p:txBody>
      </p:sp>
      <p:sp>
        <p:nvSpPr>
          <p:cNvPr id="26" name="Shape 24"/>
          <p:cNvSpPr/>
          <p:nvPr/>
        </p:nvSpPr>
        <p:spPr>
          <a:xfrm>
            <a:off x="6263640" y="4334256"/>
            <a:ext cx="310896" cy="310896"/>
          </a:xfrm>
          <a:prstGeom prst="ellipse">
            <a:avLst/>
          </a:prstGeom>
          <a:solidFill>
            <a:srgbClr val="F2E4E4"/>
          </a:solidFill>
          <a:ln/>
        </p:spPr>
      </p:sp>
      <p:sp>
        <p:nvSpPr>
          <p:cNvPr id="27" name="Text 25"/>
          <p:cNvSpPr/>
          <p:nvPr/>
        </p:nvSpPr>
        <p:spPr>
          <a:xfrm>
            <a:off x="6263640" y="4334256"/>
            <a:ext cx="310896" cy="310896"/>
          </a:xfrm>
          <a:prstGeom prst="rect">
            <a:avLst/>
          </a:prstGeom>
          <a:noFill/>
          <a:ln/>
        </p:spPr>
        <p:txBody>
          <a:bodyPr wrap="square" lIns="0" tIns="0" rIns="0" bIns="0" rtlCol="0" anchor="ctr"/>
          <a:lstStyle/>
          <a:p>
            <a:pPr algn="ctr" indent="0" marL="0">
              <a:buNone/>
            </a:pPr>
            <a:r>
              <a:rPr lang="en-US" sz="1200" b="1" dirty="0">
                <a:solidFill>
                  <a:srgbClr val="8C1515"/>
                </a:solidFill>
                <a:latin typeface="Calibri" pitchFamily="34" charset="0"/>
                <a:ea typeface="Calibri" pitchFamily="34" charset="-122"/>
                <a:cs typeface="Calibri" pitchFamily="34" charset="-120"/>
              </a:rPr>
              <a:t>▸</a:t>
            </a:r>
            <a:endParaRPr lang="en-US" sz="1200" dirty="0"/>
          </a:p>
        </p:txBody>
      </p:sp>
      <p:sp>
        <p:nvSpPr>
          <p:cNvPr id="28" name="Text 26"/>
          <p:cNvSpPr/>
          <p:nvPr/>
        </p:nvSpPr>
        <p:spPr>
          <a:xfrm>
            <a:off x="6720840" y="4315968"/>
            <a:ext cx="4937760" cy="292608"/>
          </a:xfrm>
          <a:prstGeom prst="rect">
            <a:avLst/>
          </a:prstGeom>
          <a:noFill/>
          <a:ln/>
        </p:spPr>
        <p:txBody>
          <a:bodyPr wrap="square" lIns="0" tIns="0" rIns="0" bIns="0" rtlCol="0" anchor="ctr"/>
          <a:lstStyle/>
          <a:p>
            <a:pPr indent="0" marL="0">
              <a:buNone/>
            </a:pPr>
            <a:r>
              <a:rPr lang="en-US" sz="1400" b="1" dirty="0">
                <a:solidFill>
                  <a:srgbClr val="8C1515"/>
                </a:solidFill>
                <a:latin typeface="Calibri" pitchFamily="34" charset="0"/>
                <a:ea typeface="Calibri" pitchFamily="34" charset="-122"/>
                <a:cs typeface="Calibri" pitchFamily="34" charset="-120"/>
              </a:rPr>
              <a:t>Document</a:t>
            </a:r>
            <a:endParaRPr lang="en-US" sz="1400" dirty="0"/>
          </a:p>
        </p:txBody>
      </p:sp>
      <p:sp>
        <p:nvSpPr>
          <p:cNvPr id="29" name="Text 27"/>
          <p:cNvSpPr/>
          <p:nvPr/>
        </p:nvSpPr>
        <p:spPr>
          <a:xfrm>
            <a:off x="6720840" y="4645152"/>
            <a:ext cx="4937760" cy="822960"/>
          </a:xfrm>
          <a:prstGeom prst="rect">
            <a:avLst/>
          </a:prstGeom>
          <a:noFill/>
          <a:ln/>
        </p:spPr>
        <p:txBody>
          <a:bodyPr wrap="square" lIns="0" tIns="0" rIns="0" bIns="0" rtlCol="0" anchor="ctr"/>
          <a:lstStyle/>
          <a:p>
            <a:pPr indent="0" marL="0">
              <a:lnSpc>
                <a:spcPts val="1700"/>
              </a:lnSpc>
              <a:buNone/>
            </a:pPr>
            <a:r>
              <a:rPr lang="en-US" sz="1250" dirty="0">
                <a:solidFill>
                  <a:srgbClr val="26221F"/>
                </a:solidFill>
                <a:latin typeface="Calibri" pitchFamily="34" charset="0"/>
                <a:ea typeface="Calibri" pitchFamily="34" charset="-122"/>
                <a:cs typeface="Calibri" pitchFamily="34" charset="-120"/>
              </a:rPr>
              <a:t>Prescription Trend Analysis</a:t>
            </a:r>
            <a:endParaRPr lang="en-US" sz="1250" dirty="0"/>
          </a:p>
        </p:txBody>
      </p:sp>
      <p:sp>
        <p:nvSpPr>
          <p:cNvPr id="30" name="Shape 28"/>
          <p:cNvSpPr/>
          <p:nvPr/>
        </p:nvSpPr>
        <p:spPr>
          <a:xfrm>
            <a:off x="502920" y="5504688"/>
            <a:ext cx="11183112" cy="585216"/>
          </a:xfrm>
          <a:prstGeom prst="roundRect">
            <a:avLst>
              <a:gd name="adj" fmla="val 9375"/>
            </a:avLst>
          </a:prstGeom>
          <a:solidFill>
            <a:srgbClr val="FAF8F6"/>
          </a:solidFill>
          <a:ln w="9525">
            <a:solidFill>
              <a:srgbClr val="DDD5CE"/>
            </a:solidFill>
            <a:prstDash val="solid"/>
          </a:ln>
        </p:spPr>
      </p:sp>
      <p:sp>
        <p:nvSpPr>
          <p:cNvPr id="31" name="Text 29"/>
          <p:cNvSpPr/>
          <p:nvPr/>
        </p:nvSpPr>
        <p:spPr>
          <a:xfrm>
            <a:off x="868680" y="5504688"/>
            <a:ext cx="10515600" cy="585216"/>
          </a:xfrm>
          <a:prstGeom prst="rect">
            <a:avLst/>
          </a:prstGeom>
          <a:noFill/>
          <a:ln/>
        </p:spPr>
        <p:txBody>
          <a:bodyPr wrap="square" lIns="0" tIns="0" rIns="0" bIns="0" rtlCol="0" anchor="ctr"/>
          <a:lstStyle/>
          <a:p>
            <a:pPr indent="0" marL="0">
              <a:buNone/>
            </a:pPr>
            <a:r>
              <a:rPr lang="en-US" sz="1200" dirty="0">
                <a:solidFill>
                  <a:srgbClr val="26221F"/>
                </a:solidFill>
                <a:latin typeface="Calibri" pitchFamily="34" charset="0"/>
                <a:ea typeface="Calibri" pitchFamily="34" charset="-122"/>
                <a:cs typeface="Calibri" pitchFamily="34" charset="-120"/>
              </a:rPr>
              <a:t>Assessment · 4 faculty-evaluated practicals  +  100-question internal examination (4 units × 25)</a:t>
            </a:r>
            <a:endParaRPr lang="en-US" sz="1200" dirty="0"/>
          </a:p>
        </p:txBody>
      </p:sp>
      <p:sp>
        <p:nvSpPr>
          <p:cNvPr id="32" name="Text 30"/>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6 · Pharmacy Data Analytics &amp; Predictive Modelling</a:t>
            </a:r>
            <a:endParaRPr lang="en-US" sz="950" dirty="0"/>
          </a:p>
        </p:txBody>
      </p:sp>
      <p:sp>
        <p:nvSpPr>
          <p:cNvPr id="33" name="Text 31"/>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1 · INTRODUCTION TO PHARMACY DATA &amp; ANALYTICS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Pharmacy data analytics and predictive modelling</a:t>
            </a:r>
            <a:endParaRPr lang="en-US" sz="2900" dirty="0"/>
          </a:p>
        </p:txBody>
      </p:sp>
      <p:sp>
        <p:nvSpPr>
          <p:cNvPr id="6" name="Text 4"/>
          <p:cNvSpPr/>
          <p:nvPr/>
        </p:nvSpPr>
        <p:spPr>
          <a:xfrm>
            <a:off x="502920" y="1536192"/>
            <a:ext cx="6903720" cy="4297680"/>
          </a:xfrm>
          <a:prstGeom prst="rect">
            <a:avLst/>
          </a:prstGeom>
          <a:noFill/>
          <a:ln/>
        </p:spPr>
        <p:txBody>
          <a:bodyPr wrap="square" lIns="0" tIns="0" rIns="0" bIns="0" rtlCol="0" anchor="t"/>
          <a:lstStyle/>
          <a:p>
            <a:pPr indent="0" marL="0">
              <a:lnSpc>
                <a:spcPts val="2300"/>
              </a:lnSpc>
              <a:buNone/>
            </a:pPr>
            <a:r>
              <a:rPr lang="en-US" sz="1550" dirty="0">
                <a:solidFill>
                  <a:srgbClr val="26221F"/>
                </a:solidFill>
                <a:latin typeface="Calibri" pitchFamily="34" charset="0"/>
                <a:ea typeface="Calibri" pitchFamily="34" charset="-122"/>
                <a:cs typeface="Calibri" pitchFamily="34" charset="-120"/>
              </a:rPr>
              <a:t>Pharmacy data analytics and predictive modelling are rapidly transforming modern healthcare by enabling data-driven decision-making, improving patient outcomes, and optimizing pharmaceutical services. In today’s digital healthcare ecosystem, vast amounts of data are generated from sources such as Electronic Health Records (EHR), pharmacy information systems, clinical trials, and pharmacovigilance databases.</a:t>
            </a:r>
            <a:endParaRPr lang="en-US" sz="1550" dirty="0"/>
          </a:p>
        </p:txBody>
      </p:sp>
      <p:sp>
        <p:nvSpPr>
          <p:cNvPr id="7" name="Shape 5"/>
          <p:cNvSpPr/>
          <p:nvPr/>
        </p:nvSpPr>
        <p:spPr>
          <a:xfrm>
            <a:off x="7680960" y="1536192"/>
            <a:ext cx="4005072" cy="2020824"/>
          </a:xfrm>
          <a:prstGeom prst="roundRect">
            <a:avLst>
              <a:gd name="adj" fmla="val 2715"/>
            </a:avLst>
          </a:prstGeom>
          <a:solidFill>
            <a:srgbClr val="2E1010"/>
          </a:solidFill>
          <a:ln w="9525">
            <a:solidFill>
              <a:srgbClr val="46201F"/>
            </a:solidFill>
            <a:prstDash val="solid"/>
          </a:ln>
        </p:spPr>
      </p:sp>
      <p:sp>
        <p:nvSpPr>
          <p:cNvPr id="8" name="Text 6"/>
          <p:cNvSpPr/>
          <p:nvPr/>
        </p:nvSpPr>
        <p:spPr>
          <a:xfrm>
            <a:off x="8028432" y="1810512"/>
            <a:ext cx="338328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WHY IT MATTERS</a:t>
            </a:r>
            <a:endParaRPr lang="en-US" sz="1050" dirty="0"/>
          </a:p>
        </p:txBody>
      </p:sp>
      <p:sp>
        <p:nvSpPr>
          <p:cNvPr id="9" name="Text 7"/>
          <p:cNvSpPr/>
          <p:nvPr/>
        </p:nvSpPr>
        <p:spPr>
          <a:xfrm>
            <a:off x="8028432" y="2212848"/>
            <a:ext cx="3310128" cy="1161288"/>
          </a:xfrm>
          <a:prstGeom prst="rect">
            <a:avLst/>
          </a:prstGeom>
          <a:noFill/>
          <a:ln/>
        </p:spPr>
        <p:txBody>
          <a:bodyPr wrap="square" lIns="0" tIns="0" rIns="0" bIns="0" rtlCol="0" anchor="t"/>
          <a:lstStyle/>
          <a:p>
            <a:pPr indent="0" marL="0">
              <a:lnSpc>
                <a:spcPts val="1900"/>
              </a:lnSpc>
              <a:buNone/>
            </a:pPr>
            <a:r>
              <a:rPr lang="en-US" sz="1300" dirty="0">
                <a:solidFill>
                  <a:srgbClr val="F0E7E4"/>
                </a:solidFill>
                <a:latin typeface="Calibri" pitchFamily="34" charset="0"/>
                <a:ea typeface="Calibri" pitchFamily="34" charset="-122"/>
                <a:cs typeface="Calibri" pitchFamily="34" charset="-120"/>
              </a:rPr>
              <a:t>Artificial Intelligence (AI) and advanced analytics techniques play a crucial role in processing this data, identifying patterns, and generating actionable insights.</a:t>
            </a:r>
            <a:endParaRPr lang="en-US" sz="1300" dirty="0"/>
          </a:p>
        </p:txBody>
      </p:sp>
      <p:sp>
        <p:nvSpPr>
          <p:cNvPr id="10" name="Text 8"/>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6 · Pharmacy Data Analytics &amp; Predictive Modelling</a:t>
            </a:r>
            <a:endParaRPr lang="en-US" sz="950" dirty="0"/>
          </a:p>
        </p:txBody>
      </p:sp>
      <p:sp>
        <p:nvSpPr>
          <p:cNvPr id="11" name="Text 9"/>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1 · INTRODUCTION TO PHARMACY DATA &amp; ANALYTICS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400" b="1" dirty="0">
                <a:solidFill>
                  <a:srgbClr val="26221F"/>
                </a:solidFill>
                <a:latin typeface="Cambria" pitchFamily="34" charset="0"/>
                <a:ea typeface="Cambria" pitchFamily="34" charset="-122"/>
                <a:cs typeface="Cambria" pitchFamily="34" charset="-120"/>
              </a:rPr>
              <a:t>Introduction to Pharmacy Data &amp; Analytics at a glance</a:t>
            </a:r>
            <a:endParaRPr lang="en-US" sz="2400" dirty="0"/>
          </a:p>
        </p:txBody>
      </p:sp>
      <p:sp>
        <p:nvSpPr>
          <p:cNvPr id="6" name="Shape 4"/>
          <p:cNvSpPr/>
          <p:nvPr/>
        </p:nvSpPr>
        <p:spPr>
          <a:xfrm>
            <a:off x="502920" y="1554480"/>
            <a:ext cx="11183112" cy="512064"/>
          </a:xfrm>
          <a:prstGeom prst="rect">
            <a:avLst/>
          </a:prstGeom>
          <a:solidFill>
            <a:srgbClr val="8C1515"/>
          </a:solidFill>
          <a:ln w="12700">
            <a:solidFill>
              <a:srgbClr val="8C1515"/>
            </a:solidFill>
            <a:prstDash val="solid"/>
          </a:ln>
        </p:spPr>
      </p:sp>
      <p:sp>
        <p:nvSpPr>
          <p:cNvPr id="7" name="Text 5"/>
          <p:cNvSpPr/>
          <p:nvPr/>
        </p:nvSpPr>
        <p:spPr>
          <a:xfrm>
            <a:off x="685800" y="1554480"/>
            <a:ext cx="4169664"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Type</a:t>
            </a:r>
            <a:endParaRPr lang="en-US" sz="1150" dirty="0"/>
          </a:p>
        </p:txBody>
      </p:sp>
      <p:sp>
        <p:nvSpPr>
          <p:cNvPr id="8" name="Text 6"/>
          <p:cNvSpPr/>
          <p:nvPr/>
        </p:nvSpPr>
        <p:spPr>
          <a:xfrm>
            <a:off x="5166360" y="1554480"/>
            <a:ext cx="6391656"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Description</a:t>
            </a:r>
            <a:endParaRPr lang="en-US" sz="1150" dirty="0"/>
          </a:p>
        </p:txBody>
      </p:sp>
      <p:sp>
        <p:nvSpPr>
          <p:cNvPr id="9" name="Shape 7"/>
          <p:cNvSpPr/>
          <p:nvPr/>
        </p:nvSpPr>
        <p:spPr>
          <a:xfrm>
            <a:off x="502920" y="2066544"/>
            <a:ext cx="11183112" cy="658368"/>
          </a:xfrm>
          <a:prstGeom prst="rect">
            <a:avLst/>
          </a:prstGeom>
          <a:solidFill>
            <a:srgbClr val="FFFFFF"/>
          </a:solidFill>
          <a:ln w="9525">
            <a:solidFill>
              <a:srgbClr val="DDD5CE"/>
            </a:solidFill>
            <a:prstDash val="solid"/>
          </a:ln>
        </p:spPr>
      </p:sp>
      <p:sp>
        <p:nvSpPr>
          <p:cNvPr id="10" name="Text 8"/>
          <p:cNvSpPr/>
          <p:nvPr/>
        </p:nvSpPr>
        <p:spPr>
          <a:xfrm>
            <a:off x="685800" y="2066544"/>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Descriptive Analytics</a:t>
            </a:r>
            <a:endParaRPr lang="en-US" sz="1150" dirty="0"/>
          </a:p>
        </p:txBody>
      </p:sp>
      <p:sp>
        <p:nvSpPr>
          <p:cNvPr id="11" name="Text 9"/>
          <p:cNvSpPr/>
          <p:nvPr/>
        </p:nvSpPr>
        <p:spPr>
          <a:xfrm>
            <a:off x="5166360" y="2066544"/>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Summarizes historical data</a:t>
            </a:r>
            <a:endParaRPr lang="en-US" sz="1150" dirty="0"/>
          </a:p>
        </p:txBody>
      </p:sp>
      <p:sp>
        <p:nvSpPr>
          <p:cNvPr id="12" name="Shape 10"/>
          <p:cNvSpPr/>
          <p:nvPr/>
        </p:nvSpPr>
        <p:spPr>
          <a:xfrm>
            <a:off x="502920" y="2724912"/>
            <a:ext cx="11183112" cy="658368"/>
          </a:xfrm>
          <a:prstGeom prst="rect">
            <a:avLst/>
          </a:prstGeom>
          <a:solidFill>
            <a:srgbClr val="FAF8F6"/>
          </a:solidFill>
          <a:ln w="9525">
            <a:solidFill>
              <a:srgbClr val="DDD5CE"/>
            </a:solidFill>
            <a:prstDash val="solid"/>
          </a:ln>
        </p:spPr>
      </p:sp>
      <p:sp>
        <p:nvSpPr>
          <p:cNvPr id="13" name="Text 11"/>
          <p:cNvSpPr/>
          <p:nvPr/>
        </p:nvSpPr>
        <p:spPr>
          <a:xfrm>
            <a:off x="685800" y="2724912"/>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Diagnostic Analytics</a:t>
            </a:r>
            <a:endParaRPr lang="en-US" sz="1150" dirty="0"/>
          </a:p>
        </p:txBody>
      </p:sp>
      <p:sp>
        <p:nvSpPr>
          <p:cNvPr id="14" name="Text 12"/>
          <p:cNvSpPr/>
          <p:nvPr/>
        </p:nvSpPr>
        <p:spPr>
          <a:xfrm>
            <a:off x="5166360" y="2724912"/>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Explains causes of outcomes</a:t>
            </a:r>
            <a:endParaRPr lang="en-US" sz="1150" dirty="0"/>
          </a:p>
        </p:txBody>
      </p:sp>
      <p:sp>
        <p:nvSpPr>
          <p:cNvPr id="15" name="Shape 13"/>
          <p:cNvSpPr/>
          <p:nvPr/>
        </p:nvSpPr>
        <p:spPr>
          <a:xfrm>
            <a:off x="502920" y="3383280"/>
            <a:ext cx="11183112" cy="658368"/>
          </a:xfrm>
          <a:prstGeom prst="rect">
            <a:avLst/>
          </a:prstGeom>
          <a:solidFill>
            <a:srgbClr val="FFFFFF"/>
          </a:solidFill>
          <a:ln w="9525">
            <a:solidFill>
              <a:srgbClr val="DDD5CE"/>
            </a:solidFill>
            <a:prstDash val="solid"/>
          </a:ln>
        </p:spPr>
      </p:sp>
      <p:sp>
        <p:nvSpPr>
          <p:cNvPr id="16" name="Text 14"/>
          <p:cNvSpPr/>
          <p:nvPr/>
        </p:nvSpPr>
        <p:spPr>
          <a:xfrm>
            <a:off x="685800" y="3383280"/>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Predictive Analytics</a:t>
            </a:r>
            <a:endParaRPr lang="en-US" sz="1150" dirty="0"/>
          </a:p>
        </p:txBody>
      </p:sp>
      <p:sp>
        <p:nvSpPr>
          <p:cNvPr id="17" name="Text 15"/>
          <p:cNvSpPr/>
          <p:nvPr/>
        </p:nvSpPr>
        <p:spPr>
          <a:xfrm>
            <a:off x="5166360" y="3383280"/>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Forecasts future events</a:t>
            </a:r>
            <a:endParaRPr lang="en-US" sz="1150" dirty="0"/>
          </a:p>
        </p:txBody>
      </p:sp>
      <p:sp>
        <p:nvSpPr>
          <p:cNvPr id="18" name="Shape 16"/>
          <p:cNvSpPr/>
          <p:nvPr/>
        </p:nvSpPr>
        <p:spPr>
          <a:xfrm>
            <a:off x="502920" y="4041648"/>
            <a:ext cx="11183112" cy="658368"/>
          </a:xfrm>
          <a:prstGeom prst="rect">
            <a:avLst/>
          </a:prstGeom>
          <a:solidFill>
            <a:srgbClr val="FAF8F6"/>
          </a:solidFill>
          <a:ln w="9525">
            <a:solidFill>
              <a:srgbClr val="DDD5CE"/>
            </a:solidFill>
            <a:prstDash val="solid"/>
          </a:ln>
        </p:spPr>
      </p:sp>
      <p:sp>
        <p:nvSpPr>
          <p:cNvPr id="19" name="Text 17"/>
          <p:cNvSpPr/>
          <p:nvPr/>
        </p:nvSpPr>
        <p:spPr>
          <a:xfrm>
            <a:off x="685800" y="4041648"/>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Prescriptive Analytics</a:t>
            </a:r>
            <a:endParaRPr lang="en-US" sz="1150" dirty="0"/>
          </a:p>
        </p:txBody>
      </p:sp>
      <p:sp>
        <p:nvSpPr>
          <p:cNvPr id="20" name="Text 18"/>
          <p:cNvSpPr/>
          <p:nvPr/>
        </p:nvSpPr>
        <p:spPr>
          <a:xfrm>
            <a:off x="5166360" y="4041648"/>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Recommends actions</a:t>
            </a:r>
            <a:endParaRPr lang="en-US" sz="1150" dirty="0"/>
          </a:p>
        </p:txBody>
      </p:sp>
      <p:sp>
        <p:nvSpPr>
          <p:cNvPr id="21" name="Text 19"/>
          <p:cNvSpPr/>
          <p:nvPr/>
        </p:nvSpPr>
        <p:spPr>
          <a:xfrm>
            <a:off x="502920" y="4901184"/>
            <a:ext cx="11183112" cy="1362456"/>
          </a:xfrm>
          <a:prstGeom prst="rect">
            <a:avLst/>
          </a:prstGeom>
          <a:noFill/>
          <a:ln/>
        </p:spPr>
        <p:txBody>
          <a:bodyPr wrap="square" lIns="0" tIns="0" rIns="0" bIns="0" rtlCol="0" anchor="ctr"/>
          <a:lstStyle/>
          <a:p>
            <a:pPr indent="0" marL="0">
              <a:lnSpc>
                <a:spcPts val="1600"/>
              </a:lnSpc>
              <a:buNone/>
            </a:pPr>
            <a:r>
              <a:rPr lang="en-US" sz="1200" i="1" dirty="0">
                <a:solidFill>
                  <a:srgbClr val="6E6A63"/>
                </a:solidFill>
                <a:latin typeface="Calibri" pitchFamily="34" charset="0"/>
                <a:ea typeface="Calibri" pitchFamily="34" charset="-122"/>
                <a:cs typeface="Calibri" pitchFamily="34" charset="-120"/>
              </a:rPr>
              <a:t>A key point is that data analytics enables transition from reactive to proactive healthcare.</a:t>
            </a:r>
            <a:endParaRPr lang="en-US" sz="1200" dirty="0"/>
          </a:p>
        </p:txBody>
      </p:sp>
      <p:sp>
        <p:nvSpPr>
          <p:cNvPr id="22" name="Text 20"/>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6 · Pharmacy Data Analytics &amp; Predictive Modelling</a:t>
            </a:r>
            <a:endParaRPr lang="en-US" sz="950" dirty="0"/>
          </a:p>
        </p:txBody>
      </p:sp>
      <p:sp>
        <p:nvSpPr>
          <p:cNvPr id="23" name="Text 21"/>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1 · INTRODUCTION TO PHARMACY DATA &amp; ANALYTICS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Types of Pharmacy and Healthcare Data</a:t>
            </a:r>
            <a:endParaRPr lang="en-US" sz="2900" dirty="0"/>
          </a:p>
        </p:txBody>
      </p:sp>
      <p:sp>
        <p:nvSpPr>
          <p:cNvPr id="6" name="Shape 4"/>
          <p:cNvSpPr/>
          <p:nvPr/>
        </p:nvSpPr>
        <p:spPr>
          <a:xfrm>
            <a:off x="502920" y="1554480"/>
            <a:ext cx="11183112" cy="512064"/>
          </a:xfrm>
          <a:prstGeom prst="rect">
            <a:avLst/>
          </a:prstGeom>
          <a:solidFill>
            <a:srgbClr val="8C1515"/>
          </a:solidFill>
          <a:ln w="12700">
            <a:solidFill>
              <a:srgbClr val="8C1515"/>
            </a:solidFill>
            <a:prstDash val="solid"/>
          </a:ln>
        </p:spPr>
      </p:sp>
      <p:sp>
        <p:nvSpPr>
          <p:cNvPr id="7" name="Text 5"/>
          <p:cNvSpPr/>
          <p:nvPr/>
        </p:nvSpPr>
        <p:spPr>
          <a:xfrm>
            <a:off x="685800" y="1554480"/>
            <a:ext cx="4169664"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Source</a:t>
            </a:r>
            <a:endParaRPr lang="en-US" sz="1150" dirty="0"/>
          </a:p>
        </p:txBody>
      </p:sp>
      <p:sp>
        <p:nvSpPr>
          <p:cNvPr id="8" name="Text 6"/>
          <p:cNvSpPr/>
          <p:nvPr/>
        </p:nvSpPr>
        <p:spPr>
          <a:xfrm>
            <a:off x="5166360" y="1554480"/>
            <a:ext cx="6391656"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Description</a:t>
            </a:r>
            <a:endParaRPr lang="en-US" sz="1150" dirty="0"/>
          </a:p>
        </p:txBody>
      </p:sp>
      <p:sp>
        <p:nvSpPr>
          <p:cNvPr id="9" name="Shape 7"/>
          <p:cNvSpPr/>
          <p:nvPr/>
        </p:nvSpPr>
        <p:spPr>
          <a:xfrm>
            <a:off x="502920" y="2066544"/>
            <a:ext cx="11183112" cy="658368"/>
          </a:xfrm>
          <a:prstGeom prst="rect">
            <a:avLst/>
          </a:prstGeom>
          <a:solidFill>
            <a:srgbClr val="FFFFFF"/>
          </a:solidFill>
          <a:ln w="9525">
            <a:solidFill>
              <a:srgbClr val="DDD5CE"/>
            </a:solidFill>
            <a:prstDash val="solid"/>
          </a:ln>
        </p:spPr>
      </p:sp>
      <p:sp>
        <p:nvSpPr>
          <p:cNvPr id="10" name="Text 8"/>
          <p:cNvSpPr/>
          <p:nvPr/>
        </p:nvSpPr>
        <p:spPr>
          <a:xfrm>
            <a:off x="685800" y="2066544"/>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Clinical Data</a:t>
            </a:r>
            <a:endParaRPr lang="en-US" sz="1150" dirty="0"/>
          </a:p>
        </p:txBody>
      </p:sp>
      <p:sp>
        <p:nvSpPr>
          <p:cNvPr id="11" name="Text 9"/>
          <p:cNvSpPr/>
          <p:nvPr/>
        </p:nvSpPr>
        <p:spPr>
          <a:xfrm>
            <a:off x="5166360" y="2066544"/>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Patient records and lab results</a:t>
            </a:r>
            <a:endParaRPr lang="en-US" sz="1150" dirty="0"/>
          </a:p>
        </p:txBody>
      </p:sp>
      <p:sp>
        <p:nvSpPr>
          <p:cNvPr id="12" name="Shape 10"/>
          <p:cNvSpPr/>
          <p:nvPr/>
        </p:nvSpPr>
        <p:spPr>
          <a:xfrm>
            <a:off x="502920" y="2724912"/>
            <a:ext cx="11183112" cy="658368"/>
          </a:xfrm>
          <a:prstGeom prst="rect">
            <a:avLst/>
          </a:prstGeom>
          <a:solidFill>
            <a:srgbClr val="FAF8F6"/>
          </a:solidFill>
          <a:ln w="9525">
            <a:solidFill>
              <a:srgbClr val="DDD5CE"/>
            </a:solidFill>
            <a:prstDash val="solid"/>
          </a:ln>
        </p:spPr>
      </p:sp>
      <p:sp>
        <p:nvSpPr>
          <p:cNvPr id="13" name="Text 11"/>
          <p:cNvSpPr/>
          <p:nvPr/>
        </p:nvSpPr>
        <p:spPr>
          <a:xfrm>
            <a:off x="685800" y="2724912"/>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Administrative Data</a:t>
            </a:r>
            <a:endParaRPr lang="en-US" sz="1150" dirty="0"/>
          </a:p>
        </p:txBody>
      </p:sp>
      <p:sp>
        <p:nvSpPr>
          <p:cNvPr id="14" name="Text 12"/>
          <p:cNvSpPr/>
          <p:nvPr/>
        </p:nvSpPr>
        <p:spPr>
          <a:xfrm>
            <a:off x="5166360" y="2724912"/>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Billing and operations</a:t>
            </a:r>
            <a:endParaRPr lang="en-US" sz="1150" dirty="0"/>
          </a:p>
        </p:txBody>
      </p:sp>
      <p:sp>
        <p:nvSpPr>
          <p:cNvPr id="15" name="Shape 13"/>
          <p:cNvSpPr/>
          <p:nvPr/>
        </p:nvSpPr>
        <p:spPr>
          <a:xfrm>
            <a:off x="502920" y="3383280"/>
            <a:ext cx="11183112" cy="658368"/>
          </a:xfrm>
          <a:prstGeom prst="rect">
            <a:avLst/>
          </a:prstGeom>
          <a:solidFill>
            <a:srgbClr val="FFFFFF"/>
          </a:solidFill>
          <a:ln w="9525">
            <a:solidFill>
              <a:srgbClr val="DDD5CE"/>
            </a:solidFill>
            <a:prstDash val="solid"/>
          </a:ln>
        </p:spPr>
      </p:sp>
      <p:sp>
        <p:nvSpPr>
          <p:cNvPr id="16" name="Text 14"/>
          <p:cNvSpPr/>
          <p:nvPr/>
        </p:nvSpPr>
        <p:spPr>
          <a:xfrm>
            <a:off x="685800" y="3383280"/>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Pharmaceutical Data</a:t>
            </a:r>
            <a:endParaRPr lang="en-US" sz="1150" dirty="0"/>
          </a:p>
        </p:txBody>
      </p:sp>
      <p:sp>
        <p:nvSpPr>
          <p:cNvPr id="17" name="Text 15"/>
          <p:cNvSpPr/>
          <p:nvPr/>
        </p:nvSpPr>
        <p:spPr>
          <a:xfrm>
            <a:off x="5166360" y="3383280"/>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Drug usage and inventory</a:t>
            </a:r>
            <a:endParaRPr lang="en-US" sz="1150" dirty="0"/>
          </a:p>
        </p:txBody>
      </p:sp>
      <p:sp>
        <p:nvSpPr>
          <p:cNvPr id="18" name="Shape 16"/>
          <p:cNvSpPr/>
          <p:nvPr/>
        </p:nvSpPr>
        <p:spPr>
          <a:xfrm>
            <a:off x="502920" y="4041648"/>
            <a:ext cx="11183112" cy="658368"/>
          </a:xfrm>
          <a:prstGeom prst="rect">
            <a:avLst/>
          </a:prstGeom>
          <a:solidFill>
            <a:srgbClr val="FAF8F6"/>
          </a:solidFill>
          <a:ln w="9525">
            <a:solidFill>
              <a:srgbClr val="DDD5CE"/>
            </a:solidFill>
            <a:prstDash val="solid"/>
          </a:ln>
        </p:spPr>
      </p:sp>
      <p:sp>
        <p:nvSpPr>
          <p:cNvPr id="19" name="Text 17"/>
          <p:cNvSpPr/>
          <p:nvPr/>
        </p:nvSpPr>
        <p:spPr>
          <a:xfrm>
            <a:off x="685800" y="4041648"/>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Research Data</a:t>
            </a:r>
            <a:endParaRPr lang="en-US" sz="1150" dirty="0"/>
          </a:p>
        </p:txBody>
      </p:sp>
      <p:sp>
        <p:nvSpPr>
          <p:cNvPr id="20" name="Text 18"/>
          <p:cNvSpPr/>
          <p:nvPr/>
        </p:nvSpPr>
        <p:spPr>
          <a:xfrm>
            <a:off x="5166360" y="4041648"/>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Clinical trials and studies</a:t>
            </a:r>
            <a:endParaRPr lang="en-US" sz="1150" dirty="0"/>
          </a:p>
        </p:txBody>
      </p:sp>
      <p:sp>
        <p:nvSpPr>
          <p:cNvPr id="21" name="Text 19"/>
          <p:cNvSpPr/>
          <p:nvPr/>
        </p:nvSpPr>
        <p:spPr>
          <a:xfrm>
            <a:off x="502920" y="4901184"/>
            <a:ext cx="11183112" cy="1362456"/>
          </a:xfrm>
          <a:prstGeom prst="rect">
            <a:avLst/>
          </a:prstGeom>
          <a:noFill/>
          <a:ln/>
        </p:spPr>
        <p:txBody>
          <a:bodyPr wrap="square" lIns="0" tIns="0" rIns="0" bIns="0" rtlCol="0" anchor="ctr"/>
          <a:lstStyle/>
          <a:p>
            <a:pPr indent="0" marL="0">
              <a:lnSpc>
                <a:spcPts val="1600"/>
              </a:lnSpc>
              <a:buNone/>
            </a:pPr>
            <a:r>
              <a:rPr lang="en-US" sz="1200" i="1" dirty="0">
                <a:solidFill>
                  <a:srgbClr val="6E6A63"/>
                </a:solidFill>
                <a:latin typeface="Calibri" pitchFamily="34" charset="0"/>
                <a:ea typeface="Calibri" pitchFamily="34" charset="-122"/>
                <a:cs typeface="Calibri" pitchFamily="34" charset="-120"/>
              </a:rPr>
              <a:t>AI systems are capable of processing both structured and unstructured data, enabling comprehensive analysis and insights. A key point is that AI handles large and complex healthcare datasets effectively.</a:t>
            </a:r>
            <a:endParaRPr lang="en-US" sz="1200" dirty="0"/>
          </a:p>
        </p:txBody>
      </p:sp>
      <p:sp>
        <p:nvSpPr>
          <p:cNvPr id="22" name="Text 20"/>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6 · Pharmacy Data Analytics &amp; Predictive Modelling</a:t>
            </a:r>
            <a:endParaRPr lang="en-US" sz="950" dirty="0"/>
          </a:p>
        </p:txBody>
      </p:sp>
      <p:sp>
        <p:nvSpPr>
          <p:cNvPr id="23" name="Text 21"/>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1 · INTRODUCTION TO PHARMACY DATA &amp; ANALYTICS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Descriptive analytics</a:t>
            </a:r>
            <a:endParaRPr lang="en-US" sz="2900" dirty="0"/>
          </a:p>
        </p:txBody>
      </p:sp>
      <p:sp>
        <p:nvSpPr>
          <p:cNvPr id="6" name="Text 4"/>
          <p:cNvSpPr/>
          <p:nvPr/>
        </p:nvSpPr>
        <p:spPr>
          <a:xfrm>
            <a:off x="502920" y="1536192"/>
            <a:ext cx="6903720" cy="4297680"/>
          </a:xfrm>
          <a:prstGeom prst="rect">
            <a:avLst/>
          </a:prstGeom>
          <a:noFill/>
          <a:ln/>
        </p:spPr>
        <p:txBody>
          <a:bodyPr wrap="square" lIns="0" tIns="0" rIns="0" bIns="0" rtlCol="0" anchor="t"/>
          <a:lstStyle/>
          <a:p>
            <a:pPr indent="0" marL="0">
              <a:lnSpc>
                <a:spcPts val="2600"/>
              </a:lnSpc>
              <a:buNone/>
            </a:pPr>
            <a:r>
              <a:rPr lang="en-US" sz="1750" dirty="0">
                <a:solidFill>
                  <a:srgbClr val="26221F"/>
                </a:solidFill>
                <a:latin typeface="Calibri" pitchFamily="34" charset="0"/>
                <a:ea typeface="Calibri" pitchFamily="34" charset="-122"/>
                <a:cs typeface="Calibri" pitchFamily="34" charset="-120"/>
              </a:rPr>
              <a:t>Descriptive analytics provides insights into past events, such as patient outcomes and drug usage patterns. Diagnostic analytics identifies causes of outcomes, such as reasons for adverse drug reactions. Predictive analytics forecasts future events, such as risk of disease progression.</a:t>
            </a:r>
            <a:endParaRPr lang="en-US" sz="1750" dirty="0"/>
          </a:p>
        </p:txBody>
      </p:sp>
      <p:sp>
        <p:nvSpPr>
          <p:cNvPr id="7" name="Shape 5"/>
          <p:cNvSpPr/>
          <p:nvPr/>
        </p:nvSpPr>
        <p:spPr>
          <a:xfrm>
            <a:off x="7680960" y="1536192"/>
            <a:ext cx="4005072" cy="1828800"/>
          </a:xfrm>
          <a:prstGeom prst="roundRect">
            <a:avLst>
              <a:gd name="adj" fmla="val 3000"/>
            </a:avLst>
          </a:prstGeom>
          <a:solidFill>
            <a:srgbClr val="2E1010"/>
          </a:solidFill>
          <a:ln w="9525">
            <a:solidFill>
              <a:srgbClr val="46201F"/>
            </a:solidFill>
            <a:prstDash val="solid"/>
          </a:ln>
        </p:spPr>
      </p:sp>
      <p:sp>
        <p:nvSpPr>
          <p:cNvPr id="8" name="Text 6"/>
          <p:cNvSpPr/>
          <p:nvPr/>
        </p:nvSpPr>
        <p:spPr>
          <a:xfrm>
            <a:off x="8028432" y="1810512"/>
            <a:ext cx="338328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WHY IT MATTERS</a:t>
            </a:r>
            <a:endParaRPr lang="en-US" sz="1050" dirty="0"/>
          </a:p>
        </p:txBody>
      </p:sp>
      <p:sp>
        <p:nvSpPr>
          <p:cNvPr id="9" name="Text 7"/>
          <p:cNvSpPr/>
          <p:nvPr/>
        </p:nvSpPr>
        <p:spPr>
          <a:xfrm>
            <a:off x="8028432" y="2212848"/>
            <a:ext cx="3310128" cy="969264"/>
          </a:xfrm>
          <a:prstGeom prst="rect">
            <a:avLst/>
          </a:prstGeom>
          <a:noFill/>
          <a:ln/>
        </p:spPr>
        <p:txBody>
          <a:bodyPr wrap="square" lIns="0" tIns="0" rIns="0" bIns="0" rtlCol="0" anchor="t"/>
          <a:lstStyle/>
          <a:p>
            <a:pPr indent="0" marL="0">
              <a:lnSpc>
                <a:spcPts val="1900"/>
              </a:lnSpc>
              <a:buNone/>
            </a:pPr>
            <a:r>
              <a:rPr lang="en-US" sz="1300" dirty="0">
                <a:solidFill>
                  <a:srgbClr val="F0E7E4"/>
                </a:solidFill>
                <a:latin typeface="Calibri" pitchFamily="34" charset="0"/>
                <a:ea typeface="Calibri" pitchFamily="34" charset="-122"/>
                <a:cs typeface="Calibri" pitchFamily="34" charset="-120"/>
              </a:rPr>
              <a:t>Prescriptive analytics recommends actions, such as optimal treatment strategies.</a:t>
            </a:r>
            <a:endParaRPr lang="en-US" sz="1300" dirty="0"/>
          </a:p>
        </p:txBody>
      </p:sp>
      <p:sp>
        <p:nvSpPr>
          <p:cNvPr id="10" name="Text 8"/>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6 · Pharmacy Data Analytics &amp; Predictive Modelling</a:t>
            </a:r>
            <a:endParaRPr lang="en-US" sz="950" dirty="0"/>
          </a:p>
        </p:txBody>
      </p:sp>
      <p:sp>
        <p:nvSpPr>
          <p:cNvPr id="11" name="Text 9"/>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1 · INTRODUCTION TO PHARMACY DATA &amp; ANALYTICS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Unit 1 summary</a:t>
            </a:r>
            <a:endParaRPr lang="en-US" sz="2900" dirty="0"/>
          </a:p>
        </p:txBody>
      </p:sp>
      <p:sp>
        <p:nvSpPr>
          <p:cNvPr id="6" name="Text 4"/>
          <p:cNvSpPr/>
          <p:nvPr/>
        </p:nvSpPr>
        <p:spPr>
          <a:xfrm>
            <a:off x="502920" y="1536192"/>
            <a:ext cx="6903720" cy="4297680"/>
          </a:xfrm>
          <a:prstGeom prst="rect">
            <a:avLst/>
          </a:prstGeom>
          <a:noFill/>
          <a:ln/>
        </p:spPr>
        <p:txBody>
          <a:bodyPr wrap="square" lIns="0" tIns="0" rIns="0" bIns="0" rtlCol="0" anchor="t"/>
          <a:lstStyle/>
          <a:p>
            <a:pPr indent="0" marL="0">
              <a:lnSpc>
                <a:spcPts val="2600"/>
              </a:lnSpc>
              <a:buNone/>
            </a:pPr>
            <a:r>
              <a:rPr lang="en-US" sz="1750" dirty="0">
                <a:solidFill>
                  <a:srgbClr val="26221F"/>
                </a:solidFill>
                <a:latin typeface="Calibri" pitchFamily="34" charset="0"/>
                <a:ea typeface="Calibri" pitchFamily="34" charset="-122"/>
                <a:cs typeface="Calibri" pitchFamily="34" charset="-120"/>
              </a:rPr>
              <a:t>Pharmacy data and analytics are essential for modern healthcare systems, enabling efficient and data-driven decision-making. The integration of AI has transformed data analysis by improving accuracy, efficiency, and predictive capabilities.</a:t>
            </a:r>
            <a:endParaRPr lang="en-US" sz="1750" dirty="0"/>
          </a:p>
        </p:txBody>
      </p:sp>
      <p:sp>
        <p:nvSpPr>
          <p:cNvPr id="7" name="Shape 5"/>
          <p:cNvSpPr/>
          <p:nvPr/>
        </p:nvSpPr>
        <p:spPr>
          <a:xfrm>
            <a:off x="7680960" y="1536192"/>
            <a:ext cx="4005072" cy="2263140"/>
          </a:xfrm>
          <a:prstGeom prst="roundRect">
            <a:avLst>
              <a:gd name="adj" fmla="val 2424"/>
            </a:avLst>
          </a:prstGeom>
          <a:solidFill>
            <a:srgbClr val="2E1010"/>
          </a:solidFill>
          <a:ln w="9525">
            <a:solidFill>
              <a:srgbClr val="46201F"/>
            </a:solidFill>
            <a:prstDash val="solid"/>
          </a:ln>
        </p:spPr>
      </p:sp>
      <p:sp>
        <p:nvSpPr>
          <p:cNvPr id="8" name="Text 6"/>
          <p:cNvSpPr/>
          <p:nvPr/>
        </p:nvSpPr>
        <p:spPr>
          <a:xfrm>
            <a:off x="8028432" y="1810512"/>
            <a:ext cx="338328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WHY IT MATTERS</a:t>
            </a:r>
            <a:endParaRPr lang="en-US" sz="1050" dirty="0"/>
          </a:p>
        </p:txBody>
      </p:sp>
      <p:sp>
        <p:nvSpPr>
          <p:cNvPr id="9" name="Text 7"/>
          <p:cNvSpPr/>
          <p:nvPr/>
        </p:nvSpPr>
        <p:spPr>
          <a:xfrm>
            <a:off x="8028432" y="2212848"/>
            <a:ext cx="3310128" cy="1403604"/>
          </a:xfrm>
          <a:prstGeom prst="rect">
            <a:avLst/>
          </a:prstGeom>
          <a:noFill/>
          <a:ln/>
        </p:spPr>
        <p:txBody>
          <a:bodyPr wrap="square" lIns="0" tIns="0" rIns="0" bIns="0" rtlCol="0" anchor="t"/>
          <a:lstStyle/>
          <a:p>
            <a:pPr indent="0" marL="0">
              <a:lnSpc>
                <a:spcPts val="1900"/>
              </a:lnSpc>
              <a:buNone/>
            </a:pPr>
            <a:r>
              <a:rPr lang="en-US" sz="1300" dirty="0">
                <a:solidFill>
                  <a:srgbClr val="F0E7E4"/>
                </a:solidFill>
                <a:latin typeface="Calibri" pitchFamily="34" charset="0"/>
                <a:ea typeface="Calibri" pitchFamily="34" charset="-122"/>
                <a:cs typeface="Calibri" pitchFamily="34" charset="-120"/>
              </a:rPr>
              <a:t>Understanding data types, collection methods, and analytics techniques is crucial for pharmacy students, as it prepares them for advanced roles in digital healthcare and data-driven pharmacy practice.</a:t>
            </a:r>
            <a:endParaRPr lang="en-US" sz="1300" dirty="0"/>
          </a:p>
        </p:txBody>
      </p:sp>
      <p:sp>
        <p:nvSpPr>
          <p:cNvPr id="10" name="Text 8"/>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6 · Pharmacy Data Analytics &amp; Predictive Modelling</a:t>
            </a:r>
            <a:endParaRPr lang="en-US" sz="950" dirty="0"/>
          </a:p>
        </p:txBody>
      </p:sp>
      <p:sp>
        <p:nvSpPr>
          <p:cNvPr id="11" name="Text 9"/>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8</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2 · MACHINE LEARNING IN PHARMACY PRACTICE</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Machine Learning (ML)</a:t>
            </a:r>
            <a:endParaRPr lang="en-US" sz="2900" dirty="0"/>
          </a:p>
        </p:txBody>
      </p:sp>
      <p:sp>
        <p:nvSpPr>
          <p:cNvPr id="6" name="Text 4"/>
          <p:cNvSpPr/>
          <p:nvPr/>
        </p:nvSpPr>
        <p:spPr>
          <a:xfrm>
            <a:off x="502920" y="1536192"/>
            <a:ext cx="6903720" cy="4297680"/>
          </a:xfrm>
          <a:prstGeom prst="rect">
            <a:avLst/>
          </a:prstGeom>
          <a:noFill/>
          <a:ln/>
        </p:spPr>
        <p:txBody>
          <a:bodyPr wrap="square" lIns="0" tIns="0" rIns="0" bIns="0" rtlCol="0" anchor="t"/>
          <a:lstStyle/>
          <a:p>
            <a:pPr indent="0" marL="0">
              <a:lnSpc>
                <a:spcPts val="2300"/>
              </a:lnSpc>
              <a:buNone/>
            </a:pPr>
            <a:r>
              <a:rPr lang="en-US" sz="1550" dirty="0">
                <a:solidFill>
                  <a:srgbClr val="26221F"/>
                </a:solidFill>
                <a:latin typeface="Calibri" pitchFamily="34" charset="0"/>
                <a:ea typeface="Calibri" pitchFamily="34" charset="-122"/>
                <a:cs typeface="Calibri" pitchFamily="34" charset="-120"/>
              </a:rPr>
              <a:t>Machine Learning (ML), a subset of Artificial Intelligence (AI), is transforming pharmacy practice by enabling advanced data analysis, predictive modelling, and intelligent decision-making. In healthcare, vast amounts of data are generated from clinical records, prescriptions, laboratory results, and pharmacovigilance systems. Machine learning algorithms analyze this data to identify patterns, predict outcomes, and support clinical and operational decisions.</a:t>
            </a:r>
            <a:endParaRPr lang="en-US" sz="1550" dirty="0"/>
          </a:p>
        </p:txBody>
      </p:sp>
      <p:sp>
        <p:nvSpPr>
          <p:cNvPr id="7" name="Shape 5"/>
          <p:cNvSpPr/>
          <p:nvPr/>
        </p:nvSpPr>
        <p:spPr>
          <a:xfrm>
            <a:off x="7680960" y="1536192"/>
            <a:ext cx="4005072" cy="2020824"/>
          </a:xfrm>
          <a:prstGeom prst="roundRect">
            <a:avLst>
              <a:gd name="adj" fmla="val 2715"/>
            </a:avLst>
          </a:prstGeom>
          <a:solidFill>
            <a:srgbClr val="2E1010"/>
          </a:solidFill>
          <a:ln w="9525">
            <a:solidFill>
              <a:srgbClr val="46201F"/>
            </a:solidFill>
            <a:prstDash val="solid"/>
          </a:ln>
        </p:spPr>
      </p:sp>
      <p:sp>
        <p:nvSpPr>
          <p:cNvPr id="8" name="Text 6"/>
          <p:cNvSpPr/>
          <p:nvPr/>
        </p:nvSpPr>
        <p:spPr>
          <a:xfrm>
            <a:off x="8028432" y="1810512"/>
            <a:ext cx="338328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WHY IT MATTERS</a:t>
            </a:r>
            <a:endParaRPr lang="en-US" sz="1050" dirty="0"/>
          </a:p>
        </p:txBody>
      </p:sp>
      <p:sp>
        <p:nvSpPr>
          <p:cNvPr id="9" name="Text 7"/>
          <p:cNvSpPr/>
          <p:nvPr/>
        </p:nvSpPr>
        <p:spPr>
          <a:xfrm>
            <a:off x="8028432" y="2212848"/>
            <a:ext cx="3310128" cy="1161288"/>
          </a:xfrm>
          <a:prstGeom prst="rect">
            <a:avLst/>
          </a:prstGeom>
          <a:noFill/>
          <a:ln/>
        </p:spPr>
        <p:txBody>
          <a:bodyPr wrap="square" lIns="0" tIns="0" rIns="0" bIns="0" rtlCol="0" anchor="t"/>
          <a:lstStyle/>
          <a:p>
            <a:pPr indent="0" marL="0">
              <a:lnSpc>
                <a:spcPts val="1900"/>
              </a:lnSpc>
              <a:buNone/>
            </a:pPr>
            <a:r>
              <a:rPr lang="en-US" sz="1300" dirty="0">
                <a:solidFill>
                  <a:srgbClr val="F0E7E4"/>
                </a:solidFill>
                <a:latin typeface="Calibri" pitchFamily="34" charset="0"/>
                <a:ea typeface="Calibri" pitchFamily="34" charset="-122"/>
                <a:cs typeface="Calibri" pitchFamily="34" charset="-120"/>
              </a:rPr>
              <a:t>The integration of ML in pharmacy practice enhances patient safety, optimizes drug therapy, and improves healthcare efficiency.</a:t>
            </a:r>
            <a:endParaRPr lang="en-US" sz="1300" dirty="0"/>
          </a:p>
        </p:txBody>
      </p:sp>
      <p:sp>
        <p:nvSpPr>
          <p:cNvPr id="10" name="Text 8"/>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6 · Pharmacy Data Analytics &amp; Predictive Modelling</a:t>
            </a:r>
            <a:endParaRPr lang="en-US" sz="950" dirty="0"/>
          </a:p>
        </p:txBody>
      </p:sp>
      <p:sp>
        <p:nvSpPr>
          <p:cNvPr id="11" name="Text 9"/>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9</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2 · MACHINE LEARNING IN PHARMACY PRACTICE</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Supervised and Unsupervised Learning Concepts</a:t>
            </a:r>
            <a:endParaRPr lang="en-US" sz="2900" dirty="0"/>
          </a:p>
        </p:txBody>
      </p:sp>
      <p:sp>
        <p:nvSpPr>
          <p:cNvPr id="6" name="Shape 4"/>
          <p:cNvSpPr/>
          <p:nvPr/>
        </p:nvSpPr>
        <p:spPr>
          <a:xfrm>
            <a:off x="502920" y="1554480"/>
            <a:ext cx="11183112" cy="512064"/>
          </a:xfrm>
          <a:prstGeom prst="rect">
            <a:avLst/>
          </a:prstGeom>
          <a:solidFill>
            <a:srgbClr val="8C1515"/>
          </a:solidFill>
          <a:ln w="12700">
            <a:solidFill>
              <a:srgbClr val="8C1515"/>
            </a:solidFill>
            <a:prstDash val="solid"/>
          </a:ln>
        </p:spPr>
      </p:sp>
      <p:sp>
        <p:nvSpPr>
          <p:cNvPr id="7" name="Text 5"/>
          <p:cNvSpPr/>
          <p:nvPr/>
        </p:nvSpPr>
        <p:spPr>
          <a:xfrm>
            <a:off x="685800" y="1554480"/>
            <a:ext cx="4169664"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Method</a:t>
            </a:r>
            <a:endParaRPr lang="en-US" sz="1150" dirty="0"/>
          </a:p>
        </p:txBody>
      </p:sp>
      <p:sp>
        <p:nvSpPr>
          <p:cNvPr id="8" name="Text 6"/>
          <p:cNvSpPr/>
          <p:nvPr/>
        </p:nvSpPr>
        <p:spPr>
          <a:xfrm>
            <a:off x="5166360" y="1554480"/>
            <a:ext cx="6391656"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Description</a:t>
            </a:r>
            <a:endParaRPr lang="en-US" sz="1150" dirty="0"/>
          </a:p>
        </p:txBody>
      </p:sp>
      <p:sp>
        <p:nvSpPr>
          <p:cNvPr id="9" name="Shape 7"/>
          <p:cNvSpPr/>
          <p:nvPr/>
        </p:nvSpPr>
        <p:spPr>
          <a:xfrm>
            <a:off x="502920" y="2066544"/>
            <a:ext cx="11183112" cy="658368"/>
          </a:xfrm>
          <a:prstGeom prst="rect">
            <a:avLst/>
          </a:prstGeom>
          <a:solidFill>
            <a:srgbClr val="FFFFFF"/>
          </a:solidFill>
          <a:ln w="9525">
            <a:solidFill>
              <a:srgbClr val="DDD5CE"/>
            </a:solidFill>
            <a:prstDash val="solid"/>
          </a:ln>
        </p:spPr>
      </p:sp>
      <p:sp>
        <p:nvSpPr>
          <p:cNvPr id="10" name="Text 8"/>
          <p:cNvSpPr/>
          <p:nvPr/>
        </p:nvSpPr>
        <p:spPr>
          <a:xfrm>
            <a:off x="685800" y="2066544"/>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Classification</a:t>
            </a:r>
            <a:endParaRPr lang="en-US" sz="1150" dirty="0"/>
          </a:p>
        </p:txBody>
      </p:sp>
      <p:sp>
        <p:nvSpPr>
          <p:cNvPr id="11" name="Text 9"/>
          <p:cNvSpPr/>
          <p:nvPr/>
        </p:nvSpPr>
        <p:spPr>
          <a:xfrm>
            <a:off x="5166360" y="2066544"/>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Predicts categories</a:t>
            </a:r>
            <a:endParaRPr lang="en-US" sz="1150" dirty="0"/>
          </a:p>
        </p:txBody>
      </p:sp>
      <p:sp>
        <p:nvSpPr>
          <p:cNvPr id="12" name="Shape 10"/>
          <p:cNvSpPr/>
          <p:nvPr/>
        </p:nvSpPr>
        <p:spPr>
          <a:xfrm>
            <a:off x="502920" y="2724912"/>
            <a:ext cx="11183112" cy="658368"/>
          </a:xfrm>
          <a:prstGeom prst="rect">
            <a:avLst/>
          </a:prstGeom>
          <a:solidFill>
            <a:srgbClr val="FAF8F6"/>
          </a:solidFill>
          <a:ln w="9525">
            <a:solidFill>
              <a:srgbClr val="DDD5CE"/>
            </a:solidFill>
            <a:prstDash val="solid"/>
          </a:ln>
        </p:spPr>
      </p:sp>
      <p:sp>
        <p:nvSpPr>
          <p:cNvPr id="13" name="Text 11"/>
          <p:cNvSpPr/>
          <p:nvPr/>
        </p:nvSpPr>
        <p:spPr>
          <a:xfrm>
            <a:off x="685800" y="2724912"/>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Regression</a:t>
            </a:r>
            <a:endParaRPr lang="en-US" sz="1150" dirty="0"/>
          </a:p>
        </p:txBody>
      </p:sp>
      <p:sp>
        <p:nvSpPr>
          <p:cNvPr id="14" name="Text 12"/>
          <p:cNvSpPr/>
          <p:nvPr/>
        </p:nvSpPr>
        <p:spPr>
          <a:xfrm>
            <a:off x="5166360" y="2724912"/>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Predicts numerical values</a:t>
            </a:r>
            <a:endParaRPr lang="en-US" sz="1150" dirty="0"/>
          </a:p>
        </p:txBody>
      </p:sp>
      <p:sp>
        <p:nvSpPr>
          <p:cNvPr id="15" name="Shape 13"/>
          <p:cNvSpPr/>
          <p:nvPr/>
        </p:nvSpPr>
        <p:spPr>
          <a:xfrm>
            <a:off x="502920" y="3383280"/>
            <a:ext cx="11183112" cy="658368"/>
          </a:xfrm>
          <a:prstGeom prst="rect">
            <a:avLst/>
          </a:prstGeom>
          <a:solidFill>
            <a:srgbClr val="FFFFFF"/>
          </a:solidFill>
          <a:ln w="9525">
            <a:solidFill>
              <a:srgbClr val="DDD5CE"/>
            </a:solidFill>
            <a:prstDash val="solid"/>
          </a:ln>
        </p:spPr>
      </p:sp>
      <p:sp>
        <p:nvSpPr>
          <p:cNvPr id="16" name="Text 14"/>
          <p:cNvSpPr/>
          <p:nvPr/>
        </p:nvSpPr>
        <p:spPr>
          <a:xfrm>
            <a:off x="685800" y="3383280"/>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Clustering</a:t>
            </a:r>
            <a:endParaRPr lang="en-US" sz="1150" dirty="0"/>
          </a:p>
        </p:txBody>
      </p:sp>
      <p:sp>
        <p:nvSpPr>
          <p:cNvPr id="17" name="Text 15"/>
          <p:cNvSpPr/>
          <p:nvPr/>
        </p:nvSpPr>
        <p:spPr>
          <a:xfrm>
            <a:off x="5166360" y="3383280"/>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Groups similar data</a:t>
            </a:r>
            <a:endParaRPr lang="en-US" sz="1150" dirty="0"/>
          </a:p>
        </p:txBody>
      </p:sp>
      <p:sp>
        <p:nvSpPr>
          <p:cNvPr id="18" name="Shape 16"/>
          <p:cNvSpPr/>
          <p:nvPr/>
        </p:nvSpPr>
        <p:spPr>
          <a:xfrm>
            <a:off x="502920" y="4041648"/>
            <a:ext cx="11183112" cy="658368"/>
          </a:xfrm>
          <a:prstGeom prst="rect">
            <a:avLst/>
          </a:prstGeom>
          <a:solidFill>
            <a:srgbClr val="FAF8F6"/>
          </a:solidFill>
          <a:ln w="9525">
            <a:solidFill>
              <a:srgbClr val="DDD5CE"/>
            </a:solidFill>
            <a:prstDash val="solid"/>
          </a:ln>
        </p:spPr>
      </p:sp>
      <p:sp>
        <p:nvSpPr>
          <p:cNvPr id="19" name="Text 17"/>
          <p:cNvSpPr/>
          <p:nvPr/>
        </p:nvSpPr>
        <p:spPr>
          <a:xfrm>
            <a:off x="685800" y="4041648"/>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Association</a:t>
            </a:r>
            <a:endParaRPr lang="en-US" sz="1150" dirty="0"/>
          </a:p>
        </p:txBody>
      </p:sp>
      <p:sp>
        <p:nvSpPr>
          <p:cNvPr id="20" name="Text 18"/>
          <p:cNvSpPr/>
          <p:nvPr/>
        </p:nvSpPr>
        <p:spPr>
          <a:xfrm>
            <a:off x="5166360" y="4041648"/>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Finds relationships</a:t>
            </a:r>
            <a:endParaRPr lang="en-US" sz="1150" dirty="0"/>
          </a:p>
        </p:txBody>
      </p:sp>
      <p:sp>
        <p:nvSpPr>
          <p:cNvPr id="21" name="Text 19"/>
          <p:cNvSpPr/>
          <p:nvPr/>
        </p:nvSpPr>
        <p:spPr>
          <a:xfrm>
            <a:off x="502920" y="4901184"/>
            <a:ext cx="11183112" cy="1362456"/>
          </a:xfrm>
          <a:prstGeom prst="rect">
            <a:avLst/>
          </a:prstGeom>
          <a:noFill/>
          <a:ln/>
        </p:spPr>
        <p:txBody>
          <a:bodyPr wrap="square" lIns="0" tIns="0" rIns="0" bIns="0" rtlCol="0" anchor="ctr"/>
          <a:lstStyle/>
          <a:p>
            <a:pPr indent="0" marL="0">
              <a:lnSpc>
                <a:spcPts val="1600"/>
              </a:lnSpc>
              <a:buNone/>
            </a:pPr>
            <a:r>
              <a:rPr lang="en-US" sz="1200" i="1" dirty="0">
                <a:solidFill>
                  <a:srgbClr val="6E6A63"/>
                </a:solidFill>
                <a:latin typeface="Calibri" pitchFamily="34" charset="0"/>
                <a:ea typeface="Calibri" pitchFamily="34" charset="-122"/>
                <a:cs typeface="Calibri" pitchFamily="34" charset="-120"/>
              </a:rPr>
              <a:t>A key point is that supervised learning is used for prediction, while unsupervised learning is used for pattern discovery.</a:t>
            </a:r>
            <a:endParaRPr lang="en-US" sz="1200" dirty="0"/>
          </a:p>
        </p:txBody>
      </p:sp>
      <p:sp>
        <p:nvSpPr>
          <p:cNvPr id="22" name="Text 20"/>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6 · Pharmacy Data Analytics &amp; Predictive Modelling</a:t>
            </a:r>
            <a:endParaRPr lang="en-US" sz="950" dirty="0"/>
          </a:p>
        </p:txBody>
      </p:sp>
      <p:sp>
        <p:nvSpPr>
          <p:cNvPr id="23" name="Text 21"/>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10</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2 · MACHINE LEARNING IN PHARMACY PRACTICE</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Regression models</a:t>
            </a:r>
            <a:endParaRPr lang="en-US" sz="2900" dirty="0"/>
          </a:p>
        </p:txBody>
      </p:sp>
      <p:sp>
        <p:nvSpPr>
          <p:cNvPr id="6" name="Text 4"/>
          <p:cNvSpPr/>
          <p:nvPr/>
        </p:nvSpPr>
        <p:spPr>
          <a:xfrm>
            <a:off x="502920" y="1536192"/>
            <a:ext cx="6903720" cy="4297680"/>
          </a:xfrm>
          <a:prstGeom prst="rect">
            <a:avLst/>
          </a:prstGeom>
          <a:noFill/>
          <a:ln/>
        </p:spPr>
        <p:txBody>
          <a:bodyPr wrap="square" lIns="0" tIns="0" rIns="0" bIns="0" rtlCol="0" anchor="t"/>
          <a:lstStyle/>
          <a:p>
            <a:pPr indent="0" marL="0">
              <a:lnSpc>
                <a:spcPts val="2600"/>
              </a:lnSpc>
              <a:buNone/>
            </a:pPr>
            <a:r>
              <a:rPr lang="en-US" sz="1750" dirty="0">
                <a:solidFill>
                  <a:srgbClr val="26221F"/>
                </a:solidFill>
                <a:latin typeface="Calibri" pitchFamily="34" charset="0"/>
                <a:ea typeface="Calibri" pitchFamily="34" charset="-122"/>
                <a:cs typeface="Calibri" pitchFamily="34" charset="-120"/>
              </a:rPr>
              <a:t>Regression models are used for predicting continuous outcomes, such as drug dosage or patient recovery time. Decision trees provide simple and interpretable models for classification tasks. Random forests improve accuracy by combining multiple decision trees.</a:t>
            </a:r>
            <a:endParaRPr lang="en-US" sz="1750" dirty="0"/>
          </a:p>
        </p:txBody>
      </p:sp>
      <p:sp>
        <p:nvSpPr>
          <p:cNvPr id="7" name="Shape 5"/>
          <p:cNvSpPr/>
          <p:nvPr/>
        </p:nvSpPr>
        <p:spPr>
          <a:xfrm>
            <a:off x="7680960" y="1536192"/>
            <a:ext cx="4005072" cy="1828800"/>
          </a:xfrm>
          <a:prstGeom prst="roundRect">
            <a:avLst>
              <a:gd name="adj" fmla="val 3000"/>
            </a:avLst>
          </a:prstGeom>
          <a:solidFill>
            <a:srgbClr val="2E1010"/>
          </a:solidFill>
          <a:ln w="9525">
            <a:solidFill>
              <a:srgbClr val="46201F"/>
            </a:solidFill>
            <a:prstDash val="solid"/>
          </a:ln>
        </p:spPr>
      </p:sp>
      <p:sp>
        <p:nvSpPr>
          <p:cNvPr id="8" name="Text 6"/>
          <p:cNvSpPr/>
          <p:nvPr/>
        </p:nvSpPr>
        <p:spPr>
          <a:xfrm>
            <a:off x="8028432" y="1810512"/>
            <a:ext cx="338328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WHY IT MATTERS</a:t>
            </a:r>
            <a:endParaRPr lang="en-US" sz="1050" dirty="0"/>
          </a:p>
        </p:txBody>
      </p:sp>
      <p:sp>
        <p:nvSpPr>
          <p:cNvPr id="9" name="Text 7"/>
          <p:cNvSpPr/>
          <p:nvPr/>
        </p:nvSpPr>
        <p:spPr>
          <a:xfrm>
            <a:off x="8028432" y="2212848"/>
            <a:ext cx="3310128" cy="969264"/>
          </a:xfrm>
          <a:prstGeom prst="rect">
            <a:avLst/>
          </a:prstGeom>
          <a:noFill/>
          <a:ln/>
        </p:spPr>
        <p:txBody>
          <a:bodyPr wrap="square" lIns="0" tIns="0" rIns="0" bIns="0" rtlCol="0" anchor="t"/>
          <a:lstStyle/>
          <a:p>
            <a:pPr indent="0" marL="0">
              <a:lnSpc>
                <a:spcPts val="1900"/>
              </a:lnSpc>
              <a:buNone/>
            </a:pPr>
            <a:r>
              <a:rPr lang="en-US" sz="1300" dirty="0">
                <a:solidFill>
                  <a:srgbClr val="F0E7E4"/>
                </a:solidFill>
                <a:latin typeface="Calibri" pitchFamily="34" charset="0"/>
                <a:ea typeface="Calibri" pitchFamily="34" charset="-122"/>
                <a:cs typeface="Calibri" pitchFamily="34" charset="-120"/>
              </a:rPr>
              <a:t>Neural networks are advanced models capable of handling complex data patterns.</a:t>
            </a:r>
            <a:endParaRPr lang="en-US" sz="1300" dirty="0"/>
          </a:p>
        </p:txBody>
      </p:sp>
      <p:sp>
        <p:nvSpPr>
          <p:cNvPr id="10" name="Text 8"/>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6 · Pharmacy Data Analytics &amp; Predictive Modelling</a:t>
            </a:r>
            <a:endParaRPr lang="en-US" sz="950" dirty="0"/>
          </a:p>
        </p:txBody>
      </p:sp>
      <p:sp>
        <p:nvSpPr>
          <p:cNvPr id="11" name="Text 9"/>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11</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11</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2 · MACHINE LEARNING IN PHARMACY PRACTICE</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Unit 2 summary</a:t>
            </a:r>
            <a:endParaRPr lang="en-US" sz="2900" dirty="0"/>
          </a:p>
        </p:txBody>
      </p:sp>
      <p:sp>
        <p:nvSpPr>
          <p:cNvPr id="6" name="Text 4"/>
          <p:cNvSpPr/>
          <p:nvPr/>
        </p:nvSpPr>
        <p:spPr>
          <a:xfrm>
            <a:off x="502920" y="1536192"/>
            <a:ext cx="6903720" cy="4297680"/>
          </a:xfrm>
          <a:prstGeom prst="rect">
            <a:avLst/>
          </a:prstGeom>
          <a:noFill/>
          <a:ln/>
        </p:spPr>
        <p:txBody>
          <a:bodyPr wrap="square" lIns="0" tIns="0" rIns="0" bIns="0" rtlCol="0" anchor="t"/>
          <a:lstStyle/>
          <a:p>
            <a:pPr indent="0" marL="0">
              <a:lnSpc>
                <a:spcPts val="2600"/>
              </a:lnSpc>
              <a:buNone/>
            </a:pPr>
            <a:r>
              <a:rPr lang="en-US" sz="1750" dirty="0">
                <a:solidFill>
                  <a:srgbClr val="26221F"/>
                </a:solidFill>
                <a:latin typeface="Calibri" pitchFamily="34" charset="0"/>
                <a:ea typeface="Calibri" pitchFamily="34" charset="-122"/>
                <a:cs typeface="Calibri" pitchFamily="34" charset="-120"/>
              </a:rPr>
              <a:t>Machine learning is transforming pharmacy practice by enabling advanced data analysis, pattern recognition, and predictive modelling. It supports clinical decision-making, improves drug utilization, and enhances patient outcomes.</a:t>
            </a:r>
            <a:endParaRPr lang="en-US" sz="1750" dirty="0"/>
          </a:p>
        </p:txBody>
      </p:sp>
      <p:sp>
        <p:nvSpPr>
          <p:cNvPr id="7" name="Shape 5"/>
          <p:cNvSpPr/>
          <p:nvPr/>
        </p:nvSpPr>
        <p:spPr>
          <a:xfrm>
            <a:off x="7680960" y="1536192"/>
            <a:ext cx="4005072" cy="2263140"/>
          </a:xfrm>
          <a:prstGeom prst="roundRect">
            <a:avLst>
              <a:gd name="adj" fmla="val 2424"/>
            </a:avLst>
          </a:prstGeom>
          <a:solidFill>
            <a:srgbClr val="2E1010"/>
          </a:solidFill>
          <a:ln w="9525">
            <a:solidFill>
              <a:srgbClr val="46201F"/>
            </a:solidFill>
            <a:prstDash val="solid"/>
          </a:ln>
        </p:spPr>
      </p:sp>
      <p:sp>
        <p:nvSpPr>
          <p:cNvPr id="8" name="Text 6"/>
          <p:cNvSpPr/>
          <p:nvPr/>
        </p:nvSpPr>
        <p:spPr>
          <a:xfrm>
            <a:off x="8028432" y="1810512"/>
            <a:ext cx="338328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WHY IT MATTERS</a:t>
            </a:r>
            <a:endParaRPr lang="en-US" sz="1050" dirty="0"/>
          </a:p>
        </p:txBody>
      </p:sp>
      <p:sp>
        <p:nvSpPr>
          <p:cNvPr id="9" name="Text 7"/>
          <p:cNvSpPr/>
          <p:nvPr/>
        </p:nvSpPr>
        <p:spPr>
          <a:xfrm>
            <a:off x="8028432" y="2212848"/>
            <a:ext cx="3310128" cy="1403604"/>
          </a:xfrm>
          <a:prstGeom prst="rect">
            <a:avLst/>
          </a:prstGeom>
          <a:noFill/>
          <a:ln/>
        </p:spPr>
        <p:txBody>
          <a:bodyPr wrap="square" lIns="0" tIns="0" rIns="0" bIns="0" rtlCol="0" anchor="t"/>
          <a:lstStyle/>
          <a:p>
            <a:pPr indent="0" marL="0">
              <a:lnSpc>
                <a:spcPts val="1900"/>
              </a:lnSpc>
              <a:buNone/>
            </a:pPr>
            <a:r>
              <a:rPr lang="en-US" sz="1300" dirty="0">
                <a:solidFill>
                  <a:srgbClr val="F0E7E4"/>
                </a:solidFill>
                <a:latin typeface="Calibri" pitchFamily="34" charset="0"/>
                <a:ea typeface="Calibri" pitchFamily="34" charset="-122"/>
                <a:cs typeface="Calibri" pitchFamily="34" charset="-120"/>
              </a:rPr>
              <a:t>Understanding supervised and unsupervised learning, predictive models, and AI applications is essential for pharmacy students, as it prepares them for future roles in data-driven healthcare systems.</a:t>
            </a:r>
            <a:endParaRPr lang="en-US" sz="1300" dirty="0"/>
          </a:p>
        </p:txBody>
      </p:sp>
      <p:sp>
        <p:nvSpPr>
          <p:cNvPr id="10" name="Text 8"/>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6 · Pharmacy Data Analytics &amp; Predictive Modelling</a:t>
            </a:r>
            <a:endParaRPr lang="en-US" sz="950" dirty="0"/>
          </a:p>
        </p:txBody>
      </p:sp>
      <p:sp>
        <p:nvSpPr>
          <p:cNvPr id="11" name="Text 9"/>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12</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12</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3 · PRESCRIPTION ANALYTICS &amp; SAFETY MONITORING</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Prescription analytics and safety monitoring</a:t>
            </a:r>
            <a:endParaRPr lang="en-US" sz="2900" dirty="0"/>
          </a:p>
        </p:txBody>
      </p:sp>
      <p:sp>
        <p:nvSpPr>
          <p:cNvPr id="6" name="Text 4"/>
          <p:cNvSpPr/>
          <p:nvPr/>
        </p:nvSpPr>
        <p:spPr>
          <a:xfrm>
            <a:off x="502920" y="1536192"/>
            <a:ext cx="6903720" cy="4297680"/>
          </a:xfrm>
          <a:prstGeom prst="rect">
            <a:avLst/>
          </a:prstGeom>
          <a:noFill/>
          <a:ln/>
        </p:spPr>
        <p:txBody>
          <a:bodyPr wrap="square" lIns="0" tIns="0" rIns="0" bIns="0" rtlCol="0" anchor="t"/>
          <a:lstStyle/>
          <a:p>
            <a:pPr indent="0" marL="0">
              <a:lnSpc>
                <a:spcPts val="2300"/>
              </a:lnSpc>
              <a:buNone/>
            </a:pPr>
            <a:r>
              <a:rPr lang="en-US" sz="1550" dirty="0">
                <a:solidFill>
                  <a:srgbClr val="26221F"/>
                </a:solidFill>
                <a:latin typeface="Calibri" pitchFamily="34" charset="0"/>
                <a:ea typeface="Calibri" pitchFamily="34" charset="-122"/>
                <a:cs typeface="Calibri" pitchFamily="34" charset="-120"/>
              </a:rPr>
              <a:t>Prescription analytics and safety monitoring are essential components of modern pharmacy practice, focusing on the analysis of prescribing patterns, detection of irrational drug use, and identification of potential risks associated with medication therapy. With the increasing digitization of healthcare, large volumes of prescription data are generated through Electronic Health Records (EHR), pharmacy systems, and hospital databases.</a:t>
            </a:r>
            <a:endParaRPr lang="en-US" sz="1550" dirty="0"/>
          </a:p>
        </p:txBody>
      </p:sp>
      <p:sp>
        <p:nvSpPr>
          <p:cNvPr id="7" name="Shape 5"/>
          <p:cNvSpPr/>
          <p:nvPr/>
        </p:nvSpPr>
        <p:spPr>
          <a:xfrm>
            <a:off x="7680960" y="1536192"/>
            <a:ext cx="4005072" cy="2020824"/>
          </a:xfrm>
          <a:prstGeom prst="roundRect">
            <a:avLst>
              <a:gd name="adj" fmla="val 2715"/>
            </a:avLst>
          </a:prstGeom>
          <a:solidFill>
            <a:srgbClr val="2E1010"/>
          </a:solidFill>
          <a:ln w="9525">
            <a:solidFill>
              <a:srgbClr val="46201F"/>
            </a:solidFill>
            <a:prstDash val="solid"/>
          </a:ln>
        </p:spPr>
      </p:sp>
      <p:sp>
        <p:nvSpPr>
          <p:cNvPr id="8" name="Text 6"/>
          <p:cNvSpPr/>
          <p:nvPr/>
        </p:nvSpPr>
        <p:spPr>
          <a:xfrm>
            <a:off x="8028432" y="1810512"/>
            <a:ext cx="338328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WHY IT MATTERS</a:t>
            </a:r>
            <a:endParaRPr lang="en-US" sz="1050" dirty="0"/>
          </a:p>
        </p:txBody>
      </p:sp>
      <p:sp>
        <p:nvSpPr>
          <p:cNvPr id="9" name="Text 7"/>
          <p:cNvSpPr/>
          <p:nvPr/>
        </p:nvSpPr>
        <p:spPr>
          <a:xfrm>
            <a:off x="8028432" y="2212848"/>
            <a:ext cx="3310128" cy="1161288"/>
          </a:xfrm>
          <a:prstGeom prst="rect">
            <a:avLst/>
          </a:prstGeom>
          <a:noFill/>
          <a:ln/>
        </p:spPr>
        <p:txBody>
          <a:bodyPr wrap="square" lIns="0" tIns="0" rIns="0" bIns="0" rtlCol="0" anchor="t"/>
          <a:lstStyle/>
          <a:p>
            <a:pPr indent="0" marL="0">
              <a:lnSpc>
                <a:spcPts val="1900"/>
              </a:lnSpc>
              <a:buNone/>
            </a:pPr>
            <a:r>
              <a:rPr lang="en-US" sz="1300" dirty="0">
                <a:solidFill>
                  <a:srgbClr val="F0E7E4"/>
                </a:solidFill>
                <a:latin typeface="Calibri" pitchFamily="34" charset="0"/>
                <a:ea typeface="Calibri" pitchFamily="34" charset="-122"/>
                <a:cs typeface="Calibri" pitchFamily="34" charset="-120"/>
              </a:rPr>
              <a:t>Artificial Intelligence (AI) and machine learning techniques are now widely used to analyze this data, identify patterns, and support clinical decision-making.</a:t>
            </a:r>
            <a:endParaRPr lang="en-US" sz="1300" dirty="0"/>
          </a:p>
        </p:txBody>
      </p:sp>
      <p:sp>
        <p:nvSpPr>
          <p:cNvPr id="10" name="Text 8"/>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6 · Pharmacy Data Analytics &amp; Predictive Modelling</a:t>
            </a:r>
            <a:endParaRPr lang="en-US" sz="950" dirty="0"/>
          </a:p>
        </p:txBody>
      </p:sp>
      <p:sp>
        <p:nvSpPr>
          <p:cNvPr id="11" name="Text 9"/>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13</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13</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3 · PRESCRIPTION ANALYTICS &amp; SAFETY MONITORING</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Prescription Trend Analysis</a:t>
            </a:r>
            <a:endParaRPr lang="en-US" sz="2900" dirty="0"/>
          </a:p>
        </p:txBody>
      </p:sp>
      <p:sp>
        <p:nvSpPr>
          <p:cNvPr id="6" name="Shape 4"/>
          <p:cNvSpPr/>
          <p:nvPr/>
        </p:nvSpPr>
        <p:spPr>
          <a:xfrm>
            <a:off x="502920" y="1554480"/>
            <a:ext cx="11183112" cy="512064"/>
          </a:xfrm>
          <a:prstGeom prst="rect">
            <a:avLst/>
          </a:prstGeom>
          <a:solidFill>
            <a:srgbClr val="8C1515"/>
          </a:solidFill>
          <a:ln w="12700">
            <a:solidFill>
              <a:srgbClr val="8C1515"/>
            </a:solidFill>
            <a:prstDash val="solid"/>
          </a:ln>
        </p:spPr>
      </p:sp>
      <p:sp>
        <p:nvSpPr>
          <p:cNvPr id="7" name="Text 5"/>
          <p:cNvSpPr/>
          <p:nvPr/>
        </p:nvSpPr>
        <p:spPr>
          <a:xfrm>
            <a:off x="685800" y="1554480"/>
            <a:ext cx="4169664"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Type</a:t>
            </a:r>
            <a:endParaRPr lang="en-US" sz="1150" dirty="0"/>
          </a:p>
        </p:txBody>
      </p:sp>
      <p:sp>
        <p:nvSpPr>
          <p:cNvPr id="8" name="Text 6"/>
          <p:cNvSpPr/>
          <p:nvPr/>
        </p:nvSpPr>
        <p:spPr>
          <a:xfrm>
            <a:off x="5166360" y="1554480"/>
            <a:ext cx="6391656"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Description</a:t>
            </a:r>
            <a:endParaRPr lang="en-US" sz="1150" dirty="0"/>
          </a:p>
        </p:txBody>
      </p:sp>
      <p:sp>
        <p:nvSpPr>
          <p:cNvPr id="9" name="Shape 7"/>
          <p:cNvSpPr/>
          <p:nvPr/>
        </p:nvSpPr>
        <p:spPr>
          <a:xfrm>
            <a:off x="502920" y="2066544"/>
            <a:ext cx="11183112" cy="658368"/>
          </a:xfrm>
          <a:prstGeom prst="rect">
            <a:avLst/>
          </a:prstGeom>
          <a:solidFill>
            <a:srgbClr val="FFFFFF"/>
          </a:solidFill>
          <a:ln w="9525">
            <a:solidFill>
              <a:srgbClr val="DDD5CE"/>
            </a:solidFill>
            <a:prstDash val="solid"/>
          </a:ln>
        </p:spPr>
      </p:sp>
      <p:sp>
        <p:nvSpPr>
          <p:cNvPr id="10" name="Text 8"/>
          <p:cNvSpPr/>
          <p:nvPr/>
        </p:nvSpPr>
        <p:spPr>
          <a:xfrm>
            <a:off x="685800" y="2066544"/>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Temporal Analysis</a:t>
            </a:r>
            <a:endParaRPr lang="en-US" sz="1150" dirty="0"/>
          </a:p>
        </p:txBody>
      </p:sp>
      <p:sp>
        <p:nvSpPr>
          <p:cNvPr id="11" name="Text 9"/>
          <p:cNvSpPr/>
          <p:nvPr/>
        </p:nvSpPr>
        <p:spPr>
          <a:xfrm>
            <a:off x="5166360" y="2066544"/>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Trends over time</a:t>
            </a:r>
            <a:endParaRPr lang="en-US" sz="1150" dirty="0"/>
          </a:p>
        </p:txBody>
      </p:sp>
      <p:sp>
        <p:nvSpPr>
          <p:cNvPr id="12" name="Shape 10"/>
          <p:cNvSpPr/>
          <p:nvPr/>
        </p:nvSpPr>
        <p:spPr>
          <a:xfrm>
            <a:off x="502920" y="2724912"/>
            <a:ext cx="11183112" cy="658368"/>
          </a:xfrm>
          <a:prstGeom prst="rect">
            <a:avLst/>
          </a:prstGeom>
          <a:solidFill>
            <a:srgbClr val="FAF8F6"/>
          </a:solidFill>
          <a:ln w="9525">
            <a:solidFill>
              <a:srgbClr val="DDD5CE"/>
            </a:solidFill>
            <a:prstDash val="solid"/>
          </a:ln>
        </p:spPr>
      </p:sp>
      <p:sp>
        <p:nvSpPr>
          <p:cNvPr id="13" name="Text 11"/>
          <p:cNvSpPr/>
          <p:nvPr/>
        </p:nvSpPr>
        <p:spPr>
          <a:xfrm>
            <a:off x="685800" y="2724912"/>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Demographic Analysis</a:t>
            </a:r>
            <a:endParaRPr lang="en-US" sz="1150" dirty="0"/>
          </a:p>
        </p:txBody>
      </p:sp>
      <p:sp>
        <p:nvSpPr>
          <p:cNvPr id="14" name="Text 12"/>
          <p:cNvSpPr/>
          <p:nvPr/>
        </p:nvSpPr>
        <p:spPr>
          <a:xfrm>
            <a:off x="5166360" y="2724912"/>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Trends by patient group</a:t>
            </a:r>
            <a:endParaRPr lang="en-US" sz="1150" dirty="0"/>
          </a:p>
        </p:txBody>
      </p:sp>
      <p:sp>
        <p:nvSpPr>
          <p:cNvPr id="15" name="Shape 13"/>
          <p:cNvSpPr/>
          <p:nvPr/>
        </p:nvSpPr>
        <p:spPr>
          <a:xfrm>
            <a:off x="502920" y="3383280"/>
            <a:ext cx="11183112" cy="658368"/>
          </a:xfrm>
          <a:prstGeom prst="rect">
            <a:avLst/>
          </a:prstGeom>
          <a:solidFill>
            <a:srgbClr val="FFFFFF"/>
          </a:solidFill>
          <a:ln w="9525">
            <a:solidFill>
              <a:srgbClr val="DDD5CE"/>
            </a:solidFill>
            <a:prstDash val="solid"/>
          </a:ln>
        </p:spPr>
      </p:sp>
      <p:sp>
        <p:nvSpPr>
          <p:cNvPr id="16" name="Text 14"/>
          <p:cNvSpPr/>
          <p:nvPr/>
        </p:nvSpPr>
        <p:spPr>
          <a:xfrm>
            <a:off x="685800" y="3383280"/>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Disease-Specific Analysis</a:t>
            </a:r>
            <a:endParaRPr lang="en-US" sz="1150" dirty="0"/>
          </a:p>
        </p:txBody>
      </p:sp>
      <p:sp>
        <p:nvSpPr>
          <p:cNvPr id="17" name="Text 15"/>
          <p:cNvSpPr/>
          <p:nvPr/>
        </p:nvSpPr>
        <p:spPr>
          <a:xfrm>
            <a:off x="5166360" y="3383280"/>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Trends by condition</a:t>
            </a:r>
            <a:endParaRPr lang="en-US" sz="1150" dirty="0"/>
          </a:p>
        </p:txBody>
      </p:sp>
      <p:sp>
        <p:nvSpPr>
          <p:cNvPr id="18" name="Text 16"/>
          <p:cNvSpPr/>
          <p:nvPr/>
        </p:nvSpPr>
        <p:spPr>
          <a:xfrm>
            <a:off x="502920" y="4242816"/>
            <a:ext cx="11183112" cy="2020824"/>
          </a:xfrm>
          <a:prstGeom prst="rect">
            <a:avLst/>
          </a:prstGeom>
          <a:noFill/>
          <a:ln/>
        </p:spPr>
        <p:txBody>
          <a:bodyPr wrap="square" lIns="0" tIns="0" rIns="0" bIns="0" rtlCol="0" anchor="ctr"/>
          <a:lstStyle/>
          <a:p>
            <a:pPr indent="0" marL="0">
              <a:lnSpc>
                <a:spcPts val="1600"/>
              </a:lnSpc>
              <a:buNone/>
            </a:pPr>
            <a:r>
              <a:rPr lang="en-US" sz="1200" i="1" dirty="0">
                <a:solidFill>
                  <a:srgbClr val="6E6A63"/>
                </a:solidFill>
                <a:latin typeface="Calibri" pitchFamily="34" charset="0"/>
                <a:ea typeface="Calibri" pitchFamily="34" charset="-122"/>
                <a:cs typeface="Calibri" pitchFamily="34" charset="-120"/>
              </a:rPr>
              <a:t>AI systems analyze large datasets to identify trends and predict future prescribing patterns. These insights help healthcare professionals optimize drug therapy and improve patient outcomes. AI-based dashboards provide…</a:t>
            </a:r>
            <a:endParaRPr lang="en-US" sz="1200" dirty="0"/>
          </a:p>
        </p:txBody>
      </p:sp>
      <p:sp>
        <p:nvSpPr>
          <p:cNvPr id="19" name="Text 17"/>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6 · Pharmacy Data Analytics &amp; Predictive Modelling</a:t>
            </a:r>
            <a:endParaRPr lang="en-US" sz="950" dirty="0"/>
          </a:p>
        </p:txBody>
      </p:sp>
      <p:sp>
        <p:nvSpPr>
          <p:cNvPr id="20" name="Text 18"/>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14</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14</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3 · PRESCRIPTION ANALYTICS &amp; SAFETY MONITORING</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Digital Dashboards and Alerts</a:t>
            </a:r>
            <a:endParaRPr lang="en-US" sz="2900" dirty="0"/>
          </a:p>
        </p:txBody>
      </p:sp>
      <p:sp>
        <p:nvSpPr>
          <p:cNvPr id="6" name="Shape 4"/>
          <p:cNvSpPr/>
          <p:nvPr/>
        </p:nvSpPr>
        <p:spPr>
          <a:xfrm>
            <a:off x="502920" y="1554480"/>
            <a:ext cx="11183112" cy="512064"/>
          </a:xfrm>
          <a:prstGeom prst="rect">
            <a:avLst/>
          </a:prstGeom>
          <a:solidFill>
            <a:srgbClr val="8C1515"/>
          </a:solidFill>
          <a:ln w="12700">
            <a:solidFill>
              <a:srgbClr val="8C1515"/>
            </a:solidFill>
            <a:prstDash val="solid"/>
          </a:ln>
        </p:spPr>
      </p:sp>
      <p:sp>
        <p:nvSpPr>
          <p:cNvPr id="7" name="Text 5"/>
          <p:cNvSpPr/>
          <p:nvPr/>
        </p:nvSpPr>
        <p:spPr>
          <a:xfrm>
            <a:off x="685800" y="1554480"/>
            <a:ext cx="4169664"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Dashboard Type</a:t>
            </a:r>
            <a:endParaRPr lang="en-US" sz="1150" dirty="0"/>
          </a:p>
        </p:txBody>
      </p:sp>
      <p:sp>
        <p:nvSpPr>
          <p:cNvPr id="8" name="Text 6"/>
          <p:cNvSpPr/>
          <p:nvPr/>
        </p:nvSpPr>
        <p:spPr>
          <a:xfrm>
            <a:off x="5166360" y="1554480"/>
            <a:ext cx="6391656"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Description</a:t>
            </a:r>
            <a:endParaRPr lang="en-US" sz="1150" dirty="0"/>
          </a:p>
        </p:txBody>
      </p:sp>
      <p:sp>
        <p:nvSpPr>
          <p:cNvPr id="9" name="Shape 7"/>
          <p:cNvSpPr/>
          <p:nvPr/>
        </p:nvSpPr>
        <p:spPr>
          <a:xfrm>
            <a:off x="502920" y="2066544"/>
            <a:ext cx="11183112" cy="658368"/>
          </a:xfrm>
          <a:prstGeom prst="rect">
            <a:avLst/>
          </a:prstGeom>
          <a:solidFill>
            <a:srgbClr val="FFFFFF"/>
          </a:solidFill>
          <a:ln w="9525">
            <a:solidFill>
              <a:srgbClr val="DDD5CE"/>
            </a:solidFill>
            <a:prstDash val="solid"/>
          </a:ln>
        </p:spPr>
      </p:sp>
      <p:sp>
        <p:nvSpPr>
          <p:cNvPr id="10" name="Text 8"/>
          <p:cNvSpPr/>
          <p:nvPr/>
        </p:nvSpPr>
        <p:spPr>
          <a:xfrm>
            <a:off x="685800" y="2066544"/>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Operational Dashboard</a:t>
            </a:r>
            <a:endParaRPr lang="en-US" sz="1150" dirty="0"/>
          </a:p>
        </p:txBody>
      </p:sp>
      <p:sp>
        <p:nvSpPr>
          <p:cNvPr id="11" name="Text 9"/>
          <p:cNvSpPr/>
          <p:nvPr/>
        </p:nvSpPr>
        <p:spPr>
          <a:xfrm>
            <a:off x="5166360" y="2066544"/>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Monitors workflow</a:t>
            </a:r>
            <a:endParaRPr lang="en-US" sz="1150" dirty="0"/>
          </a:p>
        </p:txBody>
      </p:sp>
      <p:sp>
        <p:nvSpPr>
          <p:cNvPr id="12" name="Shape 10"/>
          <p:cNvSpPr/>
          <p:nvPr/>
        </p:nvSpPr>
        <p:spPr>
          <a:xfrm>
            <a:off x="502920" y="2724912"/>
            <a:ext cx="11183112" cy="658368"/>
          </a:xfrm>
          <a:prstGeom prst="rect">
            <a:avLst/>
          </a:prstGeom>
          <a:solidFill>
            <a:srgbClr val="FAF8F6"/>
          </a:solidFill>
          <a:ln w="9525">
            <a:solidFill>
              <a:srgbClr val="DDD5CE"/>
            </a:solidFill>
            <a:prstDash val="solid"/>
          </a:ln>
        </p:spPr>
      </p:sp>
      <p:sp>
        <p:nvSpPr>
          <p:cNvPr id="13" name="Text 11"/>
          <p:cNvSpPr/>
          <p:nvPr/>
        </p:nvSpPr>
        <p:spPr>
          <a:xfrm>
            <a:off x="685800" y="2724912"/>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Clinical Dashboard</a:t>
            </a:r>
            <a:endParaRPr lang="en-US" sz="1150" dirty="0"/>
          </a:p>
        </p:txBody>
      </p:sp>
      <p:sp>
        <p:nvSpPr>
          <p:cNvPr id="14" name="Text 12"/>
          <p:cNvSpPr/>
          <p:nvPr/>
        </p:nvSpPr>
        <p:spPr>
          <a:xfrm>
            <a:off x="5166360" y="2724912"/>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Monitors patient safety</a:t>
            </a:r>
            <a:endParaRPr lang="en-US" sz="1150" dirty="0"/>
          </a:p>
        </p:txBody>
      </p:sp>
      <p:sp>
        <p:nvSpPr>
          <p:cNvPr id="15" name="Text 13"/>
          <p:cNvSpPr/>
          <p:nvPr/>
        </p:nvSpPr>
        <p:spPr>
          <a:xfrm>
            <a:off x="502920" y="3584448"/>
            <a:ext cx="11183112" cy="2679192"/>
          </a:xfrm>
          <a:prstGeom prst="rect">
            <a:avLst/>
          </a:prstGeom>
          <a:noFill/>
          <a:ln/>
        </p:spPr>
        <p:txBody>
          <a:bodyPr wrap="square" lIns="0" tIns="0" rIns="0" bIns="0" rtlCol="0" anchor="ctr"/>
          <a:lstStyle/>
          <a:p>
            <a:pPr indent="0" marL="0">
              <a:lnSpc>
                <a:spcPts val="1600"/>
              </a:lnSpc>
              <a:buNone/>
            </a:pPr>
            <a:r>
              <a:rPr lang="en-US" sz="1200" i="1" dirty="0">
                <a:solidFill>
                  <a:srgbClr val="6E6A63"/>
                </a:solidFill>
                <a:latin typeface="Calibri" pitchFamily="34" charset="0"/>
                <a:ea typeface="Calibri" pitchFamily="34" charset="-122"/>
                <a:cs typeface="Calibri" pitchFamily="34" charset="-120"/>
              </a:rPr>
              <a:t>Alerts are automated notifications generated by AI systems to warn healthcare professionals about potential risks. These alerts include drug interaction warnings, dosage alerts, and safety notifications. Alert systems…</a:t>
            </a:r>
            <a:endParaRPr lang="en-US" sz="1200" dirty="0"/>
          </a:p>
        </p:txBody>
      </p:sp>
      <p:sp>
        <p:nvSpPr>
          <p:cNvPr id="16" name="Text 14"/>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6 · Pharmacy Data Analytics &amp; Predictive Modelling</a:t>
            </a:r>
            <a:endParaRPr lang="en-US" sz="950" dirty="0"/>
          </a:p>
        </p:txBody>
      </p:sp>
      <p:sp>
        <p:nvSpPr>
          <p:cNvPr id="17" name="Text 15"/>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15</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15</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3 · PRESCRIPTION ANALYTICS &amp; SAFETY MONITORING</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Unit 3 summary</a:t>
            </a:r>
            <a:endParaRPr lang="en-US" sz="2900" dirty="0"/>
          </a:p>
        </p:txBody>
      </p:sp>
      <p:sp>
        <p:nvSpPr>
          <p:cNvPr id="6" name="Text 4"/>
          <p:cNvSpPr/>
          <p:nvPr/>
        </p:nvSpPr>
        <p:spPr>
          <a:xfrm>
            <a:off x="502920" y="1536192"/>
            <a:ext cx="6903720" cy="4297680"/>
          </a:xfrm>
          <a:prstGeom prst="rect">
            <a:avLst/>
          </a:prstGeom>
          <a:noFill/>
          <a:ln/>
        </p:spPr>
        <p:txBody>
          <a:bodyPr wrap="square" lIns="0" tIns="0" rIns="0" bIns="0" rtlCol="0" anchor="t"/>
          <a:lstStyle/>
          <a:p>
            <a:pPr indent="0" marL="0">
              <a:lnSpc>
                <a:spcPts val="2600"/>
              </a:lnSpc>
              <a:buNone/>
            </a:pPr>
            <a:r>
              <a:rPr lang="en-US" sz="1750" dirty="0">
                <a:solidFill>
                  <a:srgbClr val="26221F"/>
                </a:solidFill>
                <a:latin typeface="Calibri" pitchFamily="34" charset="0"/>
                <a:ea typeface="Calibri" pitchFamily="34" charset="-122"/>
                <a:cs typeface="Calibri" pitchFamily="34" charset="-120"/>
              </a:rPr>
              <a:t>Prescription analytics and safety monitoring are essential for ensuring rational drug use and improving patient safety. The integration of AI has transformed these processes by enabling real-time analysis, predictive modelling, and automated decision support.</a:t>
            </a:r>
            <a:endParaRPr lang="en-US" sz="1750" dirty="0"/>
          </a:p>
        </p:txBody>
      </p:sp>
      <p:sp>
        <p:nvSpPr>
          <p:cNvPr id="7" name="Shape 5"/>
          <p:cNvSpPr/>
          <p:nvPr/>
        </p:nvSpPr>
        <p:spPr>
          <a:xfrm>
            <a:off x="7680960" y="1536192"/>
            <a:ext cx="4005072" cy="2020824"/>
          </a:xfrm>
          <a:prstGeom prst="roundRect">
            <a:avLst>
              <a:gd name="adj" fmla="val 2715"/>
            </a:avLst>
          </a:prstGeom>
          <a:solidFill>
            <a:srgbClr val="2E1010"/>
          </a:solidFill>
          <a:ln w="9525">
            <a:solidFill>
              <a:srgbClr val="46201F"/>
            </a:solidFill>
            <a:prstDash val="solid"/>
          </a:ln>
        </p:spPr>
      </p:sp>
      <p:sp>
        <p:nvSpPr>
          <p:cNvPr id="8" name="Text 6"/>
          <p:cNvSpPr/>
          <p:nvPr/>
        </p:nvSpPr>
        <p:spPr>
          <a:xfrm>
            <a:off x="8028432" y="1810512"/>
            <a:ext cx="338328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WHY IT MATTERS</a:t>
            </a:r>
            <a:endParaRPr lang="en-US" sz="1050" dirty="0"/>
          </a:p>
        </p:txBody>
      </p:sp>
      <p:sp>
        <p:nvSpPr>
          <p:cNvPr id="9" name="Text 7"/>
          <p:cNvSpPr/>
          <p:nvPr/>
        </p:nvSpPr>
        <p:spPr>
          <a:xfrm>
            <a:off x="8028432" y="2212848"/>
            <a:ext cx="3310128" cy="1161288"/>
          </a:xfrm>
          <a:prstGeom prst="rect">
            <a:avLst/>
          </a:prstGeom>
          <a:noFill/>
          <a:ln/>
        </p:spPr>
        <p:txBody>
          <a:bodyPr wrap="square" lIns="0" tIns="0" rIns="0" bIns="0" rtlCol="0" anchor="t"/>
          <a:lstStyle/>
          <a:p>
            <a:pPr indent="0" marL="0">
              <a:lnSpc>
                <a:spcPts val="1900"/>
              </a:lnSpc>
              <a:buNone/>
            </a:pPr>
            <a:r>
              <a:rPr lang="en-US" sz="1300" dirty="0">
                <a:solidFill>
                  <a:srgbClr val="F0E7E4"/>
                </a:solidFill>
                <a:latin typeface="Calibri" pitchFamily="34" charset="0"/>
                <a:ea typeface="Calibri" pitchFamily="34" charset="-122"/>
                <a:cs typeface="Calibri" pitchFamily="34" charset="-120"/>
              </a:rPr>
              <a:t>Understanding these concepts is crucial for pharmacy students, as it prepares them for advanced roles in digital and data-driven healthcare systems.</a:t>
            </a:r>
            <a:endParaRPr lang="en-US" sz="1300" dirty="0"/>
          </a:p>
        </p:txBody>
      </p:sp>
      <p:sp>
        <p:nvSpPr>
          <p:cNvPr id="10" name="Text 8"/>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6 · Pharmacy Data Analytics &amp; Predictive Modelling</a:t>
            </a:r>
            <a:endParaRPr lang="en-US" sz="950" dirty="0"/>
          </a:p>
        </p:txBody>
      </p:sp>
      <p:sp>
        <p:nvSpPr>
          <p:cNvPr id="11" name="Text 9"/>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16</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16</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4 · DEMAND FORECASTING &amp; INVENTORY ANALYTICS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Demand forecasting and inventory analytics</a:t>
            </a:r>
            <a:endParaRPr lang="en-US" sz="2900" dirty="0"/>
          </a:p>
        </p:txBody>
      </p:sp>
      <p:sp>
        <p:nvSpPr>
          <p:cNvPr id="6" name="Text 4"/>
          <p:cNvSpPr/>
          <p:nvPr/>
        </p:nvSpPr>
        <p:spPr>
          <a:xfrm>
            <a:off x="502920" y="1536192"/>
            <a:ext cx="6903720" cy="4297680"/>
          </a:xfrm>
          <a:prstGeom prst="rect">
            <a:avLst/>
          </a:prstGeom>
          <a:noFill/>
          <a:ln/>
        </p:spPr>
        <p:txBody>
          <a:bodyPr wrap="square" lIns="0" tIns="0" rIns="0" bIns="0" rtlCol="0" anchor="t"/>
          <a:lstStyle/>
          <a:p>
            <a:pPr indent="0" marL="0">
              <a:lnSpc>
                <a:spcPts val="2300"/>
              </a:lnSpc>
              <a:buNone/>
            </a:pPr>
            <a:r>
              <a:rPr lang="en-US" sz="1550" dirty="0">
                <a:solidFill>
                  <a:srgbClr val="26221F"/>
                </a:solidFill>
                <a:latin typeface="Calibri" pitchFamily="34" charset="0"/>
                <a:ea typeface="Calibri" pitchFamily="34" charset="-122"/>
                <a:cs typeface="Calibri" pitchFamily="34" charset="-120"/>
              </a:rPr>
              <a:t>Demand forecasting and inventory analytics are critical components of pharmacy operations, ensuring the availability of medicines while minimizing wastage and cost. In healthcare systems, maintaining the right balance between supply and demand is essential to avoid stockouts, overstocking, and expiry-related losses. With the advancement of Artificial Intelligence (AI) and data analytics, pharmacy inventory management has become more efficient, accurate, and predictive.</a:t>
            </a:r>
            <a:endParaRPr lang="en-US" sz="1550" dirty="0"/>
          </a:p>
        </p:txBody>
      </p:sp>
      <p:sp>
        <p:nvSpPr>
          <p:cNvPr id="7" name="Shape 5"/>
          <p:cNvSpPr/>
          <p:nvPr/>
        </p:nvSpPr>
        <p:spPr>
          <a:xfrm>
            <a:off x="7680960" y="1536192"/>
            <a:ext cx="4005072" cy="2020824"/>
          </a:xfrm>
          <a:prstGeom prst="roundRect">
            <a:avLst>
              <a:gd name="adj" fmla="val 2715"/>
            </a:avLst>
          </a:prstGeom>
          <a:solidFill>
            <a:srgbClr val="2E1010"/>
          </a:solidFill>
          <a:ln w="9525">
            <a:solidFill>
              <a:srgbClr val="46201F"/>
            </a:solidFill>
            <a:prstDash val="solid"/>
          </a:ln>
        </p:spPr>
      </p:sp>
      <p:sp>
        <p:nvSpPr>
          <p:cNvPr id="8" name="Text 6"/>
          <p:cNvSpPr/>
          <p:nvPr/>
        </p:nvSpPr>
        <p:spPr>
          <a:xfrm>
            <a:off x="8028432" y="1810512"/>
            <a:ext cx="338328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WHY IT MATTERS</a:t>
            </a:r>
            <a:endParaRPr lang="en-US" sz="1050" dirty="0"/>
          </a:p>
        </p:txBody>
      </p:sp>
      <p:sp>
        <p:nvSpPr>
          <p:cNvPr id="9" name="Text 7"/>
          <p:cNvSpPr/>
          <p:nvPr/>
        </p:nvSpPr>
        <p:spPr>
          <a:xfrm>
            <a:off x="8028432" y="2212848"/>
            <a:ext cx="3310128" cy="1161288"/>
          </a:xfrm>
          <a:prstGeom prst="rect">
            <a:avLst/>
          </a:prstGeom>
          <a:noFill/>
          <a:ln/>
        </p:spPr>
        <p:txBody>
          <a:bodyPr wrap="square" lIns="0" tIns="0" rIns="0" bIns="0" rtlCol="0" anchor="t"/>
          <a:lstStyle/>
          <a:p>
            <a:pPr indent="0" marL="0">
              <a:lnSpc>
                <a:spcPts val="1900"/>
              </a:lnSpc>
              <a:buNone/>
            </a:pPr>
            <a:r>
              <a:rPr lang="en-US" sz="1300" dirty="0">
                <a:solidFill>
                  <a:srgbClr val="F0E7E4"/>
                </a:solidFill>
                <a:latin typeface="Calibri" pitchFamily="34" charset="0"/>
                <a:ea typeface="Calibri" pitchFamily="34" charset="-122"/>
                <a:cs typeface="Calibri" pitchFamily="34" charset="-120"/>
              </a:rPr>
              <a:t>AI-driven systems analyze historical data, consumption patterns, and external factors to forecast demand and optimize inventory.</a:t>
            </a:r>
            <a:endParaRPr lang="en-US" sz="1300" dirty="0"/>
          </a:p>
        </p:txBody>
      </p:sp>
      <p:sp>
        <p:nvSpPr>
          <p:cNvPr id="10" name="Text 8"/>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6 · Pharmacy Data Analytics &amp; Predictive Modelling</a:t>
            </a:r>
            <a:endParaRPr lang="en-US" sz="950" dirty="0"/>
          </a:p>
        </p:txBody>
      </p:sp>
      <p:sp>
        <p:nvSpPr>
          <p:cNvPr id="11" name="Text 9"/>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17</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17</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4 · DEMAND FORECASTING &amp; INVENTORY ANALYTICS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Expiry, Batch and Recall Analytics</a:t>
            </a:r>
            <a:endParaRPr lang="en-US" sz="2900" dirty="0"/>
          </a:p>
        </p:txBody>
      </p:sp>
      <p:sp>
        <p:nvSpPr>
          <p:cNvPr id="6" name="Shape 4"/>
          <p:cNvSpPr/>
          <p:nvPr/>
        </p:nvSpPr>
        <p:spPr>
          <a:xfrm>
            <a:off x="502920" y="1554480"/>
            <a:ext cx="11183112" cy="512064"/>
          </a:xfrm>
          <a:prstGeom prst="rect">
            <a:avLst/>
          </a:prstGeom>
          <a:solidFill>
            <a:srgbClr val="8C1515"/>
          </a:solidFill>
          <a:ln w="12700">
            <a:solidFill>
              <a:srgbClr val="8C1515"/>
            </a:solidFill>
            <a:prstDash val="solid"/>
          </a:ln>
        </p:spPr>
      </p:sp>
      <p:sp>
        <p:nvSpPr>
          <p:cNvPr id="7" name="Text 5"/>
          <p:cNvSpPr/>
          <p:nvPr/>
        </p:nvSpPr>
        <p:spPr>
          <a:xfrm>
            <a:off x="685800" y="1554480"/>
            <a:ext cx="4169664"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Method</a:t>
            </a:r>
            <a:endParaRPr lang="en-US" sz="1150" dirty="0"/>
          </a:p>
        </p:txBody>
      </p:sp>
      <p:sp>
        <p:nvSpPr>
          <p:cNvPr id="8" name="Text 6"/>
          <p:cNvSpPr/>
          <p:nvPr/>
        </p:nvSpPr>
        <p:spPr>
          <a:xfrm>
            <a:off x="5166360" y="1554480"/>
            <a:ext cx="6391656"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Description</a:t>
            </a:r>
            <a:endParaRPr lang="en-US" sz="1150" dirty="0"/>
          </a:p>
        </p:txBody>
      </p:sp>
      <p:sp>
        <p:nvSpPr>
          <p:cNvPr id="9" name="Shape 7"/>
          <p:cNvSpPr/>
          <p:nvPr/>
        </p:nvSpPr>
        <p:spPr>
          <a:xfrm>
            <a:off x="502920" y="2066544"/>
            <a:ext cx="11183112" cy="658368"/>
          </a:xfrm>
          <a:prstGeom prst="rect">
            <a:avLst/>
          </a:prstGeom>
          <a:solidFill>
            <a:srgbClr val="FFFFFF"/>
          </a:solidFill>
          <a:ln w="9525">
            <a:solidFill>
              <a:srgbClr val="DDD5CE"/>
            </a:solidFill>
            <a:prstDash val="solid"/>
          </a:ln>
        </p:spPr>
      </p:sp>
      <p:sp>
        <p:nvSpPr>
          <p:cNvPr id="10" name="Text 8"/>
          <p:cNvSpPr/>
          <p:nvPr/>
        </p:nvSpPr>
        <p:spPr>
          <a:xfrm>
            <a:off x="685800" y="2066544"/>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FEFO</a:t>
            </a:r>
            <a:endParaRPr lang="en-US" sz="1150" dirty="0"/>
          </a:p>
        </p:txBody>
      </p:sp>
      <p:sp>
        <p:nvSpPr>
          <p:cNvPr id="11" name="Text 9"/>
          <p:cNvSpPr/>
          <p:nvPr/>
        </p:nvSpPr>
        <p:spPr>
          <a:xfrm>
            <a:off x="5166360" y="2066544"/>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Uses earliest expiry first</a:t>
            </a:r>
            <a:endParaRPr lang="en-US" sz="1150" dirty="0"/>
          </a:p>
        </p:txBody>
      </p:sp>
      <p:sp>
        <p:nvSpPr>
          <p:cNvPr id="12" name="Shape 10"/>
          <p:cNvSpPr/>
          <p:nvPr/>
        </p:nvSpPr>
        <p:spPr>
          <a:xfrm>
            <a:off x="502920" y="2724912"/>
            <a:ext cx="11183112" cy="658368"/>
          </a:xfrm>
          <a:prstGeom prst="rect">
            <a:avLst/>
          </a:prstGeom>
          <a:solidFill>
            <a:srgbClr val="FAF8F6"/>
          </a:solidFill>
          <a:ln w="9525">
            <a:solidFill>
              <a:srgbClr val="DDD5CE"/>
            </a:solidFill>
            <a:prstDash val="solid"/>
          </a:ln>
        </p:spPr>
      </p:sp>
      <p:sp>
        <p:nvSpPr>
          <p:cNvPr id="13" name="Text 11"/>
          <p:cNvSpPr/>
          <p:nvPr/>
        </p:nvSpPr>
        <p:spPr>
          <a:xfrm>
            <a:off x="685800" y="2724912"/>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FIFO</a:t>
            </a:r>
            <a:endParaRPr lang="en-US" sz="1150" dirty="0"/>
          </a:p>
        </p:txBody>
      </p:sp>
      <p:sp>
        <p:nvSpPr>
          <p:cNvPr id="14" name="Text 12"/>
          <p:cNvSpPr/>
          <p:nvPr/>
        </p:nvSpPr>
        <p:spPr>
          <a:xfrm>
            <a:off x="5166360" y="2724912"/>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Uses oldest stock first</a:t>
            </a:r>
            <a:endParaRPr lang="en-US" sz="1150" dirty="0"/>
          </a:p>
        </p:txBody>
      </p:sp>
      <p:sp>
        <p:nvSpPr>
          <p:cNvPr id="15" name="Text 13"/>
          <p:cNvSpPr/>
          <p:nvPr/>
        </p:nvSpPr>
        <p:spPr>
          <a:xfrm>
            <a:off x="502920" y="3584448"/>
            <a:ext cx="11183112" cy="2679192"/>
          </a:xfrm>
          <a:prstGeom prst="rect">
            <a:avLst/>
          </a:prstGeom>
          <a:noFill/>
          <a:ln/>
        </p:spPr>
        <p:txBody>
          <a:bodyPr wrap="square" lIns="0" tIns="0" rIns="0" bIns="0" rtlCol="0" anchor="ctr"/>
          <a:lstStyle/>
          <a:p>
            <a:pPr indent="0" marL="0">
              <a:lnSpc>
                <a:spcPts val="1600"/>
              </a:lnSpc>
              <a:buNone/>
            </a:pPr>
            <a:r>
              <a:rPr lang="en-US" sz="1200" i="1" dirty="0">
                <a:solidFill>
                  <a:srgbClr val="6E6A63"/>
                </a:solidFill>
                <a:latin typeface="Calibri" pitchFamily="34" charset="0"/>
                <a:ea typeface="Calibri" pitchFamily="34" charset="-122"/>
                <a:cs typeface="Calibri" pitchFamily="34" charset="-120"/>
              </a:rPr>
              <a:t>Batch tracking involves monitoring production batches to ensure traceability. In case of defects or safety issues, affected batches can be identified and recalled. AI-based systems analyze batch data and detect patterns…</a:t>
            </a:r>
            <a:endParaRPr lang="en-US" sz="1200" dirty="0"/>
          </a:p>
        </p:txBody>
      </p:sp>
      <p:sp>
        <p:nvSpPr>
          <p:cNvPr id="16" name="Text 14"/>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6 · Pharmacy Data Analytics &amp; Predictive Modelling</a:t>
            </a:r>
            <a:endParaRPr lang="en-US" sz="950" dirty="0"/>
          </a:p>
        </p:txBody>
      </p:sp>
      <p:sp>
        <p:nvSpPr>
          <p:cNvPr id="17" name="Text 15"/>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18</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18</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4 · DEMAND FORECASTING &amp; INVENTORY ANALYTICS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Unit 4 summary</a:t>
            </a:r>
            <a:endParaRPr lang="en-US" sz="2900" dirty="0"/>
          </a:p>
        </p:txBody>
      </p:sp>
      <p:sp>
        <p:nvSpPr>
          <p:cNvPr id="6" name="Text 4"/>
          <p:cNvSpPr/>
          <p:nvPr/>
        </p:nvSpPr>
        <p:spPr>
          <a:xfrm>
            <a:off x="502920" y="1536192"/>
            <a:ext cx="6903720" cy="4297680"/>
          </a:xfrm>
          <a:prstGeom prst="rect">
            <a:avLst/>
          </a:prstGeom>
          <a:noFill/>
          <a:ln/>
        </p:spPr>
        <p:txBody>
          <a:bodyPr wrap="square" lIns="0" tIns="0" rIns="0" bIns="0" rtlCol="0" anchor="t"/>
          <a:lstStyle/>
          <a:p>
            <a:pPr indent="0" marL="0">
              <a:lnSpc>
                <a:spcPts val="2600"/>
              </a:lnSpc>
              <a:buNone/>
            </a:pPr>
            <a:r>
              <a:rPr lang="en-US" sz="1750" dirty="0">
                <a:solidFill>
                  <a:srgbClr val="26221F"/>
                </a:solidFill>
                <a:latin typeface="Calibri" pitchFamily="34" charset="0"/>
                <a:ea typeface="Calibri" pitchFamily="34" charset="-122"/>
                <a:cs typeface="Calibri" pitchFamily="34" charset="-120"/>
              </a:rPr>
              <a:t>Demand forecasting and inventory analytics are essential for efficient pharmacy management and patient care. The integration of AI has transformed these processes by enabling accurate predictions, reducing wastage, and improving supply chain efficiency.</a:t>
            </a:r>
            <a:endParaRPr lang="en-US" sz="1750" dirty="0"/>
          </a:p>
        </p:txBody>
      </p:sp>
      <p:sp>
        <p:nvSpPr>
          <p:cNvPr id="7" name="Shape 5"/>
          <p:cNvSpPr/>
          <p:nvPr/>
        </p:nvSpPr>
        <p:spPr>
          <a:xfrm>
            <a:off x="7680960" y="1536192"/>
            <a:ext cx="4005072" cy="1828800"/>
          </a:xfrm>
          <a:prstGeom prst="roundRect">
            <a:avLst>
              <a:gd name="adj" fmla="val 3000"/>
            </a:avLst>
          </a:prstGeom>
          <a:solidFill>
            <a:srgbClr val="2E1010"/>
          </a:solidFill>
          <a:ln w="9525">
            <a:solidFill>
              <a:srgbClr val="46201F"/>
            </a:solidFill>
            <a:prstDash val="solid"/>
          </a:ln>
        </p:spPr>
      </p:sp>
      <p:sp>
        <p:nvSpPr>
          <p:cNvPr id="8" name="Text 6"/>
          <p:cNvSpPr/>
          <p:nvPr/>
        </p:nvSpPr>
        <p:spPr>
          <a:xfrm>
            <a:off x="8028432" y="1810512"/>
            <a:ext cx="338328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WHY IT MATTERS</a:t>
            </a:r>
            <a:endParaRPr lang="en-US" sz="1050" dirty="0"/>
          </a:p>
        </p:txBody>
      </p:sp>
      <p:sp>
        <p:nvSpPr>
          <p:cNvPr id="9" name="Text 7"/>
          <p:cNvSpPr/>
          <p:nvPr/>
        </p:nvSpPr>
        <p:spPr>
          <a:xfrm>
            <a:off x="8028432" y="2212848"/>
            <a:ext cx="3310128" cy="969264"/>
          </a:xfrm>
          <a:prstGeom prst="rect">
            <a:avLst/>
          </a:prstGeom>
          <a:noFill/>
          <a:ln/>
        </p:spPr>
        <p:txBody>
          <a:bodyPr wrap="square" lIns="0" tIns="0" rIns="0" bIns="0" rtlCol="0" anchor="t"/>
          <a:lstStyle/>
          <a:p>
            <a:pPr indent="0" marL="0">
              <a:lnSpc>
                <a:spcPts val="1900"/>
              </a:lnSpc>
              <a:buNone/>
            </a:pPr>
            <a:r>
              <a:rPr lang="en-US" sz="1300" dirty="0">
                <a:solidFill>
                  <a:srgbClr val="F0E7E4"/>
                </a:solidFill>
                <a:latin typeface="Calibri" pitchFamily="34" charset="0"/>
                <a:ea typeface="Calibri" pitchFamily="34" charset="-122"/>
                <a:cs typeface="Calibri" pitchFamily="34" charset="-120"/>
              </a:rPr>
              <a:t>Understanding these concepts is crucial for pharmacy students, as it prepares them for modern, data-driven healthcare systems.</a:t>
            </a:r>
            <a:endParaRPr lang="en-US" sz="1300" dirty="0"/>
          </a:p>
        </p:txBody>
      </p:sp>
      <p:sp>
        <p:nvSpPr>
          <p:cNvPr id="10" name="Text 8"/>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6 · Pharmacy Data Analytics &amp; Predictive Modelling</a:t>
            </a:r>
            <a:endParaRPr lang="en-US" sz="950" dirty="0"/>
          </a:p>
        </p:txBody>
      </p:sp>
      <p:sp>
        <p:nvSpPr>
          <p:cNvPr id="11" name="Text 9"/>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19</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4100F"/>
        </a:solidFill>
      </p:bgPr>
    </p:bg>
    <p:spTree>
      <p:nvGrpSpPr>
        <p:cNvPr id="1" name=""/>
        <p:cNvGrpSpPr/>
        <p:nvPr/>
      </p:nvGrpSpPr>
      <p:grpSpPr>
        <a:xfrm>
          <a:off x="0" y="0"/>
          <a:ext cx="0" cy="0"/>
          <a:chOff x="0" y="0"/>
          <a:chExt cx="0" cy="0"/>
        </a:xfrm>
      </p:grpSpPr>
      <p:sp>
        <p:nvSpPr>
          <p:cNvPr id="2" name="Shape 0"/>
          <p:cNvSpPr/>
          <p:nvPr/>
        </p:nvSpPr>
        <p:spPr>
          <a:xfrm>
            <a:off x="10058400" y="-1097280"/>
            <a:ext cx="4023360" cy="4023360"/>
          </a:xfrm>
          <a:prstGeom prst="ellipse">
            <a:avLst/>
          </a:prstGeom>
          <a:solidFill>
            <a:srgbClr val="8C1515">
              <a:alpha val="28000"/>
            </a:srgbClr>
          </a:solidFill>
          <a:ln/>
        </p:spPr>
      </p:sp>
      <p:sp>
        <p:nvSpPr>
          <p:cNvPr id="3" name="Text 1"/>
          <p:cNvSpPr/>
          <p:nvPr/>
        </p:nvSpPr>
        <p:spPr>
          <a:xfrm>
            <a:off x="777240" y="749808"/>
            <a:ext cx="8229600" cy="274320"/>
          </a:xfrm>
          <a:prstGeom prst="rect">
            <a:avLst/>
          </a:prstGeom>
          <a:noFill/>
          <a:ln/>
        </p:spPr>
        <p:txBody>
          <a:bodyPr wrap="square" lIns="0" tIns="0" rIns="0" bIns="0" rtlCol="0" anchor="ctr"/>
          <a:lstStyle/>
          <a:p>
            <a:pPr indent="0" marL="0">
              <a:buNone/>
            </a:pPr>
            <a:r>
              <a:rPr lang="en-US" sz="1100" b="1" spc="220" kern="0" dirty="0">
                <a:solidFill>
                  <a:srgbClr val="9A7B3F"/>
                </a:solidFill>
                <a:latin typeface="Calibri" pitchFamily="34" charset="0"/>
                <a:ea typeface="Calibri" pitchFamily="34" charset="-122"/>
                <a:cs typeface="Calibri" pitchFamily="34" charset="-120"/>
              </a:rPr>
              <a:t>THE PRACTICALS</a:t>
            </a:r>
            <a:endParaRPr lang="en-US" sz="1100" dirty="0"/>
          </a:p>
        </p:txBody>
      </p:sp>
      <p:sp>
        <p:nvSpPr>
          <p:cNvPr id="4" name="Text 2"/>
          <p:cNvSpPr/>
          <p:nvPr/>
        </p:nvSpPr>
        <p:spPr>
          <a:xfrm>
            <a:off x="777240" y="1097280"/>
            <a:ext cx="10058400" cy="65836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4 assessed practicals</a:t>
            </a:r>
            <a:endParaRPr lang="en-US" sz="3400" dirty="0"/>
          </a:p>
        </p:txBody>
      </p:sp>
      <p:sp>
        <p:nvSpPr>
          <p:cNvPr id="5" name="Text 3"/>
          <p:cNvSpPr/>
          <p:nvPr/>
        </p:nvSpPr>
        <p:spPr>
          <a:xfrm>
            <a:off x="777240" y="1847088"/>
            <a:ext cx="10241280" cy="749808"/>
          </a:xfrm>
          <a:prstGeom prst="rect">
            <a:avLst/>
          </a:prstGeom>
          <a:noFill/>
          <a:ln/>
        </p:spPr>
        <p:txBody>
          <a:bodyPr wrap="square" lIns="0" tIns="0" rIns="0" bIns="0" rtlCol="0" anchor="ctr"/>
          <a:lstStyle/>
          <a:p>
            <a:pPr indent="0" marL="0">
              <a:lnSpc>
                <a:spcPts val="1900"/>
              </a:lnSpc>
              <a:buNone/>
            </a:pPr>
            <a:r>
              <a:rPr lang="en-US" sz="1300" dirty="0">
                <a:solidFill>
                  <a:srgbClr val="C9C2BA"/>
                </a:solidFill>
                <a:latin typeface="Calibri" pitchFamily="34" charset="0"/>
                <a:ea typeface="Calibri" pitchFamily="34" charset="-122"/>
                <a:cs typeface="Calibri" pitchFamily="34" charset="-120"/>
              </a:rPr>
              <a:t>Every practical follows the institutional standard — Aim, Principle, Theory, Requirements, Procedure and Guided Method — and is submitted to faculty for evaluation. Verified practicals count towards the hands-on experience certificate.</a:t>
            </a:r>
            <a:endParaRPr lang="en-US" sz="1300" dirty="0"/>
          </a:p>
        </p:txBody>
      </p:sp>
      <p:sp>
        <p:nvSpPr>
          <p:cNvPr id="6" name="Shape 4"/>
          <p:cNvSpPr/>
          <p:nvPr/>
        </p:nvSpPr>
        <p:spPr>
          <a:xfrm>
            <a:off x="777240" y="2761488"/>
            <a:ext cx="10607040" cy="868680"/>
          </a:xfrm>
          <a:prstGeom prst="roundRect">
            <a:avLst>
              <a:gd name="adj" fmla="val 6316"/>
            </a:avLst>
          </a:prstGeom>
          <a:solidFill>
            <a:srgbClr val="241A19"/>
          </a:solidFill>
          <a:ln w="9525">
            <a:solidFill>
              <a:srgbClr val="3E2A28"/>
            </a:solidFill>
            <a:prstDash val="solid"/>
          </a:ln>
        </p:spPr>
      </p:sp>
      <p:sp>
        <p:nvSpPr>
          <p:cNvPr id="7" name="Shape 5"/>
          <p:cNvSpPr/>
          <p:nvPr/>
        </p:nvSpPr>
        <p:spPr>
          <a:xfrm>
            <a:off x="1097280" y="3003804"/>
            <a:ext cx="384048" cy="384048"/>
          </a:xfrm>
          <a:prstGeom prst="ellipse">
            <a:avLst/>
          </a:prstGeom>
          <a:solidFill>
            <a:srgbClr val="8C1515"/>
          </a:solidFill>
          <a:ln/>
        </p:spPr>
      </p:sp>
      <p:sp>
        <p:nvSpPr>
          <p:cNvPr id="8" name="Text 6"/>
          <p:cNvSpPr/>
          <p:nvPr/>
        </p:nvSpPr>
        <p:spPr>
          <a:xfrm>
            <a:off x="1097280" y="30038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664208" y="2834640"/>
            <a:ext cx="4572000" cy="228600"/>
          </a:xfrm>
          <a:prstGeom prst="rect">
            <a:avLst/>
          </a:prstGeom>
          <a:noFill/>
          <a:ln/>
        </p:spPr>
        <p:txBody>
          <a:bodyPr wrap="square" lIns="0" tIns="0" rIns="0" bIns="0" rtlCol="0" anchor="ctr"/>
          <a:lstStyle/>
          <a:p>
            <a:pPr indent="0" marL="0">
              <a:buNone/>
            </a:pPr>
            <a:r>
              <a:rPr lang="en-US" sz="1000" b="1" dirty="0">
                <a:solidFill>
                  <a:srgbClr val="9A7B3F"/>
                </a:solidFill>
                <a:latin typeface="Calibri" pitchFamily="34" charset="0"/>
                <a:ea typeface="Calibri" pitchFamily="34" charset="-122"/>
                <a:cs typeface="Calibri" pitchFamily="34" charset="-120"/>
              </a:rPr>
              <a:t>Module 6 · Unit 1 · Practical 1</a:t>
            </a:r>
            <a:endParaRPr lang="en-US" sz="1000" dirty="0"/>
          </a:p>
        </p:txBody>
      </p:sp>
      <p:sp>
        <p:nvSpPr>
          <p:cNvPr id="10" name="Text 8"/>
          <p:cNvSpPr/>
          <p:nvPr/>
        </p:nvSpPr>
        <p:spPr>
          <a:xfrm>
            <a:off x="1664208" y="3054096"/>
            <a:ext cx="9418320" cy="310896"/>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Pharmacy Data Quality Audit</a:t>
            </a:r>
            <a:endParaRPr lang="en-US" sz="1350" dirty="0"/>
          </a:p>
        </p:txBody>
      </p:sp>
      <p:sp>
        <p:nvSpPr>
          <p:cNvPr id="11" name="Shape 9"/>
          <p:cNvSpPr/>
          <p:nvPr/>
        </p:nvSpPr>
        <p:spPr>
          <a:xfrm>
            <a:off x="777240" y="3803904"/>
            <a:ext cx="10607040" cy="868680"/>
          </a:xfrm>
          <a:prstGeom prst="roundRect">
            <a:avLst>
              <a:gd name="adj" fmla="val 6316"/>
            </a:avLst>
          </a:prstGeom>
          <a:solidFill>
            <a:srgbClr val="241A19"/>
          </a:solidFill>
          <a:ln w="9525">
            <a:solidFill>
              <a:srgbClr val="3E2A28"/>
            </a:solidFill>
            <a:prstDash val="solid"/>
          </a:ln>
        </p:spPr>
      </p:sp>
      <p:sp>
        <p:nvSpPr>
          <p:cNvPr id="12" name="Shape 10"/>
          <p:cNvSpPr/>
          <p:nvPr/>
        </p:nvSpPr>
        <p:spPr>
          <a:xfrm>
            <a:off x="1097280" y="4046220"/>
            <a:ext cx="384048" cy="384048"/>
          </a:xfrm>
          <a:prstGeom prst="ellipse">
            <a:avLst/>
          </a:prstGeom>
          <a:solidFill>
            <a:srgbClr val="8C1515"/>
          </a:solidFill>
          <a:ln/>
        </p:spPr>
      </p:sp>
      <p:sp>
        <p:nvSpPr>
          <p:cNvPr id="13" name="Text 11"/>
          <p:cNvSpPr/>
          <p:nvPr/>
        </p:nvSpPr>
        <p:spPr>
          <a:xfrm>
            <a:off x="1097280" y="40462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1664208" y="3877056"/>
            <a:ext cx="4572000" cy="228600"/>
          </a:xfrm>
          <a:prstGeom prst="rect">
            <a:avLst/>
          </a:prstGeom>
          <a:noFill/>
          <a:ln/>
        </p:spPr>
        <p:txBody>
          <a:bodyPr wrap="square" lIns="0" tIns="0" rIns="0" bIns="0" rtlCol="0" anchor="ctr"/>
          <a:lstStyle/>
          <a:p>
            <a:pPr indent="0" marL="0">
              <a:buNone/>
            </a:pPr>
            <a:r>
              <a:rPr lang="en-US" sz="1000" b="1" dirty="0">
                <a:solidFill>
                  <a:srgbClr val="9A7B3F"/>
                </a:solidFill>
                <a:latin typeface="Calibri" pitchFamily="34" charset="0"/>
                <a:ea typeface="Calibri" pitchFamily="34" charset="-122"/>
                <a:cs typeface="Calibri" pitchFamily="34" charset="-120"/>
              </a:rPr>
              <a:t>Module 6 · Unit 2 · Practical 2</a:t>
            </a:r>
            <a:endParaRPr lang="en-US" sz="1000" dirty="0"/>
          </a:p>
        </p:txBody>
      </p:sp>
      <p:sp>
        <p:nvSpPr>
          <p:cNvPr id="15" name="Text 13"/>
          <p:cNvSpPr/>
          <p:nvPr/>
        </p:nvSpPr>
        <p:spPr>
          <a:xfrm>
            <a:off x="1664208" y="4096512"/>
            <a:ext cx="9418320" cy="310896"/>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Model Evaluation Clinic</a:t>
            </a:r>
            <a:endParaRPr lang="en-US" sz="1350" dirty="0"/>
          </a:p>
        </p:txBody>
      </p:sp>
      <p:sp>
        <p:nvSpPr>
          <p:cNvPr id="16" name="Shape 14"/>
          <p:cNvSpPr/>
          <p:nvPr/>
        </p:nvSpPr>
        <p:spPr>
          <a:xfrm>
            <a:off x="777240" y="4846320"/>
            <a:ext cx="10607040" cy="868680"/>
          </a:xfrm>
          <a:prstGeom prst="roundRect">
            <a:avLst>
              <a:gd name="adj" fmla="val 6316"/>
            </a:avLst>
          </a:prstGeom>
          <a:solidFill>
            <a:srgbClr val="241A19"/>
          </a:solidFill>
          <a:ln w="9525">
            <a:solidFill>
              <a:srgbClr val="3E2A28"/>
            </a:solidFill>
            <a:prstDash val="solid"/>
          </a:ln>
        </p:spPr>
      </p:sp>
      <p:sp>
        <p:nvSpPr>
          <p:cNvPr id="17" name="Shape 15"/>
          <p:cNvSpPr/>
          <p:nvPr/>
        </p:nvSpPr>
        <p:spPr>
          <a:xfrm>
            <a:off x="1097280" y="5088636"/>
            <a:ext cx="384048" cy="384048"/>
          </a:xfrm>
          <a:prstGeom prst="ellipse">
            <a:avLst/>
          </a:prstGeom>
          <a:solidFill>
            <a:srgbClr val="8C1515"/>
          </a:solidFill>
          <a:ln/>
        </p:spPr>
      </p:sp>
      <p:sp>
        <p:nvSpPr>
          <p:cNvPr id="18" name="Text 16"/>
          <p:cNvSpPr/>
          <p:nvPr/>
        </p:nvSpPr>
        <p:spPr>
          <a:xfrm>
            <a:off x="1097280" y="50886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1664208" y="4919472"/>
            <a:ext cx="4572000" cy="228600"/>
          </a:xfrm>
          <a:prstGeom prst="rect">
            <a:avLst/>
          </a:prstGeom>
          <a:noFill/>
          <a:ln/>
        </p:spPr>
        <p:txBody>
          <a:bodyPr wrap="square" lIns="0" tIns="0" rIns="0" bIns="0" rtlCol="0" anchor="ctr"/>
          <a:lstStyle/>
          <a:p>
            <a:pPr indent="0" marL="0">
              <a:buNone/>
            </a:pPr>
            <a:r>
              <a:rPr lang="en-US" sz="1000" b="1" dirty="0">
                <a:solidFill>
                  <a:srgbClr val="9A7B3F"/>
                </a:solidFill>
                <a:latin typeface="Calibri" pitchFamily="34" charset="0"/>
                <a:ea typeface="Calibri" pitchFamily="34" charset="-122"/>
                <a:cs typeface="Calibri" pitchFamily="34" charset="-120"/>
              </a:rPr>
              <a:t>Module 6 · Unit 3 · Practical 1</a:t>
            </a:r>
            <a:endParaRPr lang="en-US" sz="1000" dirty="0"/>
          </a:p>
        </p:txBody>
      </p:sp>
      <p:sp>
        <p:nvSpPr>
          <p:cNvPr id="20" name="Text 18"/>
          <p:cNvSpPr/>
          <p:nvPr/>
        </p:nvSpPr>
        <p:spPr>
          <a:xfrm>
            <a:off x="1664208" y="5138928"/>
            <a:ext cx="9418320" cy="310896"/>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Prescribing Analytics Investigation</a:t>
            </a:r>
            <a:endParaRPr lang="en-US" sz="1350" dirty="0"/>
          </a:p>
        </p:txBody>
      </p:sp>
      <p:sp>
        <p:nvSpPr>
          <p:cNvPr id="21" name="Shape 19"/>
          <p:cNvSpPr/>
          <p:nvPr/>
        </p:nvSpPr>
        <p:spPr>
          <a:xfrm>
            <a:off x="777240" y="5888736"/>
            <a:ext cx="10607040" cy="868680"/>
          </a:xfrm>
          <a:prstGeom prst="roundRect">
            <a:avLst>
              <a:gd name="adj" fmla="val 6316"/>
            </a:avLst>
          </a:prstGeom>
          <a:solidFill>
            <a:srgbClr val="241A19"/>
          </a:solidFill>
          <a:ln w="9525">
            <a:solidFill>
              <a:srgbClr val="3E2A28"/>
            </a:solidFill>
            <a:prstDash val="solid"/>
          </a:ln>
        </p:spPr>
      </p:sp>
      <p:sp>
        <p:nvSpPr>
          <p:cNvPr id="22" name="Shape 20"/>
          <p:cNvSpPr/>
          <p:nvPr/>
        </p:nvSpPr>
        <p:spPr>
          <a:xfrm>
            <a:off x="1097280" y="6131052"/>
            <a:ext cx="384048" cy="384048"/>
          </a:xfrm>
          <a:prstGeom prst="ellipse">
            <a:avLst/>
          </a:prstGeom>
          <a:solidFill>
            <a:srgbClr val="8C1515"/>
          </a:solidFill>
          <a:ln/>
        </p:spPr>
      </p:sp>
      <p:sp>
        <p:nvSpPr>
          <p:cNvPr id="23" name="Text 21"/>
          <p:cNvSpPr/>
          <p:nvPr/>
        </p:nvSpPr>
        <p:spPr>
          <a:xfrm>
            <a:off x="1097280" y="61310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p:nvPr/>
        </p:nvSpPr>
        <p:spPr>
          <a:xfrm>
            <a:off x="1664208" y="5961888"/>
            <a:ext cx="4572000" cy="228600"/>
          </a:xfrm>
          <a:prstGeom prst="rect">
            <a:avLst/>
          </a:prstGeom>
          <a:noFill/>
          <a:ln/>
        </p:spPr>
        <p:txBody>
          <a:bodyPr wrap="square" lIns="0" tIns="0" rIns="0" bIns="0" rtlCol="0" anchor="ctr"/>
          <a:lstStyle/>
          <a:p>
            <a:pPr indent="0" marL="0">
              <a:buNone/>
            </a:pPr>
            <a:r>
              <a:rPr lang="en-US" sz="1000" b="1" dirty="0">
                <a:solidFill>
                  <a:srgbClr val="9A7B3F"/>
                </a:solidFill>
                <a:latin typeface="Calibri" pitchFamily="34" charset="0"/>
                <a:ea typeface="Calibri" pitchFamily="34" charset="-122"/>
                <a:cs typeface="Calibri" pitchFamily="34" charset="-120"/>
              </a:rPr>
              <a:t>Module 6 · Unit 4 · Practical 3</a:t>
            </a:r>
            <a:endParaRPr lang="en-US" sz="1000" dirty="0"/>
          </a:p>
        </p:txBody>
      </p:sp>
      <p:sp>
        <p:nvSpPr>
          <p:cNvPr id="25" name="Text 23"/>
          <p:cNvSpPr/>
          <p:nvPr/>
        </p:nvSpPr>
        <p:spPr>
          <a:xfrm>
            <a:off x="1664208" y="6181344"/>
            <a:ext cx="9418320" cy="310896"/>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Demand Forecasting &amp; Stock Decisions</a:t>
            </a:r>
            <a:endParaRPr lang="en-US" sz="1350" dirty="0"/>
          </a:p>
        </p:txBody>
      </p:sp>
      <p:sp>
        <p:nvSpPr>
          <p:cNvPr id="26" name="Text 24"/>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058"/>
                </a:solidFill>
                <a:latin typeface="Calibri" pitchFamily="34" charset="0"/>
                <a:ea typeface="Calibri" pitchFamily="34" charset="-122"/>
                <a:cs typeface="Calibri" pitchFamily="34" charset="-120"/>
              </a:rPr>
              <a:t>Module 6 · Pharmacy Data Analytics &amp; Predictive Modelling</a:t>
            </a:r>
            <a:endParaRPr lang="en-US" sz="950" dirty="0"/>
          </a:p>
        </p:txBody>
      </p:sp>
      <p:sp>
        <p:nvSpPr>
          <p:cNvPr id="27" name="Text 25"/>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9A7B3F"/>
                </a:solidFill>
                <a:latin typeface="Calibri" pitchFamily="34" charset="0"/>
                <a:ea typeface="Calibri" pitchFamily="34" charset="-122"/>
                <a:cs typeface="Calibri" pitchFamily="34" charset="-120"/>
              </a:rPr>
              <a:t>20</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20</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MODULE 6 · UNIT 1 · PRACTICAL 1</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Pharmacy Data Quality Audit</a:t>
            </a:r>
            <a:endParaRPr lang="en-US" sz="2900" dirty="0"/>
          </a:p>
        </p:txBody>
      </p:sp>
      <p:sp>
        <p:nvSpPr>
          <p:cNvPr id="6" name="Shape 4"/>
          <p:cNvSpPr/>
          <p:nvPr/>
        </p:nvSpPr>
        <p:spPr>
          <a:xfrm>
            <a:off x="502920" y="1517904"/>
            <a:ext cx="5440680" cy="1783080"/>
          </a:xfrm>
          <a:prstGeom prst="roundRect">
            <a:avLst>
              <a:gd name="adj" fmla="val 3077"/>
            </a:avLst>
          </a:prstGeom>
          <a:solidFill>
            <a:srgbClr val="2E1010"/>
          </a:solidFill>
          <a:ln w="9525">
            <a:solidFill>
              <a:srgbClr val="46201F"/>
            </a:solidFill>
            <a:prstDash val="solid"/>
          </a:ln>
        </p:spPr>
      </p:sp>
      <p:sp>
        <p:nvSpPr>
          <p:cNvPr id="7" name="Text 5"/>
          <p:cNvSpPr/>
          <p:nvPr/>
        </p:nvSpPr>
        <p:spPr>
          <a:xfrm>
            <a:off x="868680" y="1719072"/>
            <a:ext cx="182880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AIM</a:t>
            </a:r>
            <a:endParaRPr lang="en-US" sz="1050" dirty="0"/>
          </a:p>
        </p:txBody>
      </p:sp>
      <p:sp>
        <p:nvSpPr>
          <p:cNvPr id="8" name="Text 6"/>
          <p:cNvSpPr/>
          <p:nvPr/>
        </p:nvSpPr>
        <p:spPr>
          <a:xfrm>
            <a:off x="868680" y="2011680"/>
            <a:ext cx="4754880" cy="1188720"/>
          </a:xfrm>
          <a:prstGeom prst="rect">
            <a:avLst/>
          </a:prstGeom>
          <a:noFill/>
          <a:ln/>
        </p:spPr>
        <p:txBody>
          <a:bodyPr wrap="square" lIns="0" tIns="0" rIns="0" bIns="0" rtlCol="0" anchor="ctr"/>
          <a:lstStyle/>
          <a:p>
            <a:pPr indent="0" marL="0">
              <a:lnSpc>
                <a:spcPts val="1600"/>
              </a:lnSpc>
              <a:buNone/>
            </a:pPr>
            <a:r>
              <a:rPr lang="en-US" sz="1200" dirty="0">
                <a:solidFill>
                  <a:srgbClr val="F0E7E4"/>
                </a:solidFill>
                <a:latin typeface="Calibri" pitchFamily="34" charset="0"/>
                <a:ea typeface="Calibri" pitchFamily="34" charset="-122"/>
                <a:cs typeface="Calibri" pitchFamily="34" charset="-120"/>
              </a:rPr>
              <a:t>To audit a year of dispensing data before analysing it: to run the standard quality checks, distinguish a defect that announces itself from one that is silent, decide whether the data is fit to use, and document every correction made.</a:t>
            </a:r>
            <a:endParaRPr lang="en-US" sz="1200" dirty="0"/>
          </a:p>
        </p:txBody>
      </p:sp>
      <p:sp>
        <p:nvSpPr>
          <p:cNvPr id="9" name="Shape 7"/>
          <p:cNvSpPr/>
          <p:nvPr/>
        </p:nvSpPr>
        <p:spPr>
          <a:xfrm>
            <a:off x="502920" y="3438144"/>
            <a:ext cx="5440680" cy="2377440"/>
          </a:xfrm>
          <a:prstGeom prst="roundRect">
            <a:avLst>
              <a:gd name="adj" fmla="val 2308"/>
            </a:avLst>
          </a:prstGeom>
          <a:solidFill>
            <a:srgbClr val="FAF8F6"/>
          </a:solidFill>
          <a:ln w="9525">
            <a:solidFill>
              <a:srgbClr val="DDD5CE"/>
            </a:solidFill>
            <a:prstDash val="solid"/>
          </a:ln>
        </p:spPr>
      </p:sp>
      <p:sp>
        <p:nvSpPr>
          <p:cNvPr id="10" name="Text 8"/>
          <p:cNvSpPr/>
          <p:nvPr/>
        </p:nvSpPr>
        <p:spPr>
          <a:xfrm>
            <a:off x="868680" y="3639312"/>
            <a:ext cx="3291840" cy="256032"/>
          </a:xfrm>
          <a:prstGeom prst="rect">
            <a:avLst/>
          </a:prstGeom>
          <a:noFill/>
          <a:ln/>
        </p:spPr>
        <p:txBody>
          <a:bodyPr wrap="square" lIns="0" tIns="0" rIns="0" bIns="0" rtlCol="0" anchor="ctr"/>
          <a:lstStyle/>
          <a:p>
            <a:pPr indent="0" marL="0">
              <a:buNone/>
            </a:pPr>
            <a:r>
              <a:rPr lang="en-US" sz="1050" b="1" spc="160" kern="0" dirty="0">
                <a:solidFill>
                  <a:srgbClr val="8C1515"/>
                </a:solidFill>
                <a:latin typeface="Calibri" pitchFamily="34" charset="0"/>
                <a:ea typeface="Calibri" pitchFamily="34" charset="-122"/>
                <a:cs typeface="Calibri" pitchFamily="34" charset="-120"/>
              </a:rPr>
              <a:t>PRINCIPLE &amp; THEORY</a:t>
            </a:r>
            <a:endParaRPr lang="en-US" sz="1050" dirty="0"/>
          </a:p>
        </p:txBody>
      </p:sp>
      <p:sp>
        <p:nvSpPr>
          <p:cNvPr id="11" name="Text 9"/>
          <p:cNvSpPr/>
          <p:nvPr/>
        </p:nvSpPr>
        <p:spPr>
          <a:xfrm>
            <a:off x="868680" y="3950208"/>
            <a:ext cx="4754880" cy="1719072"/>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No model repairs bad data. The defect that misleads an analysis is rarely the dramatic one, because a dramatic anomaly invites the question that exposes it. Data quality is assessed for completeness, range, consistency, duplication and timeliness.</a:t>
            </a:r>
            <a:endParaRPr lang="en-US" sz="1150" dirty="0"/>
          </a:p>
        </p:txBody>
      </p:sp>
      <p:sp>
        <p:nvSpPr>
          <p:cNvPr id="12" name="Text 10"/>
          <p:cNvSpPr/>
          <p:nvPr/>
        </p:nvSpPr>
        <p:spPr>
          <a:xfrm>
            <a:off x="6263640" y="1554480"/>
            <a:ext cx="3200400" cy="256032"/>
          </a:xfrm>
          <a:prstGeom prst="rect">
            <a:avLst/>
          </a:prstGeom>
          <a:noFill/>
          <a:ln/>
        </p:spPr>
        <p:txBody>
          <a:bodyPr wrap="square" lIns="0" tIns="0" rIns="0" bIns="0" rtlCol="0" anchor="ctr"/>
          <a:lstStyle/>
          <a:p>
            <a:pPr indent="0" marL="0">
              <a:buNone/>
            </a:pPr>
            <a:r>
              <a:rPr lang="en-US" sz="1050" b="1" spc="160" kern="0" dirty="0">
                <a:solidFill>
                  <a:srgbClr val="8C1515"/>
                </a:solidFill>
                <a:latin typeface="Calibri" pitchFamily="34" charset="0"/>
                <a:ea typeface="Calibri" pitchFamily="34" charset="-122"/>
                <a:cs typeface="Calibri" pitchFamily="34" charset="-120"/>
              </a:rPr>
              <a:t>PROCEDURE</a:t>
            </a:r>
            <a:endParaRPr lang="en-US" sz="1050" dirty="0"/>
          </a:p>
        </p:txBody>
      </p:sp>
      <p:sp>
        <p:nvSpPr>
          <p:cNvPr id="13" name="Shape 11"/>
          <p:cNvSpPr/>
          <p:nvPr/>
        </p:nvSpPr>
        <p:spPr>
          <a:xfrm>
            <a:off x="6263640" y="1938528"/>
            <a:ext cx="292608" cy="292608"/>
          </a:xfrm>
          <a:prstGeom prst="ellipse">
            <a:avLst/>
          </a:prstGeom>
          <a:solidFill>
            <a:srgbClr val="F2E4E4"/>
          </a:solidFill>
          <a:ln/>
        </p:spPr>
      </p:sp>
      <p:sp>
        <p:nvSpPr>
          <p:cNvPr id="14" name="Text 12"/>
          <p:cNvSpPr/>
          <p:nvPr/>
        </p:nvSpPr>
        <p:spPr>
          <a:xfrm>
            <a:off x="6263640" y="193852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1</a:t>
            </a:r>
            <a:endParaRPr lang="en-US" sz="1100" dirty="0"/>
          </a:p>
        </p:txBody>
      </p:sp>
      <p:sp>
        <p:nvSpPr>
          <p:cNvPr id="15" name="Text 13"/>
          <p:cNvSpPr/>
          <p:nvPr/>
        </p:nvSpPr>
        <p:spPr>
          <a:xfrm>
            <a:off x="6675120" y="1920240"/>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Enter the audit as the pharmacist preparing a report for the stewardship committee.</a:t>
            </a:r>
            <a:endParaRPr lang="en-US" sz="1150" dirty="0"/>
          </a:p>
        </p:txBody>
      </p:sp>
      <p:sp>
        <p:nvSpPr>
          <p:cNvPr id="16" name="Shape 14"/>
          <p:cNvSpPr/>
          <p:nvPr/>
        </p:nvSpPr>
        <p:spPr>
          <a:xfrm>
            <a:off x="6263640" y="2615184"/>
            <a:ext cx="292608" cy="292608"/>
          </a:xfrm>
          <a:prstGeom prst="ellipse">
            <a:avLst/>
          </a:prstGeom>
          <a:solidFill>
            <a:srgbClr val="F2E4E4"/>
          </a:solidFill>
          <a:ln/>
        </p:spPr>
      </p:sp>
      <p:sp>
        <p:nvSpPr>
          <p:cNvPr id="17" name="Text 15"/>
          <p:cNvSpPr/>
          <p:nvPr/>
        </p:nvSpPr>
        <p:spPr>
          <a:xfrm>
            <a:off x="6263640" y="2615184"/>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2</a:t>
            </a:r>
            <a:endParaRPr lang="en-US" sz="1100" dirty="0"/>
          </a:p>
        </p:txBody>
      </p:sp>
      <p:sp>
        <p:nvSpPr>
          <p:cNvPr id="18" name="Text 16"/>
          <p:cNvSpPr/>
          <p:nvPr/>
        </p:nvSpPr>
        <p:spPr>
          <a:xfrm>
            <a:off x="6675120" y="2596896"/>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Run the quality checks. Each check you open is recorded and you may proceed at any point.</a:t>
            </a:r>
            <a:endParaRPr lang="en-US" sz="1150" dirty="0"/>
          </a:p>
        </p:txBody>
      </p:sp>
      <p:sp>
        <p:nvSpPr>
          <p:cNvPr id="19" name="Shape 17"/>
          <p:cNvSpPr/>
          <p:nvPr/>
        </p:nvSpPr>
        <p:spPr>
          <a:xfrm>
            <a:off x="6263640" y="3291840"/>
            <a:ext cx="292608" cy="292608"/>
          </a:xfrm>
          <a:prstGeom prst="ellipse">
            <a:avLst/>
          </a:prstGeom>
          <a:solidFill>
            <a:srgbClr val="F2E4E4"/>
          </a:solidFill>
          <a:ln/>
        </p:spPr>
      </p:sp>
      <p:sp>
        <p:nvSpPr>
          <p:cNvPr id="20" name="Text 18"/>
          <p:cNvSpPr/>
          <p:nvPr/>
        </p:nvSpPr>
        <p:spPr>
          <a:xfrm>
            <a:off x="6263640" y="3291840"/>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3</a:t>
            </a:r>
            <a:endParaRPr lang="en-US" sz="1100" dirty="0"/>
          </a:p>
        </p:txBody>
      </p:sp>
      <p:sp>
        <p:nvSpPr>
          <p:cNvPr id="21" name="Text 19"/>
          <p:cNvSpPr/>
          <p:nvPr/>
        </p:nvSpPr>
        <p:spPr>
          <a:xfrm>
            <a:off x="6675120" y="3273552"/>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Explain the anomaly that is visible in the volume profile.</a:t>
            </a:r>
            <a:endParaRPr lang="en-US" sz="1150" dirty="0"/>
          </a:p>
        </p:txBody>
      </p:sp>
      <p:sp>
        <p:nvSpPr>
          <p:cNvPr id="22" name="Shape 20"/>
          <p:cNvSpPr/>
          <p:nvPr/>
        </p:nvSpPr>
        <p:spPr>
          <a:xfrm>
            <a:off x="6263640" y="3968496"/>
            <a:ext cx="292608" cy="292608"/>
          </a:xfrm>
          <a:prstGeom prst="ellipse">
            <a:avLst/>
          </a:prstGeom>
          <a:solidFill>
            <a:srgbClr val="F2E4E4"/>
          </a:solidFill>
          <a:ln/>
        </p:spPr>
      </p:sp>
      <p:sp>
        <p:nvSpPr>
          <p:cNvPr id="23" name="Text 21"/>
          <p:cNvSpPr/>
          <p:nvPr/>
        </p:nvSpPr>
        <p:spPr>
          <a:xfrm>
            <a:off x="6263640" y="3968496"/>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4</a:t>
            </a:r>
            <a:endParaRPr lang="en-US" sz="1100" dirty="0"/>
          </a:p>
        </p:txBody>
      </p:sp>
      <p:sp>
        <p:nvSpPr>
          <p:cNvPr id="24" name="Text 22"/>
          <p:cNvSpPr/>
          <p:nvPr/>
        </p:nvSpPr>
        <p:spPr>
          <a:xfrm>
            <a:off x="6675120" y="3950208"/>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Decide which of the defects present is the more dangerous to an analysis.</a:t>
            </a:r>
            <a:endParaRPr lang="en-US" sz="1150" dirty="0"/>
          </a:p>
        </p:txBody>
      </p:sp>
      <p:sp>
        <p:nvSpPr>
          <p:cNvPr id="25" name="Shape 23"/>
          <p:cNvSpPr/>
          <p:nvPr/>
        </p:nvSpPr>
        <p:spPr>
          <a:xfrm>
            <a:off x="6263640" y="4645152"/>
            <a:ext cx="292608" cy="292608"/>
          </a:xfrm>
          <a:prstGeom prst="ellipse">
            <a:avLst/>
          </a:prstGeom>
          <a:solidFill>
            <a:srgbClr val="F2E4E4"/>
          </a:solidFill>
          <a:ln/>
        </p:spPr>
      </p:sp>
      <p:sp>
        <p:nvSpPr>
          <p:cNvPr id="26" name="Text 24"/>
          <p:cNvSpPr/>
          <p:nvPr/>
        </p:nvSpPr>
        <p:spPr>
          <a:xfrm>
            <a:off x="6263640" y="4645152"/>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5</a:t>
            </a:r>
            <a:endParaRPr lang="en-US" sz="1100" dirty="0"/>
          </a:p>
        </p:txBody>
      </p:sp>
      <p:sp>
        <p:nvSpPr>
          <p:cNvPr id="27" name="Text 25"/>
          <p:cNvSpPr/>
          <p:nvPr/>
        </p:nvSpPr>
        <p:spPr>
          <a:xfrm>
            <a:off x="6675120" y="4626864"/>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Decide what must happen before the data is used, and record it.</a:t>
            </a:r>
            <a:endParaRPr lang="en-US" sz="1150" dirty="0"/>
          </a:p>
        </p:txBody>
      </p:sp>
      <p:sp>
        <p:nvSpPr>
          <p:cNvPr id="28" name="Shape 26"/>
          <p:cNvSpPr/>
          <p:nvPr/>
        </p:nvSpPr>
        <p:spPr>
          <a:xfrm>
            <a:off x="6263640" y="5321808"/>
            <a:ext cx="292608" cy="292608"/>
          </a:xfrm>
          <a:prstGeom prst="ellipse">
            <a:avLst/>
          </a:prstGeom>
          <a:solidFill>
            <a:srgbClr val="F2E4E4"/>
          </a:solidFill>
          <a:ln/>
        </p:spPr>
      </p:sp>
      <p:sp>
        <p:nvSpPr>
          <p:cNvPr id="29" name="Text 27"/>
          <p:cNvSpPr/>
          <p:nvPr/>
        </p:nvSpPr>
        <p:spPr>
          <a:xfrm>
            <a:off x="6263640" y="532180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6</a:t>
            </a:r>
            <a:endParaRPr lang="en-US" sz="1100" dirty="0"/>
          </a:p>
        </p:txBody>
      </p:sp>
      <p:sp>
        <p:nvSpPr>
          <p:cNvPr id="30" name="Text 28"/>
          <p:cNvSpPr/>
          <p:nvPr/>
        </p:nvSpPr>
        <p:spPr>
          <a:xfrm>
            <a:off x="6675120" y="5303520"/>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Review the outcome, the marks for each element and the two indices.</a:t>
            </a:r>
            <a:endParaRPr lang="en-US" sz="1150" dirty="0"/>
          </a:p>
        </p:txBody>
      </p:sp>
      <p:sp>
        <p:nvSpPr>
          <p:cNvPr id="31" name="Text 29"/>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6 · Pharmacy Data Analytics &amp; Predictive Modelling</a:t>
            </a:r>
            <a:endParaRPr lang="en-US" sz="950" dirty="0"/>
          </a:p>
        </p:txBody>
      </p:sp>
      <p:sp>
        <p:nvSpPr>
          <p:cNvPr id="32" name="Text 30"/>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21</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21</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MODULE 6 · UNIT 2 · PRACTICAL 2</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Model Evaluation Clinic</a:t>
            </a:r>
            <a:endParaRPr lang="en-US" sz="2900" dirty="0"/>
          </a:p>
        </p:txBody>
      </p:sp>
      <p:sp>
        <p:nvSpPr>
          <p:cNvPr id="6" name="Shape 4"/>
          <p:cNvSpPr/>
          <p:nvPr/>
        </p:nvSpPr>
        <p:spPr>
          <a:xfrm>
            <a:off x="502920" y="1517904"/>
            <a:ext cx="5440680" cy="1783080"/>
          </a:xfrm>
          <a:prstGeom prst="roundRect">
            <a:avLst>
              <a:gd name="adj" fmla="val 3077"/>
            </a:avLst>
          </a:prstGeom>
          <a:solidFill>
            <a:srgbClr val="2E1010"/>
          </a:solidFill>
          <a:ln w="9525">
            <a:solidFill>
              <a:srgbClr val="46201F"/>
            </a:solidFill>
            <a:prstDash val="solid"/>
          </a:ln>
        </p:spPr>
      </p:sp>
      <p:sp>
        <p:nvSpPr>
          <p:cNvPr id="7" name="Text 5"/>
          <p:cNvSpPr/>
          <p:nvPr/>
        </p:nvSpPr>
        <p:spPr>
          <a:xfrm>
            <a:off x="868680" y="1719072"/>
            <a:ext cx="182880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AIM</a:t>
            </a:r>
            <a:endParaRPr lang="en-US" sz="1050" dirty="0"/>
          </a:p>
        </p:txBody>
      </p:sp>
      <p:sp>
        <p:nvSpPr>
          <p:cNvPr id="8" name="Text 6"/>
          <p:cNvSpPr/>
          <p:nvPr/>
        </p:nvSpPr>
        <p:spPr>
          <a:xfrm>
            <a:off x="868680" y="2011680"/>
            <a:ext cx="4754880" cy="1188720"/>
          </a:xfrm>
          <a:prstGeom prst="rect">
            <a:avLst/>
          </a:prstGeom>
          <a:noFill/>
          <a:ln/>
        </p:spPr>
        <p:txBody>
          <a:bodyPr wrap="square" lIns="0" tIns="0" rIns="0" bIns="0" rtlCol="0" anchor="ctr"/>
          <a:lstStyle/>
          <a:p>
            <a:pPr indent="0" marL="0">
              <a:lnSpc>
                <a:spcPts val="1600"/>
              </a:lnSpc>
              <a:buNone/>
            </a:pPr>
            <a:r>
              <a:rPr lang="en-US" sz="1200" dirty="0">
                <a:solidFill>
                  <a:srgbClr val="F0E7E4"/>
                </a:solidFill>
                <a:latin typeface="Calibri" pitchFamily="34" charset="0"/>
                <a:ea typeface="Calibri" pitchFamily="34" charset="-122"/>
                <a:cs typeface="Calibri" pitchFamily="34" charset="-120"/>
              </a:rPr>
              <a:t>To evaluate three candidate machine-learning models for predicting readmission, choose one or reject all, and justify the choice on the measures that matter when a prediction will be acted on rather than on the most impressive headline figure.</a:t>
            </a:r>
            <a:endParaRPr lang="en-US" sz="1200" dirty="0"/>
          </a:p>
        </p:txBody>
      </p:sp>
      <p:sp>
        <p:nvSpPr>
          <p:cNvPr id="9" name="Shape 7"/>
          <p:cNvSpPr/>
          <p:nvPr/>
        </p:nvSpPr>
        <p:spPr>
          <a:xfrm>
            <a:off x="502920" y="3438144"/>
            <a:ext cx="5440680" cy="2377440"/>
          </a:xfrm>
          <a:prstGeom prst="roundRect">
            <a:avLst>
              <a:gd name="adj" fmla="val 2308"/>
            </a:avLst>
          </a:prstGeom>
          <a:solidFill>
            <a:srgbClr val="FAF8F6"/>
          </a:solidFill>
          <a:ln w="9525">
            <a:solidFill>
              <a:srgbClr val="DDD5CE"/>
            </a:solidFill>
            <a:prstDash val="solid"/>
          </a:ln>
        </p:spPr>
      </p:sp>
      <p:sp>
        <p:nvSpPr>
          <p:cNvPr id="10" name="Text 8"/>
          <p:cNvSpPr/>
          <p:nvPr/>
        </p:nvSpPr>
        <p:spPr>
          <a:xfrm>
            <a:off x="868680" y="3639312"/>
            <a:ext cx="3291840" cy="256032"/>
          </a:xfrm>
          <a:prstGeom prst="rect">
            <a:avLst/>
          </a:prstGeom>
          <a:noFill/>
          <a:ln/>
        </p:spPr>
        <p:txBody>
          <a:bodyPr wrap="square" lIns="0" tIns="0" rIns="0" bIns="0" rtlCol="0" anchor="ctr"/>
          <a:lstStyle/>
          <a:p>
            <a:pPr indent="0" marL="0">
              <a:buNone/>
            </a:pPr>
            <a:r>
              <a:rPr lang="en-US" sz="1050" b="1" spc="160" kern="0" dirty="0">
                <a:solidFill>
                  <a:srgbClr val="8C1515"/>
                </a:solidFill>
                <a:latin typeface="Calibri" pitchFamily="34" charset="0"/>
                <a:ea typeface="Calibri" pitchFamily="34" charset="-122"/>
                <a:cs typeface="Calibri" pitchFamily="34" charset="-120"/>
              </a:rPr>
              <a:t>PRINCIPLE &amp; THEORY</a:t>
            </a:r>
            <a:endParaRPr lang="en-US" sz="1050" dirty="0"/>
          </a:p>
        </p:txBody>
      </p:sp>
      <p:sp>
        <p:nvSpPr>
          <p:cNvPr id="11" name="Text 9"/>
          <p:cNvSpPr/>
          <p:nvPr/>
        </p:nvSpPr>
        <p:spPr>
          <a:xfrm>
            <a:off x="868680" y="3950208"/>
            <a:ext cx="4754880" cy="1719072"/>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A single performance number rarely supports a decision. Accuracy collapses as a measure whenever the outcome is rare, discrimination says nothing about whether a predicted probability is trustworthy, and an excellent average can conceal a model that fails badly for one group of patients. Accuracy is the proportion of all cases classified correctly and is close to useless at low prevalence, because predicting the majority class for everyone scores highly.</a:t>
            </a:r>
            <a:endParaRPr lang="en-US" sz="1150" dirty="0"/>
          </a:p>
        </p:txBody>
      </p:sp>
      <p:sp>
        <p:nvSpPr>
          <p:cNvPr id="12" name="Text 10"/>
          <p:cNvSpPr/>
          <p:nvPr/>
        </p:nvSpPr>
        <p:spPr>
          <a:xfrm>
            <a:off x="6263640" y="1554480"/>
            <a:ext cx="3200400" cy="256032"/>
          </a:xfrm>
          <a:prstGeom prst="rect">
            <a:avLst/>
          </a:prstGeom>
          <a:noFill/>
          <a:ln/>
        </p:spPr>
        <p:txBody>
          <a:bodyPr wrap="square" lIns="0" tIns="0" rIns="0" bIns="0" rtlCol="0" anchor="ctr"/>
          <a:lstStyle/>
          <a:p>
            <a:pPr indent="0" marL="0">
              <a:buNone/>
            </a:pPr>
            <a:r>
              <a:rPr lang="en-US" sz="1050" b="1" spc="160" kern="0" dirty="0">
                <a:solidFill>
                  <a:srgbClr val="8C1515"/>
                </a:solidFill>
                <a:latin typeface="Calibri" pitchFamily="34" charset="0"/>
                <a:ea typeface="Calibri" pitchFamily="34" charset="-122"/>
                <a:cs typeface="Calibri" pitchFamily="34" charset="-120"/>
              </a:rPr>
              <a:t>PROCEDURE</a:t>
            </a:r>
            <a:endParaRPr lang="en-US" sz="1050" dirty="0"/>
          </a:p>
        </p:txBody>
      </p:sp>
      <p:sp>
        <p:nvSpPr>
          <p:cNvPr id="13" name="Shape 11"/>
          <p:cNvSpPr/>
          <p:nvPr/>
        </p:nvSpPr>
        <p:spPr>
          <a:xfrm>
            <a:off x="6263640" y="1938528"/>
            <a:ext cx="292608" cy="292608"/>
          </a:xfrm>
          <a:prstGeom prst="ellipse">
            <a:avLst/>
          </a:prstGeom>
          <a:solidFill>
            <a:srgbClr val="F2E4E4"/>
          </a:solidFill>
          <a:ln/>
        </p:spPr>
      </p:sp>
      <p:sp>
        <p:nvSpPr>
          <p:cNvPr id="14" name="Text 12"/>
          <p:cNvSpPr/>
          <p:nvPr/>
        </p:nvSpPr>
        <p:spPr>
          <a:xfrm>
            <a:off x="6263640" y="193852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1</a:t>
            </a:r>
            <a:endParaRPr lang="en-US" sz="1100" dirty="0"/>
          </a:p>
        </p:txBody>
      </p:sp>
      <p:sp>
        <p:nvSpPr>
          <p:cNvPr id="15" name="Text 13"/>
          <p:cNvSpPr/>
          <p:nvPr/>
        </p:nvSpPr>
        <p:spPr>
          <a:xfrm>
            <a:off x="6675120" y="1920240"/>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Enter the clinic as the pharmacist advising on which model to deploy.</a:t>
            </a:r>
            <a:endParaRPr lang="en-US" sz="1150" dirty="0"/>
          </a:p>
        </p:txBody>
      </p:sp>
      <p:sp>
        <p:nvSpPr>
          <p:cNvPr id="16" name="Shape 14"/>
          <p:cNvSpPr/>
          <p:nvPr/>
        </p:nvSpPr>
        <p:spPr>
          <a:xfrm>
            <a:off x="6263640" y="2615184"/>
            <a:ext cx="292608" cy="292608"/>
          </a:xfrm>
          <a:prstGeom prst="ellipse">
            <a:avLst/>
          </a:prstGeom>
          <a:solidFill>
            <a:srgbClr val="F2E4E4"/>
          </a:solidFill>
          <a:ln/>
        </p:spPr>
      </p:sp>
      <p:sp>
        <p:nvSpPr>
          <p:cNvPr id="17" name="Text 15"/>
          <p:cNvSpPr/>
          <p:nvPr/>
        </p:nvSpPr>
        <p:spPr>
          <a:xfrm>
            <a:off x="6263640" y="2615184"/>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2</a:t>
            </a:r>
            <a:endParaRPr lang="en-US" sz="1100" dirty="0"/>
          </a:p>
        </p:txBody>
      </p:sp>
      <p:sp>
        <p:nvSpPr>
          <p:cNvPr id="18" name="Text 16"/>
          <p:cNvSpPr/>
          <p:nvPr/>
        </p:nvSpPr>
        <p:spPr>
          <a:xfrm>
            <a:off x="6675120" y="2596896"/>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Read the parts of the evaluation pack you judge necessary; each is recorded.</a:t>
            </a:r>
            <a:endParaRPr lang="en-US" sz="1150" dirty="0"/>
          </a:p>
        </p:txBody>
      </p:sp>
      <p:sp>
        <p:nvSpPr>
          <p:cNvPr id="19" name="Shape 17"/>
          <p:cNvSpPr/>
          <p:nvPr/>
        </p:nvSpPr>
        <p:spPr>
          <a:xfrm>
            <a:off x="6263640" y="3291840"/>
            <a:ext cx="292608" cy="292608"/>
          </a:xfrm>
          <a:prstGeom prst="ellipse">
            <a:avLst/>
          </a:prstGeom>
          <a:solidFill>
            <a:srgbClr val="F2E4E4"/>
          </a:solidFill>
          <a:ln/>
        </p:spPr>
      </p:sp>
      <p:sp>
        <p:nvSpPr>
          <p:cNvPr id="20" name="Text 18"/>
          <p:cNvSpPr/>
          <p:nvPr/>
        </p:nvSpPr>
        <p:spPr>
          <a:xfrm>
            <a:off x="6263640" y="3291840"/>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3</a:t>
            </a:r>
            <a:endParaRPr lang="en-US" sz="1100" dirty="0"/>
          </a:p>
        </p:txBody>
      </p:sp>
      <p:sp>
        <p:nvSpPr>
          <p:cNvPr id="21" name="Text 19"/>
          <p:cNvSpPr/>
          <p:nvPr/>
        </p:nvSpPr>
        <p:spPr>
          <a:xfrm>
            <a:off x="6675120" y="3273552"/>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Interpret the headline accuracy figure in the light of the outcome prevalence.</a:t>
            </a:r>
            <a:endParaRPr lang="en-US" sz="1150" dirty="0"/>
          </a:p>
        </p:txBody>
      </p:sp>
      <p:sp>
        <p:nvSpPr>
          <p:cNvPr id="22" name="Shape 20"/>
          <p:cNvSpPr/>
          <p:nvPr/>
        </p:nvSpPr>
        <p:spPr>
          <a:xfrm>
            <a:off x="6263640" y="3968496"/>
            <a:ext cx="292608" cy="292608"/>
          </a:xfrm>
          <a:prstGeom prst="ellipse">
            <a:avLst/>
          </a:prstGeom>
          <a:solidFill>
            <a:srgbClr val="F2E4E4"/>
          </a:solidFill>
          <a:ln/>
        </p:spPr>
      </p:sp>
      <p:sp>
        <p:nvSpPr>
          <p:cNvPr id="23" name="Text 21"/>
          <p:cNvSpPr/>
          <p:nvPr/>
        </p:nvSpPr>
        <p:spPr>
          <a:xfrm>
            <a:off x="6263640" y="3968496"/>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4</a:t>
            </a:r>
            <a:endParaRPr lang="en-US" sz="1100" dirty="0"/>
          </a:p>
        </p:txBody>
      </p:sp>
      <p:sp>
        <p:nvSpPr>
          <p:cNvPr id="24" name="Text 22"/>
          <p:cNvSpPr/>
          <p:nvPr/>
        </p:nvSpPr>
        <p:spPr>
          <a:xfrm>
            <a:off x="6675120" y="3950208"/>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Assess the train/test gap for evidence of overfitting.</a:t>
            </a:r>
            <a:endParaRPr lang="en-US" sz="1150" dirty="0"/>
          </a:p>
        </p:txBody>
      </p:sp>
      <p:sp>
        <p:nvSpPr>
          <p:cNvPr id="25" name="Shape 23"/>
          <p:cNvSpPr/>
          <p:nvPr/>
        </p:nvSpPr>
        <p:spPr>
          <a:xfrm>
            <a:off x="6263640" y="4645152"/>
            <a:ext cx="292608" cy="292608"/>
          </a:xfrm>
          <a:prstGeom prst="ellipse">
            <a:avLst/>
          </a:prstGeom>
          <a:solidFill>
            <a:srgbClr val="F2E4E4"/>
          </a:solidFill>
          <a:ln/>
        </p:spPr>
      </p:sp>
      <p:sp>
        <p:nvSpPr>
          <p:cNvPr id="26" name="Text 24"/>
          <p:cNvSpPr/>
          <p:nvPr/>
        </p:nvSpPr>
        <p:spPr>
          <a:xfrm>
            <a:off x="6263640" y="4645152"/>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5</a:t>
            </a:r>
            <a:endParaRPr lang="en-US" sz="1100" dirty="0"/>
          </a:p>
        </p:txBody>
      </p:sp>
      <p:sp>
        <p:nvSpPr>
          <p:cNvPr id="27" name="Text 25"/>
          <p:cNvSpPr/>
          <p:nvPr/>
        </p:nvSpPr>
        <p:spPr>
          <a:xfrm>
            <a:off x="6675120" y="4626864"/>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Choose a model for deployment, or reject all three, and justify it.</a:t>
            </a:r>
            <a:endParaRPr lang="en-US" sz="1150" dirty="0"/>
          </a:p>
        </p:txBody>
      </p:sp>
      <p:sp>
        <p:nvSpPr>
          <p:cNvPr id="28" name="Shape 26"/>
          <p:cNvSpPr/>
          <p:nvPr/>
        </p:nvSpPr>
        <p:spPr>
          <a:xfrm>
            <a:off x="6263640" y="5321808"/>
            <a:ext cx="292608" cy="292608"/>
          </a:xfrm>
          <a:prstGeom prst="ellipse">
            <a:avLst/>
          </a:prstGeom>
          <a:solidFill>
            <a:srgbClr val="F2E4E4"/>
          </a:solidFill>
          <a:ln/>
        </p:spPr>
      </p:sp>
      <p:sp>
        <p:nvSpPr>
          <p:cNvPr id="29" name="Text 27"/>
          <p:cNvSpPr/>
          <p:nvPr/>
        </p:nvSpPr>
        <p:spPr>
          <a:xfrm>
            <a:off x="6263640" y="532180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6</a:t>
            </a:r>
            <a:endParaRPr lang="en-US" sz="1100" dirty="0"/>
          </a:p>
        </p:txBody>
      </p:sp>
      <p:sp>
        <p:nvSpPr>
          <p:cNvPr id="30" name="Text 28"/>
          <p:cNvSpPr/>
          <p:nvPr/>
        </p:nvSpPr>
        <p:spPr>
          <a:xfrm>
            <a:off x="6675120" y="5303520"/>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Specify what must be monitored after deployment.</a:t>
            </a:r>
            <a:endParaRPr lang="en-US" sz="1150" dirty="0"/>
          </a:p>
        </p:txBody>
      </p:sp>
      <p:sp>
        <p:nvSpPr>
          <p:cNvPr id="31" name="Text 29"/>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6 · Pharmacy Data Analytics &amp; Predictive Modelling</a:t>
            </a:r>
            <a:endParaRPr lang="en-US" sz="950" dirty="0"/>
          </a:p>
        </p:txBody>
      </p:sp>
      <p:sp>
        <p:nvSpPr>
          <p:cNvPr id="32" name="Text 30"/>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22</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22</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MODULE 6 · UNIT 3 · PRACTICAL 1</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Prescribing Analytics Investigation</a:t>
            </a:r>
            <a:endParaRPr lang="en-US" sz="2900" dirty="0"/>
          </a:p>
        </p:txBody>
      </p:sp>
      <p:sp>
        <p:nvSpPr>
          <p:cNvPr id="6" name="Shape 4"/>
          <p:cNvSpPr/>
          <p:nvPr/>
        </p:nvSpPr>
        <p:spPr>
          <a:xfrm>
            <a:off x="502920" y="1517904"/>
            <a:ext cx="5440680" cy="1783080"/>
          </a:xfrm>
          <a:prstGeom prst="roundRect">
            <a:avLst>
              <a:gd name="adj" fmla="val 3077"/>
            </a:avLst>
          </a:prstGeom>
          <a:solidFill>
            <a:srgbClr val="2E1010"/>
          </a:solidFill>
          <a:ln w="9525">
            <a:solidFill>
              <a:srgbClr val="46201F"/>
            </a:solidFill>
            <a:prstDash val="solid"/>
          </a:ln>
        </p:spPr>
      </p:sp>
      <p:sp>
        <p:nvSpPr>
          <p:cNvPr id="7" name="Text 5"/>
          <p:cNvSpPr/>
          <p:nvPr/>
        </p:nvSpPr>
        <p:spPr>
          <a:xfrm>
            <a:off x="868680" y="1719072"/>
            <a:ext cx="182880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AIM</a:t>
            </a:r>
            <a:endParaRPr lang="en-US" sz="1050" dirty="0"/>
          </a:p>
        </p:txBody>
      </p:sp>
      <p:sp>
        <p:nvSpPr>
          <p:cNvPr id="8" name="Text 6"/>
          <p:cNvSpPr/>
          <p:nvPr/>
        </p:nvSpPr>
        <p:spPr>
          <a:xfrm>
            <a:off x="868680" y="2011680"/>
            <a:ext cx="4754880" cy="1188720"/>
          </a:xfrm>
          <a:prstGeom prst="rect">
            <a:avLst/>
          </a:prstGeom>
          <a:noFill/>
          <a:ln/>
        </p:spPr>
        <p:txBody>
          <a:bodyPr wrap="square" lIns="0" tIns="0" rIns="0" bIns="0" rtlCol="0" anchor="ctr"/>
          <a:lstStyle/>
          <a:p>
            <a:pPr indent="0" marL="0">
              <a:lnSpc>
                <a:spcPts val="1600"/>
              </a:lnSpc>
              <a:buNone/>
            </a:pPr>
            <a:r>
              <a:rPr lang="en-US" sz="1200" dirty="0">
                <a:solidFill>
                  <a:srgbClr val="F0E7E4"/>
                </a:solidFill>
                <a:latin typeface="Calibri" pitchFamily="34" charset="0"/>
                <a:ea typeface="Calibri" pitchFamily="34" charset="-122"/>
                <a:cs typeface="Calibri" pitchFamily="34" charset="-120"/>
              </a:rPr>
              <a:t>To analyse broad-spectrum antibiotic prescribing across six prescribers, decide what a crude rate can and cannot support, adjust for case mix, identify genuine unwarranted variation, and design a response that changes practice rather than merely reporting it.</a:t>
            </a:r>
            <a:endParaRPr lang="en-US" sz="1200" dirty="0"/>
          </a:p>
        </p:txBody>
      </p:sp>
      <p:sp>
        <p:nvSpPr>
          <p:cNvPr id="9" name="Shape 7"/>
          <p:cNvSpPr/>
          <p:nvPr/>
        </p:nvSpPr>
        <p:spPr>
          <a:xfrm>
            <a:off x="502920" y="3438144"/>
            <a:ext cx="5440680" cy="2377440"/>
          </a:xfrm>
          <a:prstGeom prst="roundRect">
            <a:avLst>
              <a:gd name="adj" fmla="val 2308"/>
            </a:avLst>
          </a:prstGeom>
          <a:solidFill>
            <a:srgbClr val="FAF8F6"/>
          </a:solidFill>
          <a:ln w="9525">
            <a:solidFill>
              <a:srgbClr val="DDD5CE"/>
            </a:solidFill>
            <a:prstDash val="solid"/>
          </a:ln>
        </p:spPr>
      </p:sp>
      <p:sp>
        <p:nvSpPr>
          <p:cNvPr id="10" name="Text 8"/>
          <p:cNvSpPr/>
          <p:nvPr/>
        </p:nvSpPr>
        <p:spPr>
          <a:xfrm>
            <a:off x="868680" y="3639312"/>
            <a:ext cx="3291840" cy="256032"/>
          </a:xfrm>
          <a:prstGeom prst="rect">
            <a:avLst/>
          </a:prstGeom>
          <a:noFill/>
          <a:ln/>
        </p:spPr>
        <p:txBody>
          <a:bodyPr wrap="square" lIns="0" tIns="0" rIns="0" bIns="0" rtlCol="0" anchor="ctr"/>
          <a:lstStyle/>
          <a:p>
            <a:pPr indent="0" marL="0">
              <a:buNone/>
            </a:pPr>
            <a:r>
              <a:rPr lang="en-US" sz="1050" b="1" spc="160" kern="0" dirty="0">
                <a:solidFill>
                  <a:srgbClr val="8C1515"/>
                </a:solidFill>
                <a:latin typeface="Calibri" pitchFamily="34" charset="0"/>
                <a:ea typeface="Calibri" pitchFamily="34" charset="-122"/>
                <a:cs typeface="Calibri" pitchFamily="34" charset="-120"/>
              </a:rPr>
              <a:t>PRINCIPLE &amp; THEORY</a:t>
            </a:r>
            <a:endParaRPr lang="en-US" sz="1050" dirty="0"/>
          </a:p>
        </p:txBody>
      </p:sp>
      <p:sp>
        <p:nvSpPr>
          <p:cNvPr id="11" name="Text 9"/>
          <p:cNvSpPr/>
          <p:nvPr/>
        </p:nvSpPr>
        <p:spPr>
          <a:xfrm>
            <a:off x="868680" y="3950208"/>
            <a:ext cx="4754880" cy="1719072"/>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A crude rate counts prescriptions without asking who the patients were. Clinicians serve different populations, so an unadjusted comparison compares populations rather than practice. Aggregate prescribing data reveals patterns that case-by-case review cannot — a rising trend, an unusual combination, one prescriber far from their peers.</a:t>
            </a:r>
            <a:endParaRPr lang="en-US" sz="1150" dirty="0"/>
          </a:p>
        </p:txBody>
      </p:sp>
      <p:sp>
        <p:nvSpPr>
          <p:cNvPr id="12" name="Text 10"/>
          <p:cNvSpPr/>
          <p:nvPr/>
        </p:nvSpPr>
        <p:spPr>
          <a:xfrm>
            <a:off x="6263640" y="1554480"/>
            <a:ext cx="3200400" cy="256032"/>
          </a:xfrm>
          <a:prstGeom prst="rect">
            <a:avLst/>
          </a:prstGeom>
          <a:noFill/>
          <a:ln/>
        </p:spPr>
        <p:txBody>
          <a:bodyPr wrap="square" lIns="0" tIns="0" rIns="0" bIns="0" rtlCol="0" anchor="ctr"/>
          <a:lstStyle/>
          <a:p>
            <a:pPr indent="0" marL="0">
              <a:buNone/>
            </a:pPr>
            <a:r>
              <a:rPr lang="en-US" sz="1050" b="1" spc="160" kern="0" dirty="0">
                <a:solidFill>
                  <a:srgbClr val="8C1515"/>
                </a:solidFill>
                <a:latin typeface="Calibri" pitchFamily="34" charset="0"/>
                <a:ea typeface="Calibri" pitchFamily="34" charset="-122"/>
                <a:cs typeface="Calibri" pitchFamily="34" charset="-120"/>
              </a:rPr>
              <a:t>PROCEDURE</a:t>
            </a:r>
            <a:endParaRPr lang="en-US" sz="1050" dirty="0"/>
          </a:p>
        </p:txBody>
      </p:sp>
      <p:sp>
        <p:nvSpPr>
          <p:cNvPr id="13" name="Shape 11"/>
          <p:cNvSpPr/>
          <p:nvPr/>
        </p:nvSpPr>
        <p:spPr>
          <a:xfrm>
            <a:off x="6263640" y="1938528"/>
            <a:ext cx="292608" cy="292608"/>
          </a:xfrm>
          <a:prstGeom prst="ellipse">
            <a:avLst/>
          </a:prstGeom>
          <a:solidFill>
            <a:srgbClr val="F2E4E4"/>
          </a:solidFill>
          <a:ln/>
        </p:spPr>
      </p:sp>
      <p:sp>
        <p:nvSpPr>
          <p:cNvPr id="14" name="Text 12"/>
          <p:cNvSpPr/>
          <p:nvPr/>
        </p:nvSpPr>
        <p:spPr>
          <a:xfrm>
            <a:off x="6263640" y="193852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1</a:t>
            </a:r>
            <a:endParaRPr lang="en-US" sz="1100" dirty="0"/>
          </a:p>
        </p:txBody>
      </p:sp>
      <p:sp>
        <p:nvSpPr>
          <p:cNvPr id="15" name="Text 13"/>
          <p:cNvSpPr/>
          <p:nvPr/>
        </p:nvSpPr>
        <p:spPr>
          <a:xfrm>
            <a:off x="6675120" y="1920240"/>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Enter the analysis as the pharmacist supporting the antimicrobial stewardship committee.</a:t>
            </a:r>
            <a:endParaRPr lang="en-US" sz="1150" dirty="0"/>
          </a:p>
        </p:txBody>
      </p:sp>
      <p:sp>
        <p:nvSpPr>
          <p:cNvPr id="16" name="Shape 14"/>
          <p:cNvSpPr/>
          <p:nvPr/>
        </p:nvSpPr>
        <p:spPr>
          <a:xfrm>
            <a:off x="6263640" y="2615184"/>
            <a:ext cx="292608" cy="292608"/>
          </a:xfrm>
          <a:prstGeom prst="ellipse">
            <a:avLst/>
          </a:prstGeom>
          <a:solidFill>
            <a:srgbClr val="F2E4E4"/>
          </a:solidFill>
          <a:ln/>
        </p:spPr>
      </p:sp>
      <p:sp>
        <p:nvSpPr>
          <p:cNvPr id="17" name="Text 15"/>
          <p:cNvSpPr/>
          <p:nvPr/>
        </p:nvSpPr>
        <p:spPr>
          <a:xfrm>
            <a:off x="6263640" y="2615184"/>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2</a:t>
            </a:r>
            <a:endParaRPr lang="en-US" sz="1100" dirty="0"/>
          </a:p>
        </p:txBody>
      </p:sp>
      <p:sp>
        <p:nvSpPr>
          <p:cNvPr id="18" name="Text 16"/>
          <p:cNvSpPr/>
          <p:nvPr/>
        </p:nvSpPr>
        <p:spPr>
          <a:xfrm>
            <a:off x="6675120" y="2596896"/>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Read the crude broad-spectrum rate for each prescriber and drill into the data behind any number you intend to rely on.</a:t>
            </a:r>
            <a:endParaRPr lang="en-US" sz="1150" dirty="0"/>
          </a:p>
        </p:txBody>
      </p:sp>
      <p:sp>
        <p:nvSpPr>
          <p:cNvPr id="19" name="Shape 17"/>
          <p:cNvSpPr/>
          <p:nvPr/>
        </p:nvSpPr>
        <p:spPr>
          <a:xfrm>
            <a:off x="6263640" y="3291840"/>
            <a:ext cx="292608" cy="292608"/>
          </a:xfrm>
          <a:prstGeom prst="ellipse">
            <a:avLst/>
          </a:prstGeom>
          <a:solidFill>
            <a:srgbClr val="F2E4E4"/>
          </a:solidFill>
          <a:ln/>
        </p:spPr>
      </p:sp>
      <p:sp>
        <p:nvSpPr>
          <p:cNvPr id="20" name="Text 18"/>
          <p:cNvSpPr/>
          <p:nvPr/>
        </p:nvSpPr>
        <p:spPr>
          <a:xfrm>
            <a:off x="6263640" y="3291840"/>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3</a:t>
            </a:r>
            <a:endParaRPr lang="en-US" sz="1100" dirty="0"/>
          </a:p>
        </p:txBody>
      </p:sp>
      <p:sp>
        <p:nvSpPr>
          <p:cNvPr id="21" name="Text 19"/>
          <p:cNvSpPr/>
          <p:nvPr/>
        </p:nvSpPr>
        <p:spPr>
          <a:xfrm>
            <a:off x="6675120" y="3273552"/>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Decide what comparison the crude data can fairly support.</a:t>
            </a:r>
            <a:endParaRPr lang="en-US" sz="1150" dirty="0"/>
          </a:p>
        </p:txBody>
      </p:sp>
      <p:sp>
        <p:nvSpPr>
          <p:cNvPr id="22" name="Shape 20"/>
          <p:cNvSpPr/>
          <p:nvPr/>
        </p:nvSpPr>
        <p:spPr>
          <a:xfrm>
            <a:off x="6263640" y="3968496"/>
            <a:ext cx="292608" cy="292608"/>
          </a:xfrm>
          <a:prstGeom prst="ellipse">
            <a:avLst/>
          </a:prstGeom>
          <a:solidFill>
            <a:srgbClr val="F2E4E4"/>
          </a:solidFill>
          <a:ln/>
        </p:spPr>
      </p:sp>
      <p:sp>
        <p:nvSpPr>
          <p:cNvPr id="23" name="Text 21"/>
          <p:cNvSpPr/>
          <p:nvPr/>
        </p:nvSpPr>
        <p:spPr>
          <a:xfrm>
            <a:off x="6263640" y="3968496"/>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4</a:t>
            </a:r>
            <a:endParaRPr lang="en-US" sz="1100" dirty="0"/>
          </a:p>
        </p:txBody>
      </p:sp>
      <p:sp>
        <p:nvSpPr>
          <p:cNvPr id="24" name="Text 22"/>
          <p:cNvSpPr/>
          <p:nvPr/>
        </p:nvSpPr>
        <p:spPr>
          <a:xfrm>
            <a:off x="6675120" y="3950208"/>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Review the case-mix adjusted rates alongside guideline compliance and identify whose prescribing warrants investigation.</a:t>
            </a:r>
            <a:endParaRPr lang="en-US" sz="1150" dirty="0"/>
          </a:p>
        </p:txBody>
      </p:sp>
      <p:sp>
        <p:nvSpPr>
          <p:cNvPr id="25" name="Shape 23"/>
          <p:cNvSpPr/>
          <p:nvPr/>
        </p:nvSpPr>
        <p:spPr>
          <a:xfrm>
            <a:off x="6263640" y="4645152"/>
            <a:ext cx="292608" cy="292608"/>
          </a:xfrm>
          <a:prstGeom prst="ellipse">
            <a:avLst/>
          </a:prstGeom>
          <a:solidFill>
            <a:srgbClr val="F2E4E4"/>
          </a:solidFill>
          <a:ln/>
        </p:spPr>
      </p:sp>
      <p:sp>
        <p:nvSpPr>
          <p:cNvPr id="26" name="Text 24"/>
          <p:cNvSpPr/>
          <p:nvPr/>
        </p:nvSpPr>
        <p:spPr>
          <a:xfrm>
            <a:off x="6263640" y="4645152"/>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5</a:t>
            </a:r>
            <a:endParaRPr lang="en-US" sz="1100" dirty="0"/>
          </a:p>
        </p:txBody>
      </p:sp>
      <p:sp>
        <p:nvSpPr>
          <p:cNvPr id="27" name="Text 25"/>
          <p:cNvSpPr/>
          <p:nvPr/>
        </p:nvSpPr>
        <p:spPr>
          <a:xfrm>
            <a:off x="6675120" y="4626864"/>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Design the response and record it.</a:t>
            </a:r>
            <a:endParaRPr lang="en-US" sz="1150" dirty="0"/>
          </a:p>
        </p:txBody>
      </p:sp>
      <p:sp>
        <p:nvSpPr>
          <p:cNvPr id="28" name="Shape 26"/>
          <p:cNvSpPr/>
          <p:nvPr/>
        </p:nvSpPr>
        <p:spPr>
          <a:xfrm>
            <a:off x="6263640" y="5321808"/>
            <a:ext cx="292608" cy="292608"/>
          </a:xfrm>
          <a:prstGeom prst="ellipse">
            <a:avLst/>
          </a:prstGeom>
          <a:solidFill>
            <a:srgbClr val="F2E4E4"/>
          </a:solidFill>
          <a:ln/>
        </p:spPr>
      </p:sp>
      <p:sp>
        <p:nvSpPr>
          <p:cNvPr id="29" name="Text 27"/>
          <p:cNvSpPr/>
          <p:nvPr/>
        </p:nvSpPr>
        <p:spPr>
          <a:xfrm>
            <a:off x="6263640" y="532180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6</a:t>
            </a:r>
            <a:endParaRPr lang="en-US" sz="1100" dirty="0"/>
          </a:p>
        </p:txBody>
      </p:sp>
      <p:sp>
        <p:nvSpPr>
          <p:cNvPr id="30" name="Text 28"/>
          <p:cNvSpPr/>
          <p:nvPr/>
        </p:nvSpPr>
        <p:spPr>
          <a:xfrm>
            <a:off x="6675120" y="5303520"/>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Review the outcome, the marks for each element, and the two indices.</a:t>
            </a:r>
            <a:endParaRPr lang="en-US" sz="1150" dirty="0"/>
          </a:p>
        </p:txBody>
      </p:sp>
      <p:sp>
        <p:nvSpPr>
          <p:cNvPr id="31" name="Text 29"/>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6 · Pharmacy Data Analytics &amp; Predictive Modelling</a:t>
            </a:r>
            <a:endParaRPr lang="en-US" sz="950" dirty="0"/>
          </a:p>
        </p:txBody>
      </p:sp>
      <p:sp>
        <p:nvSpPr>
          <p:cNvPr id="32" name="Text 30"/>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23</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23</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MODULE 6 · UNIT 4 · PRACTICAL 3</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Demand Forecasting &amp; Stock Decisions</a:t>
            </a:r>
            <a:endParaRPr lang="en-US" sz="2900" dirty="0"/>
          </a:p>
        </p:txBody>
      </p:sp>
      <p:sp>
        <p:nvSpPr>
          <p:cNvPr id="6" name="Shape 4"/>
          <p:cNvSpPr/>
          <p:nvPr/>
        </p:nvSpPr>
        <p:spPr>
          <a:xfrm>
            <a:off x="502920" y="1517904"/>
            <a:ext cx="5440680" cy="1783080"/>
          </a:xfrm>
          <a:prstGeom prst="roundRect">
            <a:avLst>
              <a:gd name="adj" fmla="val 3077"/>
            </a:avLst>
          </a:prstGeom>
          <a:solidFill>
            <a:srgbClr val="2E1010"/>
          </a:solidFill>
          <a:ln w="9525">
            <a:solidFill>
              <a:srgbClr val="46201F"/>
            </a:solidFill>
            <a:prstDash val="solid"/>
          </a:ln>
        </p:spPr>
      </p:sp>
      <p:sp>
        <p:nvSpPr>
          <p:cNvPr id="7" name="Text 5"/>
          <p:cNvSpPr/>
          <p:nvPr/>
        </p:nvSpPr>
        <p:spPr>
          <a:xfrm>
            <a:off x="868680" y="1719072"/>
            <a:ext cx="182880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AIM</a:t>
            </a:r>
            <a:endParaRPr lang="en-US" sz="1050" dirty="0"/>
          </a:p>
        </p:txBody>
      </p:sp>
      <p:sp>
        <p:nvSpPr>
          <p:cNvPr id="8" name="Text 6"/>
          <p:cNvSpPr/>
          <p:nvPr/>
        </p:nvSpPr>
        <p:spPr>
          <a:xfrm>
            <a:off x="868680" y="2011680"/>
            <a:ext cx="4754880" cy="1188720"/>
          </a:xfrm>
          <a:prstGeom prst="rect">
            <a:avLst/>
          </a:prstGeom>
          <a:noFill/>
          <a:ln/>
        </p:spPr>
        <p:txBody>
          <a:bodyPr wrap="square" lIns="0" tIns="0" rIns="0" bIns="0" rtlCol="0" anchor="ctr"/>
          <a:lstStyle/>
          <a:p>
            <a:pPr indent="0" marL="0">
              <a:lnSpc>
                <a:spcPts val="1600"/>
              </a:lnSpc>
              <a:buNone/>
            </a:pPr>
            <a:r>
              <a:rPr lang="en-US" sz="1200" dirty="0">
                <a:solidFill>
                  <a:srgbClr val="F0E7E4"/>
                </a:solidFill>
                <a:latin typeface="Calibri" pitchFamily="34" charset="0"/>
                <a:ea typeface="Calibri" pitchFamily="34" charset="-122"/>
                <a:cs typeface="Calibri" pitchFamily="34" charset="-120"/>
              </a:rPr>
              <a:t>To set stock parameters for two contrasting items: to establish why an apparent demand trend exists before projecting it, to calculate a reorder level, and to decide how a low-value but clinically vital medicine should be controlled.</a:t>
            </a:r>
            <a:endParaRPr lang="en-US" sz="1200" dirty="0"/>
          </a:p>
        </p:txBody>
      </p:sp>
      <p:sp>
        <p:nvSpPr>
          <p:cNvPr id="9" name="Shape 7"/>
          <p:cNvSpPr/>
          <p:nvPr/>
        </p:nvSpPr>
        <p:spPr>
          <a:xfrm>
            <a:off x="502920" y="3438144"/>
            <a:ext cx="5440680" cy="2377440"/>
          </a:xfrm>
          <a:prstGeom prst="roundRect">
            <a:avLst>
              <a:gd name="adj" fmla="val 2308"/>
            </a:avLst>
          </a:prstGeom>
          <a:solidFill>
            <a:srgbClr val="FAF8F6"/>
          </a:solidFill>
          <a:ln w="9525">
            <a:solidFill>
              <a:srgbClr val="DDD5CE"/>
            </a:solidFill>
            <a:prstDash val="solid"/>
          </a:ln>
        </p:spPr>
      </p:sp>
      <p:sp>
        <p:nvSpPr>
          <p:cNvPr id="10" name="Text 8"/>
          <p:cNvSpPr/>
          <p:nvPr/>
        </p:nvSpPr>
        <p:spPr>
          <a:xfrm>
            <a:off x="868680" y="3639312"/>
            <a:ext cx="3291840" cy="256032"/>
          </a:xfrm>
          <a:prstGeom prst="rect">
            <a:avLst/>
          </a:prstGeom>
          <a:noFill/>
          <a:ln/>
        </p:spPr>
        <p:txBody>
          <a:bodyPr wrap="square" lIns="0" tIns="0" rIns="0" bIns="0" rtlCol="0" anchor="ctr"/>
          <a:lstStyle/>
          <a:p>
            <a:pPr indent="0" marL="0">
              <a:buNone/>
            </a:pPr>
            <a:r>
              <a:rPr lang="en-US" sz="1050" b="1" spc="160" kern="0" dirty="0">
                <a:solidFill>
                  <a:srgbClr val="8C1515"/>
                </a:solidFill>
                <a:latin typeface="Calibri" pitchFamily="34" charset="0"/>
                <a:ea typeface="Calibri" pitchFamily="34" charset="-122"/>
                <a:cs typeface="Calibri" pitchFamily="34" charset="-120"/>
              </a:rPr>
              <a:t>PRINCIPLE &amp; THEORY</a:t>
            </a:r>
            <a:endParaRPr lang="en-US" sz="1050" dirty="0"/>
          </a:p>
        </p:txBody>
      </p:sp>
      <p:sp>
        <p:nvSpPr>
          <p:cNvPr id="11" name="Text 9"/>
          <p:cNvSpPr/>
          <p:nvPr/>
        </p:nvSpPr>
        <p:spPr>
          <a:xfrm>
            <a:off x="868680" y="3950208"/>
            <a:ext cx="4754880" cy="1719072"/>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A forecast projects the past into the future and is only as sound as the reason behind the pattern. A step change driven by a contract is not growth. Simple forecasting methods — moving averages with seasonal adjustment — are usually adequate in a pharmacy and always explainable, which matters when demand is driven by a small number of prescribers or contracts.</a:t>
            </a:r>
            <a:endParaRPr lang="en-US" sz="1150" dirty="0"/>
          </a:p>
        </p:txBody>
      </p:sp>
      <p:sp>
        <p:nvSpPr>
          <p:cNvPr id="12" name="Text 10"/>
          <p:cNvSpPr/>
          <p:nvPr/>
        </p:nvSpPr>
        <p:spPr>
          <a:xfrm>
            <a:off x="6263640" y="1554480"/>
            <a:ext cx="3200400" cy="256032"/>
          </a:xfrm>
          <a:prstGeom prst="rect">
            <a:avLst/>
          </a:prstGeom>
          <a:noFill/>
          <a:ln/>
        </p:spPr>
        <p:txBody>
          <a:bodyPr wrap="square" lIns="0" tIns="0" rIns="0" bIns="0" rtlCol="0" anchor="ctr"/>
          <a:lstStyle/>
          <a:p>
            <a:pPr indent="0" marL="0">
              <a:buNone/>
            </a:pPr>
            <a:r>
              <a:rPr lang="en-US" sz="1050" b="1" spc="160" kern="0" dirty="0">
                <a:solidFill>
                  <a:srgbClr val="8C1515"/>
                </a:solidFill>
                <a:latin typeface="Calibri" pitchFamily="34" charset="0"/>
                <a:ea typeface="Calibri" pitchFamily="34" charset="-122"/>
                <a:cs typeface="Calibri" pitchFamily="34" charset="-120"/>
              </a:rPr>
              <a:t>PROCEDURE</a:t>
            </a:r>
            <a:endParaRPr lang="en-US" sz="1050" dirty="0"/>
          </a:p>
        </p:txBody>
      </p:sp>
      <p:sp>
        <p:nvSpPr>
          <p:cNvPr id="13" name="Shape 11"/>
          <p:cNvSpPr/>
          <p:nvPr/>
        </p:nvSpPr>
        <p:spPr>
          <a:xfrm>
            <a:off x="6263640" y="1938528"/>
            <a:ext cx="292608" cy="292608"/>
          </a:xfrm>
          <a:prstGeom prst="ellipse">
            <a:avLst/>
          </a:prstGeom>
          <a:solidFill>
            <a:srgbClr val="F2E4E4"/>
          </a:solidFill>
          <a:ln/>
        </p:spPr>
      </p:sp>
      <p:sp>
        <p:nvSpPr>
          <p:cNvPr id="14" name="Text 12"/>
          <p:cNvSpPr/>
          <p:nvPr/>
        </p:nvSpPr>
        <p:spPr>
          <a:xfrm>
            <a:off x="6263640" y="193852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1</a:t>
            </a:r>
            <a:endParaRPr lang="en-US" sz="1100" dirty="0"/>
          </a:p>
        </p:txBody>
      </p:sp>
      <p:sp>
        <p:nvSpPr>
          <p:cNvPr id="15" name="Text 13"/>
          <p:cNvSpPr/>
          <p:nvPr/>
        </p:nvSpPr>
        <p:spPr>
          <a:xfrm>
            <a:off x="6675120" y="1920240"/>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Enter the review as the pharmacist setting stock parameters for the coming quarter.</a:t>
            </a:r>
            <a:endParaRPr lang="en-US" sz="1150" dirty="0"/>
          </a:p>
        </p:txBody>
      </p:sp>
      <p:sp>
        <p:nvSpPr>
          <p:cNvPr id="16" name="Shape 14"/>
          <p:cNvSpPr/>
          <p:nvPr/>
        </p:nvSpPr>
        <p:spPr>
          <a:xfrm>
            <a:off x="6263640" y="2615184"/>
            <a:ext cx="292608" cy="292608"/>
          </a:xfrm>
          <a:prstGeom prst="ellipse">
            <a:avLst/>
          </a:prstGeom>
          <a:solidFill>
            <a:srgbClr val="F2E4E4"/>
          </a:solidFill>
          <a:ln/>
        </p:spPr>
      </p:sp>
      <p:sp>
        <p:nvSpPr>
          <p:cNvPr id="17" name="Text 15"/>
          <p:cNvSpPr/>
          <p:nvPr/>
        </p:nvSpPr>
        <p:spPr>
          <a:xfrm>
            <a:off x="6263640" y="2615184"/>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2</a:t>
            </a:r>
            <a:endParaRPr lang="en-US" sz="1100" dirty="0"/>
          </a:p>
        </p:txBody>
      </p:sp>
      <p:sp>
        <p:nvSpPr>
          <p:cNvPr id="18" name="Text 16"/>
          <p:cNvSpPr/>
          <p:nvPr/>
        </p:nvSpPr>
        <p:spPr>
          <a:xfrm>
            <a:off x="6675120" y="2596896"/>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Review the usage trend and establish the reason for any step change before forecasting.</a:t>
            </a:r>
            <a:endParaRPr lang="en-US" sz="1150" dirty="0"/>
          </a:p>
        </p:txBody>
      </p:sp>
      <p:sp>
        <p:nvSpPr>
          <p:cNvPr id="19" name="Shape 17"/>
          <p:cNvSpPr/>
          <p:nvPr/>
        </p:nvSpPr>
        <p:spPr>
          <a:xfrm>
            <a:off x="6263640" y="3291840"/>
            <a:ext cx="292608" cy="292608"/>
          </a:xfrm>
          <a:prstGeom prst="ellipse">
            <a:avLst/>
          </a:prstGeom>
          <a:solidFill>
            <a:srgbClr val="F2E4E4"/>
          </a:solidFill>
          <a:ln/>
        </p:spPr>
      </p:sp>
      <p:sp>
        <p:nvSpPr>
          <p:cNvPr id="20" name="Text 18"/>
          <p:cNvSpPr/>
          <p:nvPr/>
        </p:nvSpPr>
        <p:spPr>
          <a:xfrm>
            <a:off x="6263640" y="3291840"/>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3</a:t>
            </a:r>
            <a:endParaRPr lang="en-US" sz="1100" dirty="0"/>
          </a:p>
        </p:txBody>
      </p:sp>
      <p:sp>
        <p:nvSpPr>
          <p:cNvPr id="21" name="Text 19"/>
          <p:cNvSpPr/>
          <p:nvPr/>
        </p:nvSpPr>
        <p:spPr>
          <a:xfrm>
            <a:off x="6675120" y="3273552"/>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Calculate the reorder level from usage, lead time and safety stock.</a:t>
            </a:r>
            <a:endParaRPr lang="en-US" sz="1150" dirty="0"/>
          </a:p>
        </p:txBody>
      </p:sp>
      <p:sp>
        <p:nvSpPr>
          <p:cNvPr id="22" name="Shape 20"/>
          <p:cNvSpPr/>
          <p:nvPr/>
        </p:nvSpPr>
        <p:spPr>
          <a:xfrm>
            <a:off x="6263640" y="3968496"/>
            <a:ext cx="292608" cy="292608"/>
          </a:xfrm>
          <a:prstGeom prst="ellipse">
            <a:avLst/>
          </a:prstGeom>
          <a:solidFill>
            <a:srgbClr val="F2E4E4"/>
          </a:solidFill>
          <a:ln/>
        </p:spPr>
      </p:sp>
      <p:sp>
        <p:nvSpPr>
          <p:cNvPr id="23" name="Text 21"/>
          <p:cNvSpPr/>
          <p:nvPr/>
        </p:nvSpPr>
        <p:spPr>
          <a:xfrm>
            <a:off x="6263640" y="3968496"/>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4</a:t>
            </a:r>
            <a:endParaRPr lang="en-US" sz="1100" dirty="0"/>
          </a:p>
        </p:txBody>
      </p:sp>
      <p:sp>
        <p:nvSpPr>
          <p:cNvPr id="24" name="Text 22"/>
          <p:cNvSpPr/>
          <p:nvPr/>
        </p:nvSpPr>
        <p:spPr>
          <a:xfrm>
            <a:off x="6675120" y="3950208"/>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Classify the low-value emergency item and decide how it should be controlled.</a:t>
            </a:r>
            <a:endParaRPr lang="en-US" sz="1150" dirty="0"/>
          </a:p>
        </p:txBody>
      </p:sp>
      <p:sp>
        <p:nvSpPr>
          <p:cNvPr id="25" name="Shape 23"/>
          <p:cNvSpPr/>
          <p:nvPr/>
        </p:nvSpPr>
        <p:spPr>
          <a:xfrm>
            <a:off x="6263640" y="4645152"/>
            <a:ext cx="292608" cy="292608"/>
          </a:xfrm>
          <a:prstGeom prst="ellipse">
            <a:avLst/>
          </a:prstGeom>
          <a:solidFill>
            <a:srgbClr val="F2E4E4"/>
          </a:solidFill>
          <a:ln/>
        </p:spPr>
      </p:sp>
      <p:sp>
        <p:nvSpPr>
          <p:cNvPr id="26" name="Text 24"/>
          <p:cNvSpPr/>
          <p:nvPr/>
        </p:nvSpPr>
        <p:spPr>
          <a:xfrm>
            <a:off x="6263640" y="4645152"/>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5</a:t>
            </a:r>
            <a:endParaRPr lang="en-US" sz="1100" dirty="0"/>
          </a:p>
        </p:txBody>
      </p:sp>
      <p:sp>
        <p:nvSpPr>
          <p:cNvPr id="27" name="Text 25"/>
          <p:cNvSpPr/>
          <p:nvPr/>
        </p:nvSpPr>
        <p:spPr>
          <a:xfrm>
            <a:off x="6675120" y="4626864"/>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Size the buffer against the observed supply variability.</a:t>
            </a:r>
            <a:endParaRPr lang="en-US" sz="1150" dirty="0"/>
          </a:p>
        </p:txBody>
      </p:sp>
      <p:sp>
        <p:nvSpPr>
          <p:cNvPr id="28" name="Shape 26"/>
          <p:cNvSpPr/>
          <p:nvPr/>
        </p:nvSpPr>
        <p:spPr>
          <a:xfrm>
            <a:off x="6263640" y="5321808"/>
            <a:ext cx="292608" cy="292608"/>
          </a:xfrm>
          <a:prstGeom prst="ellipse">
            <a:avLst/>
          </a:prstGeom>
          <a:solidFill>
            <a:srgbClr val="F2E4E4"/>
          </a:solidFill>
          <a:ln/>
        </p:spPr>
      </p:sp>
      <p:sp>
        <p:nvSpPr>
          <p:cNvPr id="29" name="Text 27"/>
          <p:cNvSpPr/>
          <p:nvPr/>
        </p:nvSpPr>
        <p:spPr>
          <a:xfrm>
            <a:off x="6263640" y="532180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6</a:t>
            </a:r>
            <a:endParaRPr lang="en-US" sz="1100" dirty="0"/>
          </a:p>
        </p:txBody>
      </p:sp>
      <p:sp>
        <p:nvSpPr>
          <p:cNvPr id="30" name="Text 28"/>
          <p:cNvSpPr/>
          <p:nvPr/>
        </p:nvSpPr>
        <p:spPr>
          <a:xfrm>
            <a:off x="6675120" y="5303520"/>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Review the outcome and the two indices.</a:t>
            </a:r>
            <a:endParaRPr lang="en-US" sz="1150" dirty="0"/>
          </a:p>
        </p:txBody>
      </p:sp>
      <p:sp>
        <p:nvSpPr>
          <p:cNvPr id="31" name="Text 29"/>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6 · Pharmacy Data Analytics &amp; Predictive Modelling</a:t>
            </a:r>
            <a:endParaRPr lang="en-US" sz="950" dirty="0"/>
          </a:p>
        </p:txBody>
      </p:sp>
      <p:sp>
        <p:nvSpPr>
          <p:cNvPr id="32" name="Text 30"/>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24</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4100F"/>
        </a:solidFill>
      </p:bgPr>
    </p:bg>
    <p:spTree>
      <p:nvGrpSpPr>
        <p:cNvPr id="1" name=""/>
        <p:cNvGrpSpPr/>
        <p:nvPr/>
      </p:nvGrpSpPr>
      <p:grpSpPr>
        <a:xfrm>
          <a:off x="0" y="0"/>
          <a:ext cx="0" cy="0"/>
          <a:chOff x="0" y="0"/>
          <a:chExt cx="0" cy="0"/>
        </a:xfrm>
      </p:grpSpPr>
      <p:sp>
        <p:nvSpPr>
          <p:cNvPr id="2" name="Shape 0"/>
          <p:cNvSpPr/>
          <p:nvPr/>
        </p:nvSpPr>
        <p:spPr>
          <a:xfrm>
            <a:off x="9692640" y="3840480"/>
            <a:ext cx="4206240" cy="4206240"/>
          </a:xfrm>
          <a:prstGeom prst="ellipse">
            <a:avLst/>
          </a:prstGeom>
          <a:solidFill>
            <a:srgbClr val="8C1515">
              <a:alpha val="26000"/>
            </a:srgbClr>
          </a:solidFill>
          <a:ln/>
        </p:spPr>
      </p:sp>
      <p:sp>
        <p:nvSpPr>
          <p:cNvPr id="3" name="Text 1"/>
          <p:cNvSpPr/>
          <p:nvPr/>
        </p:nvSpPr>
        <p:spPr>
          <a:xfrm>
            <a:off x="777240" y="749808"/>
            <a:ext cx="8229600" cy="274320"/>
          </a:xfrm>
          <a:prstGeom prst="rect">
            <a:avLst/>
          </a:prstGeom>
          <a:noFill/>
          <a:ln/>
        </p:spPr>
        <p:txBody>
          <a:bodyPr wrap="square" lIns="0" tIns="0" rIns="0" bIns="0" rtlCol="0" anchor="ctr"/>
          <a:lstStyle/>
          <a:p>
            <a:pPr indent="0" marL="0">
              <a:buNone/>
            </a:pPr>
            <a:r>
              <a:rPr lang="en-US" sz="1100" b="1" spc="220" kern="0" dirty="0">
                <a:solidFill>
                  <a:srgbClr val="9A7B3F"/>
                </a:solidFill>
                <a:latin typeface="Calibri" pitchFamily="34" charset="0"/>
                <a:ea typeface="Calibri" pitchFamily="34" charset="-122"/>
                <a:cs typeface="Calibri" pitchFamily="34" charset="-120"/>
              </a:rPr>
              <a:t>HOW THIS MODULE IS ASSESSED</a:t>
            </a:r>
            <a:endParaRPr lang="en-US" sz="1100" dirty="0"/>
          </a:p>
        </p:txBody>
      </p:sp>
      <p:sp>
        <p:nvSpPr>
          <p:cNvPr id="4" name="Text 2"/>
          <p:cNvSpPr/>
          <p:nvPr/>
        </p:nvSpPr>
        <p:spPr>
          <a:xfrm>
            <a:off x="777240" y="1097280"/>
            <a:ext cx="10058400" cy="65836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Completing Module 6</a:t>
            </a:r>
            <a:endParaRPr lang="en-US" sz="3400" dirty="0"/>
          </a:p>
        </p:txBody>
      </p:sp>
      <p:sp>
        <p:nvSpPr>
          <p:cNvPr id="5" name="Shape 3"/>
          <p:cNvSpPr/>
          <p:nvPr/>
        </p:nvSpPr>
        <p:spPr>
          <a:xfrm>
            <a:off x="777240" y="2048256"/>
            <a:ext cx="10607040" cy="822960"/>
          </a:xfrm>
          <a:prstGeom prst="roundRect">
            <a:avLst>
              <a:gd name="adj" fmla="val 6667"/>
            </a:avLst>
          </a:prstGeom>
          <a:solidFill>
            <a:srgbClr val="241A19"/>
          </a:solidFill>
          <a:ln w="9525">
            <a:solidFill>
              <a:srgbClr val="3E2A28"/>
            </a:solidFill>
            <a:prstDash val="solid"/>
          </a:ln>
        </p:spPr>
      </p:sp>
      <p:sp>
        <p:nvSpPr>
          <p:cNvPr id="6" name="Text 4"/>
          <p:cNvSpPr/>
          <p:nvPr/>
        </p:nvSpPr>
        <p:spPr>
          <a:xfrm>
            <a:off x="1143000" y="2048256"/>
            <a:ext cx="2103120" cy="822960"/>
          </a:xfrm>
          <a:prstGeom prst="rect">
            <a:avLst/>
          </a:prstGeom>
          <a:noFill/>
          <a:ln/>
        </p:spPr>
        <p:txBody>
          <a:bodyPr wrap="square" lIns="0" tIns="0" rIns="0" bIns="0" rtlCol="0" anchor="ctr"/>
          <a:lstStyle/>
          <a:p>
            <a:pPr indent="0" marL="0">
              <a:buNone/>
            </a:pPr>
            <a:r>
              <a:rPr lang="en-US" sz="1300" b="1" dirty="0">
                <a:solidFill>
                  <a:srgbClr val="F0C9C9"/>
                </a:solidFill>
                <a:latin typeface="Calibri" pitchFamily="34" charset="0"/>
                <a:ea typeface="Calibri" pitchFamily="34" charset="-122"/>
                <a:cs typeface="Calibri" pitchFamily="34" charset="-120"/>
              </a:rPr>
              <a:t>Practicals</a:t>
            </a:r>
            <a:endParaRPr lang="en-US" sz="1300" dirty="0"/>
          </a:p>
        </p:txBody>
      </p:sp>
      <p:sp>
        <p:nvSpPr>
          <p:cNvPr id="7" name="Text 5"/>
          <p:cNvSpPr/>
          <p:nvPr/>
        </p:nvSpPr>
        <p:spPr>
          <a:xfrm>
            <a:off x="3200400" y="2048256"/>
            <a:ext cx="7955280" cy="822960"/>
          </a:xfrm>
          <a:prstGeom prst="rect">
            <a:avLst/>
          </a:prstGeom>
          <a:noFill/>
          <a:ln/>
        </p:spPr>
        <p:txBody>
          <a:bodyPr wrap="square" lIns="0" tIns="0" rIns="0" bIns="0" rtlCol="0" anchor="ctr"/>
          <a:lstStyle/>
          <a:p>
            <a:pPr indent="0" marL="0">
              <a:lnSpc>
                <a:spcPts val="1700"/>
              </a:lnSpc>
              <a:buNone/>
            </a:pPr>
            <a:r>
              <a:rPr lang="en-US" sz="1250" dirty="0">
                <a:solidFill>
                  <a:srgbClr val="D8CFC9"/>
                </a:solidFill>
                <a:latin typeface="Calibri" pitchFamily="34" charset="0"/>
                <a:ea typeface="Calibri" pitchFamily="34" charset="-122"/>
                <a:cs typeface="Calibri" pitchFamily="34" charset="-120"/>
              </a:rPr>
              <a:t>Complete all 4 practicals on ALIZON OS. Every submission is evaluated by faculty.</a:t>
            </a:r>
            <a:endParaRPr lang="en-US" sz="1250" dirty="0"/>
          </a:p>
        </p:txBody>
      </p:sp>
      <p:sp>
        <p:nvSpPr>
          <p:cNvPr id="8" name="Shape 6"/>
          <p:cNvSpPr/>
          <p:nvPr/>
        </p:nvSpPr>
        <p:spPr>
          <a:xfrm>
            <a:off x="777240" y="3017520"/>
            <a:ext cx="10607040" cy="822960"/>
          </a:xfrm>
          <a:prstGeom prst="roundRect">
            <a:avLst>
              <a:gd name="adj" fmla="val 6667"/>
            </a:avLst>
          </a:prstGeom>
          <a:solidFill>
            <a:srgbClr val="241A19"/>
          </a:solidFill>
          <a:ln w="9525">
            <a:solidFill>
              <a:srgbClr val="3E2A28"/>
            </a:solidFill>
            <a:prstDash val="solid"/>
          </a:ln>
        </p:spPr>
      </p:sp>
      <p:sp>
        <p:nvSpPr>
          <p:cNvPr id="9" name="Text 7"/>
          <p:cNvSpPr/>
          <p:nvPr/>
        </p:nvSpPr>
        <p:spPr>
          <a:xfrm>
            <a:off x="1143000" y="3017520"/>
            <a:ext cx="2103120" cy="822960"/>
          </a:xfrm>
          <a:prstGeom prst="rect">
            <a:avLst/>
          </a:prstGeom>
          <a:noFill/>
          <a:ln/>
        </p:spPr>
        <p:txBody>
          <a:bodyPr wrap="square" lIns="0" tIns="0" rIns="0" bIns="0" rtlCol="0" anchor="ctr"/>
          <a:lstStyle/>
          <a:p>
            <a:pPr indent="0" marL="0">
              <a:buNone/>
            </a:pPr>
            <a:r>
              <a:rPr lang="en-US" sz="1300" b="1" dirty="0">
                <a:solidFill>
                  <a:srgbClr val="F0C9C9"/>
                </a:solidFill>
                <a:latin typeface="Calibri" pitchFamily="34" charset="0"/>
                <a:ea typeface="Calibri" pitchFamily="34" charset="-122"/>
                <a:cs typeface="Calibri" pitchFamily="34" charset="-120"/>
              </a:rPr>
              <a:t>Attendance</a:t>
            </a:r>
            <a:endParaRPr lang="en-US" sz="1300" dirty="0"/>
          </a:p>
        </p:txBody>
      </p:sp>
      <p:sp>
        <p:nvSpPr>
          <p:cNvPr id="10" name="Text 8"/>
          <p:cNvSpPr/>
          <p:nvPr/>
        </p:nvSpPr>
        <p:spPr>
          <a:xfrm>
            <a:off x="3200400" y="3017520"/>
            <a:ext cx="7955280" cy="822960"/>
          </a:xfrm>
          <a:prstGeom prst="rect">
            <a:avLst/>
          </a:prstGeom>
          <a:noFill/>
          <a:ln/>
        </p:spPr>
        <p:txBody>
          <a:bodyPr wrap="square" lIns="0" tIns="0" rIns="0" bIns="0" rtlCol="0" anchor="ctr"/>
          <a:lstStyle/>
          <a:p>
            <a:pPr indent="0" marL="0">
              <a:lnSpc>
                <a:spcPts val="1700"/>
              </a:lnSpc>
              <a:buNone/>
            </a:pPr>
            <a:r>
              <a:rPr lang="en-US" sz="1250" dirty="0">
                <a:solidFill>
                  <a:srgbClr val="D8CFC9"/>
                </a:solidFill>
                <a:latin typeface="Calibri" pitchFamily="34" charset="0"/>
                <a:ea typeface="Calibri" pitchFamily="34" charset="-122"/>
                <a:cs typeface="Calibri" pitchFamily="34" charset="-120"/>
              </a:rPr>
              <a:t>Attendance is recorded automatically from submitted work — signing in alone does not count.</a:t>
            </a:r>
            <a:endParaRPr lang="en-US" sz="1250" dirty="0"/>
          </a:p>
        </p:txBody>
      </p:sp>
      <p:sp>
        <p:nvSpPr>
          <p:cNvPr id="11" name="Shape 9"/>
          <p:cNvSpPr/>
          <p:nvPr/>
        </p:nvSpPr>
        <p:spPr>
          <a:xfrm>
            <a:off x="777240" y="3986784"/>
            <a:ext cx="10607040" cy="822960"/>
          </a:xfrm>
          <a:prstGeom prst="roundRect">
            <a:avLst>
              <a:gd name="adj" fmla="val 6667"/>
            </a:avLst>
          </a:prstGeom>
          <a:solidFill>
            <a:srgbClr val="241A19"/>
          </a:solidFill>
          <a:ln w="9525">
            <a:solidFill>
              <a:srgbClr val="3E2A28"/>
            </a:solidFill>
            <a:prstDash val="solid"/>
          </a:ln>
        </p:spPr>
      </p:sp>
      <p:sp>
        <p:nvSpPr>
          <p:cNvPr id="12" name="Text 10"/>
          <p:cNvSpPr/>
          <p:nvPr/>
        </p:nvSpPr>
        <p:spPr>
          <a:xfrm>
            <a:off x="1143000" y="3986784"/>
            <a:ext cx="2103120" cy="822960"/>
          </a:xfrm>
          <a:prstGeom prst="rect">
            <a:avLst/>
          </a:prstGeom>
          <a:noFill/>
          <a:ln/>
        </p:spPr>
        <p:txBody>
          <a:bodyPr wrap="square" lIns="0" tIns="0" rIns="0" bIns="0" rtlCol="0" anchor="ctr"/>
          <a:lstStyle/>
          <a:p>
            <a:pPr indent="0" marL="0">
              <a:buNone/>
            </a:pPr>
            <a:r>
              <a:rPr lang="en-US" sz="1300" b="1" dirty="0">
                <a:solidFill>
                  <a:srgbClr val="F0C9C9"/>
                </a:solidFill>
                <a:latin typeface="Calibri" pitchFamily="34" charset="0"/>
                <a:ea typeface="Calibri" pitchFamily="34" charset="-122"/>
                <a:cs typeface="Calibri" pitchFamily="34" charset="-120"/>
              </a:rPr>
              <a:t>Examination</a:t>
            </a:r>
            <a:endParaRPr lang="en-US" sz="1300" dirty="0"/>
          </a:p>
        </p:txBody>
      </p:sp>
      <p:sp>
        <p:nvSpPr>
          <p:cNvPr id="13" name="Text 11"/>
          <p:cNvSpPr/>
          <p:nvPr/>
        </p:nvSpPr>
        <p:spPr>
          <a:xfrm>
            <a:off x="3200400" y="3986784"/>
            <a:ext cx="7955280" cy="822960"/>
          </a:xfrm>
          <a:prstGeom prst="rect">
            <a:avLst/>
          </a:prstGeom>
          <a:noFill/>
          <a:ln/>
        </p:spPr>
        <p:txBody>
          <a:bodyPr wrap="square" lIns="0" tIns="0" rIns="0" bIns="0" rtlCol="0" anchor="ctr"/>
          <a:lstStyle/>
          <a:p>
            <a:pPr indent="0" marL="0">
              <a:lnSpc>
                <a:spcPts val="1700"/>
              </a:lnSpc>
              <a:buNone/>
            </a:pPr>
            <a:r>
              <a:rPr lang="en-US" sz="1250" dirty="0">
                <a:solidFill>
                  <a:srgbClr val="D8CFC9"/>
                </a:solidFill>
                <a:latin typeface="Calibri" pitchFamily="34" charset="0"/>
                <a:ea typeface="Calibri" pitchFamily="34" charset="-122"/>
                <a:cs typeface="Calibri" pitchFamily="34" charset="-120"/>
              </a:rPr>
              <a:t>100 multiple-choice questions across 4 units. Practise on the mock paper before the internal examination.</a:t>
            </a:r>
            <a:endParaRPr lang="en-US" sz="1250" dirty="0"/>
          </a:p>
        </p:txBody>
      </p:sp>
      <p:sp>
        <p:nvSpPr>
          <p:cNvPr id="14" name="Shape 12"/>
          <p:cNvSpPr/>
          <p:nvPr/>
        </p:nvSpPr>
        <p:spPr>
          <a:xfrm>
            <a:off x="777240" y="4956048"/>
            <a:ext cx="10607040" cy="822960"/>
          </a:xfrm>
          <a:prstGeom prst="roundRect">
            <a:avLst>
              <a:gd name="adj" fmla="val 6667"/>
            </a:avLst>
          </a:prstGeom>
          <a:solidFill>
            <a:srgbClr val="241A19"/>
          </a:solidFill>
          <a:ln w="9525">
            <a:solidFill>
              <a:srgbClr val="3E2A28"/>
            </a:solidFill>
            <a:prstDash val="solid"/>
          </a:ln>
        </p:spPr>
      </p:sp>
      <p:sp>
        <p:nvSpPr>
          <p:cNvPr id="15" name="Text 13"/>
          <p:cNvSpPr/>
          <p:nvPr/>
        </p:nvSpPr>
        <p:spPr>
          <a:xfrm>
            <a:off x="1143000" y="4956048"/>
            <a:ext cx="2103120" cy="822960"/>
          </a:xfrm>
          <a:prstGeom prst="rect">
            <a:avLst/>
          </a:prstGeom>
          <a:noFill/>
          <a:ln/>
        </p:spPr>
        <p:txBody>
          <a:bodyPr wrap="square" lIns="0" tIns="0" rIns="0" bIns="0" rtlCol="0" anchor="ctr"/>
          <a:lstStyle/>
          <a:p>
            <a:pPr indent="0" marL="0">
              <a:buNone/>
            </a:pPr>
            <a:r>
              <a:rPr lang="en-US" sz="1300" b="1" dirty="0">
                <a:solidFill>
                  <a:srgbClr val="F0C9C9"/>
                </a:solidFill>
                <a:latin typeface="Calibri" pitchFamily="34" charset="0"/>
                <a:ea typeface="Calibri" pitchFamily="34" charset="-122"/>
                <a:cs typeface="Calibri" pitchFamily="34" charset="-120"/>
              </a:rPr>
              <a:t>Certificate</a:t>
            </a:r>
            <a:endParaRPr lang="en-US" sz="1300" dirty="0"/>
          </a:p>
        </p:txBody>
      </p:sp>
      <p:sp>
        <p:nvSpPr>
          <p:cNvPr id="16" name="Text 14"/>
          <p:cNvSpPr/>
          <p:nvPr/>
        </p:nvSpPr>
        <p:spPr>
          <a:xfrm>
            <a:off x="3200400" y="4956048"/>
            <a:ext cx="7955280" cy="822960"/>
          </a:xfrm>
          <a:prstGeom prst="rect">
            <a:avLst/>
          </a:prstGeom>
          <a:noFill/>
          <a:ln/>
        </p:spPr>
        <p:txBody>
          <a:bodyPr wrap="square" lIns="0" tIns="0" rIns="0" bIns="0" rtlCol="0" anchor="ctr"/>
          <a:lstStyle/>
          <a:p>
            <a:pPr indent="0" marL="0">
              <a:lnSpc>
                <a:spcPts val="1700"/>
              </a:lnSpc>
              <a:buNone/>
            </a:pPr>
            <a:r>
              <a:rPr lang="en-US" sz="1250" dirty="0">
                <a:solidFill>
                  <a:srgbClr val="D8CFC9"/>
                </a:solidFill>
                <a:latin typeface="Calibri" pitchFamily="34" charset="0"/>
                <a:ea typeface="Calibri" pitchFamily="34" charset="-122"/>
                <a:cs typeface="Calibri" pitchFamily="34" charset="-120"/>
              </a:rPr>
              <a:t>Faculty-verified practicals earn a Certificate of Practical Experience, with the hours set by the institution.</a:t>
            </a:r>
            <a:endParaRPr lang="en-US" sz="1250" dirty="0"/>
          </a:p>
        </p:txBody>
      </p:sp>
      <p:sp>
        <p:nvSpPr>
          <p:cNvPr id="17" name="Text 15"/>
          <p:cNvSpPr/>
          <p:nvPr/>
        </p:nvSpPr>
        <p:spPr>
          <a:xfrm>
            <a:off x="777240" y="6053328"/>
            <a:ext cx="10607040" cy="310896"/>
          </a:xfrm>
          <a:prstGeom prst="rect">
            <a:avLst/>
          </a:prstGeom>
          <a:noFill/>
          <a:ln/>
        </p:spPr>
        <p:txBody>
          <a:bodyPr wrap="square" lIns="0" tIns="0" rIns="0" bIns="0" rtlCol="0" anchor="ctr"/>
          <a:lstStyle/>
          <a:p>
            <a:pPr indent="0" marL="0">
              <a:buNone/>
            </a:pPr>
            <a:r>
              <a:rPr lang="en-US" sz="1150" dirty="0">
                <a:solidFill>
                  <a:srgbClr val="9A7B3F"/>
                </a:solidFill>
                <a:latin typeface="Calibri" pitchFamily="34" charset="0"/>
                <a:ea typeface="Calibri" pitchFamily="34" charset="-122"/>
                <a:cs typeface="Calibri" pitchFamily="34" charset="-120"/>
              </a:rPr>
              <a:t>Study material, practicals, mock papers and results · alizon.in      Institution · www.alizongov.com</a:t>
            </a:r>
            <a:endParaRPr lang="en-US" sz="1150" dirty="0"/>
          </a:p>
        </p:txBody>
      </p:sp>
      <p:sp>
        <p:nvSpPr>
          <p:cNvPr id="18" name="Text 16"/>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058"/>
                </a:solidFill>
                <a:latin typeface="Calibri" pitchFamily="34" charset="0"/>
                <a:ea typeface="Calibri" pitchFamily="34" charset="-122"/>
                <a:cs typeface="Calibri" pitchFamily="34" charset="-120"/>
              </a:rPr>
              <a:t>Module 6 · Pharmacy Data Analytics &amp; Predictive Modelling</a:t>
            </a:r>
            <a:endParaRPr lang="en-US" sz="950" dirty="0"/>
          </a:p>
        </p:txBody>
      </p:sp>
      <p:sp>
        <p:nvSpPr>
          <p:cNvPr id="19" name="Text 17"/>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9A7B3F"/>
                </a:solidFill>
                <a:latin typeface="Calibri" pitchFamily="34" charset="0"/>
                <a:ea typeface="Calibri" pitchFamily="34" charset="-122"/>
                <a:cs typeface="Calibri" pitchFamily="34" charset="-120"/>
              </a:rPr>
              <a:t>25</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Alizon School of Medical and Digital Intelligence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6 — Pharmacy Data Analytics &amp; Predictive Modelling</dc:title>
  <dc:subject>Certificate Course in Digital Health &amp; Artificial Intelligence for Pharmacy</dc:subject>
  <dc:creator>Alizon School of Medical &amp; Digital Intelligence</dc:creator>
  <cp:lastModifiedBy>Alizon School of Medical &amp; Digital Intelligence</cp:lastModifiedBy>
  <cp:revision>1</cp:revision>
  <dcterms:created xsi:type="dcterms:W3CDTF">2026-08-10T05:52:32Z</dcterms:created>
  <dcterms:modified xsi:type="dcterms:W3CDTF">2026-08-10T05:52:32Z</dcterms:modified>
</cp:coreProperties>
</file>