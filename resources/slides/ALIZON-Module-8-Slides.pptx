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8C1515">
              <a:alpha val="28000"/>
            </a:srgbClr>
          </a:solidFill>
          <a:ln/>
        </p:spPr>
      </p:sp>
      <p:sp>
        <p:nvSpPr>
          <p:cNvPr id="3" name="Shape 1"/>
          <p:cNvSpPr/>
          <p:nvPr/>
        </p:nvSpPr>
        <p:spPr>
          <a:xfrm>
            <a:off x="10607040" y="4297680"/>
            <a:ext cx="2926080" cy="2926080"/>
          </a:xfrm>
          <a:prstGeom prst="ellipse">
            <a:avLst/>
          </a:prstGeom>
          <a:solidFill>
            <a:srgbClr val="9A7B3F">
              <a:alpha val="20000"/>
            </a:srgbClr>
          </a:solidFill>
          <a:ln/>
        </p:spPr>
      </p:sp>
      <p:sp>
        <p:nvSpPr>
          <p:cNvPr id="4" name="Text 2"/>
          <p:cNvSpPr/>
          <p:nvPr/>
        </p:nvSpPr>
        <p:spPr>
          <a:xfrm>
            <a:off x="777240" y="777240"/>
            <a:ext cx="9692640" cy="274320"/>
          </a:xfrm>
          <a:prstGeom prst="rect">
            <a:avLst/>
          </a:prstGeom>
          <a:noFill/>
          <a:ln/>
        </p:spPr>
        <p:txBody>
          <a:bodyPr wrap="square" lIns="0" tIns="0" rIns="0" bIns="0" rtlCol="0" anchor="ctr"/>
          <a:lstStyle/>
          <a:p>
            <a:pPr indent="0" marL="0">
              <a:buNone/>
            </a:pPr>
            <a:r>
              <a:rPr lang="en-US" sz="1100" b="1" spc="220" kern="0" dirty="0">
                <a:solidFill>
                  <a:srgbClr val="E8B4B4"/>
                </a:solidFill>
                <a:latin typeface="Calibri" pitchFamily="34" charset="0"/>
                <a:ea typeface="Calibri" pitchFamily="34" charset="-122"/>
                <a:cs typeface="Calibri" pitchFamily="34" charset="-120"/>
              </a:rPr>
              <a:t>ALIZON SCHOOL OF MEDICAL &amp; DIGITAL INTELLIGENCE</a:t>
            </a:r>
            <a:endParaRPr lang="en-US" sz="1100" dirty="0"/>
          </a:p>
        </p:txBody>
      </p:sp>
      <p:sp>
        <p:nvSpPr>
          <p:cNvPr id="5" name="Text 3"/>
          <p:cNvSpPr/>
          <p:nvPr/>
        </p:nvSpPr>
        <p:spPr>
          <a:xfrm>
            <a:off x="777240" y="1444752"/>
            <a:ext cx="8229600" cy="548640"/>
          </a:xfrm>
          <a:prstGeom prst="rect">
            <a:avLst/>
          </a:prstGeom>
          <a:noFill/>
          <a:ln/>
        </p:spPr>
        <p:txBody>
          <a:bodyPr wrap="square" lIns="0" tIns="0" rIns="0" bIns="0" rtlCol="0" anchor="ctr"/>
          <a:lstStyle/>
          <a:p>
            <a:pPr indent="0" marL="0">
              <a:buNone/>
            </a:pPr>
            <a:r>
              <a:rPr lang="en-US" sz="2000" dirty="0">
                <a:solidFill>
                  <a:srgbClr val="9A7B3F"/>
                </a:solidFill>
                <a:latin typeface="Calibri" pitchFamily="34" charset="0"/>
                <a:ea typeface="Calibri" pitchFamily="34" charset="-122"/>
                <a:cs typeface="Calibri" pitchFamily="34" charset="-120"/>
              </a:rPr>
              <a:t>Module 8</a:t>
            </a:r>
            <a:endParaRPr lang="en-US" sz="2000" dirty="0"/>
          </a:p>
        </p:txBody>
      </p:sp>
      <p:sp>
        <p:nvSpPr>
          <p:cNvPr id="6" name="Text 4"/>
          <p:cNvSpPr/>
          <p:nvPr/>
        </p:nvSpPr>
        <p:spPr>
          <a:xfrm>
            <a:off x="777240" y="1993392"/>
            <a:ext cx="9692640" cy="1920240"/>
          </a:xfrm>
          <a:prstGeom prst="rect">
            <a:avLst/>
          </a:prstGeom>
          <a:noFill/>
          <a:ln/>
        </p:spPr>
        <p:txBody>
          <a:bodyPr wrap="square" lIns="0" tIns="0" rIns="0" bIns="0" rtlCol="0" anchor="ctr"/>
          <a:lstStyle/>
          <a:p>
            <a:pPr indent="0" marL="0">
              <a:lnSpc>
                <a:spcPts val="4800"/>
              </a:lnSpc>
              <a:buNone/>
            </a:pPr>
            <a:r>
              <a:rPr lang="en-US" sz="4100" b="1" dirty="0">
                <a:solidFill>
                  <a:srgbClr val="FFFFFF"/>
                </a:solidFill>
                <a:latin typeface="Cambria" pitchFamily="34" charset="0"/>
                <a:ea typeface="Cambria" pitchFamily="34" charset="-122"/>
                <a:cs typeface="Cambria" pitchFamily="34" charset="-120"/>
              </a:rPr>
              <a:t>AI-Enabled Clinical Case Studies &amp; Simulations</a:t>
            </a:r>
            <a:endParaRPr lang="en-US" sz="4100" dirty="0"/>
          </a:p>
        </p:txBody>
      </p:sp>
      <p:sp>
        <p:nvSpPr>
          <p:cNvPr id="7" name="Text 5"/>
          <p:cNvSpPr/>
          <p:nvPr/>
        </p:nvSpPr>
        <p:spPr>
          <a:xfrm>
            <a:off x="777240" y="4023360"/>
            <a:ext cx="8961120" cy="384048"/>
          </a:xfrm>
          <a:prstGeom prst="rect">
            <a:avLst/>
          </a:prstGeom>
          <a:noFill/>
          <a:ln/>
        </p:spPr>
        <p:txBody>
          <a:bodyPr wrap="square" lIns="0" tIns="0" rIns="0" bIns="0" rtlCol="0" anchor="ctr"/>
          <a:lstStyle/>
          <a:p>
            <a:pPr indent="0" marL="0">
              <a:buNone/>
            </a:pPr>
            <a:r>
              <a:rPr lang="en-US" sz="1600" i="1" dirty="0">
                <a:solidFill>
                  <a:srgbClr val="C9C2BA"/>
                </a:solidFill>
                <a:latin typeface="Calibri" pitchFamily="34" charset="0"/>
                <a:ea typeface="Calibri" pitchFamily="34" charset="-122"/>
                <a:cs typeface="Calibri" pitchFamily="34" charset="-120"/>
              </a:rPr>
              <a:t>Putting It Together</a:t>
            </a:r>
            <a:endParaRPr lang="en-US" sz="1600" dirty="0"/>
          </a:p>
        </p:txBody>
      </p:sp>
      <p:sp>
        <p:nvSpPr>
          <p:cNvPr id="8" name="Text 6"/>
          <p:cNvSpPr/>
          <p:nvPr/>
        </p:nvSpPr>
        <p:spPr>
          <a:xfrm>
            <a:off x="777240" y="4846320"/>
            <a:ext cx="9509760" cy="868680"/>
          </a:xfrm>
          <a:prstGeom prst="rect">
            <a:avLst/>
          </a:prstGeom>
          <a:noFill/>
          <a:ln/>
        </p:spPr>
        <p:txBody>
          <a:bodyPr wrap="square" lIns="0" tIns="0" rIns="0" bIns="0" rtlCol="0" anchor="ctr"/>
          <a:lstStyle/>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Certificate Course in Digital Health &amp; Artificial Intelligence for Pharmacy</a:t>
            </a:r>
            <a:endParaRPr lang="en-US" sz="1300" dirty="0"/>
          </a:p>
          <a:p>
            <a:pPr indent="0" marL="0">
              <a:lnSpc>
                <a:spcPts val="2100"/>
              </a:lnSpc>
              <a:buNone/>
            </a:pPr>
            <a:r>
              <a:rPr lang="en-US" sz="1300" dirty="0">
                <a:solidFill>
                  <a:srgbClr val="9A938C"/>
                </a:solidFill>
                <a:latin typeface="Calibri" pitchFamily="34" charset="0"/>
                <a:ea typeface="Calibri" pitchFamily="34" charset="-122"/>
                <a:cs typeface="Calibri" pitchFamily="34" charset="-120"/>
              </a:rPr>
              <a:t>4 units  ·  5 assessed practicals  ·  100 examination questions</a:t>
            </a:r>
            <a:endParaRPr lang="en-US" sz="1300" dirty="0"/>
          </a:p>
        </p:txBody>
      </p:sp>
      <p:sp>
        <p:nvSpPr>
          <p:cNvPr id="9" name="Text 7"/>
          <p:cNvSpPr/>
          <p:nvPr/>
        </p:nvSpPr>
        <p:spPr>
          <a:xfrm>
            <a:off x="777240" y="6291072"/>
            <a:ext cx="7315200" cy="274320"/>
          </a:xfrm>
          <a:prstGeom prst="rect">
            <a:avLst/>
          </a:prstGeom>
          <a:noFill/>
          <a:ln/>
        </p:spPr>
        <p:txBody>
          <a:bodyPr wrap="square" lIns="0" tIns="0" rIns="0" bIns="0" rtlCol="0" anchor="ctr"/>
          <a:lstStyle/>
          <a:p>
            <a:pPr indent="0" marL="0">
              <a:buNone/>
            </a:pPr>
            <a:r>
              <a:rPr lang="en-US" sz="1000" dirty="0">
                <a:solidFill>
                  <a:srgbClr val="6E6058"/>
                </a:solidFill>
                <a:latin typeface="Calibri" pitchFamily="34" charset="0"/>
                <a:ea typeface="Calibri" pitchFamily="34" charset="-122"/>
                <a:cs typeface="Calibri" pitchFamily="34" charset="-120"/>
              </a:rPr>
              <a:t>ASAP Kerala  ·  www.alizongov.com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MAP</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this module covers</a:t>
            </a:r>
            <a:endParaRPr lang="en-US" sz="2900" dirty="0"/>
          </a:p>
        </p:txBody>
      </p:sp>
      <p:sp>
        <p:nvSpPr>
          <p:cNvPr id="6" name="Shape 4"/>
          <p:cNvSpPr/>
          <p:nvPr/>
        </p:nvSpPr>
        <p:spPr>
          <a:xfrm>
            <a:off x="502920" y="1481328"/>
            <a:ext cx="5440680" cy="1371600"/>
          </a:xfrm>
          <a:prstGeom prst="roundRect">
            <a:avLst>
              <a:gd name="adj" fmla="val 4000"/>
            </a:avLst>
          </a:prstGeom>
          <a:solidFill>
            <a:srgbClr val="FAF8F6"/>
          </a:solidFill>
          <a:ln w="9525">
            <a:solidFill>
              <a:srgbClr val="DDD5CE"/>
            </a:solidFill>
            <a:prstDash val="solid"/>
          </a:ln>
        </p:spPr>
      </p:sp>
      <p:sp>
        <p:nvSpPr>
          <p:cNvPr id="7" name="Shape 5"/>
          <p:cNvSpPr/>
          <p:nvPr/>
        </p:nvSpPr>
        <p:spPr>
          <a:xfrm>
            <a:off x="740664" y="1755648"/>
            <a:ext cx="384048" cy="384048"/>
          </a:xfrm>
          <a:prstGeom prst="ellipse">
            <a:avLst/>
          </a:prstGeom>
          <a:solidFill>
            <a:srgbClr val="8C1515"/>
          </a:solidFill>
          <a:ln/>
        </p:spPr>
      </p:sp>
      <p:sp>
        <p:nvSpPr>
          <p:cNvPr id="8" name="Text 6"/>
          <p:cNvSpPr/>
          <p:nvPr/>
        </p:nvSpPr>
        <p:spPr>
          <a:xfrm>
            <a:off x="74066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5272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AI-Based Prescription Review &amp; Safety Audits</a:t>
            </a:r>
            <a:endParaRPr lang="en-US" sz="1350" dirty="0"/>
          </a:p>
        </p:txBody>
      </p:sp>
      <p:sp>
        <p:nvSpPr>
          <p:cNvPr id="10" name="Text 8"/>
          <p:cNvSpPr/>
          <p:nvPr/>
        </p:nvSpPr>
        <p:spPr>
          <a:xfrm>
            <a:off x="125272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Reviewing in a fixed order · Patterns that should stop you · Using AI screening properly · The audit cycle</a:t>
            </a:r>
            <a:endParaRPr lang="en-US" sz="1050" dirty="0"/>
          </a:p>
        </p:txBody>
      </p:sp>
      <p:sp>
        <p:nvSpPr>
          <p:cNvPr id="11" name="Shape 9"/>
          <p:cNvSpPr/>
          <p:nvPr/>
        </p:nvSpPr>
        <p:spPr>
          <a:xfrm>
            <a:off x="6263640" y="1481328"/>
            <a:ext cx="5440680" cy="1371600"/>
          </a:xfrm>
          <a:prstGeom prst="roundRect">
            <a:avLst>
              <a:gd name="adj" fmla="val 4000"/>
            </a:avLst>
          </a:prstGeom>
          <a:solidFill>
            <a:srgbClr val="FAF8F6"/>
          </a:solidFill>
          <a:ln w="9525">
            <a:solidFill>
              <a:srgbClr val="DDD5CE"/>
            </a:solidFill>
            <a:prstDash val="solid"/>
          </a:ln>
        </p:spPr>
      </p:sp>
      <p:sp>
        <p:nvSpPr>
          <p:cNvPr id="12" name="Shape 10"/>
          <p:cNvSpPr/>
          <p:nvPr/>
        </p:nvSpPr>
        <p:spPr>
          <a:xfrm>
            <a:off x="6501384" y="1755648"/>
            <a:ext cx="384048" cy="384048"/>
          </a:xfrm>
          <a:prstGeom prst="ellipse">
            <a:avLst/>
          </a:prstGeom>
          <a:solidFill>
            <a:srgbClr val="8C1515"/>
          </a:solidFill>
          <a:ln/>
        </p:spPr>
      </p:sp>
      <p:sp>
        <p:nvSpPr>
          <p:cNvPr id="13" name="Text 11"/>
          <p:cNvSpPr/>
          <p:nvPr/>
        </p:nvSpPr>
        <p:spPr>
          <a:xfrm>
            <a:off x="6501384" y="1755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013448" y="1664208"/>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Drug Interaction &amp; Dose Optimisation Simulations</a:t>
            </a:r>
            <a:endParaRPr lang="en-US" sz="1350" dirty="0"/>
          </a:p>
        </p:txBody>
      </p:sp>
      <p:sp>
        <p:nvSpPr>
          <p:cNvPr id="15" name="Text 13"/>
          <p:cNvSpPr/>
          <p:nvPr/>
        </p:nvSpPr>
        <p:spPr>
          <a:xfrm>
            <a:off x="7013448" y="2157984"/>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Interactions you must know cold · Dosing to organ function · Making the recommendation</a:t>
            </a:r>
            <a:endParaRPr lang="en-US" sz="1050" dirty="0"/>
          </a:p>
        </p:txBody>
      </p:sp>
      <p:sp>
        <p:nvSpPr>
          <p:cNvPr id="16" name="Shape 14"/>
          <p:cNvSpPr/>
          <p:nvPr/>
        </p:nvSpPr>
        <p:spPr>
          <a:xfrm>
            <a:off x="502920" y="3054096"/>
            <a:ext cx="5440680" cy="1371600"/>
          </a:xfrm>
          <a:prstGeom prst="roundRect">
            <a:avLst>
              <a:gd name="adj" fmla="val 4000"/>
            </a:avLst>
          </a:prstGeom>
          <a:solidFill>
            <a:srgbClr val="FAF8F6"/>
          </a:solidFill>
          <a:ln w="9525">
            <a:solidFill>
              <a:srgbClr val="DDD5CE"/>
            </a:solidFill>
            <a:prstDash val="solid"/>
          </a:ln>
        </p:spPr>
      </p:sp>
      <p:sp>
        <p:nvSpPr>
          <p:cNvPr id="17" name="Shape 15"/>
          <p:cNvSpPr/>
          <p:nvPr/>
        </p:nvSpPr>
        <p:spPr>
          <a:xfrm>
            <a:off x="740664" y="3328416"/>
            <a:ext cx="384048" cy="384048"/>
          </a:xfrm>
          <a:prstGeom prst="ellipse">
            <a:avLst/>
          </a:prstGeom>
          <a:solidFill>
            <a:srgbClr val="8C1515"/>
          </a:solidFill>
          <a:ln/>
        </p:spPr>
      </p:sp>
      <p:sp>
        <p:nvSpPr>
          <p:cNvPr id="18" name="Text 16"/>
          <p:cNvSpPr/>
          <p:nvPr/>
        </p:nvSpPr>
        <p:spPr>
          <a:xfrm>
            <a:off x="74066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5272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Clinical &amp; Pharmacogenomic Case Simulations</a:t>
            </a:r>
            <a:endParaRPr lang="en-US" sz="1350" dirty="0"/>
          </a:p>
        </p:txBody>
      </p:sp>
      <p:sp>
        <p:nvSpPr>
          <p:cNvPr id="20" name="Text 18"/>
          <p:cNvSpPr/>
          <p:nvPr/>
        </p:nvSpPr>
        <p:spPr>
          <a:xfrm>
            <a:off x="125272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The drug-gene pairs that are already practice · Prodrugs invert the logic · Explaining and recording a result</a:t>
            </a:r>
            <a:endParaRPr lang="en-US" sz="1050" dirty="0"/>
          </a:p>
        </p:txBody>
      </p:sp>
      <p:sp>
        <p:nvSpPr>
          <p:cNvPr id="21" name="Shape 19"/>
          <p:cNvSpPr/>
          <p:nvPr/>
        </p:nvSpPr>
        <p:spPr>
          <a:xfrm>
            <a:off x="6263640" y="3054096"/>
            <a:ext cx="5440680" cy="1371600"/>
          </a:xfrm>
          <a:prstGeom prst="roundRect">
            <a:avLst>
              <a:gd name="adj" fmla="val 4000"/>
            </a:avLst>
          </a:prstGeom>
          <a:solidFill>
            <a:srgbClr val="FAF8F6"/>
          </a:solidFill>
          <a:ln w="9525">
            <a:solidFill>
              <a:srgbClr val="DDD5CE"/>
            </a:solidFill>
            <a:prstDash val="solid"/>
          </a:ln>
        </p:spPr>
      </p:sp>
      <p:sp>
        <p:nvSpPr>
          <p:cNvPr id="22" name="Shape 20"/>
          <p:cNvSpPr/>
          <p:nvPr/>
        </p:nvSpPr>
        <p:spPr>
          <a:xfrm>
            <a:off x="6501384" y="3328416"/>
            <a:ext cx="384048" cy="384048"/>
          </a:xfrm>
          <a:prstGeom prst="ellipse">
            <a:avLst/>
          </a:prstGeom>
          <a:solidFill>
            <a:srgbClr val="8C1515"/>
          </a:solidFill>
          <a:ln/>
        </p:spPr>
      </p:sp>
      <p:sp>
        <p:nvSpPr>
          <p:cNvPr id="23" name="Text 21"/>
          <p:cNvSpPr/>
          <p:nvPr/>
        </p:nvSpPr>
        <p:spPr>
          <a:xfrm>
            <a:off x="6501384"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013448" y="3236976"/>
            <a:ext cx="4480560" cy="493776"/>
          </a:xfrm>
          <a:prstGeom prst="rect">
            <a:avLst/>
          </a:prstGeom>
          <a:noFill/>
          <a:ln/>
        </p:spPr>
        <p:txBody>
          <a:bodyPr wrap="square" lIns="0" tIns="0" rIns="0" bIns="0" rtlCol="0" anchor="ctr"/>
          <a:lstStyle/>
          <a:p>
            <a:pPr indent="0" marL="0">
              <a:buNone/>
            </a:pPr>
            <a:r>
              <a:rPr lang="en-US" sz="1350" b="1" dirty="0">
                <a:solidFill>
                  <a:srgbClr val="26221F"/>
                </a:solidFill>
                <a:latin typeface="Calibri" pitchFamily="34" charset="0"/>
                <a:ea typeface="Calibri" pitchFamily="34" charset="-122"/>
                <a:cs typeface="Calibri" pitchFamily="34" charset="-120"/>
              </a:rPr>
              <a:t>Digital Patient Care &amp; Pharmacy Operations</a:t>
            </a:r>
            <a:endParaRPr lang="en-US" sz="1350" dirty="0"/>
          </a:p>
        </p:txBody>
      </p:sp>
      <p:sp>
        <p:nvSpPr>
          <p:cNvPr id="25" name="Text 23"/>
          <p:cNvSpPr/>
          <p:nvPr/>
        </p:nvSpPr>
        <p:spPr>
          <a:xfrm>
            <a:off x="7013448" y="3730752"/>
            <a:ext cx="4480560" cy="566928"/>
          </a:xfrm>
          <a:prstGeom prst="rect">
            <a:avLst/>
          </a:prstGeom>
          <a:noFill/>
          <a:ln/>
        </p:spPr>
        <p:txBody>
          <a:bodyPr wrap="square" lIns="0" tIns="0" rIns="0" bIns="0" rtlCol="0" anchor="ctr"/>
          <a:lstStyle/>
          <a:p>
            <a:pPr indent="0" marL="0">
              <a:lnSpc>
                <a:spcPts val="1400"/>
              </a:lnSpc>
              <a:buNone/>
            </a:pPr>
            <a:r>
              <a:rPr lang="en-US" sz="1050" dirty="0">
                <a:solidFill>
                  <a:srgbClr val="6E6A63"/>
                </a:solidFill>
                <a:latin typeface="Calibri" pitchFamily="34" charset="0"/>
                <a:ea typeface="Calibri" pitchFamily="34" charset="-122"/>
                <a:cs typeface="Calibri" pitchFamily="34" charset="-120"/>
              </a:rPr>
              <a:t>What adherence data does and does not show · Discharge is the dangerous moment · Operational measures · When a change makes…</a:t>
            </a:r>
            <a:endParaRPr lang="en-US" sz="1050" dirty="0"/>
          </a:p>
        </p:txBody>
      </p:sp>
      <p:sp>
        <p:nvSpPr>
          <p:cNvPr id="26" name="Shape 24"/>
          <p:cNvSpPr/>
          <p:nvPr/>
        </p:nvSpPr>
        <p:spPr>
          <a:xfrm>
            <a:off x="502920" y="4681728"/>
            <a:ext cx="11183112" cy="987552"/>
          </a:xfrm>
          <a:prstGeom prst="roundRect">
            <a:avLst>
              <a:gd name="adj" fmla="val 5556"/>
            </a:avLst>
          </a:prstGeom>
          <a:solidFill>
            <a:srgbClr val="2E1010"/>
          </a:solidFill>
          <a:ln w="9525">
            <a:solidFill>
              <a:srgbClr val="46201F"/>
            </a:solidFill>
            <a:prstDash val="solid"/>
          </a:ln>
        </p:spPr>
      </p:sp>
      <p:sp>
        <p:nvSpPr>
          <p:cNvPr id="27" name="Text 25"/>
          <p:cNvSpPr/>
          <p:nvPr/>
        </p:nvSpPr>
        <p:spPr>
          <a:xfrm>
            <a:off x="868680" y="4846320"/>
            <a:ext cx="3291840" cy="292608"/>
          </a:xfrm>
          <a:prstGeom prst="rect">
            <a:avLst/>
          </a:prstGeom>
          <a:noFill/>
          <a:ln/>
        </p:spPr>
        <p:txBody>
          <a:bodyPr wrap="square" lIns="0" tIns="0" rIns="0" bIns="0" rtlCol="0" anchor="ctr"/>
          <a:lstStyle/>
          <a:p>
            <a:pPr indent="0" marL="0">
              <a:buNone/>
            </a:pPr>
            <a:r>
              <a:rPr lang="en-US" sz="1350" b="1" dirty="0">
                <a:solidFill>
                  <a:srgbClr val="F0C9C9"/>
                </a:solidFill>
                <a:latin typeface="Calibri" pitchFamily="34" charset="0"/>
                <a:ea typeface="Calibri" pitchFamily="34" charset="-122"/>
                <a:cs typeface="Calibri" pitchFamily="34" charset="-120"/>
              </a:rPr>
              <a:t>5 assessed practicals</a:t>
            </a:r>
            <a:endParaRPr lang="en-US" sz="1350" dirty="0"/>
          </a:p>
        </p:txBody>
      </p:sp>
      <p:sp>
        <p:nvSpPr>
          <p:cNvPr id="28" name="Text 26"/>
          <p:cNvSpPr/>
          <p:nvPr/>
        </p:nvSpPr>
        <p:spPr>
          <a:xfrm>
            <a:off x="868680" y="5157216"/>
            <a:ext cx="10515600" cy="384048"/>
          </a:xfrm>
          <a:prstGeom prst="rect">
            <a:avLst/>
          </a:prstGeom>
          <a:noFill/>
          <a:ln/>
        </p:spPr>
        <p:txBody>
          <a:bodyPr wrap="square" lIns="0" tIns="0" rIns="0" bIns="0" rtlCol="0" anchor="ctr"/>
          <a:lstStyle/>
          <a:p>
            <a:pPr indent="0" marL="0">
              <a:buNone/>
            </a:pPr>
            <a:r>
              <a:rPr lang="en-US" sz="1150" dirty="0">
                <a:solidFill>
                  <a:srgbClr val="E7DCD8"/>
                </a:solidFill>
                <a:latin typeface="Calibri" pitchFamily="34" charset="0"/>
                <a:ea typeface="Calibri" pitchFamily="34" charset="-122"/>
                <a:cs typeface="Calibri" pitchFamily="34" charset="-120"/>
              </a:rPr>
              <a:t>Clinical Simulation Suite · AI Prescription Review &amp; Safety Audit · Interaction &amp; Dose Optimisation Clinic · Pharmacogenomic Case Desk · Digital Patient…</a:t>
            </a:r>
            <a:endParaRPr lang="en-US" sz="1150" dirty="0"/>
          </a:p>
        </p:txBody>
      </p:sp>
      <p:sp>
        <p:nvSpPr>
          <p:cNvPr id="29" name="Text 2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0" name="Text 2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LEARNING OUTCOMES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you will be able to do</a:t>
            </a:r>
            <a:endParaRPr lang="en-US" sz="2900" dirty="0"/>
          </a:p>
        </p:txBody>
      </p:sp>
      <p:sp>
        <p:nvSpPr>
          <p:cNvPr id="6" name="Shape 4"/>
          <p:cNvSpPr/>
          <p:nvPr/>
        </p:nvSpPr>
        <p:spPr>
          <a:xfrm>
            <a:off x="502920" y="1591056"/>
            <a:ext cx="310896" cy="310896"/>
          </a:xfrm>
          <a:prstGeom prst="ellipse">
            <a:avLst/>
          </a:prstGeom>
          <a:solidFill>
            <a:srgbClr val="F2E4E4"/>
          </a:solidFill>
          <a:ln/>
        </p:spPr>
      </p:sp>
      <p:sp>
        <p:nvSpPr>
          <p:cNvPr id="7" name="Text 5"/>
          <p:cNvSpPr/>
          <p:nvPr/>
        </p:nvSpPr>
        <p:spPr>
          <a:xfrm>
            <a:off x="50292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96012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Explain</a:t>
            </a:r>
            <a:endParaRPr lang="en-US" sz="1400" dirty="0"/>
          </a:p>
        </p:txBody>
      </p:sp>
      <p:sp>
        <p:nvSpPr>
          <p:cNvPr id="9" name="Text 7"/>
          <p:cNvSpPr/>
          <p:nvPr/>
        </p:nvSpPr>
        <p:spPr>
          <a:xfrm>
            <a:off x="96012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AI-Based Prescription Review &amp; Safety Audits</a:t>
            </a:r>
            <a:endParaRPr lang="en-US" sz="1250" dirty="0"/>
          </a:p>
        </p:txBody>
      </p:sp>
      <p:sp>
        <p:nvSpPr>
          <p:cNvPr id="10" name="Shape 8"/>
          <p:cNvSpPr/>
          <p:nvPr/>
        </p:nvSpPr>
        <p:spPr>
          <a:xfrm>
            <a:off x="6263640" y="1591056"/>
            <a:ext cx="310896" cy="310896"/>
          </a:xfrm>
          <a:prstGeom prst="ellipse">
            <a:avLst/>
          </a:prstGeom>
          <a:solidFill>
            <a:srgbClr val="F2E4E4"/>
          </a:solidFill>
          <a:ln/>
        </p:spPr>
      </p:sp>
      <p:sp>
        <p:nvSpPr>
          <p:cNvPr id="11" name="Text 9"/>
          <p:cNvSpPr/>
          <p:nvPr/>
        </p:nvSpPr>
        <p:spPr>
          <a:xfrm>
            <a:off x="6263640" y="15910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720840" y="15727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Operate</a:t>
            </a:r>
            <a:endParaRPr lang="en-US" sz="1400" dirty="0"/>
          </a:p>
        </p:txBody>
      </p:sp>
      <p:sp>
        <p:nvSpPr>
          <p:cNvPr id="13" name="Text 11"/>
          <p:cNvSpPr/>
          <p:nvPr/>
        </p:nvSpPr>
        <p:spPr>
          <a:xfrm>
            <a:off x="6720840" y="19019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Reviewing in a fixed order</a:t>
            </a:r>
            <a:endParaRPr lang="en-US" sz="1250" dirty="0"/>
          </a:p>
        </p:txBody>
      </p:sp>
      <p:sp>
        <p:nvSpPr>
          <p:cNvPr id="14" name="Shape 12"/>
          <p:cNvSpPr/>
          <p:nvPr/>
        </p:nvSpPr>
        <p:spPr>
          <a:xfrm>
            <a:off x="502920" y="2962656"/>
            <a:ext cx="310896" cy="310896"/>
          </a:xfrm>
          <a:prstGeom prst="ellipse">
            <a:avLst/>
          </a:prstGeom>
          <a:solidFill>
            <a:srgbClr val="F2E4E4"/>
          </a:solidFill>
          <a:ln/>
        </p:spPr>
      </p:sp>
      <p:sp>
        <p:nvSpPr>
          <p:cNvPr id="15" name="Text 13"/>
          <p:cNvSpPr/>
          <p:nvPr/>
        </p:nvSpPr>
        <p:spPr>
          <a:xfrm>
            <a:off x="50292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96012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Apply</a:t>
            </a:r>
            <a:endParaRPr lang="en-US" sz="1400" dirty="0"/>
          </a:p>
        </p:txBody>
      </p:sp>
      <p:sp>
        <p:nvSpPr>
          <p:cNvPr id="17" name="Text 15"/>
          <p:cNvSpPr/>
          <p:nvPr/>
        </p:nvSpPr>
        <p:spPr>
          <a:xfrm>
            <a:off x="96012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Drug Interaction &amp; Dose Optimisation Simulations</a:t>
            </a:r>
            <a:endParaRPr lang="en-US" sz="1250" dirty="0"/>
          </a:p>
        </p:txBody>
      </p:sp>
      <p:sp>
        <p:nvSpPr>
          <p:cNvPr id="18" name="Shape 16"/>
          <p:cNvSpPr/>
          <p:nvPr/>
        </p:nvSpPr>
        <p:spPr>
          <a:xfrm>
            <a:off x="6263640" y="2962656"/>
            <a:ext cx="310896" cy="310896"/>
          </a:xfrm>
          <a:prstGeom prst="ellipse">
            <a:avLst/>
          </a:prstGeom>
          <a:solidFill>
            <a:srgbClr val="F2E4E4"/>
          </a:solidFill>
          <a:ln/>
        </p:spPr>
      </p:sp>
      <p:sp>
        <p:nvSpPr>
          <p:cNvPr id="19" name="Text 17"/>
          <p:cNvSpPr/>
          <p:nvPr/>
        </p:nvSpPr>
        <p:spPr>
          <a:xfrm>
            <a:off x="6263640" y="29626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720840" y="29443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Evaluate</a:t>
            </a:r>
            <a:endParaRPr lang="en-US" sz="1400" dirty="0"/>
          </a:p>
        </p:txBody>
      </p:sp>
      <p:sp>
        <p:nvSpPr>
          <p:cNvPr id="21" name="Text 19"/>
          <p:cNvSpPr/>
          <p:nvPr/>
        </p:nvSpPr>
        <p:spPr>
          <a:xfrm>
            <a:off x="6720840" y="32735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Interactions you must know cold</a:t>
            </a:r>
            <a:endParaRPr lang="en-US" sz="1250" dirty="0"/>
          </a:p>
        </p:txBody>
      </p:sp>
      <p:sp>
        <p:nvSpPr>
          <p:cNvPr id="22" name="Shape 20"/>
          <p:cNvSpPr/>
          <p:nvPr/>
        </p:nvSpPr>
        <p:spPr>
          <a:xfrm>
            <a:off x="502920" y="4334256"/>
            <a:ext cx="310896" cy="310896"/>
          </a:xfrm>
          <a:prstGeom prst="ellipse">
            <a:avLst/>
          </a:prstGeom>
          <a:solidFill>
            <a:srgbClr val="F2E4E4"/>
          </a:solidFill>
          <a:ln/>
        </p:spPr>
      </p:sp>
      <p:sp>
        <p:nvSpPr>
          <p:cNvPr id="23" name="Text 21"/>
          <p:cNvSpPr/>
          <p:nvPr/>
        </p:nvSpPr>
        <p:spPr>
          <a:xfrm>
            <a:off x="50292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96012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Describe</a:t>
            </a:r>
            <a:endParaRPr lang="en-US" sz="1400" dirty="0"/>
          </a:p>
        </p:txBody>
      </p:sp>
      <p:sp>
        <p:nvSpPr>
          <p:cNvPr id="25" name="Text 23"/>
          <p:cNvSpPr/>
          <p:nvPr/>
        </p:nvSpPr>
        <p:spPr>
          <a:xfrm>
            <a:off x="96012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Clinical &amp; Pharmacogenomic Case Simulations</a:t>
            </a:r>
            <a:endParaRPr lang="en-US" sz="1250" dirty="0"/>
          </a:p>
        </p:txBody>
      </p:sp>
      <p:sp>
        <p:nvSpPr>
          <p:cNvPr id="26" name="Shape 24"/>
          <p:cNvSpPr/>
          <p:nvPr/>
        </p:nvSpPr>
        <p:spPr>
          <a:xfrm>
            <a:off x="6263640" y="4334256"/>
            <a:ext cx="310896" cy="310896"/>
          </a:xfrm>
          <a:prstGeom prst="ellipse">
            <a:avLst/>
          </a:prstGeom>
          <a:solidFill>
            <a:srgbClr val="F2E4E4"/>
          </a:solidFill>
          <a:ln/>
        </p:spPr>
      </p:sp>
      <p:sp>
        <p:nvSpPr>
          <p:cNvPr id="27" name="Text 25"/>
          <p:cNvSpPr/>
          <p:nvPr/>
        </p:nvSpPr>
        <p:spPr>
          <a:xfrm>
            <a:off x="6263640" y="4334256"/>
            <a:ext cx="310896" cy="310896"/>
          </a:xfrm>
          <a:prstGeom prst="rect">
            <a:avLst/>
          </a:prstGeom>
          <a:noFill/>
          <a:ln/>
        </p:spPr>
        <p:txBody>
          <a:bodyPr wrap="square" lIns="0" tIns="0" rIns="0" bIns="0" rtlCol="0" anchor="ctr"/>
          <a:lstStyle/>
          <a:p>
            <a:pPr algn="ctr" indent="0" marL="0">
              <a:buNone/>
            </a:pPr>
            <a:r>
              <a:rPr lang="en-US" sz="1200" b="1" dirty="0">
                <a:solidFill>
                  <a:srgbClr val="8C1515"/>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6720840" y="4315968"/>
            <a:ext cx="4937760" cy="292608"/>
          </a:xfrm>
          <a:prstGeom prst="rect">
            <a:avLst/>
          </a:prstGeom>
          <a:noFill/>
          <a:ln/>
        </p:spPr>
        <p:txBody>
          <a:bodyPr wrap="square" lIns="0" tIns="0" rIns="0" bIns="0" rtlCol="0" anchor="ctr"/>
          <a:lstStyle/>
          <a:p>
            <a:pPr indent="0" marL="0">
              <a:buNone/>
            </a:pPr>
            <a:r>
              <a:rPr lang="en-US" sz="1400" b="1" dirty="0">
                <a:solidFill>
                  <a:srgbClr val="8C1515"/>
                </a:solidFill>
                <a:latin typeface="Calibri" pitchFamily="34" charset="0"/>
                <a:ea typeface="Calibri" pitchFamily="34" charset="-122"/>
                <a:cs typeface="Calibri" pitchFamily="34" charset="-120"/>
              </a:rPr>
              <a:t>Document</a:t>
            </a:r>
            <a:endParaRPr lang="en-US" sz="1400" dirty="0"/>
          </a:p>
        </p:txBody>
      </p:sp>
      <p:sp>
        <p:nvSpPr>
          <p:cNvPr id="29" name="Text 27"/>
          <p:cNvSpPr/>
          <p:nvPr/>
        </p:nvSpPr>
        <p:spPr>
          <a:xfrm>
            <a:off x="6720840" y="4645152"/>
            <a:ext cx="4937760" cy="822960"/>
          </a:xfrm>
          <a:prstGeom prst="rect">
            <a:avLst/>
          </a:prstGeom>
          <a:noFill/>
          <a:ln/>
        </p:spPr>
        <p:txBody>
          <a:bodyPr wrap="square" lIns="0" tIns="0" rIns="0" bIns="0" rtlCol="0" anchor="ctr"/>
          <a:lstStyle/>
          <a:p>
            <a:pPr indent="0" marL="0">
              <a:lnSpc>
                <a:spcPts val="1700"/>
              </a:lnSpc>
              <a:buNone/>
            </a:pPr>
            <a:r>
              <a:rPr lang="en-US" sz="1250" dirty="0">
                <a:solidFill>
                  <a:srgbClr val="26221F"/>
                </a:solidFill>
                <a:latin typeface="Calibri" pitchFamily="34" charset="0"/>
                <a:ea typeface="Calibri" pitchFamily="34" charset="-122"/>
                <a:cs typeface="Calibri" pitchFamily="34" charset="-120"/>
              </a:rPr>
              <a:t>The drug-gene pairs that are already practice</a:t>
            </a:r>
            <a:endParaRPr lang="en-US" sz="1250" dirty="0"/>
          </a:p>
        </p:txBody>
      </p:sp>
      <p:sp>
        <p:nvSpPr>
          <p:cNvPr id="30" name="Shape 28"/>
          <p:cNvSpPr/>
          <p:nvPr/>
        </p:nvSpPr>
        <p:spPr>
          <a:xfrm>
            <a:off x="502920" y="5504688"/>
            <a:ext cx="11183112" cy="585216"/>
          </a:xfrm>
          <a:prstGeom prst="roundRect">
            <a:avLst>
              <a:gd name="adj" fmla="val 9375"/>
            </a:avLst>
          </a:prstGeom>
          <a:solidFill>
            <a:srgbClr val="FAF8F6"/>
          </a:solidFill>
          <a:ln w="9525">
            <a:solidFill>
              <a:srgbClr val="DDD5CE"/>
            </a:solidFill>
            <a:prstDash val="solid"/>
          </a:ln>
        </p:spPr>
      </p:sp>
      <p:sp>
        <p:nvSpPr>
          <p:cNvPr id="31" name="Text 29"/>
          <p:cNvSpPr/>
          <p:nvPr/>
        </p:nvSpPr>
        <p:spPr>
          <a:xfrm>
            <a:off x="868680" y="5504688"/>
            <a:ext cx="10515600" cy="585216"/>
          </a:xfrm>
          <a:prstGeom prst="rect">
            <a:avLst/>
          </a:prstGeom>
          <a:noFill/>
          <a:ln/>
        </p:spPr>
        <p:txBody>
          <a:bodyPr wrap="square" lIns="0" tIns="0" rIns="0" bIns="0" rtlCol="0" anchor="ctr"/>
          <a:lstStyle/>
          <a:p>
            <a:pPr indent="0" marL="0">
              <a:buNone/>
            </a:pPr>
            <a:r>
              <a:rPr lang="en-US" sz="1200" dirty="0">
                <a:solidFill>
                  <a:srgbClr val="26221F"/>
                </a:solidFill>
                <a:latin typeface="Calibri" pitchFamily="34" charset="0"/>
                <a:ea typeface="Calibri" pitchFamily="34" charset="-122"/>
                <a:cs typeface="Calibri" pitchFamily="34" charset="-120"/>
              </a:rPr>
              <a:t>Assessment · 5 faculty-evaluated practicals  +  100-question internal examination (4 units × 25)</a:t>
            </a:r>
            <a:endParaRPr lang="en-US" sz="1200" dirty="0"/>
          </a:p>
        </p:txBody>
      </p:sp>
      <p:sp>
        <p:nvSpPr>
          <p:cNvPr id="32" name="Text 30"/>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3" name="Text 31"/>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AI-BASED PRESCRIPTION REVIEW &amp; SAFETY AUDITS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1 objectives</a:t>
            </a:r>
            <a:endParaRPr lang="en-US" sz="2900" dirty="0"/>
          </a:p>
        </p:txBody>
      </p:sp>
      <p:sp>
        <p:nvSpPr>
          <p:cNvPr id="6" name="Shape 4"/>
          <p:cNvSpPr/>
          <p:nvPr/>
        </p:nvSpPr>
        <p:spPr>
          <a:xfrm>
            <a:off x="502920" y="1554480"/>
            <a:ext cx="11183112" cy="2132381"/>
          </a:xfrm>
          <a:prstGeom prst="roundRect">
            <a:avLst>
              <a:gd name="adj" fmla="val 2573"/>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UNIT OBJECTIVES</a:t>
            </a:r>
            <a:endParaRPr lang="en-US" sz="1050" dirty="0"/>
          </a:p>
        </p:txBody>
      </p:sp>
      <p:sp>
        <p:nvSpPr>
          <p:cNvPr id="8" name="Text 6"/>
          <p:cNvSpPr/>
          <p:nvPr/>
        </p:nvSpPr>
        <p:spPr>
          <a:xfrm>
            <a:off x="914400" y="2212848"/>
            <a:ext cx="10332720" cy="1291133"/>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Conduct a structured prescription review and state what each step catches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Recognise the classic high-risk prescribing patterns by sight</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Use AI screening output as a reading order rather than a verdict</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Plan, run and close a prescription safety audit</a:t>
            </a:r>
            <a:endParaRPr lang="en-US" sz="13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AI-BASED PRESCRIPTION REVIEW &amp; SAFETY AUDITS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Reviewing in a fixed order</a:t>
            </a:r>
            <a:endParaRPr lang="en-US" sz="2900" dirty="0"/>
          </a:p>
        </p:txBody>
      </p:sp>
      <p:sp>
        <p:nvSpPr>
          <p:cNvPr id="6" name="Shape 4"/>
          <p:cNvSpPr/>
          <p:nvPr/>
        </p:nvSpPr>
        <p:spPr>
          <a:xfrm>
            <a:off x="502920" y="1554480"/>
            <a:ext cx="11183112" cy="1737360"/>
          </a:xfrm>
          <a:prstGeom prst="roundRect">
            <a:avLst>
              <a:gd name="adj" fmla="val 3158"/>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NOTE</a:t>
            </a:r>
            <a:endParaRPr lang="en-US" sz="1050" dirty="0"/>
          </a:p>
        </p:txBody>
      </p:sp>
      <p:sp>
        <p:nvSpPr>
          <p:cNvPr id="8" name="Text 6"/>
          <p:cNvSpPr/>
          <p:nvPr/>
        </p:nvSpPr>
        <p:spPr>
          <a:xfrm>
            <a:off x="914400" y="2212848"/>
            <a:ext cx="10332720" cy="534010"/>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An audit that finds the indication routinely omitted from antibiotic prescriptions has found a real defect. Without an indication nobody downstream can judge whether the choice, the dose or the duration was right, and nobody can stop it at review.</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AI-BASED PRESCRIPTION REVIEW &amp; SAFETY AUDITS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High-risk prescribing patterns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Usual action</a:t>
            </a:r>
            <a:endParaRPr lang="en-US" sz="1150" dirty="0"/>
          </a:p>
        </p:txBody>
      </p:sp>
      <p:sp>
        <p:nvSpPr>
          <p:cNvPr id="10" name="Shape 8"/>
          <p:cNvSpPr/>
          <p:nvPr/>
        </p:nvSpPr>
        <p:spPr>
          <a:xfrm>
            <a:off x="502920" y="2066544"/>
            <a:ext cx="11183112" cy="566928"/>
          </a:xfrm>
          <a:prstGeom prst="rect">
            <a:avLst/>
          </a:prstGeom>
          <a:solidFill>
            <a:srgbClr val="FFFFFF"/>
          </a:solidFill>
          <a:ln w="9525">
            <a:solidFill>
              <a:srgbClr val="DDD5CE"/>
            </a:solidFill>
            <a:prstDash val="solid"/>
          </a:ln>
        </p:spPr>
      </p:sp>
      <p:sp>
        <p:nvSpPr>
          <p:cNvPr id="11" name="Text 9"/>
          <p:cNvSpPr/>
          <p:nvPr/>
        </p:nvSpPr>
        <p:spPr>
          <a:xfrm>
            <a:off x="685800" y="206654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Warfarin + a macrolide such as clarithromycin</a:t>
            </a:r>
            <a:endParaRPr lang="en-US" sz="1150" dirty="0"/>
          </a:p>
        </p:txBody>
      </p:sp>
      <p:sp>
        <p:nvSpPr>
          <p:cNvPr id="12" name="Text 10"/>
          <p:cNvSpPr/>
          <p:nvPr/>
        </p:nvSpPr>
        <p:spPr>
          <a:xfrm>
            <a:off x="3886200" y="206654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Marked rise in INR and bleeding risk</a:t>
            </a:r>
            <a:endParaRPr lang="en-US" sz="1150" dirty="0"/>
          </a:p>
        </p:txBody>
      </p:sp>
      <p:sp>
        <p:nvSpPr>
          <p:cNvPr id="13" name="Text 11"/>
          <p:cNvSpPr/>
          <p:nvPr/>
        </p:nvSpPr>
        <p:spPr>
          <a:xfrm>
            <a:off x="7872984" y="206654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Avoid, or reduce dose with close INR monitoring</a:t>
            </a:r>
            <a:endParaRPr lang="en-US" sz="1150" dirty="0"/>
          </a:p>
        </p:txBody>
      </p:sp>
      <p:sp>
        <p:nvSpPr>
          <p:cNvPr id="14" name="Shape 12"/>
          <p:cNvSpPr/>
          <p:nvPr/>
        </p:nvSpPr>
        <p:spPr>
          <a:xfrm>
            <a:off x="502920" y="2633472"/>
            <a:ext cx="11183112" cy="566928"/>
          </a:xfrm>
          <a:prstGeom prst="rect">
            <a:avLst/>
          </a:prstGeom>
          <a:solidFill>
            <a:srgbClr val="FAF8F6"/>
          </a:solidFill>
          <a:ln w="9525">
            <a:solidFill>
              <a:srgbClr val="DDD5CE"/>
            </a:solidFill>
            <a:prstDash val="solid"/>
          </a:ln>
        </p:spPr>
      </p:sp>
      <p:sp>
        <p:nvSpPr>
          <p:cNvPr id="15" name="Text 13"/>
          <p:cNvSpPr/>
          <p:nvPr/>
        </p:nvSpPr>
        <p:spPr>
          <a:xfrm>
            <a:off x="685800" y="2633472"/>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Methotrexate written as a daily dose</a:t>
            </a:r>
            <a:endParaRPr lang="en-US" sz="1150" dirty="0"/>
          </a:p>
        </p:txBody>
      </p:sp>
      <p:sp>
        <p:nvSpPr>
          <p:cNvPr id="16" name="Text 14"/>
          <p:cNvSpPr/>
          <p:nvPr/>
        </p:nvSpPr>
        <p:spPr>
          <a:xfrm>
            <a:off x="3886200" y="2633472"/>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It is a weekly drug; daily dosing has killed patients</a:t>
            </a:r>
            <a:endParaRPr lang="en-US" sz="1150" dirty="0"/>
          </a:p>
        </p:txBody>
      </p:sp>
      <p:sp>
        <p:nvSpPr>
          <p:cNvPr id="17" name="Text 15"/>
          <p:cNvSpPr/>
          <p:nvPr/>
        </p:nvSpPr>
        <p:spPr>
          <a:xfrm>
            <a:off x="7872984" y="2633472"/>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Stop and clarify before any supply</a:t>
            </a:r>
            <a:endParaRPr lang="en-US" sz="1150" dirty="0"/>
          </a:p>
        </p:txBody>
      </p:sp>
      <p:sp>
        <p:nvSpPr>
          <p:cNvPr id="18" name="Shape 16"/>
          <p:cNvSpPr/>
          <p:nvPr/>
        </p:nvSpPr>
        <p:spPr>
          <a:xfrm>
            <a:off x="502920" y="3200400"/>
            <a:ext cx="11183112" cy="566928"/>
          </a:xfrm>
          <a:prstGeom prst="rect">
            <a:avLst/>
          </a:prstGeom>
          <a:solidFill>
            <a:srgbClr val="FFFFFF"/>
          </a:solidFill>
          <a:ln w="9525">
            <a:solidFill>
              <a:srgbClr val="DDD5CE"/>
            </a:solidFill>
            <a:prstDash val="solid"/>
          </a:ln>
        </p:spPr>
      </p:sp>
      <p:sp>
        <p:nvSpPr>
          <p:cNvPr id="19" name="Text 17"/>
          <p:cNvSpPr/>
          <p:nvPr/>
        </p:nvSpPr>
        <p:spPr>
          <a:xfrm>
            <a:off x="685800" y="3200400"/>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Methotrexate + trimethoprim</a:t>
            </a:r>
            <a:endParaRPr lang="en-US" sz="1150" dirty="0"/>
          </a:p>
        </p:txBody>
      </p:sp>
      <p:sp>
        <p:nvSpPr>
          <p:cNvPr id="20" name="Text 18"/>
          <p:cNvSpPr/>
          <p:nvPr/>
        </p:nvSpPr>
        <p:spPr>
          <a:xfrm>
            <a:off x="3886200" y="3200400"/>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Additive antifolate effect, marrow suppression</a:t>
            </a:r>
            <a:endParaRPr lang="en-US" sz="1150" dirty="0"/>
          </a:p>
        </p:txBody>
      </p:sp>
      <p:sp>
        <p:nvSpPr>
          <p:cNvPr id="21" name="Text 19"/>
          <p:cNvSpPr/>
          <p:nvPr/>
        </p:nvSpPr>
        <p:spPr>
          <a:xfrm>
            <a:off x="7872984" y="3200400"/>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Avoid the combination</a:t>
            </a:r>
            <a:endParaRPr lang="en-US" sz="1150" dirty="0"/>
          </a:p>
        </p:txBody>
      </p:sp>
      <p:sp>
        <p:nvSpPr>
          <p:cNvPr id="22" name="Shape 20"/>
          <p:cNvSpPr/>
          <p:nvPr/>
        </p:nvSpPr>
        <p:spPr>
          <a:xfrm>
            <a:off x="502920" y="3767328"/>
            <a:ext cx="11183112" cy="566928"/>
          </a:xfrm>
          <a:prstGeom prst="rect">
            <a:avLst/>
          </a:prstGeom>
          <a:solidFill>
            <a:srgbClr val="FAF8F6"/>
          </a:solidFill>
          <a:ln w="9525">
            <a:solidFill>
              <a:srgbClr val="DDD5CE"/>
            </a:solidFill>
            <a:prstDash val="solid"/>
          </a:ln>
        </p:spPr>
      </p:sp>
      <p:sp>
        <p:nvSpPr>
          <p:cNvPr id="23" name="Text 21"/>
          <p:cNvSpPr/>
          <p:nvPr/>
        </p:nvSpPr>
        <p:spPr>
          <a:xfrm>
            <a:off x="685800" y="3767328"/>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Lithium + ACE inhibitor, diuretic or NSAID</a:t>
            </a:r>
            <a:endParaRPr lang="en-US" sz="1150" dirty="0"/>
          </a:p>
        </p:txBody>
      </p:sp>
      <p:sp>
        <p:nvSpPr>
          <p:cNvPr id="24" name="Text 22"/>
          <p:cNvSpPr/>
          <p:nvPr/>
        </p:nvSpPr>
        <p:spPr>
          <a:xfrm>
            <a:off x="3886200" y="3767328"/>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Reduced lithium clearance, toxicity</a:t>
            </a:r>
            <a:endParaRPr lang="en-US" sz="1150" dirty="0"/>
          </a:p>
        </p:txBody>
      </p:sp>
      <p:sp>
        <p:nvSpPr>
          <p:cNvPr id="25" name="Text 23"/>
          <p:cNvSpPr/>
          <p:nvPr/>
        </p:nvSpPr>
        <p:spPr>
          <a:xfrm>
            <a:off x="7872984" y="3767328"/>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Avoid or monitor levels closely</a:t>
            </a:r>
            <a:endParaRPr lang="en-US" sz="1150" dirty="0"/>
          </a:p>
        </p:txBody>
      </p:sp>
      <p:sp>
        <p:nvSpPr>
          <p:cNvPr id="26" name="Shape 24"/>
          <p:cNvSpPr/>
          <p:nvPr/>
        </p:nvSpPr>
        <p:spPr>
          <a:xfrm>
            <a:off x="502920" y="4334256"/>
            <a:ext cx="11183112" cy="566928"/>
          </a:xfrm>
          <a:prstGeom prst="rect">
            <a:avLst/>
          </a:prstGeom>
          <a:solidFill>
            <a:srgbClr val="FFFFFF"/>
          </a:solidFill>
          <a:ln w="9525">
            <a:solidFill>
              <a:srgbClr val="DDD5CE"/>
            </a:solidFill>
            <a:prstDash val="solid"/>
          </a:ln>
        </p:spPr>
      </p:sp>
      <p:sp>
        <p:nvSpPr>
          <p:cNvPr id="27" name="Text 25"/>
          <p:cNvSpPr/>
          <p:nvPr/>
        </p:nvSpPr>
        <p:spPr>
          <a:xfrm>
            <a:off x="685800" y="4334256"/>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Non-selective NSAID + low-dose aspirin</a:t>
            </a:r>
            <a:endParaRPr lang="en-US" sz="1150" dirty="0"/>
          </a:p>
        </p:txBody>
      </p:sp>
      <p:sp>
        <p:nvSpPr>
          <p:cNvPr id="28" name="Text 26"/>
          <p:cNvSpPr/>
          <p:nvPr/>
        </p:nvSpPr>
        <p:spPr>
          <a:xfrm>
            <a:off x="3886200" y="4334256"/>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Greatly increased gastrointestinal bleeding</a:t>
            </a:r>
            <a:endParaRPr lang="en-US" sz="1150" dirty="0"/>
          </a:p>
        </p:txBody>
      </p:sp>
      <p:sp>
        <p:nvSpPr>
          <p:cNvPr id="29" name="Text 27"/>
          <p:cNvSpPr/>
          <p:nvPr/>
        </p:nvSpPr>
        <p:spPr>
          <a:xfrm>
            <a:off x="7872984" y="4334256"/>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Review need; gastroprotection if unavoidable</a:t>
            </a:r>
            <a:endParaRPr lang="en-US" sz="1150" dirty="0"/>
          </a:p>
        </p:txBody>
      </p:sp>
      <p:sp>
        <p:nvSpPr>
          <p:cNvPr id="30" name="Shape 28"/>
          <p:cNvSpPr/>
          <p:nvPr/>
        </p:nvSpPr>
        <p:spPr>
          <a:xfrm>
            <a:off x="502920" y="4901184"/>
            <a:ext cx="11183112" cy="566928"/>
          </a:xfrm>
          <a:prstGeom prst="rect">
            <a:avLst/>
          </a:prstGeom>
          <a:solidFill>
            <a:srgbClr val="FAF8F6"/>
          </a:solidFill>
          <a:ln w="9525">
            <a:solidFill>
              <a:srgbClr val="DDD5CE"/>
            </a:solidFill>
            <a:prstDash val="solid"/>
          </a:ln>
        </p:spPr>
      </p:sp>
      <p:sp>
        <p:nvSpPr>
          <p:cNvPr id="31" name="Text 29"/>
          <p:cNvSpPr/>
          <p:nvPr/>
        </p:nvSpPr>
        <p:spPr>
          <a:xfrm>
            <a:off x="685800" y="490118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Sodium valproate in a woman of childbearing potential</a:t>
            </a:r>
            <a:endParaRPr lang="en-US" sz="1150" dirty="0"/>
          </a:p>
        </p:txBody>
      </p:sp>
      <p:sp>
        <p:nvSpPr>
          <p:cNvPr id="32" name="Text 30"/>
          <p:cNvSpPr/>
          <p:nvPr/>
        </p:nvSpPr>
        <p:spPr>
          <a:xfrm>
            <a:off x="3886200" y="490118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Serious teratogenic risk</a:t>
            </a:r>
            <a:endParaRPr lang="en-US" sz="1150" dirty="0"/>
          </a:p>
        </p:txBody>
      </p:sp>
      <p:sp>
        <p:nvSpPr>
          <p:cNvPr id="33" name="Text 31"/>
          <p:cNvSpPr/>
          <p:nvPr/>
        </p:nvSpPr>
        <p:spPr>
          <a:xfrm>
            <a:off x="7872984" y="490118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Only under the pregnancy prevention programme</a:t>
            </a:r>
            <a:endParaRPr lang="en-US" sz="1150" dirty="0"/>
          </a:p>
        </p:txBody>
      </p:sp>
      <p:sp>
        <p:nvSpPr>
          <p:cNvPr id="34" name="Text 3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5" name="Text 3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1 · AI-BASED PRESCRIPTION REVIEW &amp; SAFETY AUDITS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Patterns that should stop you</a:t>
            </a:r>
            <a:endParaRPr lang="en-US" sz="2900" dirty="0"/>
          </a:p>
        </p:txBody>
      </p:sp>
      <p:sp>
        <p:nvSpPr>
          <p:cNvPr id="6" name="Shape 4"/>
          <p:cNvSpPr/>
          <p:nvPr/>
        </p:nvSpPr>
        <p:spPr>
          <a:xfrm>
            <a:off x="502920" y="1554480"/>
            <a:ext cx="11183112" cy="1737360"/>
          </a:xfrm>
          <a:prstGeom prst="roundRect">
            <a:avLst>
              <a:gd name="adj" fmla="val 3158"/>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CAUTION</a:t>
            </a:r>
            <a:endParaRPr lang="en-US" sz="1050" dirty="0"/>
          </a:p>
        </p:txBody>
      </p:sp>
      <p:sp>
        <p:nvSpPr>
          <p:cNvPr id="8" name="Text 6"/>
          <p:cNvSpPr/>
          <p:nvPr/>
        </p:nvSpPr>
        <p:spPr>
          <a:xfrm>
            <a:off x="914400" y="2212848"/>
            <a:ext cx="10332720" cy="534010"/>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 documented **penicillin anaphylaxis** rules out piperacillin-tazobactam. The severity of the documented reaction, not the class label alone, decides whether a beta-lactam may be used at all — and anaphylaxis is the end of that discussion.</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OPTIMISATION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2 objectives</a:t>
            </a:r>
            <a:endParaRPr lang="en-US" sz="2900" dirty="0"/>
          </a:p>
        </p:txBody>
      </p:sp>
      <p:sp>
        <p:nvSpPr>
          <p:cNvPr id="6" name="Shape 4"/>
          <p:cNvSpPr/>
          <p:nvPr/>
        </p:nvSpPr>
        <p:spPr>
          <a:xfrm>
            <a:off x="502920" y="1554480"/>
            <a:ext cx="11183112" cy="2132381"/>
          </a:xfrm>
          <a:prstGeom prst="roundRect">
            <a:avLst>
              <a:gd name="adj" fmla="val 2573"/>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UNIT OBJECTIVES</a:t>
            </a:r>
            <a:endParaRPr lang="en-US" sz="1050" dirty="0"/>
          </a:p>
        </p:txBody>
      </p:sp>
      <p:sp>
        <p:nvSpPr>
          <p:cNvPr id="8" name="Text 6"/>
          <p:cNvSpPr/>
          <p:nvPr/>
        </p:nvSpPr>
        <p:spPr>
          <a:xfrm>
            <a:off x="914400" y="2212848"/>
            <a:ext cx="10332720" cy="1291133"/>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Predict the direction and consequence of the common serious interactions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Adjust doses for renal function and recognise when an estimate misleads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Recognise toxicity syndromes early from their presenting picture</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Communicate a specific, enactable recommendation</a:t>
            </a:r>
            <a:endParaRPr lang="en-US" sz="13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OPTIMISATION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Serious interactions and what to expect</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Combination</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Mechanism</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Consequence to anticipate</a:t>
            </a:r>
            <a:endParaRPr lang="en-US" sz="1150" dirty="0"/>
          </a:p>
        </p:txBody>
      </p:sp>
      <p:sp>
        <p:nvSpPr>
          <p:cNvPr id="10" name="Shape 8"/>
          <p:cNvSpPr/>
          <p:nvPr/>
        </p:nvSpPr>
        <p:spPr>
          <a:xfrm>
            <a:off x="502920" y="2066544"/>
            <a:ext cx="11183112" cy="566928"/>
          </a:xfrm>
          <a:prstGeom prst="rect">
            <a:avLst/>
          </a:prstGeom>
          <a:solidFill>
            <a:srgbClr val="FFFFFF"/>
          </a:solidFill>
          <a:ln w="9525">
            <a:solidFill>
              <a:srgbClr val="DDD5CE"/>
            </a:solidFill>
            <a:prstDash val="solid"/>
          </a:ln>
        </p:spPr>
      </p:sp>
      <p:sp>
        <p:nvSpPr>
          <p:cNvPr id="11" name="Text 9"/>
          <p:cNvSpPr/>
          <p:nvPr/>
        </p:nvSpPr>
        <p:spPr>
          <a:xfrm>
            <a:off x="685800" y="206654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Warfarin + clarithromycin</a:t>
            </a:r>
            <a:endParaRPr lang="en-US" sz="1150" dirty="0"/>
          </a:p>
        </p:txBody>
      </p:sp>
      <p:sp>
        <p:nvSpPr>
          <p:cNvPr id="12" name="Text 10"/>
          <p:cNvSpPr/>
          <p:nvPr/>
        </p:nvSpPr>
        <p:spPr>
          <a:xfrm>
            <a:off x="3886200" y="206654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CYP inhibition</a:t>
            </a:r>
            <a:endParaRPr lang="en-US" sz="1150" dirty="0"/>
          </a:p>
        </p:txBody>
      </p:sp>
      <p:sp>
        <p:nvSpPr>
          <p:cNvPr id="13" name="Text 11"/>
          <p:cNvSpPr/>
          <p:nvPr/>
        </p:nvSpPr>
        <p:spPr>
          <a:xfrm>
            <a:off x="7872984" y="206654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INR rises; bleeding</a:t>
            </a:r>
            <a:endParaRPr lang="en-US" sz="1150" dirty="0"/>
          </a:p>
        </p:txBody>
      </p:sp>
      <p:sp>
        <p:nvSpPr>
          <p:cNvPr id="14" name="Shape 12"/>
          <p:cNvSpPr/>
          <p:nvPr/>
        </p:nvSpPr>
        <p:spPr>
          <a:xfrm>
            <a:off x="502920" y="2633472"/>
            <a:ext cx="11183112" cy="566928"/>
          </a:xfrm>
          <a:prstGeom prst="rect">
            <a:avLst/>
          </a:prstGeom>
          <a:solidFill>
            <a:srgbClr val="FAF8F6"/>
          </a:solidFill>
          <a:ln w="9525">
            <a:solidFill>
              <a:srgbClr val="DDD5CE"/>
            </a:solidFill>
            <a:prstDash val="solid"/>
          </a:ln>
        </p:spPr>
      </p:sp>
      <p:sp>
        <p:nvSpPr>
          <p:cNvPr id="15" name="Text 13"/>
          <p:cNvSpPr/>
          <p:nvPr/>
        </p:nvSpPr>
        <p:spPr>
          <a:xfrm>
            <a:off x="685800" y="2633472"/>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Warfarin + amiodarone</a:t>
            </a:r>
            <a:endParaRPr lang="en-US" sz="1150" dirty="0"/>
          </a:p>
        </p:txBody>
      </p:sp>
      <p:sp>
        <p:nvSpPr>
          <p:cNvPr id="16" name="Text 14"/>
          <p:cNvSpPr/>
          <p:nvPr/>
        </p:nvSpPr>
        <p:spPr>
          <a:xfrm>
            <a:off x="3886200" y="2633472"/>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CYP2C9 inhibition, long half-life</a:t>
            </a:r>
            <a:endParaRPr lang="en-US" sz="1150" dirty="0"/>
          </a:p>
        </p:txBody>
      </p:sp>
      <p:sp>
        <p:nvSpPr>
          <p:cNvPr id="17" name="Text 15"/>
          <p:cNvSpPr/>
          <p:nvPr/>
        </p:nvSpPr>
        <p:spPr>
          <a:xfrm>
            <a:off x="7872984" y="2633472"/>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Slow, prolonged INR rise; reduce warfarin, monitor for weeks</a:t>
            </a:r>
            <a:endParaRPr lang="en-US" sz="1150" dirty="0"/>
          </a:p>
        </p:txBody>
      </p:sp>
      <p:sp>
        <p:nvSpPr>
          <p:cNvPr id="18" name="Shape 16"/>
          <p:cNvSpPr/>
          <p:nvPr/>
        </p:nvSpPr>
        <p:spPr>
          <a:xfrm>
            <a:off x="502920" y="3200400"/>
            <a:ext cx="11183112" cy="566928"/>
          </a:xfrm>
          <a:prstGeom prst="rect">
            <a:avLst/>
          </a:prstGeom>
          <a:solidFill>
            <a:srgbClr val="FFFFFF"/>
          </a:solidFill>
          <a:ln w="9525">
            <a:solidFill>
              <a:srgbClr val="DDD5CE"/>
            </a:solidFill>
            <a:prstDash val="solid"/>
          </a:ln>
        </p:spPr>
      </p:sp>
      <p:sp>
        <p:nvSpPr>
          <p:cNvPr id="19" name="Text 17"/>
          <p:cNvSpPr/>
          <p:nvPr/>
        </p:nvSpPr>
        <p:spPr>
          <a:xfrm>
            <a:off x="685800" y="3200400"/>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Simvastatin + clarithromycin</a:t>
            </a:r>
            <a:endParaRPr lang="en-US" sz="1150" dirty="0"/>
          </a:p>
        </p:txBody>
      </p:sp>
      <p:sp>
        <p:nvSpPr>
          <p:cNvPr id="20" name="Text 18"/>
          <p:cNvSpPr/>
          <p:nvPr/>
        </p:nvSpPr>
        <p:spPr>
          <a:xfrm>
            <a:off x="3886200" y="3200400"/>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CYP3A4 inhibition</a:t>
            </a:r>
            <a:endParaRPr lang="en-US" sz="1150" dirty="0"/>
          </a:p>
        </p:txBody>
      </p:sp>
      <p:sp>
        <p:nvSpPr>
          <p:cNvPr id="21" name="Text 19"/>
          <p:cNvSpPr/>
          <p:nvPr/>
        </p:nvSpPr>
        <p:spPr>
          <a:xfrm>
            <a:off x="7872984" y="3200400"/>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Greatly raised statin exposure; myopathy, rhabdomyolysis</a:t>
            </a:r>
            <a:endParaRPr lang="en-US" sz="1150" dirty="0"/>
          </a:p>
        </p:txBody>
      </p:sp>
      <p:sp>
        <p:nvSpPr>
          <p:cNvPr id="22" name="Shape 20"/>
          <p:cNvSpPr/>
          <p:nvPr/>
        </p:nvSpPr>
        <p:spPr>
          <a:xfrm>
            <a:off x="502920" y="3767328"/>
            <a:ext cx="11183112" cy="566928"/>
          </a:xfrm>
          <a:prstGeom prst="rect">
            <a:avLst/>
          </a:prstGeom>
          <a:solidFill>
            <a:srgbClr val="FAF8F6"/>
          </a:solidFill>
          <a:ln w="9525">
            <a:solidFill>
              <a:srgbClr val="DDD5CE"/>
            </a:solidFill>
            <a:prstDash val="solid"/>
          </a:ln>
        </p:spPr>
      </p:sp>
      <p:sp>
        <p:nvSpPr>
          <p:cNvPr id="23" name="Text 21"/>
          <p:cNvSpPr/>
          <p:nvPr/>
        </p:nvSpPr>
        <p:spPr>
          <a:xfrm>
            <a:off x="685800" y="3767328"/>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SSRI + tramadol</a:t>
            </a:r>
            <a:endParaRPr lang="en-US" sz="1150" dirty="0"/>
          </a:p>
        </p:txBody>
      </p:sp>
      <p:sp>
        <p:nvSpPr>
          <p:cNvPr id="24" name="Text 22"/>
          <p:cNvSpPr/>
          <p:nvPr/>
        </p:nvSpPr>
        <p:spPr>
          <a:xfrm>
            <a:off x="3886200" y="3767328"/>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Additive serotonergic effect</a:t>
            </a:r>
            <a:endParaRPr lang="en-US" sz="1150" dirty="0"/>
          </a:p>
        </p:txBody>
      </p:sp>
      <p:sp>
        <p:nvSpPr>
          <p:cNvPr id="25" name="Text 23"/>
          <p:cNvSpPr/>
          <p:nvPr/>
        </p:nvSpPr>
        <p:spPr>
          <a:xfrm>
            <a:off x="7872984" y="3767328"/>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Serotonin syndrome</a:t>
            </a:r>
            <a:endParaRPr lang="en-US" sz="1150" dirty="0"/>
          </a:p>
        </p:txBody>
      </p:sp>
      <p:sp>
        <p:nvSpPr>
          <p:cNvPr id="26" name="Shape 24"/>
          <p:cNvSpPr/>
          <p:nvPr/>
        </p:nvSpPr>
        <p:spPr>
          <a:xfrm>
            <a:off x="502920" y="4334256"/>
            <a:ext cx="11183112" cy="566928"/>
          </a:xfrm>
          <a:prstGeom prst="rect">
            <a:avLst/>
          </a:prstGeom>
          <a:solidFill>
            <a:srgbClr val="FFFFFF"/>
          </a:solidFill>
          <a:ln w="9525">
            <a:solidFill>
              <a:srgbClr val="DDD5CE"/>
            </a:solidFill>
            <a:prstDash val="solid"/>
          </a:ln>
        </p:spPr>
      </p:sp>
      <p:sp>
        <p:nvSpPr>
          <p:cNvPr id="27" name="Text 25"/>
          <p:cNvSpPr/>
          <p:nvPr/>
        </p:nvSpPr>
        <p:spPr>
          <a:xfrm>
            <a:off x="685800" y="4334256"/>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DOAC + St John's wort</a:t>
            </a:r>
            <a:endParaRPr lang="en-US" sz="1150" dirty="0"/>
          </a:p>
        </p:txBody>
      </p:sp>
      <p:sp>
        <p:nvSpPr>
          <p:cNvPr id="28" name="Text 26"/>
          <p:cNvSpPr/>
          <p:nvPr/>
        </p:nvSpPr>
        <p:spPr>
          <a:xfrm>
            <a:off x="3886200" y="4334256"/>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Enzyme and transporter induction</a:t>
            </a:r>
            <a:endParaRPr lang="en-US" sz="1150" dirty="0"/>
          </a:p>
        </p:txBody>
      </p:sp>
      <p:sp>
        <p:nvSpPr>
          <p:cNvPr id="29" name="Text 27"/>
          <p:cNvSpPr/>
          <p:nvPr/>
        </p:nvSpPr>
        <p:spPr>
          <a:xfrm>
            <a:off x="7872984" y="4334256"/>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Reduced anticoagulant effect; thrombosis</a:t>
            </a:r>
            <a:endParaRPr lang="en-US" sz="1150" dirty="0"/>
          </a:p>
        </p:txBody>
      </p:sp>
      <p:sp>
        <p:nvSpPr>
          <p:cNvPr id="30" name="Shape 28"/>
          <p:cNvSpPr/>
          <p:nvPr/>
        </p:nvSpPr>
        <p:spPr>
          <a:xfrm>
            <a:off x="502920" y="4901184"/>
            <a:ext cx="11183112" cy="566928"/>
          </a:xfrm>
          <a:prstGeom prst="rect">
            <a:avLst/>
          </a:prstGeom>
          <a:solidFill>
            <a:srgbClr val="FAF8F6"/>
          </a:solidFill>
          <a:ln w="9525">
            <a:solidFill>
              <a:srgbClr val="DDD5CE"/>
            </a:solidFill>
            <a:prstDash val="solid"/>
          </a:ln>
        </p:spPr>
      </p:sp>
      <p:sp>
        <p:nvSpPr>
          <p:cNvPr id="31" name="Text 29"/>
          <p:cNvSpPr/>
          <p:nvPr/>
        </p:nvSpPr>
        <p:spPr>
          <a:xfrm>
            <a:off x="685800" y="490118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Methotrexate + trimethoprim</a:t>
            </a:r>
            <a:endParaRPr lang="en-US" sz="1150" dirty="0"/>
          </a:p>
        </p:txBody>
      </p:sp>
      <p:sp>
        <p:nvSpPr>
          <p:cNvPr id="32" name="Text 30"/>
          <p:cNvSpPr/>
          <p:nvPr/>
        </p:nvSpPr>
        <p:spPr>
          <a:xfrm>
            <a:off x="3886200" y="490118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Additive antifolate</a:t>
            </a:r>
            <a:endParaRPr lang="en-US" sz="1150" dirty="0"/>
          </a:p>
        </p:txBody>
      </p:sp>
      <p:sp>
        <p:nvSpPr>
          <p:cNvPr id="33" name="Text 31"/>
          <p:cNvSpPr/>
          <p:nvPr/>
        </p:nvSpPr>
        <p:spPr>
          <a:xfrm>
            <a:off x="7872984" y="490118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Marrow suppression</a:t>
            </a:r>
            <a:endParaRPr lang="en-US" sz="1150" dirty="0"/>
          </a:p>
        </p:txBody>
      </p:sp>
      <p:sp>
        <p:nvSpPr>
          <p:cNvPr id="34" name="Text 3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5" name="Text 3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OPTIMISATION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Interactions you must know cold</a:t>
            </a:r>
            <a:endParaRPr lang="en-US" sz="2900" dirty="0"/>
          </a:p>
        </p:txBody>
      </p:sp>
      <p:sp>
        <p:nvSpPr>
          <p:cNvPr id="6" name="Shape 4"/>
          <p:cNvSpPr/>
          <p:nvPr/>
        </p:nvSpPr>
        <p:spPr>
          <a:xfrm>
            <a:off x="502920" y="1554480"/>
            <a:ext cx="11183112" cy="1737360"/>
          </a:xfrm>
          <a:prstGeom prst="roundRect">
            <a:avLst>
              <a:gd name="adj" fmla="val 3158"/>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CAUTION</a:t>
            </a:r>
            <a:endParaRPr lang="en-US" sz="1050" dirty="0"/>
          </a:p>
        </p:txBody>
      </p:sp>
      <p:sp>
        <p:nvSpPr>
          <p:cNvPr id="8" name="Text 6"/>
          <p:cNvSpPr/>
          <p:nvPr/>
        </p:nvSpPr>
        <p:spPr>
          <a:xfrm>
            <a:off x="914400" y="2212848"/>
            <a:ext cx="10332720" cy="534010"/>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**Serotonin syndrome** — agitation, tremor, hyperreflexia, clonus, fever — comes on within hours, not days. It is a clinical diagnosis and the first action is to stop the serotonergic drugs.</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2 · DRUG INTERACTION &amp; DOSE OPTIMISATION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Dosing to organ function</a:t>
            </a:r>
            <a:endParaRPr lang="en-US" sz="2900" dirty="0"/>
          </a:p>
        </p:txBody>
      </p:sp>
      <p:sp>
        <p:nvSpPr>
          <p:cNvPr id="6" name="Text 4"/>
          <p:cNvSpPr/>
          <p:nvPr/>
        </p:nvSpPr>
        <p:spPr>
          <a:xfrm>
            <a:off x="502920" y="1536192"/>
            <a:ext cx="11183112" cy="4297680"/>
          </a:xfrm>
          <a:prstGeom prst="rect">
            <a:avLst/>
          </a:prstGeom>
          <a:noFill/>
          <a:ln/>
        </p:spPr>
        <p:txBody>
          <a:bodyPr wrap="square" lIns="0" tIns="0" rIns="0" bIns="0" rtlCol="0" anchor="t"/>
          <a:lstStyle/>
          <a:p>
            <a:pPr indent="0" marL="0">
              <a:lnSpc>
                <a:spcPts val="2800"/>
              </a:lnSpc>
              <a:buNone/>
            </a:pPr>
            <a:r>
              <a:rPr lang="en-US" sz="1750" dirty="0">
                <a:solidFill>
                  <a:srgbClr val="26221F"/>
                </a:solidFill>
                <a:latin typeface="Calibri" pitchFamily="34" charset="0"/>
                <a:ea typeface="Calibri" pitchFamily="34" charset="-122"/>
                <a:cs typeface="Calibri" pitchFamily="34" charset="-120"/>
              </a:rPr>
              <a:t>A patient with an eGFR of 42 and an HbA1c of 9.4% on metformin 1 g twice daily illustrates the usual tension: the diabetes is poorly controlled and the kidneys limit what may be used. Metformin is generally continued with a reduced maximum down to an eGFR of 30 and stopped below it — the renal number sets the ceiling, and poor glycaemic control does not raise it.</a:t>
            </a:r>
            <a:endParaRPr lang="en-US" sz="1750" dirty="0"/>
          </a:p>
        </p:txBody>
      </p:sp>
      <p:sp>
        <p:nvSpPr>
          <p:cNvPr id="7" name="Text 5"/>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8" name="Text 6"/>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CLINICAL &amp; PHARMACOGENOMIC CASE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3 objectives</a:t>
            </a:r>
            <a:endParaRPr lang="en-US" sz="2900" dirty="0"/>
          </a:p>
        </p:txBody>
      </p:sp>
      <p:sp>
        <p:nvSpPr>
          <p:cNvPr id="6" name="Shape 4"/>
          <p:cNvSpPr/>
          <p:nvPr/>
        </p:nvSpPr>
        <p:spPr>
          <a:xfrm>
            <a:off x="502920" y="1554480"/>
            <a:ext cx="11183112" cy="2132381"/>
          </a:xfrm>
          <a:prstGeom prst="roundRect">
            <a:avLst>
              <a:gd name="adj" fmla="val 2573"/>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UNIT OBJECTIVES</a:t>
            </a:r>
            <a:endParaRPr lang="en-US" sz="1050" dirty="0"/>
          </a:p>
        </p:txBody>
      </p:sp>
      <p:sp>
        <p:nvSpPr>
          <p:cNvPr id="8" name="Text 6"/>
          <p:cNvSpPr/>
          <p:nvPr/>
        </p:nvSpPr>
        <p:spPr>
          <a:xfrm>
            <a:off x="914400" y="2212848"/>
            <a:ext cx="10332720" cy="1291133"/>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State the established drug-gene pairs and what each test prevents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Explain why prodrugs invert the expected consequence of metaboliser status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Integrate a genomic result with the rest of the clinical picture</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Record and explain a result so it is still useful years later</a:t>
            </a:r>
            <a:endParaRPr lang="en-US" sz="13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CLINICAL &amp; PHARMACOGENOMIC CASE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Established pharmacogenomic tests</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288950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Gene</a:t>
            </a:r>
            <a:endParaRPr lang="en-US" sz="1150" dirty="0"/>
          </a:p>
        </p:txBody>
      </p:sp>
      <p:sp>
        <p:nvSpPr>
          <p:cNvPr id="8" name="Text 6"/>
          <p:cNvSpPr/>
          <p:nvPr/>
        </p:nvSpPr>
        <p:spPr>
          <a:xfrm>
            <a:off x="3886200" y="1554480"/>
            <a:ext cx="3675888"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Drug</a:t>
            </a:r>
            <a:endParaRPr lang="en-US" sz="1150" dirty="0"/>
          </a:p>
        </p:txBody>
      </p:sp>
      <p:sp>
        <p:nvSpPr>
          <p:cNvPr id="9" name="Text 7"/>
          <p:cNvSpPr/>
          <p:nvPr/>
        </p:nvSpPr>
        <p:spPr>
          <a:xfrm>
            <a:off x="7872984" y="1554480"/>
            <a:ext cx="3685032"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the test prevents</a:t>
            </a:r>
            <a:endParaRPr lang="en-US" sz="1150" dirty="0"/>
          </a:p>
        </p:txBody>
      </p:sp>
      <p:sp>
        <p:nvSpPr>
          <p:cNvPr id="10" name="Shape 8"/>
          <p:cNvSpPr/>
          <p:nvPr/>
        </p:nvSpPr>
        <p:spPr>
          <a:xfrm>
            <a:off x="502920" y="2066544"/>
            <a:ext cx="11183112" cy="566928"/>
          </a:xfrm>
          <a:prstGeom prst="rect">
            <a:avLst/>
          </a:prstGeom>
          <a:solidFill>
            <a:srgbClr val="FFFFFF"/>
          </a:solidFill>
          <a:ln w="9525">
            <a:solidFill>
              <a:srgbClr val="DDD5CE"/>
            </a:solidFill>
            <a:prstDash val="solid"/>
          </a:ln>
        </p:spPr>
      </p:sp>
      <p:sp>
        <p:nvSpPr>
          <p:cNvPr id="11" name="Text 9"/>
          <p:cNvSpPr/>
          <p:nvPr/>
        </p:nvSpPr>
        <p:spPr>
          <a:xfrm>
            <a:off x="685800" y="206654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HLA-B*57:01</a:t>
            </a:r>
            <a:endParaRPr lang="en-US" sz="1150" dirty="0"/>
          </a:p>
        </p:txBody>
      </p:sp>
      <p:sp>
        <p:nvSpPr>
          <p:cNvPr id="12" name="Text 10"/>
          <p:cNvSpPr/>
          <p:nvPr/>
        </p:nvSpPr>
        <p:spPr>
          <a:xfrm>
            <a:off x="3886200" y="206654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Abacavir</a:t>
            </a:r>
            <a:endParaRPr lang="en-US" sz="1150" dirty="0"/>
          </a:p>
        </p:txBody>
      </p:sp>
      <p:sp>
        <p:nvSpPr>
          <p:cNvPr id="13" name="Text 11"/>
          <p:cNvSpPr/>
          <p:nvPr/>
        </p:nvSpPr>
        <p:spPr>
          <a:xfrm>
            <a:off x="7872984" y="206654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Potentially fatal hypersensitivity; testing is mandatory before…</a:t>
            </a:r>
            <a:endParaRPr lang="en-US" sz="1150" dirty="0"/>
          </a:p>
        </p:txBody>
      </p:sp>
      <p:sp>
        <p:nvSpPr>
          <p:cNvPr id="14" name="Shape 12"/>
          <p:cNvSpPr/>
          <p:nvPr/>
        </p:nvSpPr>
        <p:spPr>
          <a:xfrm>
            <a:off x="502920" y="2633472"/>
            <a:ext cx="11183112" cy="566928"/>
          </a:xfrm>
          <a:prstGeom prst="rect">
            <a:avLst/>
          </a:prstGeom>
          <a:solidFill>
            <a:srgbClr val="FAF8F6"/>
          </a:solidFill>
          <a:ln w="9525">
            <a:solidFill>
              <a:srgbClr val="DDD5CE"/>
            </a:solidFill>
            <a:prstDash val="solid"/>
          </a:ln>
        </p:spPr>
      </p:sp>
      <p:sp>
        <p:nvSpPr>
          <p:cNvPr id="15" name="Text 13"/>
          <p:cNvSpPr/>
          <p:nvPr/>
        </p:nvSpPr>
        <p:spPr>
          <a:xfrm>
            <a:off x="685800" y="2633472"/>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HLA-B*15:02</a:t>
            </a:r>
            <a:endParaRPr lang="en-US" sz="1150" dirty="0"/>
          </a:p>
        </p:txBody>
      </p:sp>
      <p:sp>
        <p:nvSpPr>
          <p:cNvPr id="16" name="Text 14"/>
          <p:cNvSpPr/>
          <p:nvPr/>
        </p:nvSpPr>
        <p:spPr>
          <a:xfrm>
            <a:off x="3886200" y="2633472"/>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Carbamazepine</a:t>
            </a:r>
            <a:endParaRPr lang="en-US" sz="1150" dirty="0"/>
          </a:p>
        </p:txBody>
      </p:sp>
      <p:sp>
        <p:nvSpPr>
          <p:cNvPr id="17" name="Text 15"/>
          <p:cNvSpPr/>
          <p:nvPr/>
        </p:nvSpPr>
        <p:spPr>
          <a:xfrm>
            <a:off x="7872984" y="2633472"/>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Stevens-Johnson syndrome; screen patients of South-East Asian…</a:t>
            </a:r>
            <a:endParaRPr lang="en-US" sz="1150" dirty="0"/>
          </a:p>
        </p:txBody>
      </p:sp>
      <p:sp>
        <p:nvSpPr>
          <p:cNvPr id="18" name="Shape 16"/>
          <p:cNvSpPr/>
          <p:nvPr/>
        </p:nvSpPr>
        <p:spPr>
          <a:xfrm>
            <a:off x="502920" y="3200400"/>
            <a:ext cx="11183112" cy="566928"/>
          </a:xfrm>
          <a:prstGeom prst="rect">
            <a:avLst/>
          </a:prstGeom>
          <a:solidFill>
            <a:srgbClr val="FFFFFF"/>
          </a:solidFill>
          <a:ln w="9525">
            <a:solidFill>
              <a:srgbClr val="DDD5CE"/>
            </a:solidFill>
            <a:prstDash val="solid"/>
          </a:ln>
        </p:spPr>
      </p:sp>
      <p:sp>
        <p:nvSpPr>
          <p:cNvPr id="19" name="Text 17"/>
          <p:cNvSpPr/>
          <p:nvPr/>
        </p:nvSpPr>
        <p:spPr>
          <a:xfrm>
            <a:off x="685800" y="3200400"/>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TPMT and NUDT15</a:t>
            </a:r>
            <a:endParaRPr lang="en-US" sz="1150" dirty="0"/>
          </a:p>
        </p:txBody>
      </p:sp>
      <p:sp>
        <p:nvSpPr>
          <p:cNvPr id="20" name="Text 18"/>
          <p:cNvSpPr/>
          <p:nvPr/>
        </p:nvSpPr>
        <p:spPr>
          <a:xfrm>
            <a:off x="3886200" y="3200400"/>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Azathioprine, mercaptopurine</a:t>
            </a:r>
            <a:endParaRPr lang="en-US" sz="1150" dirty="0"/>
          </a:p>
        </p:txBody>
      </p:sp>
      <p:sp>
        <p:nvSpPr>
          <p:cNvPr id="21" name="Text 19"/>
          <p:cNvSpPr/>
          <p:nvPr/>
        </p:nvSpPr>
        <p:spPr>
          <a:xfrm>
            <a:off x="7872984" y="3200400"/>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Severe, sometimes fatal myelosuppression</a:t>
            </a:r>
            <a:endParaRPr lang="en-US" sz="1150" dirty="0"/>
          </a:p>
        </p:txBody>
      </p:sp>
      <p:sp>
        <p:nvSpPr>
          <p:cNvPr id="22" name="Shape 20"/>
          <p:cNvSpPr/>
          <p:nvPr/>
        </p:nvSpPr>
        <p:spPr>
          <a:xfrm>
            <a:off x="502920" y="3767328"/>
            <a:ext cx="11183112" cy="566928"/>
          </a:xfrm>
          <a:prstGeom prst="rect">
            <a:avLst/>
          </a:prstGeom>
          <a:solidFill>
            <a:srgbClr val="FAF8F6"/>
          </a:solidFill>
          <a:ln w="9525">
            <a:solidFill>
              <a:srgbClr val="DDD5CE"/>
            </a:solidFill>
            <a:prstDash val="solid"/>
          </a:ln>
        </p:spPr>
      </p:sp>
      <p:sp>
        <p:nvSpPr>
          <p:cNvPr id="23" name="Text 21"/>
          <p:cNvSpPr/>
          <p:nvPr/>
        </p:nvSpPr>
        <p:spPr>
          <a:xfrm>
            <a:off x="685800" y="3767328"/>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DPYD</a:t>
            </a:r>
            <a:endParaRPr lang="en-US" sz="1150" dirty="0"/>
          </a:p>
        </p:txBody>
      </p:sp>
      <p:sp>
        <p:nvSpPr>
          <p:cNvPr id="24" name="Text 22"/>
          <p:cNvSpPr/>
          <p:nvPr/>
        </p:nvSpPr>
        <p:spPr>
          <a:xfrm>
            <a:off x="3886200" y="3767328"/>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Capecitabine, fluorouracil</a:t>
            </a:r>
            <a:endParaRPr lang="en-US" sz="1150" dirty="0"/>
          </a:p>
        </p:txBody>
      </p:sp>
      <p:sp>
        <p:nvSpPr>
          <p:cNvPr id="25" name="Text 23"/>
          <p:cNvSpPr/>
          <p:nvPr/>
        </p:nvSpPr>
        <p:spPr>
          <a:xfrm>
            <a:off x="7872984" y="3767328"/>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Severe, sometimes fatal fluoropyrimidine toxicity</a:t>
            </a:r>
            <a:endParaRPr lang="en-US" sz="1150" dirty="0"/>
          </a:p>
        </p:txBody>
      </p:sp>
      <p:sp>
        <p:nvSpPr>
          <p:cNvPr id="26" name="Shape 24"/>
          <p:cNvSpPr/>
          <p:nvPr/>
        </p:nvSpPr>
        <p:spPr>
          <a:xfrm>
            <a:off x="502920" y="4334256"/>
            <a:ext cx="11183112" cy="566928"/>
          </a:xfrm>
          <a:prstGeom prst="rect">
            <a:avLst/>
          </a:prstGeom>
          <a:solidFill>
            <a:srgbClr val="FFFFFF"/>
          </a:solidFill>
          <a:ln w="9525">
            <a:solidFill>
              <a:srgbClr val="DDD5CE"/>
            </a:solidFill>
            <a:prstDash val="solid"/>
          </a:ln>
        </p:spPr>
      </p:sp>
      <p:sp>
        <p:nvSpPr>
          <p:cNvPr id="27" name="Text 25"/>
          <p:cNvSpPr/>
          <p:nvPr/>
        </p:nvSpPr>
        <p:spPr>
          <a:xfrm>
            <a:off x="685800" y="4334256"/>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CYP2C19</a:t>
            </a:r>
            <a:endParaRPr lang="en-US" sz="1150" dirty="0"/>
          </a:p>
        </p:txBody>
      </p:sp>
      <p:sp>
        <p:nvSpPr>
          <p:cNvPr id="28" name="Text 26"/>
          <p:cNvSpPr/>
          <p:nvPr/>
        </p:nvSpPr>
        <p:spPr>
          <a:xfrm>
            <a:off x="3886200" y="4334256"/>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Clopidogrel</a:t>
            </a:r>
            <a:endParaRPr lang="en-US" sz="1150" dirty="0"/>
          </a:p>
        </p:txBody>
      </p:sp>
      <p:sp>
        <p:nvSpPr>
          <p:cNvPr id="29" name="Text 27"/>
          <p:cNvSpPr/>
          <p:nvPr/>
        </p:nvSpPr>
        <p:spPr>
          <a:xfrm>
            <a:off x="7872984" y="4334256"/>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Treatment failure and stent thrombosis in poor metabolisers</a:t>
            </a:r>
            <a:endParaRPr lang="en-US" sz="1150" dirty="0"/>
          </a:p>
        </p:txBody>
      </p:sp>
      <p:sp>
        <p:nvSpPr>
          <p:cNvPr id="30" name="Shape 28"/>
          <p:cNvSpPr/>
          <p:nvPr/>
        </p:nvSpPr>
        <p:spPr>
          <a:xfrm>
            <a:off x="502920" y="4901184"/>
            <a:ext cx="11183112" cy="566928"/>
          </a:xfrm>
          <a:prstGeom prst="rect">
            <a:avLst/>
          </a:prstGeom>
          <a:solidFill>
            <a:srgbClr val="FAF8F6"/>
          </a:solidFill>
          <a:ln w="9525">
            <a:solidFill>
              <a:srgbClr val="DDD5CE"/>
            </a:solidFill>
            <a:prstDash val="solid"/>
          </a:ln>
        </p:spPr>
      </p:sp>
      <p:sp>
        <p:nvSpPr>
          <p:cNvPr id="31" name="Text 29"/>
          <p:cNvSpPr/>
          <p:nvPr/>
        </p:nvSpPr>
        <p:spPr>
          <a:xfrm>
            <a:off x="685800" y="4901184"/>
            <a:ext cx="2889504" cy="56692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SLCO1B1</a:t>
            </a:r>
            <a:endParaRPr lang="en-US" sz="1150" dirty="0"/>
          </a:p>
        </p:txBody>
      </p:sp>
      <p:sp>
        <p:nvSpPr>
          <p:cNvPr id="32" name="Text 30"/>
          <p:cNvSpPr/>
          <p:nvPr/>
        </p:nvSpPr>
        <p:spPr>
          <a:xfrm>
            <a:off x="3886200" y="4901184"/>
            <a:ext cx="3675888"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Simvastatin</a:t>
            </a:r>
            <a:endParaRPr lang="en-US" sz="1150" dirty="0"/>
          </a:p>
        </p:txBody>
      </p:sp>
      <p:sp>
        <p:nvSpPr>
          <p:cNvPr id="33" name="Text 31"/>
          <p:cNvSpPr/>
          <p:nvPr/>
        </p:nvSpPr>
        <p:spPr>
          <a:xfrm>
            <a:off x="7872984" y="4901184"/>
            <a:ext cx="3685032" cy="56692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Myopathy, particularly at higher doses</a:t>
            </a:r>
            <a:endParaRPr lang="en-US" sz="1150" dirty="0"/>
          </a:p>
        </p:txBody>
      </p:sp>
      <p:sp>
        <p:nvSpPr>
          <p:cNvPr id="34" name="Text 3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5" name="Text 3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3 · CLINICAL &amp; PHARMACOGENOMIC CASE SIMULATIONS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the conversation must cover</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Point</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What was tested</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The result covers specific genes, not all medicines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What changes now</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The immediate dosing or drug choice</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What it does not tell us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Other drugs, other genes, future conditions</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Who else it might concern</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Genetic results can have family implications</a:t>
            </a:r>
            <a:endParaRPr lang="en-US" sz="1150" dirty="0"/>
          </a:p>
        </p:txBody>
      </p:sp>
      <p:sp>
        <p:nvSpPr>
          <p:cNvPr id="21" name="Shape 19"/>
          <p:cNvSpPr/>
          <p:nvPr/>
        </p:nvSpPr>
        <p:spPr>
          <a:xfrm>
            <a:off x="502920" y="4700016"/>
            <a:ext cx="11183112" cy="658368"/>
          </a:xfrm>
          <a:prstGeom prst="rect">
            <a:avLst/>
          </a:prstGeom>
          <a:solidFill>
            <a:srgbClr val="FFFFFF"/>
          </a:solidFill>
          <a:ln w="9525">
            <a:solidFill>
              <a:srgbClr val="DDD5CE"/>
            </a:solidFill>
            <a:prstDash val="solid"/>
          </a:ln>
        </p:spPr>
      </p:sp>
      <p:sp>
        <p:nvSpPr>
          <p:cNvPr id="22" name="Text 20"/>
          <p:cNvSpPr/>
          <p:nvPr/>
        </p:nvSpPr>
        <p:spPr>
          <a:xfrm>
            <a:off x="685800" y="4700016"/>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Where it is recorded</a:t>
            </a:r>
            <a:endParaRPr lang="en-US" sz="1150" dirty="0"/>
          </a:p>
        </p:txBody>
      </p:sp>
      <p:sp>
        <p:nvSpPr>
          <p:cNvPr id="23" name="Text 21"/>
          <p:cNvSpPr/>
          <p:nvPr/>
        </p:nvSpPr>
        <p:spPr>
          <a:xfrm>
            <a:off x="5166360" y="4700016"/>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So it informs prescribing years from now</a:t>
            </a:r>
            <a:endParaRPr lang="en-US" sz="1150" dirty="0"/>
          </a:p>
        </p:txBody>
      </p:sp>
      <p:sp>
        <p:nvSpPr>
          <p:cNvPr id="24" name="Text 22"/>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25" name="Text 23"/>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PATIENT CARE &amp; PHARMACY OPERATIONS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Unit 4 objectives</a:t>
            </a:r>
            <a:endParaRPr lang="en-US" sz="2900" dirty="0"/>
          </a:p>
        </p:txBody>
      </p:sp>
      <p:sp>
        <p:nvSpPr>
          <p:cNvPr id="6" name="Shape 4"/>
          <p:cNvSpPr/>
          <p:nvPr/>
        </p:nvSpPr>
        <p:spPr>
          <a:xfrm>
            <a:off x="502920" y="1554480"/>
            <a:ext cx="11183112" cy="2132381"/>
          </a:xfrm>
          <a:prstGeom prst="roundRect">
            <a:avLst>
              <a:gd name="adj" fmla="val 2573"/>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UNIT OBJECTIVES</a:t>
            </a:r>
            <a:endParaRPr lang="en-US" sz="1050" dirty="0"/>
          </a:p>
        </p:txBody>
      </p:sp>
      <p:sp>
        <p:nvSpPr>
          <p:cNvPr id="8" name="Text 6"/>
          <p:cNvSpPr/>
          <p:nvPr/>
        </p:nvSpPr>
        <p:spPr>
          <a:xfrm>
            <a:off x="914400" y="2212848"/>
            <a:ext cx="10332720" cy="1291133"/>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Use adherence and dashboard data without over-reading it</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Manage discharge as the highest-risk transition of care</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Interpret operational measures and design a service change that holds</a:t>
            </a:r>
            <a:endParaRPr lang="en-US" sz="1300" dirty="0"/>
          </a:p>
          <a:p>
            <a:pPr marL="342900" indent="-342900">
              <a:lnSpc>
                <a:spcPts val="1800"/>
              </a:lnSpc>
              <a:spcAft>
                <a:spcPts val="700"/>
              </a:spcAft>
              <a:buSzPct val="100000"/>
              <a:buChar char="•"/>
            </a:pPr>
            <a:r>
              <a:rPr lang="en-US" sz="1300" dirty="0">
                <a:solidFill>
                  <a:srgbClr val="E7DCD8"/>
                </a:solidFill>
                <a:latin typeface="Calibri" pitchFamily="34" charset="0"/>
                <a:ea typeface="Calibri" pitchFamily="34" charset="-122"/>
                <a:cs typeface="Calibri" pitchFamily="34" charset="-120"/>
              </a:rPr>
              <a:t>Triage digital patient contact safely</a:t>
            </a:r>
            <a:endParaRPr lang="en-US" sz="13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PATIENT CARE &amp; PHARMACY OPERATIONS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What adherence data does and does not show</a:t>
            </a:r>
            <a:endParaRPr lang="en-US" sz="2900" dirty="0"/>
          </a:p>
        </p:txBody>
      </p:sp>
      <p:sp>
        <p:nvSpPr>
          <p:cNvPr id="6" name="Shape 4"/>
          <p:cNvSpPr/>
          <p:nvPr/>
        </p:nvSpPr>
        <p:spPr>
          <a:xfrm>
            <a:off x="502920" y="1554480"/>
            <a:ext cx="11183112" cy="1737360"/>
          </a:xfrm>
          <a:prstGeom prst="roundRect">
            <a:avLst>
              <a:gd name="adj" fmla="val 3158"/>
            </a:avLst>
          </a:prstGeom>
          <a:solidFill>
            <a:srgbClr val="2E1010"/>
          </a:solidFill>
          <a:ln w="9525">
            <a:solidFill>
              <a:srgbClr val="46201F"/>
            </a:solidFill>
            <a:prstDash val="solid"/>
          </a:ln>
        </p:spPr>
      </p:sp>
      <p:sp>
        <p:nvSpPr>
          <p:cNvPr id="7" name="Text 5"/>
          <p:cNvSpPr/>
          <p:nvPr/>
        </p:nvSpPr>
        <p:spPr>
          <a:xfrm>
            <a:off x="914400" y="1810512"/>
            <a:ext cx="4572000" cy="274320"/>
          </a:xfrm>
          <a:prstGeom prst="rect">
            <a:avLst/>
          </a:prstGeom>
          <a:noFill/>
          <a:ln/>
        </p:spPr>
        <p:txBody>
          <a:bodyPr wrap="square" lIns="0" tIns="0" rIns="0" bIns="0" rtlCol="0" anchor="ctr"/>
          <a:lstStyle/>
          <a:p>
            <a:pPr indent="0" marL="0">
              <a:buNone/>
            </a:pPr>
            <a:r>
              <a:rPr lang="en-US" sz="1050" b="1" spc="180" kern="0" dirty="0">
                <a:solidFill>
                  <a:srgbClr val="9A7B3F"/>
                </a:solidFill>
                <a:latin typeface="Calibri" pitchFamily="34" charset="0"/>
                <a:ea typeface="Calibri" pitchFamily="34" charset="-122"/>
                <a:cs typeface="Calibri" pitchFamily="34" charset="-120"/>
              </a:rPr>
              <a:t>CAUTION</a:t>
            </a:r>
            <a:endParaRPr lang="en-US" sz="1050" dirty="0"/>
          </a:p>
        </p:txBody>
      </p:sp>
      <p:sp>
        <p:nvSpPr>
          <p:cNvPr id="8" name="Text 6"/>
          <p:cNvSpPr/>
          <p:nvPr/>
        </p:nvSpPr>
        <p:spPr>
          <a:xfrm>
            <a:off x="914400" y="2212848"/>
            <a:ext cx="10332720" cy="534010"/>
          </a:xfrm>
          <a:prstGeom prst="rect">
            <a:avLst/>
          </a:prstGeom>
          <a:noFill/>
          <a:ln/>
        </p:spPr>
        <p:txBody>
          <a:bodyPr wrap="square" lIns="0" tIns="0" rIns="0" bIns="0" rtlCol="0" anchor="t"/>
          <a:lstStyle/>
          <a:p>
            <a:pPr indent="0" marL="0">
              <a:lnSpc>
                <a:spcPts val="2100"/>
              </a:lnSpc>
              <a:buNone/>
            </a:pPr>
            <a:r>
              <a:rPr lang="en-US" sz="1400" dirty="0">
                <a:solidFill>
                  <a:srgbClr val="F4ECE9"/>
                </a:solidFill>
                <a:latin typeface="Calibri" pitchFamily="34" charset="0"/>
                <a:ea typeface="Calibri" pitchFamily="34" charset="-122"/>
                <a:cs typeface="Calibri" pitchFamily="34" charset="-120"/>
              </a:rPr>
              <a:t>A patient who collects an inhaler faultlessly may still be getting no drug into their lungs. Technique must be observed, not inferred from supply records — and a poor technique demonstrated at the counter is worth more than any dashboard.</a:t>
            </a:r>
            <a:endParaRPr lang="en-US" sz="1400" dirty="0"/>
          </a:p>
        </p:txBody>
      </p:sp>
      <p:sp>
        <p:nvSpPr>
          <p:cNvPr id="9" name="Text 7"/>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0" name="Text 8"/>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PATIENT CARE &amp; PHARMACY OPERATIONS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Patient discharged on eight medicines</a:t>
            </a:r>
            <a:endParaRPr lang="en-US" sz="2900" dirty="0"/>
          </a:p>
        </p:txBody>
      </p:sp>
      <p:sp>
        <p:nvSpPr>
          <p:cNvPr id="6" name="Text 4"/>
          <p:cNvSpPr/>
          <p:nvPr/>
        </p:nvSpPr>
        <p:spPr>
          <a:xfrm>
            <a:off x="502920" y="1536192"/>
            <a:ext cx="6903720" cy="4297680"/>
          </a:xfrm>
          <a:prstGeom prst="rect">
            <a:avLst/>
          </a:prstGeom>
          <a:noFill/>
          <a:ln/>
        </p:spPr>
        <p:txBody>
          <a:bodyPr wrap="square" lIns="0" tIns="0" rIns="0" bIns="0" rtlCol="0" anchor="t"/>
          <a:lstStyle/>
          <a:p>
            <a:pPr indent="0" marL="0">
              <a:lnSpc>
                <a:spcPts val="2600"/>
              </a:lnSpc>
              <a:buNone/>
            </a:pPr>
            <a:r>
              <a:rPr lang="en-US" sz="1750" dirty="0">
                <a:solidFill>
                  <a:srgbClr val="26221F"/>
                </a:solidFill>
                <a:latin typeface="Calibri" pitchFamily="34" charset="0"/>
                <a:ea typeface="Calibri" pitchFamily="34" charset="-122"/>
                <a:cs typeface="Calibri" pitchFamily="34" charset="-120"/>
              </a:rPr>
              <a:t>A patient discharged on eight medicines, three of them new, is at high risk of harm in the following weeks. The single most valuable element of a discharge medication summary for the community pharmacist and the GP is **what changed and why** — which medicines were started, stopped or altered, and the reason.</a:t>
            </a:r>
            <a:endParaRPr lang="en-US" sz="1750" dirty="0"/>
          </a:p>
        </p:txBody>
      </p:sp>
      <p:sp>
        <p:nvSpPr>
          <p:cNvPr id="7" name="Shape 5"/>
          <p:cNvSpPr/>
          <p:nvPr/>
        </p:nvSpPr>
        <p:spPr>
          <a:xfrm>
            <a:off x="7680960" y="1536192"/>
            <a:ext cx="4005072" cy="1828800"/>
          </a:xfrm>
          <a:prstGeom prst="roundRect">
            <a:avLst>
              <a:gd name="adj" fmla="val 3000"/>
            </a:avLst>
          </a:prstGeom>
          <a:solidFill>
            <a:srgbClr val="2E1010"/>
          </a:solidFill>
          <a:ln w="9525">
            <a:solidFill>
              <a:srgbClr val="46201F"/>
            </a:solidFill>
            <a:prstDash val="solid"/>
          </a:ln>
        </p:spPr>
      </p:sp>
      <p:sp>
        <p:nvSpPr>
          <p:cNvPr id="8" name="Text 6"/>
          <p:cNvSpPr/>
          <p:nvPr/>
        </p:nvSpPr>
        <p:spPr>
          <a:xfrm>
            <a:off x="8028432" y="1810512"/>
            <a:ext cx="338328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WHY IT MATTERS</a:t>
            </a:r>
            <a:endParaRPr lang="en-US" sz="1050" dirty="0"/>
          </a:p>
        </p:txBody>
      </p:sp>
      <p:sp>
        <p:nvSpPr>
          <p:cNvPr id="9" name="Text 7"/>
          <p:cNvSpPr/>
          <p:nvPr/>
        </p:nvSpPr>
        <p:spPr>
          <a:xfrm>
            <a:off x="8028432" y="2212848"/>
            <a:ext cx="3310128" cy="969264"/>
          </a:xfrm>
          <a:prstGeom prst="rect">
            <a:avLst/>
          </a:prstGeom>
          <a:noFill/>
          <a:ln/>
        </p:spPr>
        <p:txBody>
          <a:bodyPr wrap="square" lIns="0" tIns="0" rIns="0" bIns="0" rtlCol="0" anchor="t"/>
          <a:lstStyle/>
          <a:p>
            <a:pPr indent="0" marL="0">
              <a:lnSpc>
                <a:spcPts val="1900"/>
              </a:lnSpc>
              <a:buNone/>
            </a:pPr>
            <a:r>
              <a:rPr lang="en-US" sz="1300" dirty="0">
                <a:solidFill>
                  <a:srgbClr val="F0E7E4"/>
                </a:solidFill>
                <a:latin typeface="Calibri" pitchFamily="34" charset="0"/>
                <a:ea typeface="Calibri" pitchFamily="34" charset="-122"/>
                <a:cs typeface="Calibri" pitchFamily="34" charset="-120"/>
              </a:rPr>
              <a:t>A list of current medicines without the changes forces everyone downstream to guess.</a:t>
            </a:r>
            <a:endParaRPr lang="en-US" sz="1300" dirty="0"/>
          </a:p>
        </p:txBody>
      </p:sp>
      <p:sp>
        <p:nvSpPr>
          <p:cNvPr id="10" name="Text 8"/>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1" name="Text 9"/>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UNIT 4 · DIGITAL PATIENT CARE &amp; PHARMACY OPERATIONS</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Measures and how to read them</a:t>
            </a:r>
            <a:endParaRPr lang="en-US" sz="2900" dirty="0"/>
          </a:p>
        </p:txBody>
      </p:sp>
      <p:sp>
        <p:nvSpPr>
          <p:cNvPr id="6" name="Shape 4"/>
          <p:cNvSpPr/>
          <p:nvPr/>
        </p:nvSpPr>
        <p:spPr>
          <a:xfrm>
            <a:off x="502920" y="1554480"/>
            <a:ext cx="11183112" cy="512064"/>
          </a:xfrm>
          <a:prstGeom prst="rect">
            <a:avLst/>
          </a:prstGeom>
          <a:solidFill>
            <a:srgbClr val="8C1515"/>
          </a:solidFill>
          <a:ln w="12700">
            <a:solidFill>
              <a:srgbClr val="8C1515"/>
            </a:solidFill>
            <a:prstDash val="solid"/>
          </a:ln>
        </p:spPr>
      </p:sp>
      <p:sp>
        <p:nvSpPr>
          <p:cNvPr id="7" name="Text 5"/>
          <p:cNvSpPr/>
          <p:nvPr/>
        </p:nvSpPr>
        <p:spPr>
          <a:xfrm>
            <a:off x="685800" y="1554480"/>
            <a:ext cx="4169664"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p>
        </p:txBody>
      </p:sp>
      <p:sp>
        <p:nvSpPr>
          <p:cNvPr id="8" name="Text 6"/>
          <p:cNvSpPr/>
          <p:nvPr/>
        </p:nvSpPr>
        <p:spPr>
          <a:xfrm>
            <a:off x="5166360" y="1554480"/>
            <a:ext cx="6391656"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Read it as</a:t>
            </a:r>
            <a:endParaRPr lang="en-US" sz="1150" dirty="0"/>
          </a:p>
        </p:txBody>
      </p:sp>
      <p:sp>
        <p:nvSpPr>
          <p:cNvPr id="9" name="Shape 7"/>
          <p:cNvSpPr/>
          <p:nvPr/>
        </p:nvSpPr>
        <p:spPr>
          <a:xfrm>
            <a:off x="502920" y="2066544"/>
            <a:ext cx="11183112" cy="658368"/>
          </a:xfrm>
          <a:prstGeom prst="rect">
            <a:avLst/>
          </a:prstGeom>
          <a:solidFill>
            <a:srgbClr val="FFFFFF"/>
          </a:solidFill>
          <a:ln w="9525">
            <a:solidFill>
              <a:srgbClr val="DDD5CE"/>
            </a:solidFill>
            <a:prstDash val="solid"/>
          </a:ln>
        </p:spPr>
      </p:sp>
      <p:sp>
        <p:nvSpPr>
          <p:cNvPr id="10" name="Text 8"/>
          <p:cNvSpPr/>
          <p:nvPr/>
        </p:nvSpPr>
        <p:spPr>
          <a:xfrm>
            <a:off x="685800" y="2066544"/>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Turnaround time</a:t>
            </a:r>
            <a:endParaRPr lang="en-US" sz="1150" dirty="0"/>
          </a:p>
        </p:txBody>
      </p:sp>
      <p:sp>
        <p:nvSpPr>
          <p:cNvPr id="11" name="Text 9"/>
          <p:cNvSpPr/>
          <p:nvPr/>
        </p:nvSpPr>
        <p:spPr>
          <a:xfrm>
            <a:off x="5166360" y="2066544"/>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Best monitored as a distribution, because the long tail is where harm sits</a:t>
            </a:r>
            <a:endParaRPr lang="en-US" sz="1150" dirty="0"/>
          </a:p>
        </p:txBody>
      </p:sp>
      <p:sp>
        <p:nvSpPr>
          <p:cNvPr id="12" name="Shape 10"/>
          <p:cNvSpPr/>
          <p:nvPr/>
        </p:nvSpPr>
        <p:spPr>
          <a:xfrm>
            <a:off x="502920" y="2724912"/>
            <a:ext cx="11183112" cy="658368"/>
          </a:xfrm>
          <a:prstGeom prst="rect">
            <a:avLst/>
          </a:prstGeom>
          <a:solidFill>
            <a:srgbClr val="FAF8F6"/>
          </a:solidFill>
          <a:ln w="9525">
            <a:solidFill>
              <a:srgbClr val="DDD5CE"/>
            </a:solidFill>
            <a:prstDash val="solid"/>
          </a:ln>
        </p:spPr>
      </p:sp>
      <p:sp>
        <p:nvSpPr>
          <p:cNvPr id="13" name="Text 11"/>
          <p:cNvSpPr/>
          <p:nvPr/>
        </p:nvSpPr>
        <p:spPr>
          <a:xfrm>
            <a:off x="685800" y="2724912"/>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Missed doses on the eMAR</a:t>
            </a:r>
            <a:endParaRPr lang="en-US" sz="1150" dirty="0"/>
          </a:p>
        </p:txBody>
      </p:sp>
      <p:sp>
        <p:nvSpPr>
          <p:cNvPr id="14" name="Text 12"/>
          <p:cNvSpPr/>
          <p:nvPr/>
        </p:nvSpPr>
        <p:spPr>
          <a:xfrm>
            <a:off x="5166360" y="2724912"/>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 supply-chain signal when the reason is "medicine unavailable"</a:t>
            </a:r>
            <a:endParaRPr lang="en-US" sz="1150" dirty="0"/>
          </a:p>
        </p:txBody>
      </p:sp>
      <p:sp>
        <p:nvSpPr>
          <p:cNvPr id="15" name="Shape 13"/>
          <p:cNvSpPr/>
          <p:nvPr/>
        </p:nvSpPr>
        <p:spPr>
          <a:xfrm>
            <a:off x="502920" y="3383280"/>
            <a:ext cx="11183112" cy="658368"/>
          </a:xfrm>
          <a:prstGeom prst="rect">
            <a:avLst/>
          </a:prstGeom>
          <a:solidFill>
            <a:srgbClr val="FFFFFF"/>
          </a:solidFill>
          <a:ln w="9525">
            <a:solidFill>
              <a:srgbClr val="DDD5CE"/>
            </a:solidFill>
            <a:prstDash val="solid"/>
          </a:ln>
        </p:spPr>
      </p:sp>
      <p:sp>
        <p:nvSpPr>
          <p:cNvPr id="16" name="Text 14"/>
          <p:cNvSpPr/>
          <p:nvPr/>
        </p:nvSpPr>
        <p:spPr>
          <a:xfrm>
            <a:off x="685800" y="3383280"/>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Time-critical medicine delays</a:t>
            </a:r>
            <a:endParaRPr lang="en-US" sz="1150" dirty="0"/>
          </a:p>
        </p:txBody>
      </p:sp>
      <p:sp>
        <p:nvSpPr>
          <p:cNvPr id="17" name="Text 15"/>
          <p:cNvSpPr/>
          <p:nvPr/>
        </p:nvSpPr>
        <p:spPr>
          <a:xfrm>
            <a:off x="5166360" y="3383280"/>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A safety incident in itself, not a service inconvenience</a:t>
            </a:r>
            <a:endParaRPr lang="en-US" sz="1150" dirty="0"/>
          </a:p>
        </p:txBody>
      </p:sp>
      <p:sp>
        <p:nvSpPr>
          <p:cNvPr id="18" name="Shape 16"/>
          <p:cNvSpPr/>
          <p:nvPr/>
        </p:nvSpPr>
        <p:spPr>
          <a:xfrm>
            <a:off x="502920" y="4041648"/>
            <a:ext cx="11183112" cy="658368"/>
          </a:xfrm>
          <a:prstGeom prst="rect">
            <a:avLst/>
          </a:prstGeom>
          <a:solidFill>
            <a:srgbClr val="FAF8F6"/>
          </a:solidFill>
          <a:ln w="9525">
            <a:solidFill>
              <a:srgbClr val="DDD5CE"/>
            </a:solidFill>
            <a:prstDash val="solid"/>
          </a:ln>
        </p:spPr>
      </p:sp>
      <p:sp>
        <p:nvSpPr>
          <p:cNvPr id="19" name="Text 17"/>
          <p:cNvSpPr/>
          <p:nvPr/>
        </p:nvSpPr>
        <p:spPr>
          <a:xfrm>
            <a:off x="685800" y="4041648"/>
            <a:ext cx="4169664" cy="658368"/>
          </a:xfrm>
          <a:prstGeom prst="rect">
            <a:avLst/>
          </a:prstGeom>
          <a:noFill/>
          <a:ln/>
        </p:spPr>
        <p:txBody>
          <a:bodyPr wrap="square" lIns="0" tIns="0" rIns="0" bIns="0" rtlCol="0" anchor="ctr"/>
          <a:lstStyle/>
          <a:p>
            <a:pPr indent="0" marL="0">
              <a:buNone/>
            </a:pPr>
            <a:r>
              <a:rPr lang="en-US" sz="1150" b="1" dirty="0">
                <a:solidFill>
                  <a:srgbClr val="26221F"/>
                </a:solidFill>
                <a:latin typeface="Calibri" pitchFamily="34" charset="0"/>
                <a:ea typeface="Calibri" pitchFamily="34" charset="-122"/>
                <a:cs typeface="Calibri" pitchFamily="34" charset="-120"/>
              </a:rPr>
              <a:t>Intervention rate</a:t>
            </a:r>
            <a:endParaRPr lang="en-US" sz="1150" dirty="0"/>
          </a:p>
        </p:txBody>
      </p:sp>
      <p:sp>
        <p:nvSpPr>
          <p:cNvPr id="20" name="Text 18"/>
          <p:cNvSpPr/>
          <p:nvPr/>
        </p:nvSpPr>
        <p:spPr>
          <a:xfrm>
            <a:off x="5166360" y="4041648"/>
            <a:ext cx="6391656" cy="658368"/>
          </a:xfrm>
          <a:prstGeom prst="rect">
            <a:avLst/>
          </a:prstGeom>
          <a:noFill/>
          <a:ln/>
        </p:spPr>
        <p:txBody>
          <a:bodyPr wrap="square" lIns="0" tIns="0" rIns="0" bIns="0" rtlCol="0" anchor="ctr"/>
          <a:lstStyle/>
          <a:p>
            <a:pPr indent="0" marL="0">
              <a:buNone/>
            </a:pPr>
            <a:r>
              <a:rPr lang="en-US" sz="1150" dirty="0">
                <a:solidFill>
                  <a:srgbClr val="26221F"/>
                </a:solidFill>
                <a:latin typeface="Calibri" pitchFamily="34" charset="0"/>
                <a:ea typeface="Calibri" pitchFamily="34" charset="-122"/>
                <a:cs typeface="Calibri" pitchFamily="34" charset="-120"/>
              </a:rPr>
              <a:t>Meaningless without case mix</a:t>
            </a:r>
            <a:endParaRPr lang="en-US" sz="1150" dirty="0"/>
          </a:p>
        </p:txBody>
      </p:sp>
      <p:sp>
        <p:nvSpPr>
          <p:cNvPr id="21" name="Text 1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22" name="Text 2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10058400" y="-1097280"/>
            <a:ext cx="4023360" cy="4023360"/>
          </a:xfrm>
          <a:prstGeom prst="ellipse">
            <a:avLst/>
          </a:prstGeom>
          <a:solidFill>
            <a:srgbClr val="8C1515">
              <a:alpha val="28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THE PRACTICALS</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5 assessed practicals</a:t>
            </a:r>
            <a:endParaRPr lang="en-US" sz="3400" dirty="0"/>
          </a:p>
        </p:txBody>
      </p:sp>
      <p:sp>
        <p:nvSpPr>
          <p:cNvPr id="5" name="Text 3"/>
          <p:cNvSpPr/>
          <p:nvPr/>
        </p:nvSpPr>
        <p:spPr>
          <a:xfrm>
            <a:off x="777240" y="1847088"/>
            <a:ext cx="10241280" cy="749808"/>
          </a:xfrm>
          <a:prstGeom prst="rect">
            <a:avLst/>
          </a:prstGeom>
          <a:noFill/>
          <a:ln/>
        </p:spPr>
        <p:txBody>
          <a:bodyPr wrap="square" lIns="0" tIns="0" rIns="0" bIns="0" rtlCol="0" anchor="ctr"/>
          <a:lstStyle/>
          <a:p>
            <a:pPr indent="0" marL="0">
              <a:lnSpc>
                <a:spcPts val="1900"/>
              </a:lnSpc>
              <a:buNone/>
            </a:pPr>
            <a:r>
              <a:rPr lang="en-US" sz="1300" dirty="0">
                <a:solidFill>
                  <a:srgbClr val="C9C2BA"/>
                </a:solidFill>
                <a:latin typeface="Calibri" pitchFamily="34" charset="0"/>
                <a:ea typeface="Calibri" pitchFamily="34" charset="-122"/>
                <a:cs typeface="Calibri" pitchFamily="34" charset="-120"/>
              </a:rPr>
              <a:t>Every practical follows the institutional standard — Aim, Principle, Theory, Requirements, Procedure and Guided Method — and is submitted to faculty for evaluation. Verified practicals count towards the hands-on experience certificate.</a:t>
            </a:r>
            <a:endParaRPr lang="en-US" sz="1300" dirty="0"/>
          </a:p>
        </p:txBody>
      </p:sp>
      <p:sp>
        <p:nvSpPr>
          <p:cNvPr id="6" name="Shape 4"/>
          <p:cNvSpPr/>
          <p:nvPr/>
        </p:nvSpPr>
        <p:spPr>
          <a:xfrm>
            <a:off x="777240" y="2761488"/>
            <a:ext cx="10607040" cy="658368"/>
          </a:xfrm>
          <a:prstGeom prst="roundRect">
            <a:avLst>
              <a:gd name="adj" fmla="val 8333"/>
            </a:avLst>
          </a:prstGeom>
          <a:solidFill>
            <a:srgbClr val="241A19"/>
          </a:solidFill>
          <a:ln w="9525">
            <a:solidFill>
              <a:srgbClr val="3E2A28"/>
            </a:solidFill>
            <a:prstDash val="solid"/>
          </a:ln>
        </p:spPr>
      </p:sp>
      <p:sp>
        <p:nvSpPr>
          <p:cNvPr id="7" name="Shape 5"/>
          <p:cNvSpPr/>
          <p:nvPr/>
        </p:nvSpPr>
        <p:spPr>
          <a:xfrm>
            <a:off x="1097280" y="2898648"/>
            <a:ext cx="384048" cy="384048"/>
          </a:xfrm>
          <a:prstGeom prst="ellipse">
            <a:avLst/>
          </a:prstGeom>
          <a:solidFill>
            <a:srgbClr val="8C1515"/>
          </a:solidFill>
          <a:ln/>
        </p:spPr>
      </p:sp>
      <p:sp>
        <p:nvSpPr>
          <p:cNvPr id="8" name="Text 6"/>
          <p:cNvSpPr/>
          <p:nvPr/>
        </p:nvSpPr>
        <p:spPr>
          <a:xfrm>
            <a:off x="109728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664208" y="2834640"/>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8 · Practical 1</a:t>
            </a:r>
            <a:endParaRPr lang="en-US" sz="1000" dirty="0"/>
          </a:p>
        </p:txBody>
      </p:sp>
      <p:sp>
        <p:nvSpPr>
          <p:cNvPr id="10" name="Text 8"/>
          <p:cNvSpPr/>
          <p:nvPr/>
        </p:nvSpPr>
        <p:spPr>
          <a:xfrm>
            <a:off x="1664208" y="3054096"/>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Clinical Simulation Suite</a:t>
            </a:r>
            <a:endParaRPr lang="en-US" sz="1350" dirty="0"/>
          </a:p>
        </p:txBody>
      </p:sp>
      <p:sp>
        <p:nvSpPr>
          <p:cNvPr id="11" name="Shape 9"/>
          <p:cNvSpPr/>
          <p:nvPr/>
        </p:nvSpPr>
        <p:spPr>
          <a:xfrm>
            <a:off x="777240" y="3520440"/>
            <a:ext cx="10607040" cy="658368"/>
          </a:xfrm>
          <a:prstGeom prst="roundRect">
            <a:avLst>
              <a:gd name="adj" fmla="val 8333"/>
            </a:avLst>
          </a:prstGeom>
          <a:solidFill>
            <a:srgbClr val="241A19"/>
          </a:solidFill>
          <a:ln w="9525">
            <a:solidFill>
              <a:srgbClr val="3E2A28"/>
            </a:solidFill>
            <a:prstDash val="solid"/>
          </a:ln>
        </p:spPr>
      </p:sp>
      <p:sp>
        <p:nvSpPr>
          <p:cNvPr id="12" name="Shape 10"/>
          <p:cNvSpPr/>
          <p:nvPr/>
        </p:nvSpPr>
        <p:spPr>
          <a:xfrm>
            <a:off x="1097280" y="3657600"/>
            <a:ext cx="384048" cy="384048"/>
          </a:xfrm>
          <a:prstGeom prst="ellipse">
            <a:avLst/>
          </a:prstGeom>
          <a:solidFill>
            <a:srgbClr val="8C1515"/>
          </a:solidFill>
          <a:ln/>
        </p:spPr>
      </p:sp>
      <p:sp>
        <p:nvSpPr>
          <p:cNvPr id="13" name="Text 11"/>
          <p:cNvSpPr/>
          <p:nvPr/>
        </p:nvSpPr>
        <p:spPr>
          <a:xfrm>
            <a:off x="109728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664208" y="3593592"/>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8 · Unit 1 · Practical 1</a:t>
            </a:r>
            <a:endParaRPr lang="en-US" sz="1000" dirty="0"/>
          </a:p>
        </p:txBody>
      </p:sp>
      <p:sp>
        <p:nvSpPr>
          <p:cNvPr id="15" name="Text 13"/>
          <p:cNvSpPr/>
          <p:nvPr/>
        </p:nvSpPr>
        <p:spPr>
          <a:xfrm>
            <a:off x="1664208" y="3813048"/>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AI Prescription Review &amp; Safety Audit</a:t>
            </a:r>
            <a:endParaRPr lang="en-US" sz="1350" dirty="0"/>
          </a:p>
        </p:txBody>
      </p:sp>
      <p:sp>
        <p:nvSpPr>
          <p:cNvPr id="16" name="Shape 14"/>
          <p:cNvSpPr/>
          <p:nvPr/>
        </p:nvSpPr>
        <p:spPr>
          <a:xfrm>
            <a:off x="777240" y="4279392"/>
            <a:ext cx="10607040" cy="658368"/>
          </a:xfrm>
          <a:prstGeom prst="roundRect">
            <a:avLst>
              <a:gd name="adj" fmla="val 8333"/>
            </a:avLst>
          </a:prstGeom>
          <a:solidFill>
            <a:srgbClr val="241A19"/>
          </a:solidFill>
          <a:ln w="9525">
            <a:solidFill>
              <a:srgbClr val="3E2A28"/>
            </a:solidFill>
            <a:prstDash val="solid"/>
          </a:ln>
        </p:spPr>
      </p:sp>
      <p:sp>
        <p:nvSpPr>
          <p:cNvPr id="17" name="Shape 15"/>
          <p:cNvSpPr/>
          <p:nvPr/>
        </p:nvSpPr>
        <p:spPr>
          <a:xfrm>
            <a:off x="1097280" y="4416552"/>
            <a:ext cx="384048" cy="384048"/>
          </a:xfrm>
          <a:prstGeom prst="ellipse">
            <a:avLst/>
          </a:prstGeom>
          <a:solidFill>
            <a:srgbClr val="8C1515"/>
          </a:solidFill>
          <a:ln/>
        </p:spPr>
      </p:sp>
      <p:sp>
        <p:nvSpPr>
          <p:cNvPr id="18" name="Text 16"/>
          <p:cNvSpPr/>
          <p:nvPr/>
        </p:nvSpPr>
        <p:spPr>
          <a:xfrm>
            <a:off x="1097280" y="4416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664208" y="4352544"/>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8 · Unit 2 · Practical 2</a:t>
            </a:r>
            <a:endParaRPr lang="en-US" sz="1000" dirty="0"/>
          </a:p>
        </p:txBody>
      </p:sp>
      <p:sp>
        <p:nvSpPr>
          <p:cNvPr id="20" name="Text 18"/>
          <p:cNvSpPr/>
          <p:nvPr/>
        </p:nvSpPr>
        <p:spPr>
          <a:xfrm>
            <a:off x="1664208" y="4572000"/>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Interaction &amp; Dose Optimisation Clinic</a:t>
            </a:r>
            <a:endParaRPr lang="en-US" sz="1350" dirty="0"/>
          </a:p>
        </p:txBody>
      </p:sp>
      <p:sp>
        <p:nvSpPr>
          <p:cNvPr id="21" name="Shape 19"/>
          <p:cNvSpPr/>
          <p:nvPr/>
        </p:nvSpPr>
        <p:spPr>
          <a:xfrm>
            <a:off x="777240" y="5038344"/>
            <a:ext cx="10607040" cy="658368"/>
          </a:xfrm>
          <a:prstGeom prst="roundRect">
            <a:avLst>
              <a:gd name="adj" fmla="val 8333"/>
            </a:avLst>
          </a:prstGeom>
          <a:solidFill>
            <a:srgbClr val="241A19"/>
          </a:solidFill>
          <a:ln w="9525">
            <a:solidFill>
              <a:srgbClr val="3E2A28"/>
            </a:solidFill>
            <a:prstDash val="solid"/>
          </a:ln>
        </p:spPr>
      </p:sp>
      <p:sp>
        <p:nvSpPr>
          <p:cNvPr id="22" name="Shape 20"/>
          <p:cNvSpPr/>
          <p:nvPr/>
        </p:nvSpPr>
        <p:spPr>
          <a:xfrm>
            <a:off x="1097280" y="5175504"/>
            <a:ext cx="384048" cy="384048"/>
          </a:xfrm>
          <a:prstGeom prst="ellipse">
            <a:avLst/>
          </a:prstGeom>
          <a:solidFill>
            <a:srgbClr val="8C1515"/>
          </a:solidFill>
          <a:ln/>
        </p:spPr>
      </p:sp>
      <p:sp>
        <p:nvSpPr>
          <p:cNvPr id="23" name="Text 21"/>
          <p:cNvSpPr/>
          <p:nvPr/>
        </p:nvSpPr>
        <p:spPr>
          <a:xfrm>
            <a:off x="1097280" y="5175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664208" y="5111496"/>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8 · Unit 3 · Practical 3</a:t>
            </a:r>
            <a:endParaRPr lang="en-US" sz="1000" dirty="0"/>
          </a:p>
        </p:txBody>
      </p:sp>
      <p:sp>
        <p:nvSpPr>
          <p:cNvPr id="25" name="Text 23"/>
          <p:cNvSpPr/>
          <p:nvPr/>
        </p:nvSpPr>
        <p:spPr>
          <a:xfrm>
            <a:off x="1664208" y="5330952"/>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Pharmacogenomic Case Desk</a:t>
            </a:r>
            <a:endParaRPr lang="en-US" sz="1350" dirty="0"/>
          </a:p>
        </p:txBody>
      </p:sp>
      <p:sp>
        <p:nvSpPr>
          <p:cNvPr id="26" name="Shape 24"/>
          <p:cNvSpPr/>
          <p:nvPr/>
        </p:nvSpPr>
        <p:spPr>
          <a:xfrm>
            <a:off x="777240" y="5797296"/>
            <a:ext cx="10607040" cy="658368"/>
          </a:xfrm>
          <a:prstGeom prst="roundRect">
            <a:avLst>
              <a:gd name="adj" fmla="val 8333"/>
            </a:avLst>
          </a:prstGeom>
          <a:solidFill>
            <a:srgbClr val="241A19"/>
          </a:solidFill>
          <a:ln w="9525">
            <a:solidFill>
              <a:srgbClr val="3E2A28"/>
            </a:solidFill>
            <a:prstDash val="solid"/>
          </a:ln>
        </p:spPr>
      </p:sp>
      <p:sp>
        <p:nvSpPr>
          <p:cNvPr id="27" name="Shape 25"/>
          <p:cNvSpPr/>
          <p:nvPr/>
        </p:nvSpPr>
        <p:spPr>
          <a:xfrm>
            <a:off x="1097280" y="5934456"/>
            <a:ext cx="384048" cy="384048"/>
          </a:xfrm>
          <a:prstGeom prst="ellipse">
            <a:avLst/>
          </a:prstGeom>
          <a:solidFill>
            <a:srgbClr val="8C1515"/>
          </a:solidFill>
          <a:ln/>
        </p:spPr>
      </p:sp>
      <p:sp>
        <p:nvSpPr>
          <p:cNvPr id="28" name="Text 26"/>
          <p:cNvSpPr/>
          <p:nvPr/>
        </p:nvSpPr>
        <p:spPr>
          <a:xfrm>
            <a:off x="1097280" y="5934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664208" y="5870448"/>
            <a:ext cx="4572000" cy="228600"/>
          </a:xfrm>
          <a:prstGeom prst="rect">
            <a:avLst/>
          </a:prstGeom>
          <a:noFill/>
          <a:ln/>
        </p:spPr>
        <p:txBody>
          <a:bodyPr wrap="square" lIns="0" tIns="0" rIns="0" bIns="0" rtlCol="0" anchor="ctr"/>
          <a:lstStyle/>
          <a:p>
            <a:pPr indent="0" marL="0">
              <a:buNone/>
            </a:pPr>
            <a:r>
              <a:rPr lang="en-US" sz="1000" b="1" dirty="0">
                <a:solidFill>
                  <a:srgbClr val="9A7B3F"/>
                </a:solidFill>
                <a:latin typeface="Calibri" pitchFamily="34" charset="0"/>
                <a:ea typeface="Calibri" pitchFamily="34" charset="-122"/>
                <a:cs typeface="Calibri" pitchFamily="34" charset="-120"/>
              </a:rPr>
              <a:t>Module 8 · Unit 4 · Practical 4</a:t>
            </a:r>
            <a:endParaRPr lang="en-US" sz="1000" dirty="0"/>
          </a:p>
        </p:txBody>
      </p:sp>
      <p:sp>
        <p:nvSpPr>
          <p:cNvPr id="30" name="Text 28"/>
          <p:cNvSpPr/>
          <p:nvPr/>
        </p:nvSpPr>
        <p:spPr>
          <a:xfrm>
            <a:off x="1664208" y="6089904"/>
            <a:ext cx="941832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Digital Patient Care &amp; Operations Desk</a:t>
            </a:r>
            <a:endParaRPr lang="en-US" sz="13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8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Clinical Simulation Suite</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manage simulated virtual patients — interpreting clinical data, screening drug interactions, adjusting renal dosing and auditing prescriptions for safety.</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Clinical pharmacy applies pharmacology and patient data to optimise therapy. Interaction screening, renal dose adjustment and prescription audit are core safety activities. Drug interactions, organ function (especially renal) and prescribing errors all affect patient safety.</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Review each virtual patient’s data and medication list.</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Screen the regimen for clinically significant drug interactions.</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Adjust doses for renal (and other organ) function where required.</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Audit the prescription for errors and safety issues.</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Record your decisions and complete the simulation report.</a:t>
            </a:r>
            <a:endParaRPr lang="en-US" sz="1150" dirty="0"/>
          </a:p>
        </p:txBody>
      </p:sp>
      <p:sp>
        <p:nvSpPr>
          <p:cNvPr id="28" name="Text 2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29" name="Text 2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8 · UNIT 1 · PRACTICAL 1</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AI Prescription Review &amp; Safety Audit</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review a ward round of prescriptions screened and ranked by an AI safety tool, deciding an action and a reason for each, and to demonstrate that a risk ranking changes the order of a pharmacist's attention without ever reducing its coverage.</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An AI screening tool predicts risk from the features it can see. It cannot see an allergy documented years earlier, and it has no concept of a drug whose danger lies in its frequency rather than its amount. Structured review follows a fixed sequence — right patient, drug, dose, route, time, documentation — because a review driven by whatever catches the eye first misses more.</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 predicted-risk order.</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prescription and inspect the patient record before deciding — the record is closed until you open it, and what…</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one action for each order: accept, query with the prescriber, or stop and clarify before any supply.</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principal reason for that action.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Record the decision and read the feedback, then continue until all eight are reviewed.</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Finish the round to see the twenty-four hour outcomes and your report.</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8 · UNIT 2 · PRACTICAL 2</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Interaction &amp; Dose Optimisation Clinic</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work a list of interaction referrals graded by a screening system, decide an action and a reason for each, and demonstrate that a severity badge assigned to a drug pair is not a judgement about the patient.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A screening system grades the combination. It has not seen the potassium, the time the sample was drawn, the neurological examination, or the half-life of a drug started four days ago. Interactions are pharmacokinetic, where one drug alters the absorption, distribution, metabolism or excretion of another, or pharmacodynamic, where effects combine at the site of action.</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 referrals.</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referral and read the record before deciding; what you open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Choose an action: continue, adjust, stop or substitute, or repeat the measurement.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principal reason for that action.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Record the decision and read the feedback, then continue until all referrals are worked.</a:t>
            </a:r>
            <a:endParaRPr lang="en-US" sz="1150" dirty="0"/>
          </a:p>
        </p:txBody>
      </p:sp>
      <p:sp>
        <p:nvSpPr>
          <p:cNvPr id="28" name="Shape 26"/>
          <p:cNvSpPr/>
          <p:nvPr/>
        </p:nvSpPr>
        <p:spPr>
          <a:xfrm>
            <a:off x="6263640" y="5321808"/>
            <a:ext cx="292608" cy="292608"/>
          </a:xfrm>
          <a:prstGeom prst="ellipse">
            <a:avLst/>
          </a:prstGeom>
          <a:solidFill>
            <a:srgbClr val="F2E4E4"/>
          </a:solidFill>
          <a:ln/>
        </p:spPr>
      </p:sp>
      <p:sp>
        <p:nvSpPr>
          <p:cNvPr id="29" name="Text 27"/>
          <p:cNvSpPr/>
          <p:nvPr/>
        </p:nvSpPr>
        <p:spPr>
          <a:xfrm>
            <a:off x="6263640" y="532180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675120" y="530352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Close the clinic and review the twenty-four hour outcomes.</a:t>
            </a:r>
            <a:endParaRPr lang="en-US" sz="1150" dirty="0"/>
          </a:p>
        </p:txBody>
      </p:sp>
      <p:sp>
        <p:nvSpPr>
          <p:cNvPr id="31" name="Text 29"/>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32" name="Text 30"/>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8 · UNIT 3 · PRACTICAL 3</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Pharmacogenomic Case Desk</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act on six pharmacogenomic results in their clinical context: to decide whether to proceed, adjust, substitute or wait, and to recognise both when a genotype changes a prescription and when a stable clinical course outweighs it.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For a prodrug the consequence of metaboliser status inverts. An ultra-rapid metaboliser of codeine produces more active drug, not less, so the risk is toxicity rather than treatment failure — and the intuitive reading is exactly backwards. Established drug-gene pairs include HLA-B*57:01 with abacavir, where a positive result is an absolute contraindication; HLA-B*15:02 with carbamazepine; TPMT and NUDT15 with the thiopurines, where reduced activity requires a reduced starting dose rather than avoidance; DPYD with the…</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desk as the pharmacist advising on genotype-informed prescribing.</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referral and read the genotype report, indication, notes and guideline; what you open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whether to proceed, adjust the dose, substitute the agent or wait for a result.</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principal reason and record the decision.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Close the desk and review the outcomes and the two indices.</a:t>
            </a:r>
            <a:endParaRPr lang="en-US" sz="1150" dirty="0"/>
          </a:p>
        </p:txBody>
      </p:sp>
      <p:sp>
        <p:nvSpPr>
          <p:cNvPr id="28" name="Text 2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29" name="Text 2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20624"/>
            <a:ext cx="475488" cy="475488"/>
          </a:xfrm>
          <a:prstGeom prst="ellipse">
            <a:avLst/>
          </a:prstGeom>
          <a:solidFill>
            <a:srgbClr val="8C1515"/>
          </a:solidFill>
          <a:ln/>
        </p:spPr>
      </p:sp>
      <p:sp>
        <p:nvSpPr>
          <p:cNvPr id="3" name="Text 1"/>
          <p:cNvSpPr/>
          <p:nvPr/>
        </p:nvSpPr>
        <p:spPr>
          <a:xfrm>
            <a:off x="502920" y="420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23</a:t>
            </a:r>
            <a:endParaRPr lang="en-US" sz="1500" dirty="0"/>
          </a:p>
        </p:txBody>
      </p:sp>
      <p:sp>
        <p:nvSpPr>
          <p:cNvPr id="4" name="Text 2"/>
          <p:cNvSpPr/>
          <p:nvPr/>
        </p:nvSpPr>
        <p:spPr>
          <a:xfrm>
            <a:off x="1170432" y="384048"/>
            <a:ext cx="10424160" cy="219456"/>
          </a:xfrm>
          <a:prstGeom prst="rect">
            <a:avLst/>
          </a:prstGeom>
          <a:noFill/>
          <a:ln/>
        </p:spPr>
        <p:txBody>
          <a:bodyPr wrap="square" lIns="0" tIns="0" rIns="0" bIns="0" rtlCol="0" anchor="ctr"/>
          <a:lstStyle/>
          <a:p>
            <a:pPr indent="0" marL="0">
              <a:buNone/>
            </a:pPr>
            <a:r>
              <a:rPr lang="en-US" sz="1000" b="1" spc="200" kern="0" dirty="0">
                <a:solidFill>
                  <a:srgbClr val="9A7B3F"/>
                </a:solidFill>
                <a:latin typeface="Calibri" pitchFamily="34" charset="0"/>
                <a:ea typeface="Calibri" pitchFamily="34" charset="-122"/>
                <a:cs typeface="Calibri" pitchFamily="34" charset="-120"/>
              </a:rPr>
              <a:t>MODULE 8 · UNIT 4 · PRACTICAL 4</a:t>
            </a:r>
            <a:endParaRPr lang="en-US" sz="1000" dirty="0"/>
          </a:p>
        </p:txBody>
      </p:sp>
      <p:sp>
        <p:nvSpPr>
          <p:cNvPr id="5" name="Text 3"/>
          <p:cNvSpPr/>
          <p:nvPr/>
        </p:nvSpPr>
        <p:spPr>
          <a:xfrm>
            <a:off x="1170432" y="603504"/>
            <a:ext cx="10424160" cy="621792"/>
          </a:xfrm>
          <a:prstGeom prst="rect">
            <a:avLst/>
          </a:prstGeom>
          <a:noFill/>
          <a:ln/>
        </p:spPr>
        <p:txBody>
          <a:bodyPr wrap="square" lIns="0" tIns="0" rIns="0" bIns="0" rtlCol="0" anchor="ctr"/>
          <a:lstStyle/>
          <a:p>
            <a:pPr indent="0" marL="0">
              <a:buNone/>
            </a:pPr>
            <a:r>
              <a:rPr lang="en-US" sz="2900" b="1" dirty="0">
                <a:solidFill>
                  <a:srgbClr val="26221F"/>
                </a:solidFill>
                <a:latin typeface="Cambria" pitchFamily="34" charset="0"/>
                <a:ea typeface="Cambria" pitchFamily="34" charset="-122"/>
                <a:cs typeface="Cambria" pitchFamily="34" charset="-120"/>
              </a:rPr>
              <a:t>Digital Patient Care &amp; Operations Desk</a:t>
            </a:r>
            <a:endParaRPr lang="en-US" sz="2900" dirty="0"/>
          </a:p>
        </p:txBody>
      </p:sp>
      <p:sp>
        <p:nvSpPr>
          <p:cNvPr id="6" name="Shape 4"/>
          <p:cNvSpPr/>
          <p:nvPr/>
        </p:nvSpPr>
        <p:spPr>
          <a:xfrm>
            <a:off x="502920" y="1517904"/>
            <a:ext cx="5440680" cy="1783080"/>
          </a:xfrm>
          <a:prstGeom prst="roundRect">
            <a:avLst>
              <a:gd name="adj" fmla="val 3077"/>
            </a:avLst>
          </a:prstGeom>
          <a:solidFill>
            <a:srgbClr val="2E1010"/>
          </a:solidFill>
          <a:ln w="9525">
            <a:solidFill>
              <a:srgbClr val="46201F"/>
            </a:solidFill>
            <a:prstDash val="solid"/>
          </a:ln>
        </p:spPr>
      </p:sp>
      <p:sp>
        <p:nvSpPr>
          <p:cNvPr id="7" name="Text 5"/>
          <p:cNvSpPr/>
          <p:nvPr/>
        </p:nvSpPr>
        <p:spPr>
          <a:xfrm>
            <a:off x="868680" y="1719072"/>
            <a:ext cx="1828800" cy="256032"/>
          </a:xfrm>
          <a:prstGeom prst="rect">
            <a:avLst/>
          </a:prstGeom>
          <a:noFill/>
          <a:ln/>
        </p:spPr>
        <p:txBody>
          <a:bodyPr wrap="square" lIns="0" tIns="0" rIns="0" bIns="0" rtlCol="0" anchor="ctr"/>
          <a:lstStyle/>
          <a:p>
            <a:pPr indent="0" marL="0">
              <a:buNone/>
            </a:pPr>
            <a:r>
              <a:rPr lang="en-US" sz="1050" b="1" spc="160" kern="0" dirty="0">
                <a:solidFill>
                  <a:srgbClr val="9A7B3F"/>
                </a:solidFill>
                <a:latin typeface="Calibri" pitchFamily="34" charset="0"/>
                <a:ea typeface="Calibri" pitchFamily="34" charset="-122"/>
                <a:cs typeface="Calibri" pitchFamily="34" charset="-120"/>
              </a:rPr>
              <a:t>AIM</a:t>
            </a:r>
            <a:endParaRPr lang="en-US" sz="1050" dirty="0"/>
          </a:p>
        </p:txBody>
      </p:sp>
      <p:sp>
        <p:nvSpPr>
          <p:cNvPr id="8" name="Text 6"/>
          <p:cNvSpPr/>
          <p:nvPr/>
        </p:nvSpPr>
        <p:spPr>
          <a:xfrm>
            <a:off x="868680" y="2011680"/>
            <a:ext cx="4754880" cy="1188720"/>
          </a:xfrm>
          <a:prstGeom prst="rect">
            <a:avLst/>
          </a:prstGeom>
          <a:noFill/>
          <a:ln/>
        </p:spPr>
        <p:txBody>
          <a:bodyPr wrap="square" lIns="0" tIns="0" rIns="0" bIns="0" rtlCol="0" anchor="ctr"/>
          <a:lstStyle/>
          <a:p>
            <a:pPr indent="0" marL="0">
              <a:lnSpc>
                <a:spcPts val="1600"/>
              </a:lnSpc>
              <a:buNone/>
            </a:pPr>
            <a:r>
              <a:rPr lang="en-US" sz="1200" dirty="0">
                <a:solidFill>
                  <a:srgbClr val="F0E7E4"/>
                </a:solidFill>
                <a:latin typeface="Calibri" pitchFamily="34" charset="0"/>
                <a:ea typeface="Calibri" pitchFamily="34" charset="-122"/>
                <a:cs typeface="Calibri" pitchFamily="34" charset="-120"/>
              </a:rPr>
              <a:t>To work a shift of digital contacts and operational signals — portal messages, adherence dashboards, a discharge summary and eMAR data — deciding what each item actually is before deciding how to handle it.</a:t>
            </a:r>
            <a:endParaRPr lang="en-US" sz="1200" dirty="0"/>
          </a:p>
        </p:txBody>
      </p:sp>
      <p:sp>
        <p:nvSpPr>
          <p:cNvPr id="9" name="Shape 7"/>
          <p:cNvSpPr/>
          <p:nvPr/>
        </p:nvSpPr>
        <p:spPr>
          <a:xfrm>
            <a:off x="502920" y="3438144"/>
            <a:ext cx="5440680" cy="2377440"/>
          </a:xfrm>
          <a:prstGeom prst="roundRect">
            <a:avLst>
              <a:gd name="adj" fmla="val 2308"/>
            </a:avLst>
          </a:prstGeom>
          <a:solidFill>
            <a:srgbClr val="FAF8F6"/>
          </a:solidFill>
          <a:ln w="9525">
            <a:solidFill>
              <a:srgbClr val="DDD5CE"/>
            </a:solidFill>
            <a:prstDash val="solid"/>
          </a:ln>
        </p:spPr>
      </p:sp>
      <p:sp>
        <p:nvSpPr>
          <p:cNvPr id="10" name="Text 8"/>
          <p:cNvSpPr/>
          <p:nvPr/>
        </p:nvSpPr>
        <p:spPr>
          <a:xfrm>
            <a:off x="868680" y="3639312"/>
            <a:ext cx="329184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PRINCIPLE &amp; THEORY</a:t>
            </a:r>
            <a:endParaRPr lang="en-US" sz="1050" dirty="0"/>
          </a:p>
        </p:txBody>
      </p:sp>
      <p:sp>
        <p:nvSpPr>
          <p:cNvPr id="11" name="Text 9"/>
          <p:cNvSpPr/>
          <p:nvPr/>
        </p:nvSpPr>
        <p:spPr>
          <a:xfrm>
            <a:off x="868680" y="3950208"/>
            <a:ext cx="4754880" cy="1719072"/>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Items arriving through a digital channel are labelled by the sender, not by their clinical urgency. A red flag can sit in the second sentence of a message the patient has marked "not urgent", and a supply failure can present as a run of missed doses attributed to nursing staff. A patient portal is checked periodically, so any symptom requiring assessment within hours must be escalated through an urgent route rather than answered in the channel it arrived in.</a:t>
            </a:r>
            <a:endParaRPr lang="en-US" sz="1150" dirty="0"/>
          </a:p>
        </p:txBody>
      </p:sp>
      <p:sp>
        <p:nvSpPr>
          <p:cNvPr id="12" name="Text 10"/>
          <p:cNvSpPr/>
          <p:nvPr/>
        </p:nvSpPr>
        <p:spPr>
          <a:xfrm>
            <a:off x="6263640" y="1554480"/>
            <a:ext cx="3200400" cy="256032"/>
          </a:xfrm>
          <a:prstGeom prst="rect">
            <a:avLst/>
          </a:prstGeom>
          <a:noFill/>
          <a:ln/>
        </p:spPr>
        <p:txBody>
          <a:bodyPr wrap="square" lIns="0" tIns="0" rIns="0" bIns="0" rtlCol="0" anchor="ctr"/>
          <a:lstStyle/>
          <a:p>
            <a:pPr indent="0" marL="0">
              <a:buNone/>
            </a:pPr>
            <a:r>
              <a:rPr lang="en-US" sz="1050" b="1" spc="160" kern="0" dirty="0">
                <a:solidFill>
                  <a:srgbClr val="8C1515"/>
                </a:solidFill>
                <a:latin typeface="Calibri" pitchFamily="34" charset="0"/>
                <a:ea typeface="Calibri" pitchFamily="34" charset="-122"/>
                <a:cs typeface="Calibri" pitchFamily="34" charset="-120"/>
              </a:rPr>
              <a:t>PROCEDURE</a:t>
            </a:r>
            <a:endParaRPr lang="en-US" sz="1050" dirty="0"/>
          </a:p>
        </p:txBody>
      </p:sp>
      <p:sp>
        <p:nvSpPr>
          <p:cNvPr id="13" name="Shape 11"/>
          <p:cNvSpPr/>
          <p:nvPr/>
        </p:nvSpPr>
        <p:spPr>
          <a:xfrm>
            <a:off x="6263640" y="1938528"/>
            <a:ext cx="292608" cy="292608"/>
          </a:xfrm>
          <a:prstGeom prst="ellipse">
            <a:avLst/>
          </a:prstGeom>
          <a:solidFill>
            <a:srgbClr val="F2E4E4"/>
          </a:solidFill>
          <a:ln/>
        </p:spPr>
      </p:sp>
      <p:sp>
        <p:nvSpPr>
          <p:cNvPr id="14" name="Text 12"/>
          <p:cNvSpPr/>
          <p:nvPr/>
        </p:nvSpPr>
        <p:spPr>
          <a:xfrm>
            <a:off x="6263640" y="1938528"/>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6675120" y="1920240"/>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Enter the desk at the start of the shift.</a:t>
            </a:r>
            <a:endParaRPr lang="en-US" sz="1150" dirty="0"/>
          </a:p>
        </p:txBody>
      </p:sp>
      <p:sp>
        <p:nvSpPr>
          <p:cNvPr id="16" name="Shape 14"/>
          <p:cNvSpPr/>
          <p:nvPr/>
        </p:nvSpPr>
        <p:spPr>
          <a:xfrm>
            <a:off x="6263640" y="2615184"/>
            <a:ext cx="292608" cy="292608"/>
          </a:xfrm>
          <a:prstGeom prst="ellipse">
            <a:avLst/>
          </a:prstGeom>
          <a:solidFill>
            <a:srgbClr val="F2E4E4"/>
          </a:solidFill>
          <a:ln/>
        </p:spPr>
      </p:sp>
      <p:sp>
        <p:nvSpPr>
          <p:cNvPr id="17" name="Text 15"/>
          <p:cNvSpPr/>
          <p:nvPr/>
        </p:nvSpPr>
        <p:spPr>
          <a:xfrm>
            <a:off x="6263640" y="2615184"/>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675120" y="2596896"/>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Open each item and read the record and operational context; what you open is recorded.</a:t>
            </a:r>
            <a:endParaRPr lang="en-US" sz="1150" dirty="0"/>
          </a:p>
        </p:txBody>
      </p:sp>
      <p:sp>
        <p:nvSpPr>
          <p:cNvPr id="19" name="Shape 17"/>
          <p:cNvSpPr/>
          <p:nvPr/>
        </p:nvSpPr>
        <p:spPr>
          <a:xfrm>
            <a:off x="6263640" y="3291840"/>
            <a:ext cx="292608" cy="292608"/>
          </a:xfrm>
          <a:prstGeom prst="ellipse">
            <a:avLst/>
          </a:prstGeom>
          <a:solidFill>
            <a:srgbClr val="F2E4E4"/>
          </a:solidFill>
          <a:ln/>
        </p:spPr>
      </p:sp>
      <p:sp>
        <p:nvSpPr>
          <p:cNvPr id="20" name="Text 18"/>
          <p:cNvSpPr/>
          <p:nvPr/>
        </p:nvSpPr>
        <p:spPr>
          <a:xfrm>
            <a:off x="6263640" y="3291840"/>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6675120" y="3273552"/>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Decide how to handle it: routine reply, telephone today, urgent escalation, or treat as a system problem.</a:t>
            </a:r>
            <a:endParaRPr lang="en-US" sz="1150" dirty="0"/>
          </a:p>
        </p:txBody>
      </p:sp>
      <p:sp>
        <p:nvSpPr>
          <p:cNvPr id="22" name="Shape 20"/>
          <p:cNvSpPr/>
          <p:nvPr/>
        </p:nvSpPr>
        <p:spPr>
          <a:xfrm>
            <a:off x="6263640" y="3968496"/>
            <a:ext cx="292608" cy="292608"/>
          </a:xfrm>
          <a:prstGeom prst="ellipse">
            <a:avLst/>
          </a:prstGeom>
          <a:solidFill>
            <a:srgbClr val="F2E4E4"/>
          </a:solidFill>
          <a:ln/>
        </p:spPr>
      </p:sp>
      <p:sp>
        <p:nvSpPr>
          <p:cNvPr id="23" name="Text 21"/>
          <p:cNvSpPr/>
          <p:nvPr/>
        </p:nvSpPr>
        <p:spPr>
          <a:xfrm>
            <a:off x="6263640" y="3968496"/>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675120" y="3950208"/>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Select the principal reason and record the decision.</a:t>
            </a:r>
            <a:endParaRPr lang="en-US" sz="1150" dirty="0"/>
          </a:p>
        </p:txBody>
      </p:sp>
      <p:sp>
        <p:nvSpPr>
          <p:cNvPr id="25" name="Shape 23"/>
          <p:cNvSpPr/>
          <p:nvPr/>
        </p:nvSpPr>
        <p:spPr>
          <a:xfrm>
            <a:off x="6263640" y="4645152"/>
            <a:ext cx="292608" cy="292608"/>
          </a:xfrm>
          <a:prstGeom prst="ellipse">
            <a:avLst/>
          </a:prstGeom>
          <a:solidFill>
            <a:srgbClr val="F2E4E4"/>
          </a:solidFill>
          <a:ln/>
        </p:spPr>
      </p:sp>
      <p:sp>
        <p:nvSpPr>
          <p:cNvPr id="26" name="Text 24"/>
          <p:cNvSpPr/>
          <p:nvPr/>
        </p:nvSpPr>
        <p:spPr>
          <a:xfrm>
            <a:off x="6263640" y="4645152"/>
            <a:ext cx="292608" cy="292608"/>
          </a:xfrm>
          <a:prstGeom prst="rect">
            <a:avLst/>
          </a:prstGeom>
          <a:noFill/>
          <a:ln/>
        </p:spPr>
        <p:txBody>
          <a:bodyPr wrap="square" lIns="0" tIns="0" rIns="0" bIns="0" rtlCol="0" anchor="ctr"/>
          <a:lstStyle/>
          <a:p>
            <a:pPr algn="ctr" indent="0" marL="0">
              <a:buNone/>
            </a:pPr>
            <a:r>
              <a:rPr lang="en-US" sz="1100" b="1" dirty="0">
                <a:solidFill>
                  <a:srgbClr val="8C1515"/>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6675120" y="4626864"/>
            <a:ext cx="5010912" cy="630936"/>
          </a:xfrm>
          <a:prstGeom prst="rect">
            <a:avLst/>
          </a:prstGeom>
          <a:noFill/>
          <a:ln/>
        </p:spPr>
        <p:txBody>
          <a:bodyPr wrap="square" lIns="0" tIns="0" rIns="0" bIns="0" rtlCol="0" anchor="ctr"/>
          <a:lstStyle/>
          <a:p>
            <a:pPr indent="0" marL="0">
              <a:lnSpc>
                <a:spcPts val="1500"/>
              </a:lnSpc>
              <a:buNone/>
            </a:pPr>
            <a:r>
              <a:rPr lang="en-US" sz="1150" dirty="0">
                <a:solidFill>
                  <a:srgbClr val="26221F"/>
                </a:solidFill>
                <a:latin typeface="Calibri" pitchFamily="34" charset="0"/>
                <a:ea typeface="Calibri" pitchFamily="34" charset="-122"/>
                <a:cs typeface="Calibri" pitchFamily="34" charset="-120"/>
              </a:rPr>
              <a:t>End the shift and review the outcomes and the two indices.</a:t>
            </a:r>
            <a:endParaRPr lang="en-US" sz="1150" dirty="0"/>
          </a:p>
        </p:txBody>
      </p:sp>
      <p:sp>
        <p:nvSpPr>
          <p:cNvPr id="28" name="Text 2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A63"/>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29" name="Text 2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8C1515"/>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9692640" y="3840480"/>
            <a:ext cx="4206240" cy="4206240"/>
          </a:xfrm>
          <a:prstGeom prst="ellipse">
            <a:avLst/>
          </a:prstGeom>
          <a:solidFill>
            <a:srgbClr val="8C1515">
              <a:alpha val="26000"/>
            </a:srgbClr>
          </a:solidFill>
          <a:ln/>
        </p:spPr>
      </p:sp>
      <p:sp>
        <p:nvSpPr>
          <p:cNvPr id="3" name="Text 1"/>
          <p:cNvSpPr/>
          <p:nvPr/>
        </p:nvSpPr>
        <p:spPr>
          <a:xfrm>
            <a:off x="777240" y="749808"/>
            <a:ext cx="8229600" cy="274320"/>
          </a:xfrm>
          <a:prstGeom prst="rect">
            <a:avLst/>
          </a:prstGeom>
          <a:noFill/>
          <a:ln/>
        </p:spPr>
        <p:txBody>
          <a:bodyPr wrap="square" lIns="0" tIns="0" rIns="0" bIns="0" rtlCol="0" anchor="ctr"/>
          <a:lstStyle/>
          <a:p>
            <a:pPr indent="0" marL="0">
              <a:buNone/>
            </a:pPr>
            <a:r>
              <a:rPr lang="en-US" sz="1100" b="1" spc="220" kern="0" dirty="0">
                <a:solidFill>
                  <a:srgbClr val="9A7B3F"/>
                </a:solidFill>
                <a:latin typeface="Calibri" pitchFamily="34" charset="0"/>
                <a:ea typeface="Calibri" pitchFamily="34" charset="-122"/>
                <a:cs typeface="Calibri" pitchFamily="34" charset="-120"/>
              </a:rPr>
              <a:t>HOW THIS MODULE IS ASSESSED</a:t>
            </a:r>
            <a:endParaRPr lang="en-US" sz="1100" dirty="0"/>
          </a:p>
        </p:txBody>
      </p:sp>
      <p:sp>
        <p:nvSpPr>
          <p:cNvPr id="4" name="Text 2"/>
          <p:cNvSpPr/>
          <p:nvPr/>
        </p:nvSpPr>
        <p:spPr>
          <a:xfrm>
            <a:off x="777240" y="1097280"/>
            <a:ext cx="100584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Completing Module 8</a:t>
            </a:r>
            <a:endParaRPr lang="en-US" sz="3400" dirty="0"/>
          </a:p>
        </p:txBody>
      </p:sp>
      <p:sp>
        <p:nvSpPr>
          <p:cNvPr id="5" name="Shape 3"/>
          <p:cNvSpPr/>
          <p:nvPr/>
        </p:nvSpPr>
        <p:spPr>
          <a:xfrm>
            <a:off x="777240" y="2048256"/>
            <a:ext cx="10607040" cy="822960"/>
          </a:xfrm>
          <a:prstGeom prst="roundRect">
            <a:avLst>
              <a:gd name="adj" fmla="val 6667"/>
            </a:avLst>
          </a:prstGeom>
          <a:solidFill>
            <a:srgbClr val="241A19"/>
          </a:solidFill>
          <a:ln w="9525">
            <a:solidFill>
              <a:srgbClr val="3E2A28"/>
            </a:solidFill>
            <a:prstDash val="solid"/>
          </a:ln>
        </p:spPr>
      </p:sp>
      <p:sp>
        <p:nvSpPr>
          <p:cNvPr id="6" name="Text 4"/>
          <p:cNvSpPr/>
          <p:nvPr/>
        </p:nvSpPr>
        <p:spPr>
          <a:xfrm>
            <a:off x="1143000" y="2048256"/>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Practicals</a:t>
            </a:r>
            <a:endParaRPr lang="en-US" sz="1300" dirty="0"/>
          </a:p>
        </p:txBody>
      </p:sp>
      <p:sp>
        <p:nvSpPr>
          <p:cNvPr id="7" name="Text 5"/>
          <p:cNvSpPr/>
          <p:nvPr/>
        </p:nvSpPr>
        <p:spPr>
          <a:xfrm>
            <a:off x="3200400" y="2048256"/>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Complete all 5 practicals on ALIZON OS. Every submission is evaluated by faculty.</a:t>
            </a:r>
            <a:endParaRPr lang="en-US" sz="1250" dirty="0"/>
          </a:p>
        </p:txBody>
      </p:sp>
      <p:sp>
        <p:nvSpPr>
          <p:cNvPr id="8" name="Shape 6"/>
          <p:cNvSpPr/>
          <p:nvPr/>
        </p:nvSpPr>
        <p:spPr>
          <a:xfrm>
            <a:off x="777240" y="3017520"/>
            <a:ext cx="10607040" cy="822960"/>
          </a:xfrm>
          <a:prstGeom prst="roundRect">
            <a:avLst>
              <a:gd name="adj" fmla="val 6667"/>
            </a:avLst>
          </a:prstGeom>
          <a:solidFill>
            <a:srgbClr val="241A19"/>
          </a:solidFill>
          <a:ln w="9525">
            <a:solidFill>
              <a:srgbClr val="3E2A28"/>
            </a:solidFill>
            <a:prstDash val="solid"/>
          </a:ln>
        </p:spPr>
      </p:sp>
      <p:sp>
        <p:nvSpPr>
          <p:cNvPr id="9" name="Text 7"/>
          <p:cNvSpPr/>
          <p:nvPr/>
        </p:nvSpPr>
        <p:spPr>
          <a:xfrm>
            <a:off x="1143000" y="3017520"/>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Attendance</a:t>
            </a:r>
            <a:endParaRPr lang="en-US" sz="1300" dirty="0"/>
          </a:p>
        </p:txBody>
      </p:sp>
      <p:sp>
        <p:nvSpPr>
          <p:cNvPr id="10" name="Text 8"/>
          <p:cNvSpPr/>
          <p:nvPr/>
        </p:nvSpPr>
        <p:spPr>
          <a:xfrm>
            <a:off x="3200400" y="3017520"/>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Attendance is recorded automatically from submitted work — signing in alone does not count.</a:t>
            </a:r>
            <a:endParaRPr lang="en-US" sz="1250" dirty="0"/>
          </a:p>
        </p:txBody>
      </p:sp>
      <p:sp>
        <p:nvSpPr>
          <p:cNvPr id="11" name="Shape 9"/>
          <p:cNvSpPr/>
          <p:nvPr/>
        </p:nvSpPr>
        <p:spPr>
          <a:xfrm>
            <a:off x="777240" y="3986784"/>
            <a:ext cx="10607040" cy="822960"/>
          </a:xfrm>
          <a:prstGeom prst="roundRect">
            <a:avLst>
              <a:gd name="adj" fmla="val 6667"/>
            </a:avLst>
          </a:prstGeom>
          <a:solidFill>
            <a:srgbClr val="241A19"/>
          </a:solidFill>
          <a:ln w="9525">
            <a:solidFill>
              <a:srgbClr val="3E2A28"/>
            </a:solidFill>
            <a:prstDash val="solid"/>
          </a:ln>
        </p:spPr>
      </p:sp>
      <p:sp>
        <p:nvSpPr>
          <p:cNvPr id="12" name="Text 10"/>
          <p:cNvSpPr/>
          <p:nvPr/>
        </p:nvSpPr>
        <p:spPr>
          <a:xfrm>
            <a:off x="1143000" y="3986784"/>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Examination</a:t>
            </a:r>
            <a:endParaRPr lang="en-US" sz="1300" dirty="0"/>
          </a:p>
        </p:txBody>
      </p:sp>
      <p:sp>
        <p:nvSpPr>
          <p:cNvPr id="13" name="Text 11"/>
          <p:cNvSpPr/>
          <p:nvPr/>
        </p:nvSpPr>
        <p:spPr>
          <a:xfrm>
            <a:off x="3200400" y="3986784"/>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100 multiple-choice questions across 4 units. Practise on the mock paper before the internal examination.</a:t>
            </a:r>
            <a:endParaRPr lang="en-US" sz="1250" dirty="0"/>
          </a:p>
        </p:txBody>
      </p:sp>
      <p:sp>
        <p:nvSpPr>
          <p:cNvPr id="14" name="Shape 12"/>
          <p:cNvSpPr/>
          <p:nvPr/>
        </p:nvSpPr>
        <p:spPr>
          <a:xfrm>
            <a:off x="777240" y="4956048"/>
            <a:ext cx="10607040" cy="822960"/>
          </a:xfrm>
          <a:prstGeom prst="roundRect">
            <a:avLst>
              <a:gd name="adj" fmla="val 6667"/>
            </a:avLst>
          </a:prstGeom>
          <a:solidFill>
            <a:srgbClr val="241A19"/>
          </a:solidFill>
          <a:ln w="9525">
            <a:solidFill>
              <a:srgbClr val="3E2A28"/>
            </a:solidFill>
            <a:prstDash val="solid"/>
          </a:ln>
        </p:spPr>
      </p:sp>
      <p:sp>
        <p:nvSpPr>
          <p:cNvPr id="15" name="Text 13"/>
          <p:cNvSpPr/>
          <p:nvPr/>
        </p:nvSpPr>
        <p:spPr>
          <a:xfrm>
            <a:off x="1143000" y="4956048"/>
            <a:ext cx="2103120" cy="822960"/>
          </a:xfrm>
          <a:prstGeom prst="rect">
            <a:avLst/>
          </a:prstGeom>
          <a:noFill/>
          <a:ln/>
        </p:spPr>
        <p:txBody>
          <a:bodyPr wrap="square" lIns="0" tIns="0" rIns="0" bIns="0" rtlCol="0" anchor="ctr"/>
          <a:lstStyle/>
          <a:p>
            <a:pPr indent="0" marL="0">
              <a:buNone/>
            </a:pPr>
            <a:r>
              <a:rPr lang="en-US" sz="1300" b="1" dirty="0">
                <a:solidFill>
                  <a:srgbClr val="F0C9C9"/>
                </a:solidFill>
                <a:latin typeface="Calibri" pitchFamily="34" charset="0"/>
                <a:ea typeface="Calibri" pitchFamily="34" charset="-122"/>
                <a:cs typeface="Calibri" pitchFamily="34" charset="-120"/>
              </a:rPr>
              <a:t>Certificate</a:t>
            </a:r>
            <a:endParaRPr lang="en-US" sz="1300" dirty="0"/>
          </a:p>
        </p:txBody>
      </p:sp>
      <p:sp>
        <p:nvSpPr>
          <p:cNvPr id="16" name="Text 14"/>
          <p:cNvSpPr/>
          <p:nvPr/>
        </p:nvSpPr>
        <p:spPr>
          <a:xfrm>
            <a:off x="3200400" y="4956048"/>
            <a:ext cx="7955280" cy="822960"/>
          </a:xfrm>
          <a:prstGeom prst="rect">
            <a:avLst/>
          </a:prstGeom>
          <a:noFill/>
          <a:ln/>
        </p:spPr>
        <p:txBody>
          <a:bodyPr wrap="square" lIns="0" tIns="0" rIns="0" bIns="0" rtlCol="0" anchor="ctr"/>
          <a:lstStyle/>
          <a:p>
            <a:pPr indent="0" marL="0">
              <a:lnSpc>
                <a:spcPts val="1700"/>
              </a:lnSpc>
              <a:buNone/>
            </a:pPr>
            <a:r>
              <a:rPr lang="en-US" sz="1250" dirty="0">
                <a:solidFill>
                  <a:srgbClr val="D8CFC9"/>
                </a:solidFill>
                <a:latin typeface="Calibri" pitchFamily="34" charset="0"/>
                <a:ea typeface="Calibri" pitchFamily="34" charset="-122"/>
                <a:cs typeface="Calibri" pitchFamily="34" charset="-120"/>
              </a:rPr>
              <a:t>Faculty-verified practicals earn a Certificate of Practical Experience, with the hours set by the institution.</a:t>
            </a:r>
            <a:endParaRPr lang="en-US" sz="1250" dirty="0"/>
          </a:p>
        </p:txBody>
      </p:sp>
      <p:sp>
        <p:nvSpPr>
          <p:cNvPr id="17" name="Text 15"/>
          <p:cNvSpPr/>
          <p:nvPr/>
        </p:nvSpPr>
        <p:spPr>
          <a:xfrm>
            <a:off x="777240" y="6053328"/>
            <a:ext cx="10607040" cy="310896"/>
          </a:xfrm>
          <a:prstGeom prst="rect">
            <a:avLst/>
          </a:prstGeom>
          <a:noFill/>
          <a:ln/>
        </p:spPr>
        <p:txBody>
          <a:bodyPr wrap="square" lIns="0" tIns="0" rIns="0" bIns="0" rtlCol="0" anchor="ctr"/>
          <a:lstStyle/>
          <a:p>
            <a:pPr indent="0" marL="0">
              <a:buNone/>
            </a:pPr>
            <a:r>
              <a:rPr lang="en-US" sz="1150" dirty="0">
                <a:solidFill>
                  <a:srgbClr val="9A7B3F"/>
                </a:solidFill>
                <a:latin typeface="Calibri" pitchFamily="34" charset="0"/>
                <a:ea typeface="Calibri" pitchFamily="34" charset="-122"/>
                <a:cs typeface="Calibri" pitchFamily="34" charset="-120"/>
              </a:rPr>
              <a:t>Study material, practicals, mock papers and results · alizon.in      Institution · www.alizongov.com</a:t>
            </a:r>
            <a:endParaRPr lang="en-US" sz="1150" dirty="0"/>
          </a:p>
        </p:txBody>
      </p:sp>
      <p:sp>
        <p:nvSpPr>
          <p:cNvPr id="18" name="Text 16"/>
          <p:cNvSpPr/>
          <p:nvPr/>
        </p:nvSpPr>
        <p:spPr>
          <a:xfrm>
            <a:off x="502920" y="6400800"/>
            <a:ext cx="8778240" cy="256032"/>
          </a:xfrm>
          <a:prstGeom prst="rect">
            <a:avLst/>
          </a:prstGeom>
          <a:noFill/>
          <a:ln/>
        </p:spPr>
        <p:txBody>
          <a:bodyPr wrap="square" lIns="0" tIns="0" rIns="0" bIns="0" rtlCol="0" anchor="ctr"/>
          <a:lstStyle/>
          <a:p>
            <a:pPr indent="0" marL="0">
              <a:buNone/>
            </a:pPr>
            <a:r>
              <a:rPr lang="en-US" sz="950" dirty="0">
                <a:solidFill>
                  <a:srgbClr val="6E6058"/>
                </a:solidFill>
                <a:latin typeface="Calibri" pitchFamily="34" charset="0"/>
                <a:ea typeface="Calibri" pitchFamily="34" charset="-122"/>
                <a:cs typeface="Calibri" pitchFamily="34" charset="-120"/>
              </a:rPr>
              <a:t>Module 8 · AI-Enabled Clinical Case Studies &amp; Simulations</a:t>
            </a:r>
            <a:endParaRPr lang="en-US" sz="950" dirty="0"/>
          </a:p>
        </p:txBody>
      </p:sp>
      <p:sp>
        <p:nvSpPr>
          <p:cNvPr id="19" name="Text 17"/>
          <p:cNvSpPr/>
          <p:nvPr/>
        </p:nvSpPr>
        <p:spPr>
          <a:xfrm>
            <a:off x="11231575" y="6382512"/>
            <a:ext cx="457200" cy="292608"/>
          </a:xfrm>
          <a:prstGeom prst="rect">
            <a:avLst/>
          </a:prstGeom>
          <a:noFill/>
          <a:ln/>
        </p:spPr>
        <p:txBody>
          <a:bodyPr wrap="square" lIns="0" tIns="0" rIns="0" bIns="0" rtlCol="0" anchor="ctr"/>
          <a:lstStyle/>
          <a:p>
            <a:pPr algn="r" indent="0" marL="0">
              <a:buNone/>
            </a:pPr>
            <a:r>
              <a:rPr lang="en-US" sz="1050" b="1" dirty="0">
                <a:solidFill>
                  <a:srgbClr val="9A7B3F"/>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 AI-Enabled Clinical Case Studies &amp; Simulations</dc:title>
  <dc:subject>Certificate Course in Digital Health &amp; Artificial Intelligence for Pharmacy</dc:subject>
  <dc:creator>Alizon School of Medical &amp; Digital Intelligence</dc:creator>
  <cp:lastModifiedBy>Alizon School of Medical &amp; Digital Intelligence</cp:lastModifiedBy>
  <cp:revision>1</cp:revision>
  <dcterms:created xsi:type="dcterms:W3CDTF">2026-08-10T05:52:32Z</dcterms:created>
  <dcterms:modified xsi:type="dcterms:W3CDTF">2026-08-10T05:52:32Z</dcterms:modified>
</cp:coreProperties>
</file>