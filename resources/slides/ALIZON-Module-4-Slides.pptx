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8C1515">
              <a:alpha val="28000"/>
            </a:srgbClr>
          </a:solidFill>
          <a:ln/>
        </p:spPr>
      </p:sp>
      <p:sp>
        <p:nvSpPr>
          <p:cNvPr id="3" name="Shape 1"/>
          <p:cNvSpPr/>
          <p:nvPr/>
        </p:nvSpPr>
        <p:spPr>
          <a:xfrm>
            <a:off x="10607040" y="4297680"/>
            <a:ext cx="2926080" cy="2926080"/>
          </a:xfrm>
          <a:prstGeom prst="ellipse">
            <a:avLst/>
          </a:prstGeom>
          <a:solidFill>
            <a:srgbClr val="9A7B3F">
              <a:alpha val="20000"/>
            </a:srgbClr>
          </a:solidFill>
          <a:ln/>
        </p:spPr>
      </p:sp>
      <p:sp>
        <p:nvSpPr>
          <p:cNvPr id="4" name="Text 2"/>
          <p:cNvSpPr/>
          <p:nvPr/>
        </p:nvSpPr>
        <p:spPr>
          <a:xfrm>
            <a:off x="777240" y="777240"/>
            <a:ext cx="9692640" cy="274320"/>
          </a:xfrm>
          <a:prstGeom prst="rect">
            <a:avLst/>
          </a:prstGeom>
          <a:noFill/>
          <a:ln/>
        </p:spPr>
        <p:txBody>
          <a:bodyPr wrap="square" lIns="0" tIns="0" rIns="0" bIns="0" rtlCol="0" anchor="ctr"/>
          <a:lstStyle/>
          <a:p>
            <a:pPr indent="0" marL="0">
              <a:buNone/>
            </a:pPr>
            <a:r>
              <a:rPr lang="en-US" sz="1100" b="1" spc="220" kern="0" dirty="0">
                <a:solidFill>
                  <a:srgbClr val="E8B4B4"/>
                </a:solidFill>
                <a:latin typeface="Calibri" pitchFamily="34" charset="0"/>
                <a:ea typeface="Calibri" pitchFamily="34" charset="-122"/>
                <a:cs typeface="Calibri" pitchFamily="34" charset="-120"/>
              </a:rPr>
              <a:t>ALIZON SCHOOL OF MEDICAL &amp; DIGITAL INTELLIGENCE</a:t>
            </a:r>
            <a:endParaRPr lang="en-US" sz="1100" dirty="0"/>
          </a:p>
        </p:txBody>
      </p:sp>
      <p:sp>
        <p:nvSpPr>
          <p:cNvPr id="5" name="Text 3"/>
          <p:cNvSpPr/>
          <p:nvPr/>
        </p:nvSpPr>
        <p:spPr>
          <a:xfrm>
            <a:off x="777240" y="1444752"/>
            <a:ext cx="8229600" cy="548640"/>
          </a:xfrm>
          <a:prstGeom prst="rect">
            <a:avLst/>
          </a:prstGeom>
          <a:noFill/>
          <a:ln/>
        </p:spPr>
        <p:txBody>
          <a:bodyPr wrap="square" lIns="0" tIns="0" rIns="0" bIns="0" rtlCol="0" anchor="ctr"/>
          <a:lstStyle/>
          <a:p>
            <a:pPr indent="0" marL="0">
              <a:buNone/>
            </a:pPr>
            <a:r>
              <a:rPr lang="en-US" sz="2000" dirty="0">
                <a:solidFill>
                  <a:srgbClr val="9A7B3F"/>
                </a:solidFill>
                <a:latin typeface="Calibri" pitchFamily="34" charset="0"/>
                <a:ea typeface="Calibri" pitchFamily="34" charset="-122"/>
                <a:cs typeface="Calibri" pitchFamily="34" charset="-120"/>
              </a:rPr>
              <a:t>Module 4</a:t>
            </a:r>
            <a:endParaRPr lang="en-US" sz="2000" dirty="0"/>
          </a:p>
        </p:txBody>
      </p:sp>
      <p:sp>
        <p:nvSpPr>
          <p:cNvPr id="6" name="Text 4"/>
          <p:cNvSpPr/>
          <p:nvPr/>
        </p:nvSpPr>
        <p:spPr>
          <a:xfrm>
            <a:off x="777240" y="1993392"/>
            <a:ext cx="9692640" cy="1920240"/>
          </a:xfrm>
          <a:prstGeom prst="rect">
            <a:avLst/>
          </a:prstGeom>
          <a:noFill/>
          <a:ln/>
        </p:spPr>
        <p:txBody>
          <a:bodyPr wrap="square" lIns="0" tIns="0" rIns="0" bIns="0" rtlCol="0" anchor="ctr"/>
          <a:lstStyle/>
          <a:p>
            <a:pPr indent="0" marL="0">
              <a:lnSpc>
                <a:spcPts val="4800"/>
              </a:lnSpc>
              <a:buNone/>
            </a:pPr>
            <a:r>
              <a:rPr lang="en-US" sz="4100" b="1" dirty="0">
                <a:solidFill>
                  <a:srgbClr val="FFFFFF"/>
                </a:solidFill>
                <a:latin typeface="Cambria" pitchFamily="34" charset="0"/>
                <a:ea typeface="Cambria" pitchFamily="34" charset="-122"/>
                <a:cs typeface="Cambria" pitchFamily="34" charset="-120"/>
              </a:rPr>
              <a:t>AI in Drug Development, Vaccines &amp; Injectables</a:t>
            </a:r>
            <a:endParaRPr lang="en-US" sz="4100" dirty="0"/>
          </a:p>
        </p:txBody>
      </p:sp>
      <p:sp>
        <p:nvSpPr>
          <p:cNvPr id="7" name="Text 5"/>
          <p:cNvSpPr/>
          <p:nvPr/>
        </p:nvSpPr>
        <p:spPr>
          <a:xfrm>
            <a:off x="777240" y="4023360"/>
            <a:ext cx="8961120" cy="384048"/>
          </a:xfrm>
          <a:prstGeom prst="rect">
            <a:avLst/>
          </a:prstGeom>
          <a:noFill/>
          <a:ln/>
        </p:spPr>
        <p:txBody>
          <a:bodyPr wrap="square" lIns="0" tIns="0" rIns="0" bIns="0" rtlCol="0" anchor="ctr"/>
          <a:lstStyle/>
          <a:p>
            <a:pPr indent="0" marL="0">
              <a:buNone/>
            </a:pPr>
            <a:r>
              <a:rPr lang="en-US" sz="1600" i="1" dirty="0">
                <a:solidFill>
                  <a:srgbClr val="C9C2BA"/>
                </a:solidFill>
                <a:latin typeface="Calibri" pitchFamily="34" charset="0"/>
                <a:ea typeface="Calibri" pitchFamily="34" charset="-122"/>
                <a:cs typeface="Calibri" pitchFamily="34" charset="-120"/>
              </a:rPr>
              <a:t>Discovery, Sterile Products and the Cold Chain</a:t>
            </a:r>
            <a:endParaRPr lang="en-US" sz="1600" dirty="0"/>
          </a:p>
        </p:txBody>
      </p:sp>
      <p:sp>
        <p:nvSpPr>
          <p:cNvPr id="8" name="Text 6"/>
          <p:cNvSpPr/>
          <p:nvPr/>
        </p:nvSpPr>
        <p:spPr>
          <a:xfrm>
            <a:off x="777240" y="4846320"/>
            <a:ext cx="9509760" cy="868680"/>
          </a:xfrm>
          <a:prstGeom prst="rect">
            <a:avLst/>
          </a:prstGeom>
          <a:noFill/>
          <a:ln/>
        </p:spPr>
        <p:txBody>
          <a:bodyPr wrap="square" lIns="0" tIns="0" rIns="0" bIns="0" rtlCol="0" anchor="ctr"/>
          <a:lstStyle/>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Certificate Course in Digital Health &amp; Artificial Intelligence for Pharmacy</a:t>
            </a:r>
            <a:endParaRPr lang="en-US" sz="1300" dirty="0"/>
          </a:p>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4 units  ·  3 assessed practicals  ·  100 examination questions</a:t>
            </a:r>
            <a:endParaRPr lang="en-US" sz="1300" dirty="0"/>
          </a:p>
        </p:txBody>
      </p:sp>
      <p:sp>
        <p:nvSpPr>
          <p:cNvPr id="9" name="Text 7"/>
          <p:cNvSpPr/>
          <p:nvPr/>
        </p:nvSpPr>
        <p:spPr>
          <a:xfrm>
            <a:off x="777240" y="6291072"/>
            <a:ext cx="7315200" cy="274320"/>
          </a:xfrm>
          <a:prstGeom prst="rect">
            <a:avLst/>
          </a:prstGeom>
          <a:noFill/>
          <a:ln/>
        </p:spPr>
        <p:txBody>
          <a:bodyPr wrap="square" lIns="0" tIns="0" rIns="0" bIns="0" rtlCol="0" anchor="ctr"/>
          <a:lstStyle/>
          <a:p>
            <a:pPr indent="0" marL="0">
              <a:buNone/>
            </a:pPr>
            <a:r>
              <a:rPr lang="en-US" sz="1000" dirty="0">
                <a:solidFill>
                  <a:srgbClr val="6E6058"/>
                </a:solidFill>
                <a:latin typeface="Calibri" pitchFamily="34" charset="0"/>
                <a:ea typeface="Calibri" pitchFamily="34" charset="-122"/>
                <a:cs typeface="Calibri" pitchFamily="34" charset="-120"/>
              </a:rPr>
              <a:t>ASAP Kerala  ·  www.alizongov.com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MAP</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this module covers</a:t>
            </a:r>
            <a:endParaRPr lang="en-US" sz="2900" dirty="0"/>
          </a:p>
        </p:txBody>
      </p:sp>
      <p:sp>
        <p:nvSpPr>
          <p:cNvPr id="6" name="Shape 4"/>
          <p:cNvSpPr/>
          <p:nvPr/>
        </p:nvSpPr>
        <p:spPr>
          <a:xfrm>
            <a:off x="502920" y="1481328"/>
            <a:ext cx="5440680" cy="1371600"/>
          </a:xfrm>
          <a:prstGeom prst="roundRect">
            <a:avLst>
              <a:gd name="adj" fmla="val 4000"/>
            </a:avLst>
          </a:prstGeom>
          <a:solidFill>
            <a:srgbClr val="FAF8F6"/>
          </a:solidFill>
          <a:ln w="9525">
            <a:solidFill>
              <a:srgbClr val="DDD5CE"/>
            </a:solidFill>
            <a:prstDash val="solid"/>
          </a:ln>
        </p:spPr>
      </p:sp>
      <p:sp>
        <p:nvSpPr>
          <p:cNvPr id="7" name="Shape 5"/>
          <p:cNvSpPr/>
          <p:nvPr/>
        </p:nvSpPr>
        <p:spPr>
          <a:xfrm>
            <a:off x="740664" y="1755648"/>
            <a:ext cx="384048" cy="384048"/>
          </a:xfrm>
          <a:prstGeom prst="ellipse">
            <a:avLst/>
          </a:prstGeom>
          <a:solidFill>
            <a:srgbClr val="8C1515"/>
          </a:solidFill>
          <a:ln/>
        </p:spPr>
      </p:sp>
      <p:sp>
        <p:nvSpPr>
          <p:cNvPr id="8" name="Text 6"/>
          <p:cNvSpPr/>
          <p:nvPr/>
        </p:nvSpPr>
        <p:spPr>
          <a:xfrm>
            <a:off x="74066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25272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AI in Drug Discovery &amp; Molecular Targeting</a:t>
            </a:r>
            <a:endParaRPr lang="en-US" sz="1350" dirty="0"/>
          </a:p>
        </p:txBody>
      </p:sp>
      <p:sp>
        <p:nvSpPr>
          <p:cNvPr id="10" name="Text 8"/>
          <p:cNvSpPr/>
          <p:nvPr/>
        </p:nvSpPr>
        <p:spPr>
          <a:xfrm>
            <a:off x="125272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Drug Discovery Pipeline and Target Identification · AI-Based Molecular Modelling and Screening · Lead Compound Selection and…</a:t>
            </a:r>
            <a:endParaRPr lang="en-US" sz="1050" dirty="0"/>
          </a:p>
        </p:txBody>
      </p:sp>
      <p:sp>
        <p:nvSpPr>
          <p:cNvPr id="11" name="Shape 9"/>
          <p:cNvSpPr/>
          <p:nvPr/>
        </p:nvSpPr>
        <p:spPr>
          <a:xfrm>
            <a:off x="6263640" y="1481328"/>
            <a:ext cx="5440680" cy="1371600"/>
          </a:xfrm>
          <a:prstGeom prst="roundRect">
            <a:avLst>
              <a:gd name="adj" fmla="val 4000"/>
            </a:avLst>
          </a:prstGeom>
          <a:solidFill>
            <a:srgbClr val="FAF8F6"/>
          </a:solidFill>
          <a:ln w="9525">
            <a:solidFill>
              <a:srgbClr val="DDD5CE"/>
            </a:solidFill>
            <a:prstDash val="solid"/>
          </a:ln>
        </p:spPr>
      </p:sp>
      <p:sp>
        <p:nvSpPr>
          <p:cNvPr id="12" name="Shape 10"/>
          <p:cNvSpPr/>
          <p:nvPr/>
        </p:nvSpPr>
        <p:spPr>
          <a:xfrm>
            <a:off x="6501384" y="1755648"/>
            <a:ext cx="384048" cy="384048"/>
          </a:xfrm>
          <a:prstGeom prst="ellipse">
            <a:avLst/>
          </a:prstGeom>
          <a:solidFill>
            <a:srgbClr val="8C1515"/>
          </a:solidFill>
          <a:ln/>
        </p:spPr>
      </p:sp>
      <p:sp>
        <p:nvSpPr>
          <p:cNvPr id="13" name="Text 11"/>
          <p:cNvSpPr/>
          <p:nvPr/>
        </p:nvSpPr>
        <p:spPr>
          <a:xfrm>
            <a:off x="650138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701344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AI Support in Scientific Research &amp; Data Analysis</a:t>
            </a:r>
            <a:endParaRPr lang="en-US" sz="1350" dirty="0"/>
          </a:p>
        </p:txBody>
      </p:sp>
      <p:sp>
        <p:nvSpPr>
          <p:cNvPr id="15" name="Text 13"/>
          <p:cNvSpPr/>
          <p:nvPr/>
        </p:nvSpPr>
        <p:spPr>
          <a:xfrm>
            <a:off x="701344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AI Support for Scientific Writing · AI-Assisted Literature Review &amp; Reference Management · AI-Supported Biostatistical…</a:t>
            </a:r>
            <a:endParaRPr lang="en-US" sz="1050" dirty="0"/>
          </a:p>
        </p:txBody>
      </p:sp>
      <p:sp>
        <p:nvSpPr>
          <p:cNvPr id="16" name="Shape 14"/>
          <p:cNvSpPr/>
          <p:nvPr/>
        </p:nvSpPr>
        <p:spPr>
          <a:xfrm>
            <a:off x="502920" y="3054096"/>
            <a:ext cx="5440680" cy="1371600"/>
          </a:xfrm>
          <a:prstGeom prst="roundRect">
            <a:avLst>
              <a:gd name="adj" fmla="val 4000"/>
            </a:avLst>
          </a:prstGeom>
          <a:solidFill>
            <a:srgbClr val="FAF8F6"/>
          </a:solidFill>
          <a:ln w="9525">
            <a:solidFill>
              <a:srgbClr val="DDD5CE"/>
            </a:solidFill>
            <a:prstDash val="solid"/>
          </a:ln>
        </p:spPr>
      </p:sp>
      <p:sp>
        <p:nvSpPr>
          <p:cNvPr id="17" name="Shape 15"/>
          <p:cNvSpPr/>
          <p:nvPr/>
        </p:nvSpPr>
        <p:spPr>
          <a:xfrm>
            <a:off x="740664" y="3328416"/>
            <a:ext cx="384048" cy="384048"/>
          </a:xfrm>
          <a:prstGeom prst="ellipse">
            <a:avLst/>
          </a:prstGeom>
          <a:solidFill>
            <a:srgbClr val="8C1515"/>
          </a:solidFill>
          <a:ln/>
        </p:spPr>
      </p:sp>
      <p:sp>
        <p:nvSpPr>
          <p:cNvPr id="18" name="Text 16"/>
          <p:cNvSpPr/>
          <p:nvPr/>
        </p:nvSpPr>
        <p:spPr>
          <a:xfrm>
            <a:off x="74066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25272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Injectable Medicines &amp; Sterile Products</a:t>
            </a:r>
            <a:endParaRPr lang="en-US" sz="1350" dirty="0"/>
          </a:p>
        </p:txBody>
      </p:sp>
      <p:sp>
        <p:nvSpPr>
          <p:cNvPr id="20" name="Text 18"/>
          <p:cNvSpPr/>
          <p:nvPr/>
        </p:nvSpPr>
        <p:spPr>
          <a:xfrm>
            <a:off x="125272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Types of Injectables and AI-Based Route Optimization · AI in Aseptic Processing and Sterility Assurance · AI in Quality…</a:t>
            </a:r>
            <a:endParaRPr lang="en-US" sz="1050" dirty="0"/>
          </a:p>
        </p:txBody>
      </p:sp>
      <p:sp>
        <p:nvSpPr>
          <p:cNvPr id="21" name="Shape 19"/>
          <p:cNvSpPr/>
          <p:nvPr/>
        </p:nvSpPr>
        <p:spPr>
          <a:xfrm>
            <a:off x="6263640" y="3054096"/>
            <a:ext cx="5440680" cy="1371600"/>
          </a:xfrm>
          <a:prstGeom prst="roundRect">
            <a:avLst>
              <a:gd name="adj" fmla="val 4000"/>
            </a:avLst>
          </a:prstGeom>
          <a:solidFill>
            <a:srgbClr val="FAF8F6"/>
          </a:solidFill>
          <a:ln w="9525">
            <a:solidFill>
              <a:srgbClr val="DDD5CE"/>
            </a:solidFill>
            <a:prstDash val="solid"/>
          </a:ln>
        </p:spPr>
      </p:sp>
      <p:sp>
        <p:nvSpPr>
          <p:cNvPr id="22" name="Shape 20"/>
          <p:cNvSpPr/>
          <p:nvPr/>
        </p:nvSpPr>
        <p:spPr>
          <a:xfrm>
            <a:off x="6501384" y="3328416"/>
            <a:ext cx="384048" cy="384048"/>
          </a:xfrm>
          <a:prstGeom prst="ellipse">
            <a:avLst/>
          </a:prstGeom>
          <a:solidFill>
            <a:srgbClr val="8C1515"/>
          </a:solidFill>
          <a:ln/>
        </p:spPr>
      </p:sp>
      <p:sp>
        <p:nvSpPr>
          <p:cNvPr id="23" name="Text 21"/>
          <p:cNvSpPr/>
          <p:nvPr/>
        </p:nvSpPr>
        <p:spPr>
          <a:xfrm>
            <a:off x="650138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701344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Vaccines &amp; Cold-Chain Analytics</a:t>
            </a:r>
            <a:endParaRPr lang="en-US" sz="1350" dirty="0"/>
          </a:p>
        </p:txBody>
      </p:sp>
      <p:sp>
        <p:nvSpPr>
          <p:cNvPr id="25" name="Text 23"/>
          <p:cNvSpPr/>
          <p:nvPr/>
        </p:nvSpPr>
        <p:spPr>
          <a:xfrm>
            <a:off x="701344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Vaccine Types and Development Stages · Storage, Transportation and Temperature Monitoring · Digital Cold-Chain Tracking…</a:t>
            </a:r>
            <a:endParaRPr lang="en-US" sz="1050" dirty="0"/>
          </a:p>
        </p:txBody>
      </p:sp>
      <p:sp>
        <p:nvSpPr>
          <p:cNvPr id="26" name="Shape 24"/>
          <p:cNvSpPr/>
          <p:nvPr/>
        </p:nvSpPr>
        <p:spPr>
          <a:xfrm>
            <a:off x="502920" y="4681728"/>
            <a:ext cx="11183112" cy="987552"/>
          </a:xfrm>
          <a:prstGeom prst="roundRect">
            <a:avLst>
              <a:gd name="adj" fmla="val 5556"/>
            </a:avLst>
          </a:prstGeom>
          <a:solidFill>
            <a:srgbClr val="2E1010"/>
          </a:solidFill>
          <a:ln w="9525">
            <a:solidFill>
              <a:srgbClr val="46201F"/>
            </a:solidFill>
            <a:prstDash val="solid"/>
          </a:ln>
        </p:spPr>
      </p:sp>
      <p:sp>
        <p:nvSpPr>
          <p:cNvPr id="27" name="Text 25"/>
          <p:cNvSpPr/>
          <p:nvPr/>
        </p:nvSpPr>
        <p:spPr>
          <a:xfrm>
            <a:off x="868680" y="4846320"/>
            <a:ext cx="3291840" cy="292608"/>
          </a:xfrm>
          <a:prstGeom prst="rect">
            <a:avLst/>
          </a:prstGeom>
          <a:noFill/>
          <a:ln/>
        </p:spPr>
        <p:txBody>
          <a:bodyPr wrap="square" lIns="0" tIns="0" rIns="0" bIns="0" rtlCol="0" anchor="ctr"/>
          <a:lstStyle/>
          <a:p>
            <a:pPr indent="0" marL="0">
              <a:buNone/>
            </a:pPr>
            <a:r>
              <a:rPr lang="en-US" sz="1350" b="1" dirty="0">
                <a:solidFill>
                  <a:srgbClr val="F0C9C9"/>
                </a:solidFill>
                <a:latin typeface="Calibri" pitchFamily="34" charset="0"/>
                <a:ea typeface="Calibri" pitchFamily="34" charset="-122"/>
                <a:cs typeface="Calibri" pitchFamily="34" charset="-120"/>
              </a:rPr>
              <a:t>3 assessed practicals</a:t>
            </a:r>
            <a:endParaRPr lang="en-US" sz="1350" dirty="0"/>
          </a:p>
        </p:txBody>
      </p:sp>
      <p:sp>
        <p:nvSpPr>
          <p:cNvPr id="28" name="Text 26"/>
          <p:cNvSpPr/>
          <p:nvPr/>
        </p:nvSpPr>
        <p:spPr>
          <a:xfrm>
            <a:off x="868680" y="5157216"/>
            <a:ext cx="10515600" cy="384048"/>
          </a:xfrm>
          <a:prstGeom prst="rect">
            <a:avLst/>
          </a:prstGeom>
          <a:noFill/>
          <a:ln/>
        </p:spPr>
        <p:txBody>
          <a:bodyPr wrap="square" lIns="0" tIns="0" rIns="0" bIns="0" rtlCol="0" anchor="ctr"/>
          <a:lstStyle/>
          <a:p>
            <a:pPr indent="0" marL="0">
              <a:buNone/>
            </a:pPr>
            <a:r>
              <a:rPr lang="en-US" sz="1150" dirty="0">
                <a:solidFill>
                  <a:srgbClr val="E7DCD8"/>
                </a:solidFill>
                <a:latin typeface="Calibri" pitchFamily="34" charset="0"/>
                <a:ea typeface="Calibri" pitchFamily="34" charset="-122"/>
                <a:cs typeface="Calibri" pitchFamily="34" charset="-120"/>
              </a:rPr>
              <a:t>Research Data Analysis Bench · Batch Record Review &amp; Data Integrity Audit · Vaccine Cold-Chain Control Room</a:t>
            </a:r>
            <a:endParaRPr lang="en-US" sz="1150" dirty="0"/>
          </a:p>
        </p:txBody>
      </p:sp>
      <p:sp>
        <p:nvSpPr>
          <p:cNvPr id="29" name="Text 2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30" name="Text 2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LEARNING OUTCOMES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you will be able to do</a:t>
            </a:r>
            <a:endParaRPr lang="en-US" sz="2900" dirty="0"/>
          </a:p>
        </p:txBody>
      </p:sp>
      <p:sp>
        <p:nvSpPr>
          <p:cNvPr id="6" name="Shape 4"/>
          <p:cNvSpPr/>
          <p:nvPr/>
        </p:nvSpPr>
        <p:spPr>
          <a:xfrm>
            <a:off x="502920" y="1591056"/>
            <a:ext cx="310896" cy="310896"/>
          </a:xfrm>
          <a:prstGeom prst="ellipse">
            <a:avLst/>
          </a:prstGeom>
          <a:solidFill>
            <a:srgbClr val="F2E4E4"/>
          </a:solidFill>
          <a:ln/>
        </p:spPr>
      </p:sp>
      <p:sp>
        <p:nvSpPr>
          <p:cNvPr id="7" name="Text 5"/>
          <p:cNvSpPr/>
          <p:nvPr/>
        </p:nvSpPr>
        <p:spPr>
          <a:xfrm>
            <a:off x="50292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96012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Explain</a:t>
            </a:r>
            <a:endParaRPr lang="en-US" sz="1400" dirty="0"/>
          </a:p>
        </p:txBody>
      </p:sp>
      <p:sp>
        <p:nvSpPr>
          <p:cNvPr id="9" name="Text 7"/>
          <p:cNvSpPr/>
          <p:nvPr/>
        </p:nvSpPr>
        <p:spPr>
          <a:xfrm>
            <a:off x="96012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AI in Drug Discovery &amp; Molecular Targeting</a:t>
            </a:r>
            <a:endParaRPr lang="en-US" sz="1250" dirty="0"/>
          </a:p>
        </p:txBody>
      </p:sp>
      <p:sp>
        <p:nvSpPr>
          <p:cNvPr id="10" name="Shape 8"/>
          <p:cNvSpPr/>
          <p:nvPr/>
        </p:nvSpPr>
        <p:spPr>
          <a:xfrm>
            <a:off x="6263640" y="1591056"/>
            <a:ext cx="310896" cy="310896"/>
          </a:xfrm>
          <a:prstGeom prst="ellipse">
            <a:avLst/>
          </a:prstGeom>
          <a:solidFill>
            <a:srgbClr val="F2E4E4"/>
          </a:solidFill>
          <a:ln/>
        </p:spPr>
      </p:sp>
      <p:sp>
        <p:nvSpPr>
          <p:cNvPr id="11" name="Text 9"/>
          <p:cNvSpPr/>
          <p:nvPr/>
        </p:nvSpPr>
        <p:spPr>
          <a:xfrm>
            <a:off x="626364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672084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Operate</a:t>
            </a:r>
            <a:endParaRPr lang="en-US" sz="1400" dirty="0"/>
          </a:p>
        </p:txBody>
      </p:sp>
      <p:sp>
        <p:nvSpPr>
          <p:cNvPr id="13" name="Text 11"/>
          <p:cNvSpPr/>
          <p:nvPr/>
        </p:nvSpPr>
        <p:spPr>
          <a:xfrm>
            <a:off x="672084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Drug Discovery Pipeline and Target Identification</a:t>
            </a:r>
            <a:endParaRPr lang="en-US" sz="1250" dirty="0"/>
          </a:p>
        </p:txBody>
      </p:sp>
      <p:sp>
        <p:nvSpPr>
          <p:cNvPr id="14" name="Shape 12"/>
          <p:cNvSpPr/>
          <p:nvPr/>
        </p:nvSpPr>
        <p:spPr>
          <a:xfrm>
            <a:off x="502920" y="2962656"/>
            <a:ext cx="310896" cy="310896"/>
          </a:xfrm>
          <a:prstGeom prst="ellipse">
            <a:avLst/>
          </a:prstGeom>
          <a:solidFill>
            <a:srgbClr val="F2E4E4"/>
          </a:solidFill>
          <a:ln/>
        </p:spPr>
      </p:sp>
      <p:sp>
        <p:nvSpPr>
          <p:cNvPr id="15" name="Text 13"/>
          <p:cNvSpPr/>
          <p:nvPr/>
        </p:nvSpPr>
        <p:spPr>
          <a:xfrm>
            <a:off x="50292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96012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Apply</a:t>
            </a:r>
            <a:endParaRPr lang="en-US" sz="1400" dirty="0"/>
          </a:p>
        </p:txBody>
      </p:sp>
      <p:sp>
        <p:nvSpPr>
          <p:cNvPr id="17" name="Text 15"/>
          <p:cNvSpPr/>
          <p:nvPr/>
        </p:nvSpPr>
        <p:spPr>
          <a:xfrm>
            <a:off x="96012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AI Support in Scientific Research &amp; Data Analysis</a:t>
            </a:r>
            <a:endParaRPr lang="en-US" sz="1250" dirty="0"/>
          </a:p>
        </p:txBody>
      </p:sp>
      <p:sp>
        <p:nvSpPr>
          <p:cNvPr id="18" name="Shape 16"/>
          <p:cNvSpPr/>
          <p:nvPr/>
        </p:nvSpPr>
        <p:spPr>
          <a:xfrm>
            <a:off x="6263640" y="2962656"/>
            <a:ext cx="310896" cy="310896"/>
          </a:xfrm>
          <a:prstGeom prst="ellipse">
            <a:avLst/>
          </a:prstGeom>
          <a:solidFill>
            <a:srgbClr val="F2E4E4"/>
          </a:solidFill>
          <a:ln/>
        </p:spPr>
      </p:sp>
      <p:sp>
        <p:nvSpPr>
          <p:cNvPr id="19" name="Text 17"/>
          <p:cNvSpPr/>
          <p:nvPr/>
        </p:nvSpPr>
        <p:spPr>
          <a:xfrm>
            <a:off x="626364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672084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Evaluate</a:t>
            </a:r>
            <a:endParaRPr lang="en-US" sz="1400" dirty="0"/>
          </a:p>
        </p:txBody>
      </p:sp>
      <p:sp>
        <p:nvSpPr>
          <p:cNvPr id="21" name="Text 19"/>
          <p:cNvSpPr/>
          <p:nvPr/>
        </p:nvSpPr>
        <p:spPr>
          <a:xfrm>
            <a:off x="672084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AI Support for Scientific Writing</a:t>
            </a:r>
            <a:endParaRPr lang="en-US" sz="1250" dirty="0"/>
          </a:p>
        </p:txBody>
      </p:sp>
      <p:sp>
        <p:nvSpPr>
          <p:cNvPr id="22" name="Shape 20"/>
          <p:cNvSpPr/>
          <p:nvPr/>
        </p:nvSpPr>
        <p:spPr>
          <a:xfrm>
            <a:off x="502920" y="4334256"/>
            <a:ext cx="310896" cy="310896"/>
          </a:xfrm>
          <a:prstGeom prst="ellipse">
            <a:avLst/>
          </a:prstGeom>
          <a:solidFill>
            <a:srgbClr val="F2E4E4"/>
          </a:solidFill>
          <a:ln/>
        </p:spPr>
      </p:sp>
      <p:sp>
        <p:nvSpPr>
          <p:cNvPr id="23" name="Text 21"/>
          <p:cNvSpPr/>
          <p:nvPr/>
        </p:nvSpPr>
        <p:spPr>
          <a:xfrm>
            <a:off x="50292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96012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Describe</a:t>
            </a:r>
            <a:endParaRPr lang="en-US" sz="1400" dirty="0"/>
          </a:p>
        </p:txBody>
      </p:sp>
      <p:sp>
        <p:nvSpPr>
          <p:cNvPr id="25" name="Text 23"/>
          <p:cNvSpPr/>
          <p:nvPr/>
        </p:nvSpPr>
        <p:spPr>
          <a:xfrm>
            <a:off x="96012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Injectable Medicines &amp; Sterile Products</a:t>
            </a:r>
            <a:endParaRPr lang="en-US" sz="1250" dirty="0"/>
          </a:p>
        </p:txBody>
      </p:sp>
      <p:sp>
        <p:nvSpPr>
          <p:cNvPr id="26" name="Shape 24"/>
          <p:cNvSpPr/>
          <p:nvPr/>
        </p:nvSpPr>
        <p:spPr>
          <a:xfrm>
            <a:off x="6263640" y="4334256"/>
            <a:ext cx="310896" cy="310896"/>
          </a:xfrm>
          <a:prstGeom prst="ellipse">
            <a:avLst/>
          </a:prstGeom>
          <a:solidFill>
            <a:srgbClr val="F2E4E4"/>
          </a:solidFill>
          <a:ln/>
        </p:spPr>
      </p:sp>
      <p:sp>
        <p:nvSpPr>
          <p:cNvPr id="27" name="Text 25"/>
          <p:cNvSpPr/>
          <p:nvPr/>
        </p:nvSpPr>
        <p:spPr>
          <a:xfrm>
            <a:off x="626364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672084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Document</a:t>
            </a:r>
            <a:endParaRPr lang="en-US" sz="1400" dirty="0"/>
          </a:p>
        </p:txBody>
      </p:sp>
      <p:sp>
        <p:nvSpPr>
          <p:cNvPr id="29" name="Text 27"/>
          <p:cNvSpPr/>
          <p:nvPr/>
        </p:nvSpPr>
        <p:spPr>
          <a:xfrm>
            <a:off x="672084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Types of Injectables and AI-Based Route Optimization</a:t>
            </a:r>
            <a:endParaRPr lang="en-US" sz="1250" dirty="0"/>
          </a:p>
        </p:txBody>
      </p:sp>
      <p:sp>
        <p:nvSpPr>
          <p:cNvPr id="30" name="Shape 28"/>
          <p:cNvSpPr/>
          <p:nvPr/>
        </p:nvSpPr>
        <p:spPr>
          <a:xfrm>
            <a:off x="502920" y="5504688"/>
            <a:ext cx="11183112" cy="585216"/>
          </a:xfrm>
          <a:prstGeom prst="roundRect">
            <a:avLst>
              <a:gd name="adj" fmla="val 9375"/>
            </a:avLst>
          </a:prstGeom>
          <a:solidFill>
            <a:srgbClr val="FAF8F6"/>
          </a:solidFill>
          <a:ln w="9525">
            <a:solidFill>
              <a:srgbClr val="DDD5CE"/>
            </a:solidFill>
            <a:prstDash val="solid"/>
          </a:ln>
        </p:spPr>
      </p:sp>
      <p:sp>
        <p:nvSpPr>
          <p:cNvPr id="31" name="Text 29"/>
          <p:cNvSpPr/>
          <p:nvPr/>
        </p:nvSpPr>
        <p:spPr>
          <a:xfrm>
            <a:off x="868680" y="5504688"/>
            <a:ext cx="10515600" cy="585216"/>
          </a:xfrm>
          <a:prstGeom prst="rect">
            <a:avLst/>
          </a:prstGeom>
          <a:noFill/>
          <a:ln/>
        </p:spPr>
        <p:txBody>
          <a:bodyPr wrap="square" lIns="0" tIns="0" rIns="0" bIns="0" rtlCol="0" anchor="ctr"/>
          <a:lstStyle/>
          <a:p>
            <a:pPr indent="0" marL="0">
              <a:buNone/>
            </a:pPr>
            <a:r>
              <a:rPr lang="en-US" sz="1200" dirty="0">
                <a:solidFill>
                  <a:srgbClr val="26221F"/>
                </a:solidFill>
                <a:latin typeface="Calibri" pitchFamily="34" charset="0"/>
                <a:ea typeface="Calibri" pitchFamily="34" charset="-122"/>
                <a:cs typeface="Calibri" pitchFamily="34" charset="-120"/>
              </a:rPr>
              <a:t>Assessment · 3 faculty-evaluated practicals  +  100-question internal examination (4 units × 25)</a:t>
            </a:r>
            <a:endParaRPr lang="en-US" sz="120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AI IN DRUG DISCOVERY &amp; MOLECULAR TARGETING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Artificial Intelligence (AI)</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Artificial Intelligence (AI) is revolutionizing the process of drug discovery and molecular targeting by enabling faster, more accurate, and cost-effective identification of new therapeutic compounds. Traditional drug discovery is a complex and time-consuming process that involves multiple stages, including target identification, screening, lead optimization, and pre-clinical testing. AI technologies such as machine learning, deep learning, and data analytics are now being used to analyze vast biological and chemical datasets, predict drug-target interactions, and optimize drug design.</a:t>
            </a:r>
            <a:endParaRPr lang="en-US" sz="140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These advancements have significantly improved the efficiency and success rate of drug development.</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AI IN DRUG DISCOVERY &amp; MOLECULAR TARGETING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Drug discovery pipeline</a:t>
            </a:r>
            <a:endParaRPr lang="en-US" sz="2900" dirty="0"/>
          </a:p>
        </p:txBody>
      </p:sp>
      <p:sp>
        <p:nvSpPr>
          <p:cNvPr id="6" name="Text 4"/>
          <p:cNvSpPr/>
          <p:nvPr/>
        </p:nvSpPr>
        <p:spPr>
          <a:xfrm>
            <a:off x="502920" y="1536192"/>
            <a:ext cx="11183112" cy="4297680"/>
          </a:xfrm>
          <a:prstGeom prst="rect">
            <a:avLst/>
          </a:prstGeom>
          <a:noFill/>
          <a:ln/>
        </p:spPr>
        <p:txBody>
          <a:bodyPr wrap="square" lIns="0" tIns="0" rIns="0" bIns="0" rtlCol="0" anchor="t"/>
          <a:lstStyle/>
          <a:p>
            <a:pPr indent="0" marL="0">
              <a:lnSpc>
                <a:spcPts val="2800"/>
              </a:lnSpc>
              <a:buNone/>
            </a:pPr>
            <a:r>
              <a:rPr lang="en-US" sz="1750" dirty="0">
                <a:solidFill>
                  <a:srgbClr val="26221F"/>
                </a:solidFill>
                <a:latin typeface="Calibri" pitchFamily="34" charset="0"/>
                <a:ea typeface="Calibri" pitchFamily="34" charset="-122"/>
                <a:cs typeface="Calibri" pitchFamily="34" charset="-120"/>
              </a:rPr>
              <a:t>The drug discovery pipeline can be classified into early-stage discovery, pre-clinical development, and clinical development. Early-stage discovery includes target identification and screening, pre-clinical development involves laboratory testing, and clinical development involves testing in humans.</a:t>
            </a:r>
            <a:endParaRPr lang="en-US" sz="1750" dirty="0"/>
          </a:p>
        </p:txBody>
      </p:sp>
      <p:sp>
        <p:nvSpPr>
          <p:cNvPr id="7" name="Text 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8" name="Text 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AI IN DRUG DISCOVERY &amp; MOLECULAR TARGETING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Lead Compound Selection and Optimisation</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Structural Optimization</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Modify chemical structure</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Pharmacokinetic Optimization</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Improve ADME properties</a:t>
            </a:r>
            <a:endParaRPr lang="en-US" sz="1150" dirty="0"/>
          </a:p>
        </p:txBody>
      </p:sp>
      <p:sp>
        <p:nvSpPr>
          <p:cNvPr id="15" name="Text 13"/>
          <p:cNvSpPr/>
          <p:nvPr/>
        </p:nvSpPr>
        <p:spPr>
          <a:xfrm>
            <a:off x="502920" y="3584448"/>
            <a:ext cx="11183112" cy="2679192"/>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 key point is that AI helps in designing safer and more effective drugs.</a:t>
            </a:r>
            <a:endParaRPr lang="en-US" sz="1200" dirty="0"/>
          </a:p>
        </p:txBody>
      </p:sp>
      <p:sp>
        <p:nvSpPr>
          <p:cNvPr id="16" name="Text 14"/>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17" name="Text 15"/>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AI IN DRUG DISCOVERY &amp; MOLECULAR TARGETING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1 summary</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AI is transforming drug discovery and molecular targeting by enabling faster, more accurate, and efficient development of new therapies. From target identification to pre-clinical analysis, AI supports every stage of the drug discovery pipeline.</a:t>
            </a:r>
            <a:endParaRPr lang="en-US" sz="17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Understanding these concepts is essential for pharmacy students, as it prepares them for future advancements in pharmaceutical research and development.</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AI SUPPORT IN SCIENTIFIC RESEARCH &amp; DATA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Artificial Intelligence (AI) · Unit 2</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Artificial Intelligence (AI) is transforming scientific research by enhancing data analysis, improving efficiency, and supporting evidence-based decision-making. In pharmaceutical and healthcare research, AI tools assist in writing, literature review, statistical analysis, and publication preparation. These technologies help researchers manage large volumes of data, identify patterns, and generate insights that would be difficult to achieve manually.</a:t>
            </a:r>
            <a:endParaRPr lang="en-US" sz="15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AI-supported research improves accuracy, reduces time, and enhances the overall quality of scientific work.</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AI SUPPORT IN SCIENTIFIC RESEARCH &amp; DATA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AI Support for Scientific Writing</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Content Generation</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Drafts research content</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Language Correction</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Improves grammar and clarity</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Formatting Tools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Ensures proper structure</a:t>
            </a:r>
            <a:endParaRPr lang="en-US" sz="1150" dirty="0"/>
          </a:p>
        </p:txBody>
      </p:sp>
      <p:sp>
        <p:nvSpPr>
          <p:cNvPr id="18" name="Text 16"/>
          <p:cNvSpPr/>
          <p:nvPr/>
        </p:nvSpPr>
        <p:spPr>
          <a:xfrm>
            <a:off x="502920" y="4242816"/>
            <a:ext cx="11183112" cy="2020824"/>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 key point is that AI improves writing quality and reduces time required for manuscript preparation.</a:t>
            </a:r>
            <a:endParaRPr lang="en-US" sz="1200" dirty="0"/>
          </a:p>
        </p:txBody>
      </p:sp>
      <p:sp>
        <p:nvSpPr>
          <p:cNvPr id="19" name="Text 1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20" name="Text 1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AI SUPPORT IN SCIENTIFIC RESEARCH &amp; DATA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AI Assistance in Meta-Analysis &amp; Systematic Reviews</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Data Extraction</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Collects study data</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Analysis Tools</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Performs statistical analysis</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Reporting Tools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Generates findings</a:t>
            </a:r>
            <a:endParaRPr lang="en-US" sz="1150" dirty="0"/>
          </a:p>
        </p:txBody>
      </p:sp>
      <p:sp>
        <p:nvSpPr>
          <p:cNvPr id="18" name="Text 16"/>
          <p:cNvSpPr/>
          <p:nvPr/>
        </p:nvSpPr>
        <p:spPr>
          <a:xfrm>
            <a:off x="502920" y="4242816"/>
            <a:ext cx="11183112" cy="2020824"/>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 key point is that AI enhances the quality and reliability of systematic reviews.</a:t>
            </a:r>
            <a:endParaRPr lang="en-US" sz="1200" dirty="0"/>
          </a:p>
        </p:txBody>
      </p:sp>
      <p:sp>
        <p:nvSpPr>
          <p:cNvPr id="19" name="Text 1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20" name="Text 1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AI SUPPORT IN SCIENTIFIC RESEARCH &amp; DATA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Integration with Research Systems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System</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Databases</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Provide research data</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AI Tools</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Analyze and generate insights</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Publication Platforms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Support submission</a:t>
            </a:r>
            <a:endParaRPr lang="en-US" sz="1150" dirty="0"/>
          </a:p>
        </p:txBody>
      </p:sp>
      <p:sp>
        <p:nvSpPr>
          <p:cNvPr id="18" name="Text 16"/>
          <p:cNvSpPr/>
          <p:nvPr/>
        </p:nvSpPr>
        <p:spPr>
          <a:xfrm>
            <a:off x="502920" y="4242816"/>
            <a:ext cx="11183112" cy="2020824"/>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Integration ensures efficient and streamlined research processes.</a:t>
            </a:r>
            <a:endParaRPr lang="en-US" sz="1200" dirty="0"/>
          </a:p>
        </p:txBody>
      </p:sp>
      <p:sp>
        <p:nvSpPr>
          <p:cNvPr id="19" name="Text 1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20" name="Text 1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AI SUPPORT IN SCIENTIFIC RESEARCH &amp; DATA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AI Support in Scientific Research &amp; Data Analysis at a glance</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Details</a:t>
            </a:r>
            <a:endParaRPr lang="en-US" sz="1150" dirty="0"/>
          </a:p>
        </p:txBody>
      </p:sp>
      <p:sp>
        <p:nvSpPr>
          <p:cNvPr id="9" name="Shape 7"/>
          <p:cNvSpPr/>
          <p:nvPr/>
        </p:nvSpPr>
        <p:spPr>
          <a:xfrm>
            <a:off x="502920" y="2066544"/>
            <a:ext cx="11183112" cy="566928"/>
          </a:xfrm>
          <a:prstGeom prst="rect">
            <a:avLst/>
          </a:prstGeom>
          <a:solidFill>
            <a:srgbClr val="FFFFFF"/>
          </a:solidFill>
          <a:ln w="9525">
            <a:solidFill>
              <a:srgbClr val="DDD5CE"/>
            </a:solidFill>
            <a:prstDash val="solid"/>
          </a:ln>
        </p:spPr>
      </p:sp>
      <p:sp>
        <p:nvSpPr>
          <p:cNvPr id="10" name="Text 8"/>
          <p:cNvSpPr/>
          <p:nvPr/>
        </p:nvSpPr>
        <p:spPr>
          <a:xfrm>
            <a:off x="685800" y="206654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Objective</a:t>
            </a:r>
            <a:endParaRPr lang="en-US" sz="1150" dirty="0"/>
          </a:p>
        </p:txBody>
      </p:sp>
      <p:sp>
        <p:nvSpPr>
          <p:cNvPr id="11" name="Text 9"/>
          <p:cNvSpPr/>
          <p:nvPr/>
        </p:nvSpPr>
        <p:spPr>
          <a:xfrm>
            <a:off x="5166360" y="206654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To understand the application of AI tools in biostatistical data analysis.</a:t>
            </a:r>
            <a:endParaRPr lang="en-US" sz="1150" dirty="0"/>
          </a:p>
        </p:txBody>
      </p:sp>
      <p:sp>
        <p:nvSpPr>
          <p:cNvPr id="12" name="Shape 10"/>
          <p:cNvSpPr/>
          <p:nvPr/>
        </p:nvSpPr>
        <p:spPr>
          <a:xfrm>
            <a:off x="502920" y="2633472"/>
            <a:ext cx="11183112" cy="566928"/>
          </a:xfrm>
          <a:prstGeom prst="rect">
            <a:avLst/>
          </a:prstGeom>
          <a:solidFill>
            <a:srgbClr val="FAF8F6"/>
          </a:solidFill>
          <a:ln w="9525">
            <a:solidFill>
              <a:srgbClr val="DDD5CE"/>
            </a:solidFill>
            <a:prstDash val="solid"/>
          </a:ln>
        </p:spPr>
      </p:sp>
      <p:sp>
        <p:nvSpPr>
          <p:cNvPr id="13" name="Text 11"/>
          <p:cNvSpPr/>
          <p:nvPr/>
        </p:nvSpPr>
        <p:spPr>
          <a:xfrm>
            <a:off x="685800" y="2633472"/>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Topic Covered</a:t>
            </a:r>
            <a:endParaRPr lang="en-US" sz="1150" dirty="0"/>
          </a:p>
        </p:txBody>
      </p:sp>
      <p:sp>
        <p:nvSpPr>
          <p:cNvPr id="14" name="Text 12"/>
          <p:cNvSpPr/>
          <p:nvPr/>
        </p:nvSpPr>
        <p:spPr>
          <a:xfrm>
            <a:off x="5166360" y="2633472"/>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AI-based data analysis and interpretation</a:t>
            </a:r>
            <a:endParaRPr lang="en-US" sz="1150" dirty="0"/>
          </a:p>
        </p:txBody>
      </p:sp>
      <p:sp>
        <p:nvSpPr>
          <p:cNvPr id="15" name="Shape 13"/>
          <p:cNvSpPr/>
          <p:nvPr/>
        </p:nvSpPr>
        <p:spPr>
          <a:xfrm>
            <a:off x="502920" y="3200400"/>
            <a:ext cx="11183112" cy="566928"/>
          </a:xfrm>
          <a:prstGeom prst="rect">
            <a:avLst/>
          </a:prstGeom>
          <a:solidFill>
            <a:srgbClr val="FFFFFF"/>
          </a:solidFill>
          <a:ln w="9525">
            <a:solidFill>
              <a:srgbClr val="DDD5CE"/>
            </a:solidFill>
            <a:prstDash val="solid"/>
          </a:ln>
        </p:spPr>
      </p:sp>
      <p:sp>
        <p:nvSpPr>
          <p:cNvPr id="16" name="Text 14"/>
          <p:cNvSpPr/>
          <p:nvPr/>
        </p:nvSpPr>
        <p:spPr>
          <a:xfrm>
            <a:off x="685800" y="3200400"/>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Requirements</a:t>
            </a:r>
            <a:endParaRPr lang="en-US" sz="1150" dirty="0"/>
          </a:p>
        </p:txBody>
      </p:sp>
      <p:sp>
        <p:nvSpPr>
          <p:cNvPr id="17" name="Text 15"/>
          <p:cNvSpPr/>
          <p:nvPr/>
        </p:nvSpPr>
        <p:spPr>
          <a:xfrm>
            <a:off x="5166360" y="3200400"/>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Computer/mobile with internet access, AI/statistical tool, sample dataset (dummy data).</a:t>
            </a:r>
            <a:endParaRPr lang="en-US" sz="1150" dirty="0"/>
          </a:p>
        </p:txBody>
      </p:sp>
      <p:sp>
        <p:nvSpPr>
          <p:cNvPr id="18" name="Shape 16"/>
          <p:cNvSpPr/>
          <p:nvPr/>
        </p:nvSpPr>
        <p:spPr>
          <a:xfrm>
            <a:off x="502920" y="3767328"/>
            <a:ext cx="11183112" cy="566928"/>
          </a:xfrm>
          <a:prstGeom prst="rect">
            <a:avLst/>
          </a:prstGeom>
          <a:solidFill>
            <a:srgbClr val="FAF8F6"/>
          </a:solidFill>
          <a:ln w="9525">
            <a:solidFill>
              <a:srgbClr val="DDD5CE"/>
            </a:solidFill>
            <a:prstDash val="solid"/>
          </a:ln>
        </p:spPr>
      </p:sp>
      <p:sp>
        <p:nvSpPr>
          <p:cNvPr id="19" name="Text 17"/>
          <p:cNvSpPr/>
          <p:nvPr/>
        </p:nvSpPr>
        <p:spPr>
          <a:xfrm>
            <a:off x="685800" y="3767328"/>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Procedure</a:t>
            </a:r>
            <a:endParaRPr lang="en-US" sz="1150" dirty="0"/>
          </a:p>
        </p:txBody>
      </p:sp>
      <p:sp>
        <p:nvSpPr>
          <p:cNvPr id="20" name="Text 18"/>
          <p:cNvSpPr/>
          <p:nvPr/>
        </p:nvSpPr>
        <p:spPr>
          <a:xfrm>
            <a:off x="5166360" y="3767328"/>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are introduced to an AI-supported statistical tool. They input sample data and observe…</a:t>
            </a:r>
            <a:endParaRPr lang="en-US" sz="1150" dirty="0"/>
          </a:p>
        </p:txBody>
      </p:sp>
      <p:sp>
        <p:nvSpPr>
          <p:cNvPr id="21" name="Shape 19"/>
          <p:cNvSpPr/>
          <p:nvPr/>
        </p:nvSpPr>
        <p:spPr>
          <a:xfrm>
            <a:off x="502920" y="4334256"/>
            <a:ext cx="11183112" cy="566928"/>
          </a:xfrm>
          <a:prstGeom prst="rect">
            <a:avLst/>
          </a:prstGeom>
          <a:solidFill>
            <a:srgbClr val="FFFFFF"/>
          </a:solidFill>
          <a:ln w="9525">
            <a:solidFill>
              <a:srgbClr val="DDD5CE"/>
            </a:solidFill>
            <a:prstDash val="solid"/>
          </a:ln>
        </p:spPr>
      </p:sp>
      <p:sp>
        <p:nvSpPr>
          <p:cNvPr id="22" name="Text 20"/>
          <p:cNvSpPr/>
          <p:nvPr/>
        </p:nvSpPr>
        <p:spPr>
          <a:xfrm>
            <a:off x="685800" y="4334256"/>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Activity</a:t>
            </a:r>
            <a:endParaRPr lang="en-US" sz="1150" dirty="0"/>
          </a:p>
        </p:txBody>
      </p:sp>
      <p:sp>
        <p:nvSpPr>
          <p:cNvPr id="23" name="Text 21"/>
          <p:cNvSpPr/>
          <p:nvPr/>
        </p:nvSpPr>
        <p:spPr>
          <a:xfrm>
            <a:off x="5166360" y="4334256"/>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analyze a dataset using the tool and interpret basic statistical outputs such as mean…</a:t>
            </a:r>
            <a:endParaRPr lang="en-US" sz="1150" dirty="0"/>
          </a:p>
        </p:txBody>
      </p:sp>
      <p:sp>
        <p:nvSpPr>
          <p:cNvPr id="24" name="Shape 22"/>
          <p:cNvSpPr/>
          <p:nvPr/>
        </p:nvSpPr>
        <p:spPr>
          <a:xfrm>
            <a:off x="502920" y="4901184"/>
            <a:ext cx="11183112" cy="566928"/>
          </a:xfrm>
          <a:prstGeom prst="rect">
            <a:avLst/>
          </a:prstGeom>
          <a:solidFill>
            <a:srgbClr val="FAF8F6"/>
          </a:solidFill>
          <a:ln w="9525">
            <a:solidFill>
              <a:srgbClr val="DDD5CE"/>
            </a:solidFill>
            <a:prstDash val="solid"/>
          </a:ln>
        </p:spPr>
      </p:sp>
      <p:sp>
        <p:nvSpPr>
          <p:cNvPr id="25" name="Text 23"/>
          <p:cNvSpPr/>
          <p:nvPr/>
        </p:nvSpPr>
        <p:spPr>
          <a:xfrm>
            <a:off x="685800" y="490118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Observation</a:t>
            </a:r>
            <a:endParaRPr lang="en-US" sz="1150" dirty="0"/>
          </a:p>
        </p:txBody>
      </p:sp>
      <p:sp>
        <p:nvSpPr>
          <p:cNvPr id="26" name="Text 24"/>
          <p:cNvSpPr/>
          <p:nvPr/>
        </p:nvSpPr>
        <p:spPr>
          <a:xfrm>
            <a:off x="5166360" y="490118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observe that AI tools simplify statistical calculations and provide quick insights.</a:t>
            </a:r>
            <a:endParaRPr lang="en-US" sz="1150" dirty="0"/>
          </a:p>
        </p:txBody>
      </p:sp>
      <p:sp>
        <p:nvSpPr>
          <p:cNvPr id="27" name="Text 2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28" name="Text 2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INJECTABLE MEDICINES &amp; STERILE PRODUCTS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Injectable medicines and sterile pharmaceutical products</a:t>
            </a:r>
            <a:endParaRPr lang="en-US" sz="24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Injectable medicines and sterile pharmaceutical products represent one of the most critical areas in drug delivery systems due to their direct administration into the body. Unlike oral formulations, injectable drugs bypass the gastrointestinal tract and are delivered directly into systemic circulation or tissues, resulting in rapid onset of action and high bioavailability. However, this advantage also introduces significant risks, as any contamination, formulation error, or instability can directly impact patient safety.</a:t>
            </a:r>
            <a:endParaRPr lang="en-US" sz="1400" dirty="0"/>
          </a:p>
        </p:txBody>
      </p:sp>
      <p:sp>
        <p:nvSpPr>
          <p:cNvPr id="7" name="Shape 5"/>
          <p:cNvSpPr/>
          <p:nvPr/>
        </p:nvSpPr>
        <p:spPr>
          <a:xfrm>
            <a:off x="7680960" y="1536192"/>
            <a:ext cx="4005072" cy="2505456"/>
          </a:xfrm>
          <a:prstGeom prst="roundRect">
            <a:avLst>
              <a:gd name="adj" fmla="val 219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645920"/>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 integration of Artificial Intelligence (AI) into injectable drug development, manufacturing, and quality assurance has revolutionized this domain by enhancing precision, sterility assurance, and regulatory compliance.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INJECTABLE MEDICINES &amp; STERILE PRODUCTS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AI in Aseptic Processing and Sterility Assurance</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System 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Function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Monitoring Systems</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Track environmental data</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Predictive Systems</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Identify contamination risks</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Automated Systems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Maintain sterile conditions</a:t>
            </a:r>
            <a:endParaRPr lang="en-US" sz="1150" dirty="0"/>
          </a:p>
        </p:txBody>
      </p:sp>
      <p:sp>
        <p:nvSpPr>
          <p:cNvPr id="18" name="Text 16"/>
          <p:cNvSpPr/>
          <p:nvPr/>
        </p:nvSpPr>
        <p:spPr>
          <a:xfrm>
            <a:off x="502920" y="4242816"/>
            <a:ext cx="11183112" cy="2020824"/>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AI also supports robotic aseptic filling processes, reducing human intervention and minimizing contamination. A key point is that ai-driven aseptic systems significantly reduce contamination risks.</a:t>
            </a:r>
            <a:endParaRPr lang="en-US" sz="1200" dirty="0"/>
          </a:p>
        </p:txBody>
      </p:sp>
      <p:sp>
        <p:nvSpPr>
          <p:cNvPr id="19" name="Text 1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20" name="Text 1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INJECTABLE MEDICINES &amp; STERILE PRODUCTS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3 summary</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AI is transforming injectable medicines and sterile product development by improving accuracy, efficiency, and safety. From formulation design to quality control and regulatory compliance, AI plays a critical role in every stage.</a:t>
            </a:r>
            <a:endParaRPr lang="en-US" sz="17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Understanding these applications is essential for pharmacy students as it prepares them for advanced pharmaceutical practices.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VACCINES &amp; COLD-CHAIN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Vaccines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Vaccines are one of the most effective public health interventions for preventing infectious diseases. The development, storage, and distribution of vaccines require strict control and monitoring to ensure their safety and effectiveness. With the advancement of Artificial Intelligence (AI), vaccine development and cold-chain management have undergone significant transformation. AI technologies are now used to accelerate vaccine discovery, optimize manufacturing processes, and ensure proper storage and transportation through intelligent monitoring systems.</a:t>
            </a:r>
            <a:endParaRPr lang="en-US" sz="140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These advancements improve efficiency, reduce wastage, and enhance vaccine safety.</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VACCINES &amp; COLD-CHAIN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Storage, Transportation and Temperature Monitoring</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Storage 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Temperature Range</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Refrigerated</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2–8°C</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Frozen</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Below 0°C</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Ultra-Cold</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Up to -70°C</a:t>
            </a:r>
            <a:endParaRPr lang="en-US" sz="1150" dirty="0"/>
          </a:p>
        </p:txBody>
      </p:sp>
      <p:sp>
        <p:nvSpPr>
          <p:cNvPr id="18" name="Text 16"/>
          <p:cNvSpPr/>
          <p:nvPr/>
        </p:nvSpPr>
        <p:spPr>
          <a:xfrm>
            <a:off x="502920" y="4242816"/>
            <a:ext cx="11183112" cy="2020824"/>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AI systems generate alerts when temperature deviations occur, enabling immediate corrective action. A key point is that AI ensures continuous monitoring and prevents vaccine damage.</a:t>
            </a:r>
            <a:endParaRPr lang="en-US" sz="1200" dirty="0"/>
          </a:p>
        </p:txBody>
      </p:sp>
      <p:sp>
        <p:nvSpPr>
          <p:cNvPr id="19" name="Text 1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20" name="Text 1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VACCINES &amp; COLD-CHAIN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Integration of AI in Vaccine Supply Chain</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System</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Development Systems</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Design vaccines</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Cold-Chain Systems</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Monitor storage</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Logistics Systems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Manage distribution</a:t>
            </a:r>
            <a:endParaRPr lang="en-US" sz="1150" dirty="0"/>
          </a:p>
        </p:txBody>
      </p:sp>
      <p:sp>
        <p:nvSpPr>
          <p:cNvPr id="18" name="Shape 16"/>
          <p:cNvSpPr/>
          <p:nvPr/>
        </p:nvSpPr>
        <p:spPr>
          <a:xfrm>
            <a:off x="502920" y="4041648"/>
            <a:ext cx="11183112" cy="658368"/>
          </a:xfrm>
          <a:prstGeom prst="rect">
            <a:avLst/>
          </a:prstGeom>
          <a:solidFill>
            <a:srgbClr val="FAF8F6"/>
          </a:solidFill>
          <a:ln w="9525">
            <a:solidFill>
              <a:srgbClr val="DDD5CE"/>
            </a:solidFill>
            <a:prstDash val="solid"/>
          </a:ln>
        </p:spPr>
      </p:sp>
      <p:sp>
        <p:nvSpPr>
          <p:cNvPr id="19" name="Text 17"/>
          <p:cNvSpPr/>
          <p:nvPr/>
        </p:nvSpPr>
        <p:spPr>
          <a:xfrm>
            <a:off x="685800" y="4041648"/>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Safety Systems</a:t>
            </a:r>
            <a:endParaRPr lang="en-US" sz="1150" dirty="0"/>
          </a:p>
        </p:txBody>
      </p:sp>
      <p:sp>
        <p:nvSpPr>
          <p:cNvPr id="20" name="Text 18"/>
          <p:cNvSpPr/>
          <p:nvPr/>
        </p:nvSpPr>
        <p:spPr>
          <a:xfrm>
            <a:off x="5166360" y="4041648"/>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Ensure compliance</a:t>
            </a:r>
            <a:endParaRPr lang="en-US" sz="1150" dirty="0"/>
          </a:p>
        </p:txBody>
      </p:sp>
      <p:sp>
        <p:nvSpPr>
          <p:cNvPr id="21" name="Text 19"/>
          <p:cNvSpPr/>
          <p:nvPr/>
        </p:nvSpPr>
        <p:spPr>
          <a:xfrm>
            <a:off x="502920" y="4901184"/>
            <a:ext cx="11183112" cy="1362456"/>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Integration ensures that vaccines are developed, stored, and delivered efficiently and safely.</a:t>
            </a:r>
            <a:endParaRPr lang="en-US" sz="1200" dirty="0"/>
          </a:p>
        </p:txBody>
      </p:sp>
      <p:sp>
        <p:nvSpPr>
          <p:cNvPr id="22" name="Text 2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23" name="Text 2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VACCINES &amp; COLD-CHAIN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Clinical trials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Clinical trials are systematic research studies conducted on human subjects to evaluate the safety, efficacy, and quality of new drugs, vaccines, or medical interventions. These trials are conducted in different phases, including Phase I, II, III, and IV, each designed to assess specific aspects such as safety, dosage, effectiveness, and post-marketing surveillance.</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AI technologies are increasingly used in clinical trials to improve patient recruitment, predict outcomes, and analyze large datasets, thereby reducing time and cost.</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VACCINES &amp; COLD-CHAIN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Three components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These three components are interconnected and contribute to improving healthcare outcomes. Clinical trials generate evidence, pharmacovigilance ensures ongoing safety, and evidence-based pharmacy applies this knowledge in clinical practice.</a:t>
            </a:r>
            <a:endParaRPr lang="en-US" sz="17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Together, they form a comprehensive framework for safe, effective, and rational use of medicines in a rapidly evolving healthcare environment.</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10058400" y="-1097280"/>
            <a:ext cx="4023360" cy="4023360"/>
          </a:xfrm>
          <a:prstGeom prst="ellipse">
            <a:avLst/>
          </a:prstGeom>
          <a:solidFill>
            <a:srgbClr val="8C1515">
              <a:alpha val="28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THE PRACTICALS</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3 assessed practicals</a:t>
            </a:r>
            <a:endParaRPr lang="en-US" sz="3400" dirty="0"/>
          </a:p>
        </p:txBody>
      </p:sp>
      <p:sp>
        <p:nvSpPr>
          <p:cNvPr id="5" name="Text 3"/>
          <p:cNvSpPr/>
          <p:nvPr/>
        </p:nvSpPr>
        <p:spPr>
          <a:xfrm>
            <a:off x="777240" y="1847088"/>
            <a:ext cx="10241280" cy="749808"/>
          </a:xfrm>
          <a:prstGeom prst="rect">
            <a:avLst/>
          </a:prstGeom>
          <a:noFill/>
          <a:ln/>
        </p:spPr>
        <p:txBody>
          <a:bodyPr wrap="square" lIns="0" tIns="0" rIns="0" bIns="0" rtlCol="0" anchor="ctr"/>
          <a:lstStyle/>
          <a:p>
            <a:pPr indent="0" marL="0">
              <a:lnSpc>
                <a:spcPts val="1900"/>
              </a:lnSpc>
              <a:buNone/>
            </a:pPr>
            <a:r>
              <a:rPr lang="en-US" sz="1300" dirty="0">
                <a:solidFill>
                  <a:srgbClr val="C9C2BA"/>
                </a:solidFill>
                <a:latin typeface="Calibri" pitchFamily="34" charset="0"/>
                <a:ea typeface="Calibri" pitchFamily="34" charset="-122"/>
                <a:cs typeface="Calibri" pitchFamily="34" charset="-120"/>
              </a:rPr>
              <a:t>Every practical follows the institutional standard — Aim, Principle, Theory, Requirements, Procedure and Guided Method — and is submitted to faculty for evaluation. Verified practicals count towards the hands-on experience certificate.</a:t>
            </a:r>
            <a:endParaRPr lang="en-US" sz="1300" dirty="0"/>
          </a:p>
        </p:txBody>
      </p:sp>
      <p:sp>
        <p:nvSpPr>
          <p:cNvPr id="6" name="Shape 4"/>
          <p:cNvSpPr/>
          <p:nvPr/>
        </p:nvSpPr>
        <p:spPr>
          <a:xfrm>
            <a:off x="777240" y="2761488"/>
            <a:ext cx="10607040" cy="868680"/>
          </a:xfrm>
          <a:prstGeom prst="roundRect">
            <a:avLst>
              <a:gd name="adj" fmla="val 6316"/>
            </a:avLst>
          </a:prstGeom>
          <a:solidFill>
            <a:srgbClr val="241A19"/>
          </a:solidFill>
          <a:ln w="9525">
            <a:solidFill>
              <a:srgbClr val="3E2A28"/>
            </a:solidFill>
            <a:prstDash val="solid"/>
          </a:ln>
        </p:spPr>
      </p:sp>
      <p:sp>
        <p:nvSpPr>
          <p:cNvPr id="7" name="Shape 5"/>
          <p:cNvSpPr/>
          <p:nvPr/>
        </p:nvSpPr>
        <p:spPr>
          <a:xfrm>
            <a:off x="1097280" y="3003804"/>
            <a:ext cx="384048" cy="384048"/>
          </a:xfrm>
          <a:prstGeom prst="ellipse">
            <a:avLst/>
          </a:prstGeom>
          <a:solidFill>
            <a:srgbClr val="8C1515"/>
          </a:solidFill>
          <a:ln/>
        </p:spPr>
      </p:sp>
      <p:sp>
        <p:nvSpPr>
          <p:cNvPr id="8" name="Text 6"/>
          <p:cNvSpPr/>
          <p:nvPr/>
        </p:nvSpPr>
        <p:spPr>
          <a:xfrm>
            <a:off x="1097280" y="30038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664208" y="2834640"/>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4 · Unit 2 · Practical 1</a:t>
            </a:r>
            <a:endParaRPr lang="en-US" sz="1000" dirty="0"/>
          </a:p>
        </p:txBody>
      </p:sp>
      <p:sp>
        <p:nvSpPr>
          <p:cNvPr id="10" name="Text 8"/>
          <p:cNvSpPr/>
          <p:nvPr/>
        </p:nvSpPr>
        <p:spPr>
          <a:xfrm>
            <a:off x="1664208" y="3054096"/>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Research Data Analysis Bench</a:t>
            </a:r>
            <a:endParaRPr lang="en-US" sz="1350" dirty="0"/>
          </a:p>
        </p:txBody>
      </p:sp>
      <p:sp>
        <p:nvSpPr>
          <p:cNvPr id="11" name="Shape 9"/>
          <p:cNvSpPr/>
          <p:nvPr/>
        </p:nvSpPr>
        <p:spPr>
          <a:xfrm>
            <a:off x="777240" y="3803904"/>
            <a:ext cx="10607040" cy="868680"/>
          </a:xfrm>
          <a:prstGeom prst="roundRect">
            <a:avLst>
              <a:gd name="adj" fmla="val 6316"/>
            </a:avLst>
          </a:prstGeom>
          <a:solidFill>
            <a:srgbClr val="241A19"/>
          </a:solidFill>
          <a:ln w="9525">
            <a:solidFill>
              <a:srgbClr val="3E2A28"/>
            </a:solidFill>
            <a:prstDash val="solid"/>
          </a:ln>
        </p:spPr>
      </p:sp>
      <p:sp>
        <p:nvSpPr>
          <p:cNvPr id="12" name="Shape 10"/>
          <p:cNvSpPr/>
          <p:nvPr/>
        </p:nvSpPr>
        <p:spPr>
          <a:xfrm>
            <a:off x="1097280" y="4046220"/>
            <a:ext cx="384048" cy="384048"/>
          </a:xfrm>
          <a:prstGeom prst="ellipse">
            <a:avLst/>
          </a:prstGeom>
          <a:solidFill>
            <a:srgbClr val="8C1515"/>
          </a:solidFill>
          <a:ln/>
        </p:spPr>
      </p:sp>
      <p:sp>
        <p:nvSpPr>
          <p:cNvPr id="13" name="Text 11"/>
          <p:cNvSpPr/>
          <p:nvPr/>
        </p:nvSpPr>
        <p:spPr>
          <a:xfrm>
            <a:off x="1097280" y="40462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664208" y="3877056"/>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4 · Unit 3 · Practical 3</a:t>
            </a:r>
            <a:endParaRPr lang="en-US" sz="1000" dirty="0"/>
          </a:p>
        </p:txBody>
      </p:sp>
      <p:sp>
        <p:nvSpPr>
          <p:cNvPr id="15" name="Text 13"/>
          <p:cNvSpPr/>
          <p:nvPr/>
        </p:nvSpPr>
        <p:spPr>
          <a:xfrm>
            <a:off x="1664208" y="4096512"/>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Batch Record Review &amp; Data Integrity Audit</a:t>
            </a:r>
            <a:endParaRPr lang="en-US" sz="1350" dirty="0"/>
          </a:p>
        </p:txBody>
      </p:sp>
      <p:sp>
        <p:nvSpPr>
          <p:cNvPr id="16" name="Shape 14"/>
          <p:cNvSpPr/>
          <p:nvPr/>
        </p:nvSpPr>
        <p:spPr>
          <a:xfrm>
            <a:off x="777240" y="4846320"/>
            <a:ext cx="10607040" cy="868680"/>
          </a:xfrm>
          <a:prstGeom prst="roundRect">
            <a:avLst>
              <a:gd name="adj" fmla="val 6316"/>
            </a:avLst>
          </a:prstGeom>
          <a:solidFill>
            <a:srgbClr val="241A19"/>
          </a:solidFill>
          <a:ln w="9525">
            <a:solidFill>
              <a:srgbClr val="3E2A28"/>
            </a:solidFill>
            <a:prstDash val="solid"/>
          </a:ln>
        </p:spPr>
      </p:sp>
      <p:sp>
        <p:nvSpPr>
          <p:cNvPr id="17" name="Shape 15"/>
          <p:cNvSpPr/>
          <p:nvPr/>
        </p:nvSpPr>
        <p:spPr>
          <a:xfrm>
            <a:off x="1097280" y="5088636"/>
            <a:ext cx="384048" cy="384048"/>
          </a:xfrm>
          <a:prstGeom prst="ellipse">
            <a:avLst/>
          </a:prstGeom>
          <a:solidFill>
            <a:srgbClr val="8C1515"/>
          </a:solidFill>
          <a:ln/>
        </p:spPr>
      </p:sp>
      <p:sp>
        <p:nvSpPr>
          <p:cNvPr id="18" name="Text 16"/>
          <p:cNvSpPr/>
          <p:nvPr/>
        </p:nvSpPr>
        <p:spPr>
          <a:xfrm>
            <a:off x="1097280" y="50886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664208" y="4919472"/>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4 · Unit 4 · Practical 2</a:t>
            </a:r>
            <a:endParaRPr lang="en-US" sz="1000" dirty="0"/>
          </a:p>
        </p:txBody>
      </p:sp>
      <p:sp>
        <p:nvSpPr>
          <p:cNvPr id="20" name="Text 18"/>
          <p:cNvSpPr/>
          <p:nvPr/>
        </p:nvSpPr>
        <p:spPr>
          <a:xfrm>
            <a:off x="1664208" y="5138928"/>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Vaccine Cold-Chain Control Room</a:t>
            </a:r>
            <a:endParaRPr lang="en-US" sz="1350" dirty="0"/>
          </a:p>
        </p:txBody>
      </p:sp>
      <p:sp>
        <p:nvSpPr>
          <p:cNvPr id="21" name="Text 1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22" name="Text 2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4 · UNIT 2 · PRACTICAL 1</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Research Data Analysis Bench</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take a real trial dataset from raw to reportable — inspecting it for problems, cleaning it defensibly, choosing and running the correct statistical test, interpreting the output honestly, and catching the errors in an AI-generated analysis.</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Analysis is a sequence of decisions, each of which can be made defensibly or not, and each of which must be documented. It begins with inspection: reading the data before summarising it, looking for missing values, impossible values, duplicated records and implausible distributions. Three errors recur so often in reported analyses that they are worth naming.</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Inspect the dataset row by row and mark every row that carries a problem.</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how to handle the missing value, establishing the reason before choosing a method.</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how to handle the impossible values, querying against source rather than deleting or analysing them.</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Choose the statistical test from the design and the data type.</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Interpret the output, leading with the effect size and its confidence interval.</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Verify the AI-drafted results statement by statement, checking numbers, logic and citations.</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4 · UNIT 3 · PRACTICAL 3</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Batch Record Review &amp; Data Integrity Audit</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review a completed batch manufacturing record line by line, identify every good documentation practice and data integrity breach, classify each against ALCOA+, and reach the correct release decision as the Qualified Person’s delegate.</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Pharmaceutical quality rests on the principle that the manufacturing record is contemporaneous evidence of what was actually done, produced by people who were qualified to do it, using equipment that was fit for purpose. Review before release exists to test that evidence, and it is deliberately performed by someone independent of manufacture — a reviewer checking their own signatures cannot provide the assurance the review exists to give. Findings are graded by consequence.</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Read the record line by line and mark every line you believe is a finding; flagging sound lines is itself penalised.</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Cross-check numbers against their specifications — the yield against its range, in-process results against their limits.</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Cross-check names and dates against each other — who performed, who verified, when they were trained, when the equipment…</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Classify each finding against the ALCOA+ principle breached and assign a criticality.</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Make the disposition — release, reject, or withhold pending investigation.</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Propose corrective and preventive actions that address the conditions, not the individuals.</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4 · UNIT 4 · PRACTICAL 2</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Vaccine Cold-Chain Control Room</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monitor a live vaccine refrigerator, recognise a temperature excursion as it develops, respond in the correct order, inspect the affected stock using both the VVM and the shake test, and reach a defensible disposition — protecting both the patients and the vaccine.</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The cold chain exists because vaccine potency is silently and often irreversibly degraded by temperature. Most routine vaccines require +2 °C to +8 °C, and damage in either direction is invisible: a heat-damaged vial and a frozen vial both look exactly like a good one. Interpreting an excursion requires reading the shape of the trace, not just the peak.</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Read the overnight trace. Establish the peak temperature, the duration out of range and the likely mechanism from the shape…</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Act first, investigate second. Quarantine the affected stock so it cannot be dispensed, keeping it under correct storage.</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Quarantine everything present during the excursion, including stock you expect to be released — quarantine is a control…</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Inspect each vial on two independent axes: the VVM for cumulative heat, and the shake test for freezing.</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the disposition — refer to the manufacturer and the programme for written assessment, and source replacement stock…</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Document the incident with times, peak, duration and batch numbers, and correct the root cause before the next night.</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692640" y="3840480"/>
            <a:ext cx="4206240" cy="4206240"/>
          </a:xfrm>
          <a:prstGeom prst="ellipse">
            <a:avLst/>
          </a:prstGeom>
          <a:solidFill>
            <a:srgbClr val="8C1515">
              <a:alpha val="26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HOW THIS MODULE IS ASSESSED</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Completing Module 4</a:t>
            </a:r>
            <a:endParaRPr lang="en-US" sz="3400" dirty="0"/>
          </a:p>
        </p:txBody>
      </p:sp>
      <p:sp>
        <p:nvSpPr>
          <p:cNvPr id="5" name="Shape 3"/>
          <p:cNvSpPr/>
          <p:nvPr/>
        </p:nvSpPr>
        <p:spPr>
          <a:xfrm>
            <a:off x="777240" y="2048256"/>
            <a:ext cx="10607040" cy="822960"/>
          </a:xfrm>
          <a:prstGeom prst="roundRect">
            <a:avLst>
              <a:gd name="adj" fmla="val 6667"/>
            </a:avLst>
          </a:prstGeom>
          <a:solidFill>
            <a:srgbClr val="241A19"/>
          </a:solidFill>
          <a:ln w="9525">
            <a:solidFill>
              <a:srgbClr val="3E2A28"/>
            </a:solidFill>
            <a:prstDash val="solid"/>
          </a:ln>
        </p:spPr>
      </p:sp>
      <p:sp>
        <p:nvSpPr>
          <p:cNvPr id="6" name="Text 4"/>
          <p:cNvSpPr/>
          <p:nvPr/>
        </p:nvSpPr>
        <p:spPr>
          <a:xfrm>
            <a:off x="1143000" y="2048256"/>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Practicals</a:t>
            </a:r>
            <a:endParaRPr lang="en-US" sz="1300" dirty="0"/>
          </a:p>
        </p:txBody>
      </p:sp>
      <p:sp>
        <p:nvSpPr>
          <p:cNvPr id="7" name="Text 5"/>
          <p:cNvSpPr/>
          <p:nvPr/>
        </p:nvSpPr>
        <p:spPr>
          <a:xfrm>
            <a:off x="3200400" y="2048256"/>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Complete all 3 practicals on ALIZON OS. Every submission is evaluated by faculty.</a:t>
            </a:r>
            <a:endParaRPr lang="en-US" sz="1250" dirty="0"/>
          </a:p>
        </p:txBody>
      </p:sp>
      <p:sp>
        <p:nvSpPr>
          <p:cNvPr id="8" name="Shape 6"/>
          <p:cNvSpPr/>
          <p:nvPr/>
        </p:nvSpPr>
        <p:spPr>
          <a:xfrm>
            <a:off x="777240" y="3017520"/>
            <a:ext cx="10607040" cy="822960"/>
          </a:xfrm>
          <a:prstGeom prst="roundRect">
            <a:avLst>
              <a:gd name="adj" fmla="val 6667"/>
            </a:avLst>
          </a:prstGeom>
          <a:solidFill>
            <a:srgbClr val="241A19"/>
          </a:solidFill>
          <a:ln w="9525">
            <a:solidFill>
              <a:srgbClr val="3E2A28"/>
            </a:solidFill>
            <a:prstDash val="solid"/>
          </a:ln>
        </p:spPr>
      </p:sp>
      <p:sp>
        <p:nvSpPr>
          <p:cNvPr id="9" name="Text 7"/>
          <p:cNvSpPr/>
          <p:nvPr/>
        </p:nvSpPr>
        <p:spPr>
          <a:xfrm>
            <a:off x="1143000" y="3017520"/>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Attendance</a:t>
            </a:r>
            <a:endParaRPr lang="en-US" sz="1300" dirty="0"/>
          </a:p>
        </p:txBody>
      </p:sp>
      <p:sp>
        <p:nvSpPr>
          <p:cNvPr id="10" name="Text 8"/>
          <p:cNvSpPr/>
          <p:nvPr/>
        </p:nvSpPr>
        <p:spPr>
          <a:xfrm>
            <a:off x="3200400" y="3017520"/>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Attendance is recorded automatically from submitted work — signing in alone does not count.</a:t>
            </a:r>
            <a:endParaRPr lang="en-US" sz="1250" dirty="0"/>
          </a:p>
        </p:txBody>
      </p:sp>
      <p:sp>
        <p:nvSpPr>
          <p:cNvPr id="11" name="Shape 9"/>
          <p:cNvSpPr/>
          <p:nvPr/>
        </p:nvSpPr>
        <p:spPr>
          <a:xfrm>
            <a:off x="777240" y="3986784"/>
            <a:ext cx="10607040" cy="822960"/>
          </a:xfrm>
          <a:prstGeom prst="roundRect">
            <a:avLst>
              <a:gd name="adj" fmla="val 6667"/>
            </a:avLst>
          </a:prstGeom>
          <a:solidFill>
            <a:srgbClr val="241A19"/>
          </a:solidFill>
          <a:ln w="9525">
            <a:solidFill>
              <a:srgbClr val="3E2A28"/>
            </a:solidFill>
            <a:prstDash val="solid"/>
          </a:ln>
        </p:spPr>
      </p:sp>
      <p:sp>
        <p:nvSpPr>
          <p:cNvPr id="12" name="Text 10"/>
          <p:cNvSpPr/>
          <p:nvPr/>
        </p:nvSpPr>
        <p:spPr>
          <a:xfrm>
            <a:off x="1143000" y="3986784"/>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Examination</a:t>
            </a:r>
            <a:endParaRPr lang="en-US" sz="1300" dirty="0"/>
          </a:p>
        </p:txBody>
      </p:sp>
      <p:sp>
        <p:nvSpPr>
          <p:cNvPr id="13" name="Text 11"/>
          <p:cNvSpPr/>
          <p:nvPr/>
        </p:nvSpPr>
        <p:spPr>
          <a:xfrm>
            <a:off x="3200400" y="3986784"/>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100 multiple-choice questions across 4 units. Practise on the mock paper before the internal examination.</a:t>
            </a:r>
            <a:endParaRPr lang="en-US" sz="1250" dirty="0"/>
          </a:p>
        </p:txBody>
      </p:sp>
      <p:sp>
        <p:nvSpPr>
          <p:cNvPr id="14" name="Shape 12"/>
          <p:cNvSpPr/>
          <p:nvPr/>
        </p:nvSpPr>
        <p:spPr>
          <a:xfrm>
            <a:off x="777240" y="4956048"/>
            <a:ext cx="10607040" cy="822960"/>
          </a:xfrm>
          <a:prstGeom prst="roundRect">
            <a:avLst>
              <a:gd name="adj" fmla="val 6667"/>
            </a:avLst>
          </a:prstGeom>
          <a:solidFill>
            <a:srgbClr val="241A19"/>
          </a:solidFill>
          <a:ln w="9525">
            <a:solidFill>
              <a:srgbClr val="3E2A28"/>
            </a:solidFill>
            <a:prstDash val="solid"/>
          </a:ln>
        </p:spPr>
      </p:sp>
      <p:sp>
        <p:nvSpPr>
          <p:cNvPr id="15" name="Text 13"/>
          <p:cNvSpPr/>
          <p:nvPr/>
        </p:nvSpPr>
        <p:spPr>
          <a:xfrm>
            <a:off x="1143000" y="4956048"/>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Certificate</a:t>
            </a:r>
            <a:endParaRPr lang="en-US" sz="1300" dirty="0"/>
          </a:p>
        </p:txBody>
      </p:sp>
      <p:sp>
        <p:nvSpPr>
          <p:cNvPr id="16" name="Text 14"/>
          <p:cNvSpPr/>
          <p:nvPr/>
        </p:nvSpPr>
        <p:spPr>
          <a:xfrm>
            <a:off x="3200400" y="4956048"/>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Faculty-verified practicals earn a Certificate of Practical Experience, with the hours set by the institution.</a:t>
            </a:r>
            <a:endParaRPr lang="en-US" sz="1250" dirty="0"/>
          </a:p>
        </p:txBody>
      </p:sp>
      <p:sp>
        <p:nvSpPr>
          <p:cNvPr id="17" name="Text 15"/>
          <p:cNvSpPr/>
          <p:nvPr/>
        </p:nvSpPr>
        <p:spPr>
          <a:xfrm>
            <a:off x="777240" y="6053328"/>
            <a:ext cx="10607040" cy="310896"/>
          </a:xfrm>
          <a:prstGeom prst="rect">
            <a:avLst/>
          </a:prstGeom>
          <a:noFill/>
          <a:ln/>
        </p:spPr>
        <p:txBody>
          <a:bodyPr wrap="square" lIns="0" tIns="0" rIns="0" bIns="0" rtlCol="0" anchor="ctr"/>
          <a:lstStyle/>
          <a:p>
            <a:pPr indent="0" marL="0">
              <a:buNone/>
            </a:pPr>
            <a:r>
              <a:rPr lang="en-US" sz="1150" dirty="0">
                <a:solidFill>
                  <a:srgbClr val="9A7B3F"/>
                </a:solidFill>
                <a:latin typeface="Calibri" pitchFamily="34" charset="0"/>
                <a:ea typeface="Calibri" pitchFamily="34" charset="-122"/>
                <a:cs typeface="Calibri" pitchFamily="34" charset="-120"/>
              </a:rPr>
              <a:t>Study material, practicals, mock papers and results · alizon.in      Institution · www.alizongov.com</a:t>
            </a:r>
            <a:endParaRPr lang="en-US" sz="1150" dirty="0"/>
          </a:p>
        </p:txBody>
      </p:sp>
      <p:sp>
        <p:nvSpPr>
          <p:cNvPr id="18" name="Text 16"/>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4 · AI in Drug Development, Vaccines &amp; Injectables</a:t>
            </a:r>
            <a:endParaRPr lang="en-US" sz="950" dirty="0"/>
          </a:p>
        </p:txBody>
      </p:sp>
      <p:sp>
        <p:nvSpPr>
          <p:cNvPr id="19" name="Text 17"/>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Alizon School of Medical and Digital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 AI in Drug Development, Vaccines &amp; Injectables</dc:title>
  <dc:subject>Certificate Course in Digital Health &amp; Artificial Intelligence for Pharmacy</dc:subject>
  <dc:creator>Alizon School of Medical &amp; Digital Intelligence</dc:creator>
  <cp:lastModifiedBy>Alizon School of Medical &amp; Digital Intelligence</cp:lastModifiedBy>
  <cp:revision>1</cp:revision>
  <dcterms:created xsi:type="dcterms:W3CDTF">2026-08-10T05:52:32Z</dcterms:created>
  <dcterms:modified xsi:type="dcterms:W3CDTF">2026-08-10T05:52:32Z</dcterms:modified>
</cp:coreProperties>
</file>