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8C1515">
              <a:alpha val="28000"/>
            </a:srgbClr>
          </a:solidFill>
          <a:ln/>
        </p:spPr>
      </p:sp>
      <p:sp>
        <p:nvSpPr>
          <p:cNvPr id="3" name="Shape 1"/>
          <p:cNvSpPr/>
          <p:nvPr/>
        </p:nvSpPr>
        <p:spPr>
          <a:xfrm>
            <a:off x="10607040" y="4297680"/>
            <a:ext cx="2926080" cy="2926080"/>
          </a:xfrm>
          <a:prstGeom prst="ellipse">
            <a:avLst/>
          </a:prstGeom>
          <a:solidFill>
            <a:srgbClr val="9A7B3F">
              <a:alpha val="20000"/>
            </a:srgbClr>
          </a:solidFill>
          <a:ln/>
        </p:spPr>
      </p:sp>
      <p:sp>
        <p:nvSpPr>
          <p:cNvPr id="4" name="Text 2"/>
          <p:cNvSpPr/>
          <p:nvPr/>
        </p:nvSpPr>
        <p:spPr>
          <a:xfrm>
            <a:off x="777240" y="777240"/>
            <a:ext cx="9692640" cy="274320"/>
          </a:xfrm>
          <a:prstGeom prst="rect">
            <a:avLst/>
          </a:prstGeom>
          <a:noFill/>
          <a:ln/>
        </p:spPr>
        <p:txBody>
          <a:bodyPr wrap="square" lIns="0" tIns="0" rIns="0" bIns="0" rtlCol="0" anchor="ctr"/>
          <a:lstStyle/>
          <a:p>
            <a:pPr indent="0" marL="0">
              <a:buNone/>
            </a:pPr>
            <a:r>
              <a:rPr lang="en-US" sz="1100" b="1" spc="220" kern="0" dirty="0">
                <a:solidFill>
                  <a:srgbClr val="E8B4B4"/>
                </a:solidFill>
                <a:latin typeface="Calibri" pitchFamily="34" charset="0"/>
                <a:ea typeface="Calibri" pitchFamily="34" charset="-122"/>
                <a:cs typeface="Calibri" pitchFamily="34" charset="-120"/>
              </a:rPr>
              <a:t>ALIZON SCHOOL OF MEDICAL &amp; DIGITAL INTELLIGENCE</a:t>
            </a:r>
            <a:endParaRPr lang="en-US" sz="1100" dirty="0"/>
          </a:p>
        </p:txBody>
      </p:sp>
      <p:sp>
        <p:nvSpPr>
          <p:cNvPr id="5" name="Text 3"/>
          <p:cNvSpPr/>
          <p:nvPr/>
        </p:nvSpPr>
        <p:spPr>
          <a:xfrm>
            <a:off x="777240" y="1444752"/>
            <a:ext cx="8229600" cy="548640"/>
          </a:xfrm>
          <a:prstGeom prst="rect">
            <a:avLst/>
          </a:prstGeom>
          <a:noFill/>
          <a:ln/>
        </p:spPr>
        <p:txBody>
          <a:bodyPr wrap="square" lIns="0" tIns="0" rIns="0" bIns="0" rtlCol="0" anchor="ctr"/>
          <a:lstStyle/>
          <a:p>
            <a:pPr indent="0" marL="0">
              <a:buNone/>
            </a:pPr>
            <a:r>
              <a:rPr lang="en-US" sz="2000" dirty="0">
                <a:solidFill>
                  <a:srgbClr val="9A7B3F"/>
                </a:solidFill>
                <a:latin typeface="Calibri" pitchFamily="34" charset="0"/>
                <a:ea typeface="Calibri" pitchFamily="34" charset="-122"/>
                <a:cs typeface="Calibri" pitchFamily="34" charset="-120"/>
              </a:rPr>
              <a:t>Module 3</a:t>
            </a:r>
            <a:endParaRPr lang="en-US" sz="2000" dirty="0"/>
          </a:p>
        </p:txBody>
      </p:sp>
      <p:sp>
        <p:nvSpPr>
          <p:cNvPr id="6" name="Text 4"/>
          <p:cNvSpPr/>
          <p:nvPr/>
        </p:nvSpPr>
        <p:spPr>
          <a:xfrm>
            <a:off x="777240" y="1993392"/>
            <a:ext cx="9692640" cy="1920240"/>
          </a:xfrm>
          <a:prstGeom prst="rect">
            <a:avLst/>
          </a:prstGeom>
          <a:noFill/>
          <a:ln/>
        </p:spPr>
        <p:txBody>
          <a:bodyPr wrap="square" lIns="0" tIns="0" rIns="0" bIns="0" rtlCol="0" anchor="ctr"/>
          <a:lstStyle/>
          <a:p>
            <a:pPr indent="0" marL="0">
              <a:lnSpc>
                <a:spcPts val="4800"/>
              </a:lnSpc>
              <a:buNone/>
            </a:pPr>
            <a:r>
              <a:rPr lang="en-US" sz="4100" b="1" dirty="0">
                <a:solidFill>
                  <a:srgbClr val="FFFFFF"/>
                </a:solidFill>
                <a:latin typeface="Cambria" pitchFamily="34" charset="0"/>
                <a:ea typeface="Cambria" pitchFamily="34" charset="-122"/>
                <a:cs typeface="Cambria" pitchFamily="34" charset="-120"/>
              </a:rPr>
              <a:t>AI-Based Clinical Decision Support in Pharmacy</a:t>
            </a:r>
            <a:endParaRPr lang="en-US" sz="4100" dirty="0"/>
          </a:p>
        </p:txBody>
      </p:sp>
      <p:sp>
        <p:nvSpPr>
          <p:cNvPr id="7" name="Text 5"/>
          <p:cNvSpPr/>
          <p:nvPr/>
        </p:nvSpPr>
        <p:spPr>
          <a:xfrm>
            <a:off x="777240" y="4023360"/>
            <a:ext cx="8961120" cy="384048"/>
          </a:xfrm>
          <a:prstGeom prst="rect">
            <a:avLst/>
          </a:prstGeom>
          <a:noFill/>
          <a:ln/>
        </p:spPr>
        <p:txBody>
          <a:bodyPr wrap="square" lIns="0" tIns="0" rIns="0" bIns="0" rtlCol="0" anchor="ctr"/>
          <a:lstStyle/>
          <a:p>
            <a:pPr indent="0" marL="0">
              <a:buNone/>
            </a:pPr>
            <a:r>
              <a:rPr lang="en-US" sz="1600" i="1" dirty="0">
                <a:solidFill>
                  <a:srgbClr val="C9C2BA"/>
                </a:solidFill>
                <a:latin typeface="Calibri" pitchFamily="34" charset="0"/>
                <a:ea typeface="Calibri" pitchFamily="34" charset="-122"/>
                <a:cs typeface="Calibri" pitchFamily="34" charset="-120"/>
              </a:rPr>
              <a:t>Alerts, Interactions and Prediction</a:t>
            </a:r>
            <a:endParaRPr lang="en-US" sz="1600" dirty="0"/>
          </a:p>
        </p:txBody>
      </p:sp>
      <p:sp>
        <p:nvSpPr>
          <p:cNvPr id="8" name="Text 6"/>
          <p:cNvSpPr/>
          <p:nvPr/>
        </p:nvSpPr>
        <p:spPr>
          <a:xfrm>
            <a:off x="777240" y="4846320"/>
            <a:ext cx="9509760" cy="868680"/>
          </a:xfrm>
          <a:prstGeom prst="rect">
            <a:avLst/>
          </a:prstGeom>
          <a:noFill/>
          <a:ln/>
        </p:spPr>
        <p:txBody>
          <a:bodyPr wrap="square" lIns="0" tIns="0" rIns="0" bIns="0" rtlCol="0" anchor="ctr"/>
          <a:lstStyle/>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Certificate Course in Digital Health &amp; Artificial Intelligence for Pharmacy</a:t>
            </a:r>
            <a:endParaRPr lang="en-US" sz="1300" dirty="0"/>
          </a:p>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4 units  ·  3 assessed practicals  ·  100 examination questions</a:t>
            </a:r>
            <a:endParaRPr lang="en-US" sz="1300" dirty="0"/>
          </a:p>
        </p:txBody>
      </p:sp>
      <p:sp>
        <p:nvSpPr>
          <p:cNvPr id="9" name="Text 7"/>
          <p:cNvSpPr/>
          <p:nvPr/>
        </p:nvSpPr>
        <p:spPr>
          <a:xfrm>
            <a:off x="777240" y="6291072"/>
            <a:ext cx="7315200" cy="274320"/>
          </a:xfrm>
          <a:prstGeom prst="rect">
            <a:avLst/>
          </a:prstGeom>
          <a:noFill/>
          <a:ln/>
        </p:spPr>
        <p:txBody>
          <a:bodyPr wrap="square" lIns="0" tIns="0" rIns="0" bIns="0" rtlCol="0" anchor="ctr"/>
          <a:lstStyle/>
          <a:p>
            <a:pPr indent="0" marL="0">
              <a:buNone/>
            </a:pPr>
            <a:r>
              <a:rPr lang="en-US" sz="1000" dirty="0">
                <a:solidFill>
                  <a:srgbClr val="6E6058"/>
                </a:solidFill>
                <a:latin typeface="Calibri" pitchFamily="34" charset="0"/>
                <a:ea typeface="Calibri" pitchFamily="34" charset="-122"/>
                <a:cs typeface="Calibri" pitchFamily="34" charset="-120"/>
              </a:rPr>
              <a:t>ASAP Kerala  ·  www.alizongov.com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MAP</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this module covers</a:t>
            </a:r>
            <a:endParaRPr lang="en-US" sz="2900" dirty="0"/>
          </a:p>
        </p:txBody>
      </p:sp>
      <p:sp>
        <p:nvSpPr>
          <p:cNvPr id="6" name="Shape 4"/>
          <p:cNvSpPr/>
          <p:nvPr/>
        </p:nvSpPr>
        <p:spPr>
          <a:xfrm>
            <a:off x="502920" y="1481328"/>
            <a:ext cx="5440680" cy="1371600"/>
          </a:xfrm>
          <a:prstGeom prst="roundRect">
            <a:avLst>
              <a:gd name="adj" fmla="val 4000"/>
            </a:avLst>
          </a:prstGeom>
          <a:solidFill>
            <a:srgbClr val="FAF8F6"/>
          </a:solidFill>
          <a:ln w="9525">
            <a:solidFill>
              <a:srgbClr val="DDD5CE"/>
            </a:solidFill>
            <a:prstDash val="solid"/>
          </a:ln>
        </p:spPr>
      </p:sp>
      <p:sp>
        <p:nvSpPr>
          <p:cNvPr id="7" name="Shape 5"/>
          <p:cNvSpPr/>
          <p:nvPr/>
        </p:nvSpPr>
        <p:spPr>
          <a:xfrm>
            <a:off x="740664" y="1755648"/>
            <a:ext cx="384048" cy="384048"/>
          </a:xfrm>
          <a:prstGeom prst="ellipse">
            <a:avLst/>
          </a:prstGeom>
          <a:solidFill>
            <a:srgbClr val="8C1515"/>
          </a:solidFill>
          <a:ln/>
        </p:spPr>
      </p:sp>
      <p:sp>
        <p:nvSpPr>
          <p:cNvPr id="8" name="Text 6"/>
          <p:cNvSpPr/>
          <p:nvPr/>
        </p:nvSpPr>
        <p:spPr>
          <a:xfrm>
            <a:off x="74066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25272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Clinical Decision Support Systems (CDSS)</a:t>
            </a:r>
            <a:endParaRPr lang="en-US" sz="1350" dirty="0"/>
          </a:p>
        </p:txBody>
      </p:sp>
      <p:sp>
        <p:nvSpPr>
          <p:cNvPr id="10" name="Text 8"/>
          <p:cNvSpPr/>
          <p:nvPr/>
        </p:nvSpPr>
        <p:spPr>
          <a:xfrm>
            <a:off x="125272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Principles and Components of CDSS · Role of CDSS in Clinical and Hospital Pharmacy · Integration with EHR and Prescription…</a:t>
            </a:r>
            <a:endParaRPr lang="en-US" sz="1050" dirty="0"/>
          </a:p>
        </p:txBody>
      </p:sp>
      <p:sp>
        <p:nvSpPr>
          <p:cNvPr id="11" name="Shape 9"/>
          <p:cNvSpPr/>
          <p:nvPr/>
        </p:nvSpPr>
        <p:spPr>
          <a:xfrm>
            <a:off x="6263640" y="1481328"/>
            <a:ext cx="5440680" cy="1371600"/>
          </a:xfrm>
          <a:prstGeom prst="roundRect">
            <a:avLst>
              <a:gd name="adj" fmla="val 4000"/>
            </a:avLst>
          </a:prstGeom>
          <a:solidFill>
            <a:srgbClr val="FAF8F6"/>
          </a:solidFill>
          <a:ln w="9525">
            <a:solidFill>
              <a:srgbClr val="DDD5CE"/>
            </a:solidFill>
            <a:prstDash val="solid"/>
          </a:ln>
        </p:spPr>
      </p:sp>
      <p:sp>
        <p:nvSpPr>
          <p:cNvPr id="12" name="Shape 10"/>
          <p:cNvSpPr/>
          <p:nvPr/>
        </p:nvSpPr>
        <p:spPr>
          <a:xfrm>
            <a:off x="6501384" y="1755648"/>
            <a:ext cx="384048" cy="384048"/>
          </a:xfrm>
          <a:prstGeom prst="ellipse">
            <a:avLst/>
          </a:prstGeom>
          <a:solidFill>
            <a:srgbClr val="8C1515"/>
          </a:solidFill>
          <a:ln/>
        </p:spPr>
      </p:sp>
      <p:sp>
        <p:nvSpPr>
          <p:cNvPr id="13" name="Text 11"/>
          <p:cNvSpPr/>
          <p:nvPr/>
        </p:nvSpPr>
        <p:spPr>
          <a:xfrm>
            <a:off x="650138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01344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Drug Interaction &amp; Dose Optimization Software Tools</a:t>
            </a:r>
            <a:endParaRPr lang="en-US" sz="1350" dirty="0"/>
          </a:p>
        </p:txBody>
      </p:sp>
      <p:sp>
        <p:nvSpPr>
          <p:cNvPr id="15" name="Text 13"/>
          <p:cNvSpPr/>
          <p:nvPr/>
        </p:nvSpPr>
        <p:spPr>
          <a:xfrm>
            <a:off x="701344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Definition of Drug Interaction Software · Classification of Drug Interaction Software · Introduction to Dose Adjustment &amp;…</a:t>
            </a:r>
            <a:endParaRPr lang="en-US" sz="1050" dirty="0"/>
          </a:p>
        </p:txBody>
      </p:sp>
      <p:sp>
        <p:nvSpPr>
          <p:cNvPr id="16" name="Shape 14"/>
          <p:cNvSpPr/>
          <p:nvPr/>
        </p:nvSpPr>
        <p:spPr>
          <a:xfrm>
            <a:off x="502920" y="3054096"/>
            <a:ext cx="5440680" cy="1371600"/>
          </a:xfrm>
          <a:prstGeom prst="roundRect">
            <a:avLst>
              <a:gd name="adj" fmla="val 4000"/>
            </a:avLst>
          </a:prstGeom>
          <a:solidFill>
            <a:srgbClr val="FAF8F6"/>
          </a:solidFill>
          <a:ln w="9525">
            <a:solidFill>
              <a:srgbClr val="DDD5CE"/>
            </a:solidFill>
            <a:prstDash val="solid"/>
          </a:ln>
        </p:spPr>
      </p:sp>
      <p:sp>
        <p:nvSpPr>
          <p:cNvPr id="17" name="Shape 15"/>
          <p:cNvSpPr/>
          <p:nvPr/>
        </p:nvSpPr>
        <p:spPr>
          <a:xfrm>
            <a:off x="740664" y="3328416"/>
            <a:ext cx="384048" cy="384048"/>
          </a:xfrm>
          <a:prstGeom prst="ellipse">
            <a:avLst/>
          </a:prstGeom>
          <a:solidFill>
            <a:srgbClr val="8C1515"/>
          </a:solidFill>
          <a:ln/>
        </p:spPr>
      </p:sp>
      <p:sp>
        <p:nvSpPr>
          <p:cNvPr id="18" name="Text 16"/>
          <p:cNvSpPr/>
          <p:nvPr/>
        </p:nvSpPr>
        <p:spPr>
          <a:xfrm>
            <a:off x="74066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25272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Pharmacogenomics &amp; Antibiogram Analysis</a:t>
            </a:r>
            <a:endParaRPr lang="en-US" sz="1350" dirty="0"/>
          </a:p>
        </p:txBody>
      </p:sp>
      <p:sp>
        <p:nvSpPr>
          <p:cNvPr id="20" name="Text 18"/>
          <p:cNvSpPr/>
          <p:nvPr/>
        </p:nvSpPr>
        <p:spPr>
          <a:xfrm>
            <a:off x="125272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Role of Genetics in Drug Response · Use of Pharmacogenomic Databases · Interpretation of Hospital Antibiograms · Selection of…</a:t>
            </a:r>
            <a:endParaRPr lang="en-US" sz="1050" dirty="0"/>
          </a:p>
        </p:txBody>
      </p:sp>
      <p:sp>
        <p:nvSpPr>
          <p:cNvPr id="21" name="Shape 19"/>
          <p:cNvSpPr/>
          <p:nvPr/>
        </p:nvSpPr>
        <p:spPr>
          <a:xfrm>
            <a:off x="6263640" y="3054096"/>
            <a:ext cx="5440680" cy="1371600"/>
          </a:xfrm>
          <a:prstGeom prst="roundRect">
            <a:avLst>
              <a:gd name="adj" fmla="val 4000"/>
            </a:avLst>
          </a:prstGeom>
          <a:solidFill>
            <a:srgbClr val="FAF8F6"/>
          </a:solidFill>
          <a:ln w="9525">
            <a:solidFill>
              <a:srgbClr val="DDD5CE"/>
            </a:solidFill>
            <a:prstDash val="solid"/>
          </a:ln>
        </p:spPr>
      </p:sp>
      <p:sp>
        <p:nvSpPr>
          <p:cNvPr id="22" name="Shape 20"/>
          <p:cNvSpPr/>
          <p:nvPr/>
        </p:nvSpPr>
        <p:spPr>
          <a:xfrm>
            <a:off x="6501384" y="3328416"/>
            <a:ext cx="384048" cy="384048"/>
          </a:xfrm>
          <a:prstGeom prst="ellipse">
            <a:avLst/>
          </a:prstGeom>
          <a:solidFill>
            <a:srgbClr val="8C1515"/>
          </a:solidFill>
          <a:ln/>
        </p:spPr>
      </p:sp>
      <p:sp>
        <p:nvSpPr>
          <p:cNvPr id="23" name="Text 21"/>
          <p:cNvSpPr/>
          <p:nvPr/>
        </p:nvSpPr>
        <p:spPr>
          <a:xfrm>
            <a:off x="650138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01344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Predictive Pharmacovigilance</a:t>
            </a:r>
            <a:endParaRPr lang="en-US" sz="1350" dirty="0"/>
          </a:p>
        </p:txBody>
      </p:sp>
      <p:sp>
        <p:nvSpPr>
          <p:cNvPr id="25" name="Text 23"/>
          <p:cNvSpPr/>
          <p:nvPr/>
        </p:nvSpPr>
        <p:spPr>
          <a:xfrm>
            <a:off x="701344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Signal Detection and Risk Prediction · AI-Based Adverse Drug Reaction Monitoring · Identifying High-Risk Patients and…</a:t>
            </a:r>
            <a:endParaRPr lang="en-US" sz="1050" dirty="0"/>
          </a:p>
        </p:txBody>
      </p:sp>
      <p:sp>
        <p:nvSpPr>
          <p:cNvPr id="26" name="Shape 24"/>
          <p:cNvSpPr/>
          <p:nvPr/>
        </p:nvSpPr>
        <p:spPr>
          <a:xfrm>
            <a:off x="502920" y="4681728"/>
            <a:ext cx="11183112" cy="987552"/>
          </a:xfrm>
          <a:prstGeom prst="roundRect">
            <a:avLst>
              <a:gd name="adj" fmla="val 5556"/>
            </a:avLst>
          </a:prstGeom>
          <a:solidFill>
            <a:srgbClr val="2E1010"/>
          </a:solidFill>
          <a:ln w="9525">
            <a:solidFill>
              <a:srgbClr val="46201F"/>
            </a:solidFill>
            <a:prstDash val="solid"/>
          </a:ln>
        </p:spPr>
      </p:sp>
      <p:sp>
        <p:nvSpPr>
          <p:cNvPr id="27" name="Text 25"/>
          <p:cNvSpPr/>
          <p:nvPr/>
        </p:nvSpPr>
        <p:spPr>
          <a:xfrm>
            <a:off x="868680" y="4846320"/>
            <a:ext cx="3291840" cy="292608"/>
          </a:xfrm>
          <a:prstGeom prst="rect">
            <a:avLst/>
          </a:prstGeom>
          <a:noFill/>
          <a:ln/>
        </p:spPr>
        <p:txBody>
          <a:bodyPr wrap="square" lIns="0" tIns="0" rIns="0" bIns="0" rtlCol="0" anchor="ctr"/>
          <a:lstStyle/>
          <a:p>
            <a:pPr indent="0" marL="0">
              <a:buNone/>
            </a:pPr>
            <a:r>
              <a:rPr lang="en-US" sz="1350" b="1" dirty="0">
                <a:solidFill>
                  <a:srgbClr val="F0C9C9"/>
                </a:solidFill>
                <a:latin typeface="Calibri" pitchFamily="34" charset="0"/>
                <a:ea typeface="Calibri" pitchFamily="34" charset="-122"/>
                <a:cs typeface="Calibri" pitchFamily="34" charset="-120"/>
              </a:rPr>
              <a:t>3 assessed practicals</a:t>
            </a:r>
            <a:endParaRPr lang="en-US" sz="1350" dirty="0"/>
          </a:p>
        </p:txBody>
      </p:sp>
      <p:sp>
        <p:nvSpPr>
          <p:cNvPr id="28" name="Text 26"/>
          <p:cNvSpPr/>
          <p:nvPr/>
        </p:nvSpPr>
        <p:spPr>
          <a:xfrm>
            <a:off x="868680" y="5157216"/>
            <a:ext cx="10515600" cy="384048"/>
          </a:xfrm>
          <a:prstGeom prst="rect">
            <a:avLst/>
          </a:prstGeom>
          <a:noFill/>
          <a:ln/>
        </p:spPr>
        <p:txBody>
          <a:bodyPr wrap="square" lIns="0" tIns="0" rIns="0" bIns="0" rtlCol="0" anchor="ctr"/>
          <a:lstStyle/>
          <a:p>
            <a:pPr indent="0" marL="0">
              <a:buNone/>
            </a:pPr>
            <a:r>
              <a:rPr lang="en-US" sz="1150" dirty="0">
                <a:solidFill>
                  <a:srgbClr val="E7DCD8"/>
                </a:solidFill>
                <a:latin typeface="Calibri" pitchFamily="34" charset="0"/>
                <a:ea typeface="Calibri" pitchFamily="34" charset="-122"/>
                <a:cs typeface="Calibri" pitchFamily="34" charset="-120"/>
              </a:rPr>
              <a:t>CDSS Alert Management Console · Antimicrobial Stewardship Ward Round · High-Alert Medicines Safety Round</a:t>
            </a:r>
            <a:endParaRPr lang="en-US" sz="1150" dirty="0"/>
          </a:p>
        </p:txBody>
      </p:sp>
      <p:sp>
        <p:nvSpPr>
          <p:cNvPr id="29" name="Text 2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30" name="Text 2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LEARNING OUTCOMES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you will be able to do</a:t>
            </a:r>
            <a:endParaRPr lang="en-US" sz="2900" dirty="0"/>
          </a:p>
        </p:txBody>
      </p:sp>
      <p:sp>
        <p:nvSpPr>
          <p:cNvPr id="6" name="Shape 4"/>
          <p:cNvSpPr/>
          <p:nvPr/>
        </p:nvSpPr>
        <p:spPr>
          <a:xfrm>
            <a:off x="502920" y="1591056"/>
            <a:ext cx="310896" cy="310896"/>
          </a:xfrm>
          <a:prstGeom prst="ellipse">
            <a:avLst/>
          </a:prstGeom>
          <a:solidFill>
            <a:srgbClr val="F2E4E4"/>
          </a:solidFill>
          <a:ln/>
        </p:spPr>
      </p:sp>
      <p:sp>
        <p:nvSpPr>
          <p:cNvPr id="7" name="Text 5"/>
          <p:cNvSpPr/>
          <p:nvPr/>
        </p:nvSpPr>
        <p:spPr>
          <a:xfrm>
            <a:off x="50292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96012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Explain</a:t>
            </a:r>
            <a:endParaRPr lang="en-US" sz="1400" dirty="0"/>
          </a:p>
        </p:txBody>
      </p:sp>
      <p:sp>
        <p:nvSpPr>
          <p:cNvPr id="9" name="Text 7"/>
          <p:cNvSpPr/>
          <p:nvPr/>
        </p:nvSpPr>
        <p:spPr>
          <a:xfrm>
            <a:off x="96012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Clinical Decision Support Systems (CDSS)</a:t>
            </a:r>
            <a:endParaRPr lang="en-US" sz="1250" dirty="0"/>
          </a:p>
        </p:txBody>
      </p:sp>
      <p:sp>
        <p:nvSpPr>
          <p:cNvPr id="10" name="Shape 8"/>
          <p:cNvSpPr/>
          <p:nvPr/>
        </p:nvSpPr>
        <p:spPr>
          <a:xfrm>
            <a:off x="6263640" y="1591056"/>
            <a:ext cx="310896" cy="310896"/>
          </a:xfrm>
          <a:prstGeom prst="ellipse">
            <a:avLst/>
          </a:prstGeom>
          <a:solidFill>
            <a:srgbClr val="F2E4E4"/>
          </a:solidFill>
          <a:ln/>
        </p:spPr>
      </p:sp>
      <p:sp>
        <p:nvSpPr>
          <p:cNvPr id="11" name="Text 9"/>
          <p:cNvSpPr/>
          <p:nvPr/>
        </p:nvSpPr>
        <p:spPr>
          <a:xfrm>
            <a:off x="626364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72084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Operate</a:t>
            </a:r>
            <a:endParaRPr lang="en-US" sz="1400" dirty="0"/>
          </a:p>
        </p:txBody>
      </p:sp>
      <p:sp>
        <p:nvSpPr>
          <p:cNvPr id="13" name="Text 11"/>
          <p:cNvSpPr/>
          <p:nvPr/>
        </p:nvSpPr>
        <p:spPr>
          <a:xfrm>
            <a:off x="672084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Principles and Components of CDSS</a:t>
            </a:r>
            <a:endParaRPr lang="en-US" sz="1250" dirty="0"/>
          </a:p>
        </p:txBody>
      </p:sp>
      <p:sp>
        <p:nvSpPr>
          <p:cNvPr id="14" name="Shape 12"/>
          <p:cNvSpPr/>
          <p:nvPr/>
        </p:nvSpPr>
        <p:spPr>
          <a:xfrm>
            <a:off x="502920" y="2962656"/>
            <a:ext cx="310896" cy="310896"/>
          </a:xfrm>
          <a:prstGeom prst="ellipse">
            <a:avLst/>
          </a:prstGeom>
          <a:solidFill>
            <a:srgbClr val="F2E4E4"/>
          </a:solidFill>
          <a:ln/>
        </p:spPr>
      </p:sp>
      <p:sp>
        <p:nvSpPr>
          <p:cNvPr id="15" name="Text 13"/>
          <p:cNvSpPr/>
          <p:nvPr/>
        </p:nvSpPr>
        <p:spPr>
          <a:xfrm>
            <a:off x="50292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96012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Apply</a:t>
            </a:r>
            <a:endParaRPr lang="en-US" sz="1400" dirty="0"/>
          </a:p>
        </p:txBody>
      </p:sp>
      <p:sp>
        <p:nvSpPr>
          <p:cNvPr id="17" name="Text 15"/>
          <p:cNvSpPr/>
          <p:nvPr/>
        </p:nvSpPr>
        <p:spPr>
          <a:xfrm>
            <a:off x="96012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Drug Interaction &amp; Dose Optimization Software Tools</a:t>
            </a:r>
            <a:endParaRPr lang="en-US" sz="1250" dirty="0"/>
          </a:p>
        </p:txBody>
      </p:sp>
      <p:sp>
        <p:nvSpPr>
          <p:cNvPr id="18" name="Shape 16"/>
          <p:cNvSpPr/>
          <p:nvPr/>
        </p:nvSpPr>
        <p:spPr>
          <a:xfrm>
            <a:off x="6263640" y="2962656"/>
            <a:ext cx="310896" cy="310896"/>
          </a:xfrm>
          <a:prstGeom prst="ellipse">
            <a:avLst/>
          </a:prstGeom>
          <a:solidFill>
            <a:srgbClr val="F2E4E4"/>
          </a:solidFill>
          <a:ln/>
        </p:spPr>
      </p:sp>
      <p:sp>
        <p:nvSpPr>
          <p:cNvPr id="19" name="Text 17"/>
          <p:cNvSpPr/>
          <p:nvPr/>
        </p:nvSpPr>
        <p:spPr>
          <a:xfrm>
            <a:off x="626364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672084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Evaluate</a:t>
            </a:r>
            <a:endParaRPr lang="en-US" sz="1400" dirty="0"/>
          </a:p>
        </p:txBody>
      </p:sp>
      <p:sp>
        <p:nvSpPr>
          <p:cNvPr id="21" name="Text 19"/>
          <p:cNvSpPr/>
          <p:nvPr/>
        </p:nvSpPr>
        <p:spPr>
          <a:xfrm>
            <a:off x="672084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Definition of Drug Interaction Software</a:t>
            </a:r>
            <a:endParaRPr lang="en-US" sz="1250" dirty="0"/>
          </a:p>
        </p:txBody>
      </p:sp>
      <p:sp>
        <p:nvSpPr>
          <p:cNvPr id="22" name="Shape 20"/>
          <p:cNvSpPr/>
          <p:nvPr/>
        </p:nvSpPr>
        <p:spPr>
          <a:xfrm>
            <a:off x="502920" y="4334256"/>
            <a:ext cx="310896" cy="310896"/>
          </a:xfrm>
          <a:prstGeom prst="ellipse">
            <a:avLst/>
          </a:prstGeom>
          <a:solidFill>
            <a:srgbClr val="F2E4E4"/>
          </a:solidFill>
          <a:ln/>
        </p:spPr>
      </p:sp>
      <p:sp>
        <p:nvSpPr>
          <p:cNvPr id="23" name="Text 21"/>
          <p:cNvSpPr/>
          <p:nvPr/>
        </p:nvSpPr>
        <p:spPr>
          <a:xfrm>
            <a:off x="50292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96012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Describe</a:t>
            </a:r>
            <a:endParaRPr lang="en-US" sz="1400" dirty="0"/>
          </a:p>
        </p:txBody>
      </p:sp>
      <p:sp>
        <p:nvSpPr>
          <p:cNvPr id="25" name="Text 23"/>
          <p:cNvSpPr/>
          <p:nvPr/>
        </p:nvSpPr>
        <p:spPr>
          <a:xfrm>
            <a:off x="96012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Pharmacogenomics &amp; Antibiogram Analysis</a:t>
            </a:r>
            <a:endParaRPr lang="en-US" sz="1250" dirty="0"/>
          </a:p>
        </p:txBody>
      </p:sp>
      <p:sp>
        <p:nvSpPr>
          <p:cNvPr id="26" name="Shape 24"/>
          <p:cNvSpPr/>
          <p:nvPr/>
        </p:nvSpPr>
        <p:spPr>
          <a:xfrm>
            <a:off x="6263640" y="4334256"/>
            <a:ext cx="310896" cy="310896"/>
          </a:xfrm>
          <a:prstGeom prst="ellipse">
            <a:avLst/>
          </a:prstGeom>
          <a:solidFill>
            <a:srgbClr val="F2E4E4"/>
          </a:solidFill>
          <a:ln/>
        </p:spPr>
      </p:sp>
      <p:sp>
        <p:nvSpPr>
          <p:cNvPr id="27" name="Text 25"/>
          <p:cNvSpPr/>
          <p:nvPr/>
        </p:nvSpPr>
        <p:spPr>
          <a:xfrm>
            <a:off x="626364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72084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Document</a:t>
            </a:r>
            <a:endParaRPr lang="en-US" sz="1400" dirty="0"/>
          </a:p>
        </p:txBody>
      </p:sp>
      <p:sp>
        <p:nvSpPr>
          <p:cNvPr id="29" name="Text 27"/>
          <p:cNvSpPr/>
          <p:nvPr/>
        </p:nvSpPr>
        <p:spPr>
          <a:xfrm>
            <a:off x="672084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Role of Genetics in Drug Response</a:t>
            </a:r>
            <a:endParaRPr lang="en-US" sz="1250" dirty="0"/>
          </a:p>
        </p:txBody>
      </p:sp>
      <p:sp>
        <p:nvSpPr>
          <p:cNvPr id="30" name="Shape 28"/>
          <p:cNvSpPr/>
          <p:nvPr/>
        </p:nvSpPr>
        <p:spPr>
          <a:xfrm>
            <a:off x="502920" y="5504688"/>
            <a:ext cx="11183112" cy="585216"/>
          </a:xfrm>
          <a:prstGeom prst="roundRect">
            <a:avLst>
              <a:gd name="adj" fmla="val 9375"/>
            </a:avLst>
          </a:prstGeom>
          <a:solidFill>
            <a:srgbClr val="FAF8F6"/>
          </a:solidFill>
          <a:ln w="9525">
            <a:solidFill>
              <a:srgbClr val="DDD5CE"/>
            </a:solidFill>
            <a:prstDash val="solid"/>
          </a:ln>
        </p:spPr>
      </p:sp>
      <p:sp>
        <p:nvSpPr>
          <p:cNvPr id="31" name="Text 29"/>
          <p:cNvSpPr/>
          <p:nvPr/>
        </p:nvSpPr>
        <p:spPr>
          <a:xfrm>
            <a:off x="868680" y="5504688"/>
            <a:ext cx="10515600" cy="585216"/>
          </a:xfrm>
          <a:prstGeom prst="rect">
            <a:avLst/>
          </a:prstGeom>
          <a:noFill/>
          <a:ln/>
        </p:spPr>
        <p:txBody>
          <a:bodyPr wrap="square" lIns="0" tIns="0" rIns="0" bIns="0" rtlCol="0" anchor="ctr"/>
          <a:lstStyle/>
          <a:p>
            <a:pPr indent="0" marL="0">
              <a:buNone/>
            </a:pPr>
            <a:r>
              <a:rPr lang="en-US" sz="1200" dirty="0">
                <a:solidFill>
                  <a:srgbClr val="26221F"/>
                </a:solidFill>
                <a:latin typeface="Calibri" pitchFamily="34" charset="0"/>
                <a:ea typeface="Calibri" pitchFamily="34" charset="-122"/>
                <a:cs typeface="Calibri" pitchFamily="34" charset="-120"/>
              </a:rPr>
              <a:t>Assessment · 3 faculty-evaluated practicals  +  100-question internal examination (4 units × 25)</a:t>
            </a:r>
            <a:endParaRPr lang="en-US" sz="120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CLINICAL DECISION SUPPORT SYSTEMS (CDSS)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Clinical Decision Support Systems (CDSS)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Clinical Decision Support Systems (CDSS) are advanced digital tools designed to assist healthcare professionals in making accurate, timely, and evidence-based clinical decisions. With the increasing complexity of healthcare data and treatment protocols, CDSS plays a crucial role in enhancing patient care, improving medication safety, and supporting clinical workflows. In pharmacy practice, CDSS helps pharmacists and physicians analyze patient data, identify potential risks, and select appropriate therapies.</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These systems integrate clinical knowledge with patient-specific data to provide alerts, recommendations, and decision support.</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CLINICAL DECISION SUPPORT SYSTEMS (CDSS)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Main components of CDSS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The main components of CDSS include a knowledge base, inference engine, and user interface. The knowledge base contains clinical guidelines, drug information, and medical data. The inference engine processes patient data and applies rules or algorithms to generate recommendations.</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 user interface allows healthcare professionals to interact with the system and view alerts or suggestions.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CLINICAL DECISION SUPPORT SYSTEMS (CDSS)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Integration with EHR and Prescription Systems</a:t>
            </a:r>
            <a:endParaRPr lang="en-US" sz="2900" dirty="0"/>
          </a:p>
        </p:txBody>
      </p:sp>
      <p:sp>
        <p:nvSpPr>
          <p:cNvPr id="6" name="Text 4"/>
          <p:cNvSpPr/>
          <p:nvPr/>
        </p:nvSpPr>
        <p:spPr>
          <a:xfrm>
            <a:off x="502920" y="1536192"/>
            <a:ext cx="11183112" cy="4297680"/>
          </a:xfrm>
          <a:prstGeom prst="rect">
            <a:avLst/>
          </a:prstGeom>
          <a:noFill/>
          <a:ln/>
        </p:spPr>
        <p:txBody>
          <a:bodyPr wrap="square" lIns="0" tIns="0" rIns="0" bIns="0" rtlCol="0" anchor="t"/>
          <a:lstStyle/>
          <a:p>
            <a:pPr indent="0" marL="0">
              <a:lnSpc>
                <a:spcPts val="2800"/>
              </a:lnSpc>
              <a:buNone/>
            </a:pPr>
            <a:r>
              <a:rPr lang="en-US" sz="1750" dirty="0">
                <a:solidFill>
                  <a:srgbClr val="26221F"/>
                </a:solidFill>
                <a:latin typeface="Calibri" pitchFamily="34" charset="0"/>
                <a:ea typeface="Calibri" pitchFamily="34" charset="-122"/>
                <a:cs typeface="Calibri" pitchFamily="34" charset="-120"/>
              </a:rPr>
              <a:t>Integration of CDSS with Electronic Health Records (EHR) and electronic prescription systems is essential for effective functioning. EHR systems provide comprehensive patient data, including medical history, medications, allergies, and laboratory results. CDSS uses this data to generate accurate recommendations.</a:t>
            </a:r>
            <a:endParaRPr lang="en-US" sz="1750" dirty="0"/>
          </a:p>
        </p:txBody>
      </p:sp>
      <p:sp>
        <p:nvSpPr>
          <p:cNvPr id="7" name="Text 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8" name="Text 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CLINICAL DECISION SUPPORT SYSTEMS (CDSS)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Clinical Decision Support Systems (CDSS) at a glance</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Details</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Objective</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To understand the working of Clinical Decision Support Systems (CDSS) and their role in…</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Topic Covered</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CDSS alerts and decision support in pharmacy practice</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Requirements</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Computer/mobile with internet access, CDSS demo tool or AI tool, sample prescription or dummy…</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Procedure</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are introduced to a CDSS interface or simulation tool. They observe how patient data…</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Activity</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input a sample prescription with multiple drugs and observe the alerts generated by…</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Observation</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observe that CDSS provides real-time alerts and supports safer clinical decisions by…</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DRUG INTERACTION &amp; DOSE OPTIMIZATION SOFTWARE TOOLS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Drug Interaction &amp; Dose Optimization Software Tools</a:t>
            </a:r>
            <a:endParaRPr lang="en-US" sz="24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The increasing complexity of pharmacotherapy and the use of multiple medications in patients have made drug interaction detection and dose optimization essential components of modern pharmacy practice. Digital software tools designed for drug interaction analysis, dose adjustment, and therapeutic drug monitoring play a crucial role in ensuring safe and effective medication use. These tools assist healthcare professionals in making accurate clinical decisions by analyzing patient data, drug properties, and clinical guidelines.</a:t>
            </a:r>
            <a:endParaRPr lang="en-US" sz="140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 integration of such systems with pharmacy and hospital information systems has significantly improved medication safety and treatment outcomes.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DRUG INTERACTION &amp; DOSE OPTIMIZATION SOFTWARE TOOLS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Classification of Drug Interaction Software</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Basic Tools</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Provide simple interaction alerts</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Advanced Tools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Use patient data and clinical guidelines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Standalone Systems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Operate independently</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Integrated Systems</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Connected with EHR and CDSS</a:t>
            </a:r>
            <a:endParaRPr lang="en-US" sz="1150" dirty="0"/>
          </a:p>
        </p:txBody>
      </p:sp>
      <p:sp>
        <p:nvSpPr>
          <p:cNvPr id="21" name="Text 19"/>
          <p:cNvSpPr/>
          <p:nvPr/>
        </p:nvSpPr>
        <p:spPr>
          <a:xfrm>
            <a:off x="502920" y="4901184"/>
            <a:ext cx="11183112" cy="1362456"/>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 key point is that advanced and integrated systems provide more accurate and clinically relevant results.</a:t>
            </a:r>
            <a:endParaRPr lang="en-US" sz="1200" dirty="0"/>
          </a:p>
        </p:txBody>
      </p:sp>
      <p:sp>
        <p:nvSpPr>
          <p:cNvPr id="22" name="Text 2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23" name="Text 2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DRUG INTERACTION &amp; DOSE OPTIMIZATION SOFTWARE TOOLS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Role of these tools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The role of these tools can be classified into preventive, corrective, and supportive functions. Preventive functions include identifying potential interactions and risks before they occur. Corrective functions involve adjusting therapy based on patient response.</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Supportive functions include providing clinical guidelines and recommendations.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DRUG INTERACTION &amp; DOSE OPTIMIZATION SOFTWARE TOOLS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Drug Interaction &amp; Dose Optimization Software Tools at a glance</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Details</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Objective</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To understand the use of software tools for detecting drug interactions and optimizing drug…</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Topic Covered</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Drug interaction checking and dose adjustment using digital tools</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Requirements</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Computer/mobile with internet access, drug interaction checker or AI tool, sample prescription…</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Procedure</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are introduced to a drug interaction software or simulation tool. They enter multiple…</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Activity</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simulate checking interactions for a multi-drug prescription and identify interaction…</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Observation</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observe that the software provides alerts for interactions and suggests appropriate…</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PHARMACOGENOMICS &amp; ANTIBIOGRAM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Pharmacogenomics and antibiogram analysis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Pharmacogenomics and antibiogram analysis are important components of modern personalized medicine and antimicrobial therapy. These fields help healthcare professionals understand how genetic variations influence drug response and how microbial resistance patterns guide antibiotic selection. With the advancement of digital tools and data analysis, pharmacists can use pharmacogenomic data and hospital antibiograms to optimize therapy, improve patient safety, and reduce treatment failures.</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These approaches support precision medicine by tailoring drug therapy to individual patient characteristics and local microbial trends.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PHARMACOGENOMICS &amp; ANTIBIOGRAM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Role of Genetics in Drug Response</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Factor</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Pharmacokinetic</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Affects drug metabolism and elimination</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Pharmacodynamic</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Affects drug action at target sites</a:t>
            </a:r>
            <a:endParaRPr lang="en-US" sz="1150" dirty="0"/>
          </a:p>
        </p:txBody>
      </p:sp>
      <p:sp>
        <p:nvSpPr>
          <p:cNvPr id="15" name="Text 13"/>
          <p:cNvSpPr/>
          <p:nvPr/>
        </p:nvSpPr>
        <p:spPr>
          <a:xfrm>
            <a:off x="502920" y="3584448"/>
            <a:ext cx="11183112" cy="2679192"/>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 key point is that genetic variations can lead to therapeutic failure or drug toxicity.</a:t>
            </a:r>
            <a:endParaRPr lang="en-US" sz="1200" dirty="0"/>
          </a:p>
        </p:txBody>
      </p:sp>
      <p:sp>
        <p:nvSpPr>
          <p:cNvPr id="16" name="Text 1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7" name="Text 1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PHARMACOGENOMICS &amp; ANTIBIOGRAM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Selection of Safe and Effective Antimicrobial Therapy</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Empirical Therapy</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Based on clinical judgment</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Targeted Therapy</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Based on lab results</a:t>
            </a:r>
            <a:endParaRPr lang="en-US" sz="1150" dirty="0"/>
          </a:p>
        </p:txBody>
      </p:sp>
      <p:sp>
        <p:nvSpPr>
          <p:cNvPr id="15" name="Text 13"/>
          <p:cNvSpPr/>
          <p:nvPr/>
        </p:nvSpPr>
        <p:spPr>
          <a:xfrm>
            <a:off x="502920" y="3584448"/>
            <a:ext cx="11183112" cy="2679192"/>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 key point is that targeted therapy improves effectiveness and reduces antibiotic resistance.</a:t>
            </a:r>
            <a:endParaRPr lang="en-US" sz="1200" dirty="0"/>
          </a:p>
        </p:txBody>
      </p:sp>
      <p:sp>
        <p:nvSpPr>
          <p:cNvPr id="16" name="Text 1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7" name="Text 1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PHARMACOGENOMICS &amp; ANTIBIOGRAM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Pharmacogenomics &amp; Antibiogram Analysis at a glance</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Details</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Objective</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To understand the role of genetic factors in drug response and the use of antibiograms in…</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Topic Covered</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Pharmacogenomics and antibiogram interpretation</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Requirements</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Computer/mobile with internet access, sample pharmacogenomic data or reference, hospital…</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Procedure</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are introduced to basic pharmacogenomic data and observe how genetic variations affect…</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Activity</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review a dummy patient case and identify possible genetic factors affecting drug…</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Observation</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observe that genetic variations influence drug effectiveness and antibiograms guide…</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PREDICTIVE PHARMACOVIGILANCE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Predictive pharmacovigilance</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Predictive pharmacovigilance is an advanced approach in drug safety monitoring that uses digital tools, data analytics, and artificial intelligence to identify, predict, and prevent adverse drug reactions (ADRs). Traditional pharmacovigilance relies on retrospective reporting of adverse events, whereas predictive pharmacovigilance focuses on early detection of risks and proactive intervention. This approach enhances patient safety by identifying potential drug-related risks before they cause harm.</a:t>
            </a:r>
            <a:endParaRPr lang="en-US" sz="1550" dirty="0"/>
          </a:p>
        </p:txBody>
      </p:sp>
      <p:sp>
        <p:nvSpPr>
          <p:cNvPr id="7" name="Shape 5"/>
          <p:cNvSpPr/>
          <p:nvPr/>
        </p:nvSpPr>
        <p:spPr>
          <a:xfrm>
            <a:off x="7680960" y="1536192"/>
            <a:ext cx="4005072" cy="2263140"/>
          </a:xfrm>
          <a:prstGeom prst="roundRect">
            <a:avLst>
              <a:gd name="adj" fmla="val 2424"/>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40360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With the integration of big data, machine learning, and clinical decision support systems, predictive pharmacovigilance is becoming an essential component of modern pharmacy practice.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PREDICTIVE PHARMACOVIGILANCE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Artificial Intelligence (AI)</a:t>
            </a:r>
            <a:endParaRPr lang="en-US" sz="2900" dirty="0"/>
          </a:p>
        </p:txBody>
      </p:sp>
      <p:sp>
        <p:nvSpPr>
          <p:cNvPr id="6" name="Text 4"/>
          <p:cNvSpPr/>
          <p:nvPr/>
        </p:nvSpPr>
        <p:spPr>
          <a:xfrm>
            <a:off x="502920" y="1536192"/>
            <a:ext cx="11183112" cy="4297680"/>
          </a:xfrm>
          <a:prstGeom prst="rect">
            <a:avLst/>
          </a:prstGeom>
          <a:noFill/>
          <a:ln/>
        </p:spPr>
        <p:txBody>
          <a:bodyPr wrap="square" lIns="0" tIns="0" rIns="0" bIns="0" rtlCol="0" anchor="t"/>
          <a:lstStyle/>
          <a:p>
            <a:pPr indent="0" marL="0">
              <a:lnSpc>
                <a:spcPts val="2800"/>
              </a:lnSpc>
              <a:buNone/>
            </a:pPr>
            <a:r>
              <a:rPr lang="en-US" sz="1750" dirty="0">
                <a:solidFill>
                  <a:srgbClr val="26221F"/>
                </a:solidFill>
                <a:latin typeface="Calibri" pitchFamily="34" charset="0"/>
                <a:ea typeface="Calibri" pitchFamily="34" charset="-122"/>
                <a:cs typeface="Calibri" pitchFamily="34" charset="-120"/>
              </a:rPr>
              <a:t>Artificial Intelligence (AI) plays a significant role in modern pharmacovigilance by enabling automated monitoring and analysis of adverse drug reactions. AI systems can process large volumes of data from multiple sources such as electronic health records, clinical reports, and pharmacovigilance databases.</a:t>
            </a:r>
            <a:endParaRPr lang="en-US" sz="1750" dirty="0"/>
          </a:p>
        </p:txBody>
      </p:sp>
      <p:sp>
        <p:nvSpPr>
          <p:cNvPr id="7" name="Text 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8" name="Text 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PREDICTIVE PHARMACOVIGILANCE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Integration with Clinical Systems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System</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EHR</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Provides patient data</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CDSS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Supports decision-making</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Pharmacy Systems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Manage medication data</a:t>
            </a:r>
            <a:endParaRPr lang="en-US" sz="1150" dirty="0"/>
          </a:p>
        </p:txBody>
      </p:sp>
      <p:sp>
        <p:nvSpPr>
          <p:cNvPr id="18" name="Text 16"/>
          <p:cNvSpPr/>
          <p:nvPr/>
        </p:nvSpPr>
        <p:spPr>
          <a:xfrm>
            <a:off x="502920" y="4242816"/>
            <a:ext cx="11183112" cy="2020824"/>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Integration ensures that pharmacovigilance activities are part of routine clinical workflows.</a:t>
            </a:r>
            <a:endParaRPr lang="en-US" sz="1200" dirty="0"/>
          </a:p>
        </p:txBody>
      </p:sp>
      <p:sp>
        <p:nvSpPr>
          <p:cNvPr id="19" name="Text 1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20" name="Text 1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PREDICTIVE PHARMACOVIGILANCE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Artificial Intelligence</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Artificial Intelligence can screen millions of chemical compounds in a very short time to identify potential drug candidates, a process that traditionally takes years. In vaccine development, AI has been used to rapidly analyze virus structures and predict effective antigens, significantly speeding up research during outbreaks.</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In injectable formulations, AI helps predict drug stability and optimize dosage accuracy, reducing the chances of formulation errors.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PREDICTIVE PHARMACOVIGILANCE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Artificial Intelligence (2)</a:t>
            </a:r>
            <a:endParaRPr lang="en-US" sz="2900" dirty="0"/>
          </a:p>
        </p:txBody>
      </p:sp>
      <p:sp>
        <p:nvSpPr>
          <p:cNvPr id="6" name="Shape 4"/>
          <p:cNvSpPr/>
          <p:nvPr/>
        </p:nvSpPr>
        <p:spPr>
          <a:xfrm>
            <a:off x="502920" y="1554480"/>
            <a:ext cx="11183112" cy="1909267"/>
          </a:xfrm>
          <a:prstGeom prst="roundRect">
            <a:avLst>
              <a:gd name="adj" fmla="val 2874"/>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DID YOU KNOW?</a:t>
            </a:r>
            <a:endParaRPr lang="en-US" sz="1050" dirty="0"/>
          </a:p>
        </p:txBody>
      </p:sp>
      <p:sp>
        <p:nvSpPr>
          <p:cNvPr id="8" name="Text 6"/>
          <p:cNvSpPr/>
          <p:nvPr/>
        </p:nvSpPr>
        <p:spPr>
          <a:xfrm>
            <a:off x="914400" y="2212848"/>
            <a:ext cx="10332720" cy="1068019"/>
          </a:xfrm>
          <a:prstGeom prst="rect">
            <a:avLst/>
          </a:prstGeom>
          <a:noFill/>
          <a:ln/>
        </p:spPr>
        <p:txBody>
          <a:bodyPr wrap="square" lIns="0" tIns="0" rIns="0" bIns="0" rtlCol="0" anchor="t"/>
          <a:lstStyle/>
          <a:p>
            <a:pPr indent="0" marL="0">
              <a:lnSpc>
                <a:spcPts val="2100"/>
              </a:lnSpc>
              <a:buNone/>
            </a:pPr>
            <a:r>
              <a:rPr lang="en-US" sz="1400" dirty="0">
                <a:solidFill>
                  <a:srgbClr val="F4ECE9"/>
                </a:solidFill>
                <a:latin typeface="Calibri" pitchFamily="34" charset="0"/>
                <a:ea typeface="Calibri" pitchFamily="34" charset="-122"/>
                <a:cs typeface="Calibri" pitchFamily="34" charset="-120"/>
              </a:rPr>
              <a:t>Artificial Intelligence can screen millions of chemical compounds in a very short time to identify potential drug candidates, a process that traditionally takes years. In vaccine development, AI has been used to rapidly analyze virus structures and predict effective antigens, significantly speeding up research during outbreaks. In injectable formulations, AI helps predict drug stability and optimize dosage accuracy, reducing the chances of formulation errors.</a:t>
            </a:r>
            <a:endParaRPr lang="en-US" sz="14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10058400" y="-1097280"/>
            <a:ext cx="4023360" cy="4023360"/>
          </a:xfrm>
          <a:prstGeom prst="ellipse">
            <a:avLst/>
          </a:prstGeom>
          <a:solidFill>
            <a:srgbClr val="8C1515">
              <a:alpha val="28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THE PRACTICALS</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3 assessed practicals</a:t>
            </a:r>
            <a:endParaRPr lang="en-US" sz="3400" dirty="0"/>
          </a:p>
        </p:txBody>
      </p:sp>
      <p:sp>
        <p:nvSpPr>
          <p:cNvPr id="5" name="Text 3"/>
          <p:cNvSpPr/>
          <p:nvPr/>
        </p:nvSpPr>
        <p:spPr>
          <a:xfrm>
            <a:off x="777240" y="1847088"/>
            <a:ext cx="10241280" cy="749808"/>
          </a:xfrm>
          <a:prstGeom prst="rect">
            <a:avLst/>
          </a:prstGeom>
          <a:noFill/>
          <a:ln/>
        </p:spPr>
        <p:txBody>
          <a:bodyPr wrap="square" lIns="0" tIns="0" rIns="0" bIns="0" rtlCol="0" anchor="ctr"/>
          <a:lstStyle/>
          <a:p>
            <a:pPr indent="0" marL="0">
              <a:lnSpc>
                <a:spcPts val="1900"/>
              </a:lnSpc>
              <a:buNone/>
            </a:pPr>
            <a:r>
              <a:rPr lang="en-US" sz="1300" dirty="0">
                <a:solidFill>
                  <a:srgbClr val="C9C2BA"/>
                </a:solidFill>
                <a:latin typeface="Calibri" pitchFamily="34" charset="0"/>
                <a:ea typeface="Calibri" pitchFamily="34" charset="-122"/>
                <a:cs typeface="Calibri" pitchFamily="34" charset="-120"/>
              </a:rPr>
              <a:t>Every practical follows the institutional standard — Aim, Principle, Theory, Requirements, Procedure and Guided Method — and is submitted to faculty for evaluation. Verified practicals count towards the hands-on experience certificate.</a:t>
            </a:r>
            <a:endParaRPr lang="en-US" sz="1300" dirty="0"/>
          </a:p>
        </p:txBody>
      </p:sp>
      <p:sp>
        <p:nvSpPr>
          <p:cNvPr id="6" name="Shape 4"/>
          <p:cNvSpPr/>
          <p:nvPr/>
        </p:nvSpPr>
        <p:spPr>
          <a:xfrm>
            <a:off x="777240" y="2761488"/>
            <a:ext cx="10607040" cy="868680"/>
          </a:xfrm>
          <a:prstGeom prst="roundRect">
            <a:avLst>
              <a:gd name="adj" fmla="val 6316"/>
            </a:avLst>
          </a:prstGeom>
          <a:solidFill>
            <a:srgbClr val="241A19"/>
          </a:solidFill>
          <a:ln w="9525">
            <a:solidFill>
              <a:srgbClr val="3E2A28"/>
            </a:solidFill>
            <a:prstDash val="solid"/>
          </a:ln>
        </p:spPr>
      </p:sp>
      <p:sp>
        <p:nvSpPr>
          <p:cNvPr id="7" name="Shape 5"/>
          <p:cNvSpPr/>
          <p:nvPr/>
        </p:nvSpPr>
        <p:spPr>
          <a:xfrm>
            <a:off x="1097280" y="3003804"/>
            <a:ext cx="384048" cy="384048"/>
          </a:xfrm>
          <a:prstGeom prst="ellipse">
            <a:avLst/>
          </a:prstGeom>
          <a:solidFill>
            <a:srgbClr val="8C1515"/>
          </a:solidFill>
          <a:ln/>
        </p:spPr>
      </p:sp>
      <p:sp>
        <p:nvSpPr>
          <p:cNvPr id="8" name="Text 6"/>
          <p:cNvSpPr/>
          <p:nvPr/>
        </p:nvSpPr>
        <p:spPr>
          <a:xfrm>
            <a:off x="1097280" y="30038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664208" y="2834640"/>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3 · Unit 1 · Practical 1</a:t>
            </a:r>
            <a:endParaRPr lang="en-US" sz="1000" dirty="0"/>
          </a:p>
        </p:txBody>
      </p:sp>
      <p:sp>
        <p:nvSpPr>
          <p:cNvPr id="10" name="Text 8"/>
          <p:cNvSpPr/>
          <p:nvPr/>
        </p:nvSpPr>
        <p:spPr>
          <a:xfrm>
            <a:off x="1664208" y="3054096"/>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CDSS Alert Management Console</a:t>
            </a:r>
            <a:endParaRPr lang="en-US" sz="1350" dirty="0"/>
          </a:p>
        </p:txBody>
      </p:sp>
      <p:sp>
        <p:nvSpPr>
          <p:cNvPr id="11" name="Shape 9"/>
          <p:cNvSpPr/>
          <p:nvPr/>
        </p:nvSpPr>
        <p:spPr>
          <a:xfrm>
            <a:off x="777240" y="3803904"/>
            <a:ext cx="10607040" cy="868680"/>
          </a:xfrm>
          <a:prstGeom prst="roundRect">
            <a:avLst>
              <a:gd name="adj" fmla="val 6316"/>
            </a:avLst>
          </a:prstGeom>
          <a:solidFill>
            <a:srgbClr val="241A19"/>
          </a:solidFill>
          <a:ln w="9525">
            <a:solidFill>
              <a:srgbClr val="3E2A28"/>
            </a:solidFill>
            <a:prstDash val="solid"/>
          </a:ln>
        </p:spPr>
      </p:sp>
      <p:sp>
        <p:nvSpPr>
          <p:cNvPr id="12" name="Shape 10"/>
          <p:cNvSpPr/>
          <p:nvPr/>
        </p:nvSpPr>
        <p:spPr>
          <a:xfrm>
            <a:off x="1097280" y="4046220"/>
            <a:ext cx="384048" cy="384048"/>
          </a:xfrm>
          <a:prstGeom prst="ellipse">
            <a:avLst/>
          </a:prstGeom>
          <a:solidFill>
            <a:srgbClr val="8C1515"/>
          </a:solidFill>
          <a:ln/>
        </p:spPr>
      </p:sp>
      <p:sp>
        <p:nvSpPr>
          <p:cNvPr id="13" name="Text 11"/>
          <p:cNvSpPr/>
          <p:nvPr/>
        </p:nvSpPr>
        <p:spPr>
          <a:xfrm>
            <a:off x="1097280" y="40462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664208" y="3877056"/>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3 · Unit 2 · Practical 2</a:t>
            </a:r>
            <a:endParaRPr lang="en-US" sz="1000" dirty="0"/>
          </a:p>
        </p:txBody>
      </p:sp>
      <p:sp>
        <p:nvSpPr>
          <p:cNvPr id="15" name="Text 13"/>
          <p:cNvSpPr/>
          <p:nvPr/>
        </p:nvSpPr>
        <p:spPr>
          <a:xfrm>
            <a:off x="1664208" y="4096512"/>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Antimicrobial Stewardship Ward Round</a:t>
            </a:r>
            <a:endParaRPr lang="en-US" sz="1350" dirty="0"/>
          </a:p>
        </p:txBody>
      </p:sp>
      <p:sp>
        <p:nvSpPr>
          <p:cNvPr id="16" name="Shape 14"/>
          <p:cNvSpPr/>
          <p:nvPr/>
        </p:nvSpPr>
        <p:spPr>
          <a:xfrm>
            <a:off x="777240" y="4846320"/>
            <a:ext cx="10607040" cy="868680"/>
          </a:xfrm>
          <a:prstGeom prst="roundRect">
            <a:avLst>
              <a:gd name="adj" fmla="val 6316"/>
            </a:avLst>
          </a:prstGeom>
          <a:solidFill>
            <a:srgbClr val="241A19"/>
          </a:solidFill>
          <a:ln w="9525">
            <a:solidFill>
              <a:srgbClr val="3E2A28"/>
            </a:solidFill>
            <a:prstDash val="solid"/>
          </a:ln>
        </p:spPr>
      </p:sp>
      <p:sp>
        <p:nvSpPr>
          <p:cNvPr id="17" name="Shape 15"/>
          <p:cNvSpPr/>
          <p:nvPr/>
        </p:nvSpPr>
        <p:spPr>
          <a:xfrm>
            <a:off x="1097280" y="5088636"/>
            <a:ext cx="384048" cy="384048"/>
          </a:xfrm>
          <a:prstGeom prst="ellipse">
            <a:avLst/>
          </a:prstGeom>
          <a:solidFill>
            <a:srgbClr val="8C1515"/>
          </a:solidFill>
          <a:ln/>
        </p:spPr>
      </p:sp>
      <p:sp>
        <p:nvSpPr>
          <p:cNvPr id="18" name="Text 16"/>
          <p:cNvSpPr/>
          <p:nvPr/>
        </p:nvSpPr>
        <p:spPr>
          <a:xfrm>
            <a:off x="1097280" y="50886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664208" y="4919472"/>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3 · Unit 3 · Practical 3</a:t>
            </a:r>
            <a:endParaRPr lang="en-US" sz="1000" dirty="0"/>
          </a:p>
        </p:txBody>
      </p:sp>
      <p:sp>
        <p:nvSpPr>
          <p:cNvPr id="20" name="Text 18"/>
          <p:cNvSpPr/>
          <p:nvPr/>
        </p:nvSpPr>
        <p:spPr>
          <a:xfrm>
            <a:off x="1664208" y="5138928"/>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High-Alert Medicines Safety Round</a:t>
            </a:r>
            <a:endParaRPr lang="en-US" sz="1350" dirty="0"/>
          </a:p>
        </p:txBody>
      </p:sp>
      <p:sp>
        <p:nvSpPr>
          <p:cNvPr id="21" name="Text 1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22" name="Text 2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3 · UNIT 1 · PRACTICAL 1</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CDSS Alert Management Console</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work a live Clinical Decision Support System alert queue as the on-call clinical pharmacist — investigating each alert against the patient record, judging its true clinical severity, taking the correct action, and managing alert fatigue without dismissing the alerts that matter.</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 CDSS links patient-specific data to a knowledge base to produce advice at the point of care. Its value depends entirely on specificity: a rule that fires on every theoretical interaction, regardless of dose, route, duration or patient factors, produces far more noise than signal. Alerts fall into recognisable categories, and each has a characteristic failure mode.</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Accept the shift. Alerts begin arriving immediately and continue throughout; the queue is visible on the left at all times.</a:t>
            </a:r>
            <a:endParaRPr lang="en-US" sz="1150" dirty="0"/>
          </a:p>
        </p:txBody>
      </p:sp>
      <p:sp>
        <p:nvSpPr>
          <p:cNvPr id="16" name="Shape 14"/>
          <p:cNvSpPr/>
          <p:nvPr/>
        </p:nvSpPr>
        <p:spPr>
          <a:xfrm>
            <a:off x="6263640" y="2578608"/>
            <a:ext cx="292608" cy="292608"/>
          </a:xfrm>
          <a:prstGeom prst="ellipse">
            <a:avLst/>
          </a:prstGeom>
          <a:solidFill>
            <a:srgbClr val="F2E4E4"/>
          </a:solidFill>
          <a:ln/>
        </p:spPr>
      </p:sp>
      <p:sp>
        <p:nvSpPr>
          <p:cNvPr id="17" name="Text 15"/>
          <p:cNvSpPr/>
          <p:nvPr/>
        </p:nvSpPr>
        <p:spPr>
          <a:xfrm>
            <a:off x="6263640" y="25786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6032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Open the alert. Note what the system claims the severity is — and treat that as a hypothesis, not a conclusion.</a:t>
            </a:r>
            <a:endParaRPr lang="en-US" sz="1150" dirty="0"/>
          </a:p>
        </p:txBody>
      </p:sp>
      <p:sp>
        <p:nvSpPr>
          <p:cNvPr id="19" name="Shape 17"/>
          <p:cNvSpPr/>
          <p:nvPr/>
        </p:nvSpPr>
        <p:spPr>
          <a:xfrm>
            <a:off x="6263640" y="3218688"/>
            <a:ext cx="292608" cy="292608"/>
          </a:xfrm>
          <a:prstGeom prst="ellipse">
            <a:avLst/>
          </a:prstGeom>
          <a:solidFill>
            <a:srgbClr val="F2E4E4"/>
          </a:solidFill>
          <a:ln/>
        </p:spPr>
      </p:sp>
      <p:sp>
        <p:nvSpPr>
          <p:cNvPr id="20" name="Text 18"/>
          <p:cNvSpPr/>
          <p:nvPr/>
        </p:nvSpPr>
        <p:spPr>
          <a:xfrm>
            <a:off x="6263640" y="321868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0040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Investigate the record. Open the sections relevant to this alert. Allergies, medicines, labs and conditions are each closed…</a:t>
            </a:r>
            <a:endParaRPr lang="en-US" sz="1150" dirty="0"/>
          </a:p>
        </p:txBody>
      </p:sp>
      <p:sp>
        <p:nvSpPr>
          <p:cNvPr id="22" name="Shape 20"/>
          <p:cNvSpPr/>
          <p:nvPr/>
        </p:nvSpPr>
        <p:spPr>
          <a:xfrm>
            <a:off x="6263640" y="3858768"/>
            <a:ext cx="292608" cy="292608"/>
          </a:xfrm>
          <a:prstGeom prst="ellipse">
            <a:avLst/>
          </a:prstGeom>
          <a:solidFill>
            <a:srgbClr val="F2E4E4"/>
          </a:solidFill>
          <a:ln/>
        </p:spPr>
      </p:sp>
      <p:sp>
        <p:nvSpPr>
          <p:cNvPr id="23" name="Text 21"/>
          <p:cNvSpPr/>
          <p:nvPr/>
        </p:nvSpPr>
        <p:spPr>
          <a:xfrm>
            <a:off x="6263640" y="385876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84048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Judge the true clinical severity for this patient, which may be higher or lower than the badge.</a:t>
            </a:r>
            <a:endParaRPr lang="en-US" sz="1150" dirty="0"/>
          </a:p>
        </p:txBody>
      </p:sp>
      <p:sp>
        <p:nvSpPr>
          <p:cNvPr id="25" name="Shape 23"/>
          <p:cNvSpPr/>
          <p:nvPr/>
        </p:nvSpPr>
        <p:spPr>
          <a:xfrm>
            <a:off x="6263640" y="4498848"/>
            <a:ext cx="292608" cy="292608"/>
          </a:xfrm>
          <a:prstGeom prst="ellipse">
            <a:avLst/>
          </a:prstGeom>
          <a:solidFill>
            <a:srgbClr val="F2E4E4"/>
          </a:solidFill>
          <a:ln/>
        </p:spPr>
      </p:sp>
      <p:sp>
        <p:nvSpPr>
          <p:cNvPr id="26" name="Text 24"/>
          <p:cNvSpPr/>
          <p:nvPr/>
        </p:nvSpPr>
        <p:spPr>
          <a:xfrm>
            <a:off x="6263640" y="449884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48056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Choose the action — stop, modify, monitor or override — and record the justification.</a:t>
            </a:r>
            <a:endParaRPr lang="en-US" sz="1150" dirty="0"/>
          </a:p>
        </p:txBody>
      </p:sp>
      <p:sp>
        <p:nvSpPr>
          <p:cNvPr id="28" name="Shape 26"/>
          <p:cNvSpPr/>
          <p:nvPr/>
        </p:nvSpPr>
        <p:spPr>
          <a:xfrm>
            <a:off x="6263640" y="5138928"/>
            <a:ext cx="292608" cy="292608"/>
          </a:xfrm>
          <a:prstGeom prst="ellipse">
            <a:avLst/>
          </a:prstGeom>
          <a:solidFill>
            <a:srgbClr val="F2E4E4"/>
          </a:solidFill>
          <a:ln/>
        </p:spPr>
      </p:sp>
      <p:sp>
        <p:nvSpPr>
          <p:cNvPr id="29" name="Text 27"/>
          <p:cNvSpPr/>
          <p:nvPr/>
        </p:nvSpPr>
        <p:spPr>
          <a:xfrm>
            <a:off x="6263640" y="51389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1206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Read the feedback before moving on, including the consequence where a decision would have caused harm.</a:t>
            </a:r>
            <a:endParaRPr lang="en-US" sz="1150" dirty="0"/>
          </a:p>
        </p:txBody>
      </p:sp>
      <p:sp>
        <p:nvSpPr>
          <p:cNvPr id="31" name="Text 29"/>
          <p:cNvSpPr/>
          <p:nvPr/>
        </p:nvSpPr>
        <p:spPr>
          <a:xfrm>
            <a:off x="6675120" y="5815584"/>
            <a:ext cx="5010912" cy="274320"/>
          </a:xfrm>
          <a:prstGeom prst="rect">
            <a:avLst/>
          </a:prstGeom>
          <a:noFill/>
          <a:ln/>
        </p:spPr>
        <p:txBody>
          <a:bodyPr wrap="square" lIns="0" tIns="0" rIns="0" bIns="0"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+ 2 further steps — see the practical brief on ALIZON OS</a:t>
            </a:r>
            <a:endParaRPr lang="en-US" sz="105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3 · UNIT 2 · PRACTICAL 2</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Antimicrobial Stewardship Ward Round</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select safe and effective antimicrobial therapy for a septic patient using the local antibiogram, then follow the patient across five days — de-escalating on culture results, switching to oral therapy and stopping at the correct duration.</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Antimicrobial prescribing is unusual in medicine because the consequences of a decision fall partly on someone other than the patient. Every unnecessary day of broad-spectrum therapy selects resistant organisms that will confront the next patient on the ward, so stewardship is the discipline of treating this patient properly while spending as little of the shared resource as possible. Reading an antibiogram requires understanding what the percentage means: it is the proportion of isolates from this institution over a defined period…</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Day 1 — secure the diagnosis. Take blood and urine cultures, then give the first dose within the hour.</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Day 1 — choose empirically from the local antibiogram, weighing susceptibility, site penetration, recent exposure and…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Day 1 — dose for renal function, extending the interval rather than cutting the first dose, and plan daily reassessment.</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Day 3 — read the sensitivities and de-escalate to the narrowest agent that covers the organism.</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Day 4 — assess the switch criteria and move to oral therapy as soon as they are met.</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Day 5 — set a stop date based on the syndrome and the response, and record it so the course cannot drift.</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3 · UNIT 3 · PRACTICAL 3</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High-Alert Medicines Safety Round</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work a six-bed ward under time pressure, identify where a high-alert medicine meets a high-risk patient, recognise the specific hazard, and apply the correct risk-reduction control before harm reaches the patient.</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Medication safety at ward level rests on two ideas that must be applied together. The first is the high-alert medicine list — a small group of agents where an error, though no more likely than with any other drug, produces catastrophic harm. Several specific hazards recur and each has an established control.</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Survey the ward. Six patients are shown with their medication profile; high-alert medicines are marked.</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Triage. Decide which beds most likely carry risk — you will not review all six in depth, and your choice is marked.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Open the chart. Read the sections relevant to the medicines prescribed; what you open is recorded.</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Identify the hazard precisely — dose, confusion, concentration, duplication, monitoring or route.</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Select the control, choosing the strongest available rather than the easiest.</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Review the outcomes at the end of the round and the bed-by-bed record.</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692640" y="3840480"/>
            <a:ext cx="4206240" cy="4206240"/>
          </a:xfrm>
          <a:prstGeom prst="ellipse">
            <a:avLst/>
          </a:prstGeom>
          <a:solidFill>
            <a:srgbClr val="8C1515">
              <a:alpha val="26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HOW THIS MODULE IS ASSESSED</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Completing Module 3</a:t>
            </a:r>
            <a:endParaRPr lang="en-US" sz="3400" dirty="0"/>
          </a:p>
        </p:txBody>
      </p:sp>
      <p:sp>
        <p:nvSpPr>
          <p:cNvPr id="5" name="Shape 3"/>
          <p:cNvSpPr/>
          <p:nvPr/>
        </p:nvSpPr>
        <p:spPr>
          <a:xfrm>
            <a:off x="777240" y="2048256"/>
            <a:ext cx="10607040" cy="822960"/>
          </a:xfrm>
          <a:prstGeom prst="roundRect">
            <a:avLst>
              <a:gd name="adj" fmla="val 6667"/>
            </a:avLst>
          </a:prstGeom>
          <a:solidFill>
            <a:srgbClr val="241A19"/>
          </a:solidFill>
          <a:ln w="9525">
            <a:solidFill>
              <a:srgbClr val="3E2A28"/>
            </a:solidFill>
            <a:prstDash val="solid"/>
          </a:ln>
        </p:spPr>
      </p:sp>
      <p:sp>
        <p:nvSpPr>
          <p:cNvPr id="6" name="Text 4"/>
          <p:cNvSpPr/>
          <p:nvPr/>
        </p:nvSpPr>
        <p:spPr>
          <a:xfrm>
            <a:off x="1143000" y="2048256"/>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Practicals</a:t>
            </a:r>
            <a:endParaRPr lang="en-US" sz="1300" dirty="0"/>
          </a:p>
        </p:txBody>
      </p:sp>
      <p:sp>
        <p:nvSpPr>
          <p:cNvPr id="7" name="Text 5"/>
          <p:cNvSpPr/>
          <p:nvPr/>
        </p:nvSpPr>
        <p:spPr>
          <a:xfrm>
            <a:off x="3200400" y="2048256"/>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Complete all 3 practicals on ALIZON OS. Every submission is evaluated by faculty.</a:t>
            </a:r>
            <a:endParaRPr lang="en-US" sz="1250" dirty="0"/>
          </a:p>
        </p:txBody>
      </p:sp>
      <p:sp>
        <p:nvSpPr>
          <p:cNvPr id="8" name="Shape 6"/>
          <p:cNvSpPr/>
          <p:nvPr/>
        </p:nvSpPr>
        <p:spPr>
          <a:xfrm>
            <a:off x="777240" y="3017520"/>
            <a:ext cx="10607040" cy="822960"/>
          </a:xfrm>
          <a:prstGeom prst="roundRect">
            <a:avLst>
              <a:gd name="adj" fmla="val 6667"/>
            </a:avLst>
          </a:prstGeom>
          <a:solidFill>
            <a:srgbClr val="241A19"/>
          </a:solidFill>
          <a:ln w="9525">
            <a:solidFill>
              <a:srgbClr val="3E2A28"/>
            </a:solidFill>
            <a:prstDash val="solid"/>
          </a:ln>
        </p:spPr>
      </p:sp>
      <p:sp>
        <p:nvSpPr>
          <p:cNvPr id="9" name="Text 7"/>
          <p:cNvSpPr/>
          <p:nvPr/>
        </p:nvSpPr>
        <p:spPr>
          <a:xfrm>
            <a:off x="1143000" y="3017520"/>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Attendance</a:t>
            </a:r>
            <a:endParaRPr lang="en-US" sz="1300" dirty="0"/>
          </a:p>
        </p:txBody>
      </p:sp>
      <p:sp>
        <p:nvSpPr>
          <p:cNvPr id="10" name="Text 8"/>
          <p:cNvSpPr/>
          <p:nvPr/>
        </p:nvSpPr>
        <p:spPr>
          <a:xfrm>
            <a:off x="3200400" y="3017520"/>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Attendance is recorded automatically from submitted work — signing in alone does not count.</a:t>
            </a:r>
            <a:endParaRPr lang="en-US" sz="1250" dirty="0"/>
          </a:p>
        </p:txBody>
      </p:sp>
      <p:sp>
        <p:nvSpPr>
          <p:cNvPr id="11" name="Shape 9"/>
          <p:cNvSpPr/>
          <p:nvPr/>
        </p:nvSpPr>
        <p:spPr>
          <a:xfrm>
            <a:off x="777240" y="3986784"/>
            <a:ext cx="10607040" cy="822960"/>
          </a:xfrm>
          <a:prstGeom prst="roundRect">
            <a:avLst>
              <a:gd name="adj" fmla="val 6667"/>
            </a:avLst>
          </a:prstGeom>
          <a:solidFill>
            <a:srgbClr val="241A19"/>
          </a:solidFill>
          <a:ln w="9525">
            <a:solidFill>
              <a:srgbClr val="3E2A28"/>
            </a:solidFill>
            <a:prstDash val="solid"/>
          </a:ln>
        </p:spPr>
      </p:sp>
      <p:sp>
        <p:nvSpPr>
          <p:cNvPr id="12" name="Text 10"/>
          <p:cNvSpPr/>
          <p:nvPr/>
        </p:nvSpPr>
        <p:spPr>
          <a:xfrm>
            <a:off x="1143000" y="3986784"/>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Examination</a:t>
            </a:r>
            <a:endParaRPr lang="en-US" sz="1300" dirty="0"/>
          </a:p>
        </p:txBody>
      </p:sp>
      <p:sp>
        <p:nvSpPr>
          <p:cNvPr id="13" name="Text 11"/>
          <p:cNvSpPr/>
          <p:nvPr/>
        </p:nvSpPr>
        <p:spPr>
          <a:xfrm>
            <a:off x="3200400" y="3986784"/>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100 multiple-choice questions across 4 units. Practise on the mock paper before the internal examination.</a:t>
            </a:r>
            <a:endParaRPr lang="en-US" sz="1250" dirty="0"/>
          </a:p>
        </p:txBody>
      </p:sp>
      <p:sp>
        <p:nvSpPr>
          <p:cNvPr id="14" name="Shape 12"/>
          <p:cNvSpPr/>
          <p:nvPr/>
        </p:nvSpPr>
        <p:spPr>
          <a:xfrm>
            <a:off x="777240" y="4956048"/>
            <a:ext cx="10607040" cy="822960"/>
          </a:xfrm>
          <a:prstGeom prst="roundRect">
            <a:avLst>
              <a:gd name="adj" fmla="val 6667"/>
            </a:avLst>
          </a:prstGeom>
          <a:solidFill>
            <a:srgbClr val="241A19"/>
          </a:solidFill>
          <a:ln w="9525">
            <a:solidFill>
              <a:srgbClr val="3E2A28"/>
            </a:solidFill>
            <a:prstDash val="solid"/>
          </a:ln>
        </p:spPr>
      </p:sp>
      <p:sp>
        <p:nvSpPr>
          <p:cNvPr id="15" name="Text 13"/>
          <p:cNvSpPr/>
          <p:nvPr/>
        </p:nvSpPr>
        <p:spPr>
          <a:xfrm>
            <a:off x="1143000" y="4956048"/>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Certificate</a:t>
            </a:r>
            <a:endParaRPr lang="en-US" sz="1300" dirty="0"/>
          </a:p>
        </p:txBody>
      </p:sp>
      <p:sp>
        <p:nvSpPr>
          <p:cNvPr id="16" name="Text 14"/>
          <p:cNvSpPr/>
          <p:nvPr/>
        </p:nvSpPr>
        <p:spPr>
          <a:xfrm>
            <a:off x="3200400" y="4956048"/>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Faculty-verified practicals earn a Certificate of Practical Experience, with the hours set by the institution.</a:t>
            </a:r>
            <a:endParaRPr lang="en-US" sz="1250" dirty="0"/>
          </a:p>
        </p:txBody>
      </p:sp>
      <p:sp>
        <p:nvSpPr>
          <p:cNvPr id="17" name="Text 15"/>
          <p:cNvSpPr/>
          <p:nvPr/>
        </p:nvSpPr>
        <p:spPr>
          <a:xfrm>
            <a:off x="777240" y="6053328"/>
            <a:ext cx="10607040" cy="310896"/>
          </a:xfrm>
          <a:prstGeom prst="rect">
            <a:avLst/>
          </a:prstGeom>
          <a:noFill/>
          <a:ln/>
        </p:spPr>
        <p:txBody>
          <a:bodyPr wrap="square" lIns="0" tIns="0" rIns="0" bIns="0" rtlCol="0" anchor="ctr"/>
          <a:lstStyle/>
          <a:p>
            <a:pPr indent="0" marL="0">
              <a:buNone/>
            </a:pPr>
            <a:r>
              <a:rPr lang="en-US" sz="1150" dirty="0">
                <a:solidFill>
                  <a:srgbClr val="9A7B3F"/>
                </a:solidFill>
                <a:latin typeface="Calibri" pitchFamily="34" charset="0"/>
                <a:ea typeface="Calibri" pitchFamily="34" charset="-122"/>
                <a:cs typeface="Calibri" pitchFamily="34" charset="-120"/>
              </a:rPr>
              <a:t>Study material, practicals, mock papers and results · alizon.in      Institution · www.alizongov.com</a:t>
            </a:r>
            <a:endParaRPr lang="en-US" sz="1150" dirty="0"/>
          </a:p>
        </p:txBody>
      </p:sp>
      <p:sp>
        <p:nvSpPr>
          <p:cNvPr id="18" name="Text 1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3 · AI-Based Clinical Decision Support in Pharmacy</a:t>
            </a:r>
            <a:endParaRPr lang="en-US" sz="950" dirty="0"/>
          </a:p>
        </p:txBody>
      </p:sp>
      <p:sp>
        <p:nvSpPr>
          <p:cNvPr id="19" name="Text 1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Alizon School of Medical and Digital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 AI-Based Clinical Decision Support in Pharmacy</dc:title>
  <dc:subject>Certificate Course in Digital Health &amp; Artificial Intelligence for Pharmacy</dc:subject>
  <dc:creator>Alizon School of Medical &amp; Digital Intelligence</dc:creator>
  <cp:lastModifiedBy>Alizon School of Medical &amp; Digital Intelligence</cp:lastModifiedBy>
  <cp:revision>1</cp:revision>
  <dcterms:created xsi:type="dcterms:W3CDTF">2026-08-10T05:52:32Z</dcterms:created>
  <dcterms:modified xsi:type="dcterms:W3CDTF">2026-08-10T05:52:32Z</dcterms:modified>
</cp:coreProperties>
</file>