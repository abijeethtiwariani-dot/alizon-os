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8C1515">
              <a:alpha val="28000"/>
            </a:srgbClr>
          </a:solidFill>
          <a:ln/>
        </p:spPr>
      </p:sp>
      <p:sp>
        <p:nvSpPr>
          <p:cNvPr id="3" name="Shape 1"/>
          <p:cNvSpPr/>
          <p:nvPr/>
        </p:nvSpPr>
        <p:spPr>
          <a:xfrm>
            <a:off x="10607040" y="4297680"/>
            <a:ext cx="2926080" cy="2926080"/>
          </a:xfrm>
          <a:prstGeom prst="ellipse">
            <a:avLst/>
          </a:prstGeom>
          <a:solidFill>
            <a:srgbClr val="9A7B3F">
              <a:alpha val="20000"/>
            </a:srgbClr>
          </a:solidFill>
          <a:ln/>
        </p:spPr>
      </p:sp>
      <p:sp>
        <p:nvSpPr>
          <p:cNvPr id="4" name="Text 2"/>
          <p:cNvSpPr/>
          <p:nvPr/>
        </p:nvSpPr>
        <p:spPr>
          <a:xfrm>
            <a:off x="777240" y="777240"/>
            <a:ext cx="9692640" cy="274320"/>
          </a:xfrm>
          <a:prstGeom prst="rect">
            <a:avLst/>
          </a:prstGeom>
          <a:noFill/>
          <a:ln/>
        </p:spPr>
        <p:txBody>
          <a:bodyPr wrap="square" lIns="0" tIns="0" rIns="0" bIns="0" rtlCol="0" anchor="ctr"/>
          <a:lstStyle/>
          <a:p>
            <a:pPr indent="0" marL="0">
              <a:buNone/>
            </a:pPr>
            <a:r>
              <a:rPr lang="en-US" sz="1100" b="1" spc="220" kern="0" dirty="0">
                <a:solidFill>
                  <a:srgbClr val="E8B4B4"/>
                </a:solidFill>
                <a:latin typeface="Calibri" pitchFamily="34" charset="0"/>
                <a:ea typeface="Calibri" pitchFamily="34" charset="-122"/>
                <a:cs typeface="Calibri" pitchFamily="34" charset="-120"/>
              </a:rPr>
              <a:t>ALIZON SCHOOL OF MEDICAL &amp; DIGITAL INTELLIGENCE</a:t>
            </a:r>
            <a:endParaRPr lang="en-US" sz="1100" dirty="0"/>
          </a:p>
        </p:txBody>
      </p:sp>
      <p:sp>
        <p:nvSpPr>
          <p:cNvPr id="5" name="Text 3"/>
          <p:cNvSpPr/>
          <p:nvPr/>
        </p:nvSpPr>
        <p:spPr>
          <a:xfrm>
            <a:off x="777240" y="1444752"/>
            <a:ext cx="8229600" cy="548640"/>
          </a:xfrm>
          <a:prstGeom prst="rect">
            <a:avLst/>
          </a:prstGeom>
          <a:noFill/>
          <a:ln/>
        </p:spPr>
        <p:txBody>
          <a:bodyPr wrap="square" lIns="0" tIns="0" rIns="0" bIns="0" rtlCol="0" anchor="ctr"/>
          <a:lstStyle/>
          <a:p>
            <a:pPr indent="0" marL="0">
              <a:buNone/>
            </a:pPr>
            <a:r>
              <a:rPr lang="en-US" sz="2000" dirty="0">
                <a:solidFill>
                  <a:srgbClr val="9A7B3F"/>
                </a:solidFill>
                <a:latin typeface="Calibri" pitchFamily="34" charset="0"/>
                <a:ea typeface="Calibri" pitchFamily="34" charset="-122"/>
                <a:cs typeface="Calibri" pitchFamily="34" charset="-120"/>
              </a:rPr>
              <a:t>Module 2</a:t>
            </a:r>
            <a:endParaRPr lang="en-US" sz="2000" dirty="0"/>
          </a:p>
        </p:txBody>
      </p:sp>
      <p:sp>
        <p:nvSpPr>
          <p:cNvPr id="6" name="Text 4"/>
          <p:cNvSpPr/>
          <p:nvPr/>
        </p:nvSpPr>
        <p:spPr>
          <a:xfrm>
            <a:off x="777240" y="1993392"/>
            <a:ext cx="9692640" cy="1920240"/>
          </a:xfrm>
          <a:prstGeom prst="rect">
            <a:avLst/>
          </a:prstGeom>
          <a:noFill/>
          <a:ln/>
        </p:spPr>
        <p:txBody>
          <a:bodyPr wrap="square" lIns="0" tIns="0" rIns="0" bIns="0" rtlCol="0" anchor="ctr"/>
          <a:lstStyle/>
          <a:p>
            <a:pPr indent="0" marL="0">
              <a:lnSpc>
                <a:spcPts val="4800"/>
              </a:lnSpc>
              <a:buNone/>
            </a:pPr>
            <a:r>
              <a:rPr lang="en-US" sz="4100" b="1" dirty="0">
                <a:solidFill>
                  <a:srgbClr val="FFFFFF"/>
                </a:solidFill>
                <a:latin typeface="Cambria" pitchFamily="34" charset="0"/>
                <a:ea typeface="Cambria" pitchFamily="34" charset="-122"/>
                <a:cs typeface="Cambria" pitchFamily="34" charset="-120"/>
              </a:rPr>
              <a:t>Digital Pharmacy, EHR &amp; Telepharmacy</a:t>
            </a:r>
            <a:endParaRPr lang="en-US" sz="4100" dirty="0"/>
          </a:p>
        </p:txBody>
      </p:sp>
      <p:sp>
        <p:nvSpPr>
          <p:cNvPr id="7" name="Text 5"/>
          <p:cNvSpPr/>
          <p:nvPr/>
        </p:nvSpPr>
        <p:spPr>
          <a:xfrm>
            <a:off x="777240" y="4023360"/>
            <a:ext cx="8961120" cy="384048"/>
          </a:xfrm>
          <a:prstGeom prst="rect">
            <a:avLst/>
          </a:prstGeom>
          <a:noFill/>
          <a:ln/>
        </p:spPr>
        <p:txBody>
          <a:bodyPr wrap="square" lIns="0" tIns="0" rIns="0" bIns="0" rtlCol="0" anchor="ctr"/>
          <a:lstStyle/>
          <a:p>
            <a:pPr indent="0" marL="0">
              <a:buNone/>
            </a:pPr>
            <a:r>
              <a:rPr lang="en-US" sz="1600" i="1" dirty="0">
                <a:solidFill>
                  <a:srgbClr val="C9C2BA"/>
                </a:solidFill>
                <a:latin typeface="Calibri" pitchFamily="34" charset="0"/>
                <a:ea typeface="Calibri" pitchFamily="34" charset="-122"/>
                <a:cs typeface="Calibri" pitchFamily="34" charset="-120"/>
              </a:rPr>
              <a:t>Systems, Records and Remote Care</a:t>
            </a:r>
            <a:endParaRPr lang="en-US" sz="1600" dirty="0"/>
          </a:p>
        </p:txBody>
      </p:sp>
      <p:sp>
        <p:nvSpPr>
          <p:cNvPr id="8" name="Text 6"/>
          <p:cNvSpPr/>
          <p:nvPr/>
        </p:nvSpPr>
        <p:spPr>
          <a:xfrm>
            <a:off x="777240" y="4846320"/>
            <a:ext cx="9509760" cy="868680"/>
          </a:xfrm>
          <a:prstGeom prst="rect">
            <a:avLst/>
          </a:prstGeom>
          <a:noFill/>
          <a:ln/>
        </p:spPr>
        <p:txBody>
          <a:bodyPr wrap="square" lIns="0" tIns="0" rIns="0" bIns="0" rtlCol="0" anchor="ctr"/>
          <a:lstStyle/>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Certificate Course in Digital Health &amp; Artificial Intelligence for Pharmacy</a:t>
            </a:r>
            <a:endParaRPr lang="en-US" sz="1300" dirty="0"/>
          </a:p>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4 units  ·  2 assessed practicals  ·  100 examination questions</a:t>
            </a:r>
            <a:endParaRPr lang="en-US" sz="1300" dirty="0"/>
          </a:p>
        </p:txBody>
      </p:sp>
      <p:sp>
        <p:nvSpPr>
          <p:cNvPr id="9" name="Text 7"/>
          <p:cNvSpPr/>
          <p:nvPr/>
        </p:nvSpPr>
        <p:spPr>
          <a:xfrm>
            <a:off x="777240" y="6291072"/>
            <a:ext cx="7315200" cy="274320"/>
          </a:xfrm>
          <a:prstGeom prst="rect">
            <a:avLst/>
          </a:prstGeom>
          <a:noFill/>
          <a:ln/>
        </p:spPr>
        <p:txBody>
          <a:bodyPr wrap="square" lIns="0" tIns="0" rIns="0" bIns="0" rtlCol="0" anchor="ctr"/>
          <a:lstStyle/>
          <a:p>
            <a:pPr indent="0" marL="0">
              <a:buNone/>
            </a:pPr>
            <a:r>
              <a:rPr lang="en-US" sz="1000" dirty="0">
                <a:solidFill>
                  <a:srgbClr val="6E6058"/>
                </a:solidFill>
                <a:latin typeface="Calibri" pitchFamily="34" charset="0"/>
                <a:ea typeface="Calibri" pitchFamily="34" charset="-122"/>
                <a:cs typeface="Calibri" pitchFamily="34" charset="-120"/>
              </a:rPr>
              <a:t>ASAP Kerala  ·  www.alizongov.com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MAP</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this module covers</a:t>
            </a:r>
            <a:endParaRPr lang="en-US" sz="2900" dirty="0"/>
          </a:p>
        </p:txBody>
      </p:sp>
      <p:sp>
        <p:nvSpPr>
          <p:cNvPr id="6" name="Shape 4"/>
          <p:cNvSpPr/>
          <p:nvPr/>
        </p:nvSpPr>
        <p:spPr>
          <a:xfrm>
            <a:off x="502920" y="1481328"/>
            <a:ext cx="5440680" cy="1371600"/>
          </a:xfrm>
          <a:prstGeom prst="roundRect">
            <a:avLst>
              <a:gd name="adj" fmla="val 4000"/>
            </a:avLst>
          </a:prstGeom>
          <a:solidFill>
            <a:srgbClr val="FAF8F6"/>
          </a:solidFill>
          <a:ln w="9525">
            <a:solidFill>
              <a:srgbClr val="DDD5CE"/>
            </a:solidFill>
            <a:prstDash val="solid"/>
          </a:ln>
        </p:spPr>
      </p:sp>
      <p:sp>
        <p:nvSpPr>
          <p:cNvPr id="7" name="Shape 5"/>
          <p:cNvSpPr/>
          <p:nvPr/>
        </p:nvSpPr>
        <p:spPr>
          <a:xfrm>
            <a:off x="740664" y="1755648"/>
            <a:ext cx="384048" cy="384048"/>
          </a:xfrm>
          <a:prstGeom prst="ellipse">
            <a:avLst/>
          </a:prstGeom>
          <a:solidFill>
            <a:srgbClr val="8C1515"/>
          </a:solidFill>
          <a:ln/>
        </p:spPr>
      </p:sp>
      <p:sp>
        <p:nvSpPr>
          <p:cNvPr id="8" name="Text 6"/>
          <p:cNvSpPr/>
          <p:nvPr/>
        </p:nvSpPr>
        <p:spPr>
          <a:xfrm>
            <a:off x="74066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25272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Introduction to Digital Pharmacy, EHR Systems and…</a:t>
            </a:r>
            <a:endParaRPr lang="en-US" sz="1350" dirty="0"/>
          </a:p>
        </p:txBody>
      </p:sp>
      <p:sp>
        <p:nvSpPr>
          <p:cNvPr id="10" name="Text 8"/>
          <p:cNvSpPr/>
          <p:nvPr/>
        </p:nvSpPr>
        <p:spPr>
          <a:xfrm>
            <a:off x="125272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Definition of Digital Pharmacy · Electronic Health Record (EHR) Systems · Telepharmacy · Integration of Digital Pharmacy, EHR…</a:t>
            </a:r>
            <a:endParaRPr lang="en-US" sz="1050" dirty="0"/>
          </a:p>
        </p:txBody>
      </p:sp>
      <p:sp>
        <p:nvSpPr>
          <p:cNvPr id="11" name="Shape 9"/>
          <p:cNvSpPr/>
          <p:nvPr/>
        </p:nvSpPr>
        <p:spPr>
          <a:xfrm>
            <a:off x="6263640" y="1481328"/>
            <a:ext cx="5440680" cy="1371600"/>
          </a:xfrm>
          <a:prstGeom prst="roundRect">
            <a:avLst>
              <a:gd name="adj" fmla="val 4000"/>
            </a:avLst>
          </a:prstGeom>
          <a:solidFill>
            <a:srgbClr val="FAF8F6"/>
          </a:solidFill>
          <a:ln w="9525">
            <a:solidFill>
              <a:srgbClr val="DDD5CE"/>
            </a:solidFill>
            <a:prstDash val="solid"/>
          </a:ln>
        </p:spPr>
      </p:sp>
      <p:sp>
        <p:nvSpPr>
          <p:cNvPr id="12" name="Shape 10"/>
          <p:cNvSpPr/>
          <p:nvPr/>
        </p:nvSpPr>
        <p:spPr>
          <a:xfrm>
            <a:off x="6501384" y="1755648"/>
            <a:ext cx="384048" cy="384048"/>
          </a:xfrm>
          <a:prstGeom prst="ellipse">
            <a:avLst/>
          </a:prstGeom>
          <a:solidFill>
            <a:srgbClr val="8C1515"/>
          </a:solidFill>
          <a:ln/>
        </p:spPr>
      </p:sp>
      <p:sp>
        <p:nvSpPr>
          <p:cNvPr id="13" name="Text 11"/>
          <p:cNvSpPr/>
          <p:nvPr/>
        </p:nvSpPr>
        <p:spPr>
          <a:xfrm>
            <a:off x="650138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01344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Electronic Health Records (EHR) in Pharmacy Practice</a:t>
            </a:r>
            <a:endParaRPr lang="en-US" sz="1350" dirty="0"/>
          </a:p>
        </p:txBody>
      </p:sp>
      <p:sp>
        <p:nvSpPr>
          <p:cNvPr id="15" name="Text 13"/>
          <p:cNvSpPr/>
          <p:nvPr/>
        </p:nvSpPr>
        <p:spPr>
          <a:xfrm>
            <a:off x="701344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Definition of Electronic Health Records (EHR) · Structure and Components of EHR Systems · Medication History, Allergy Records…</a:t>
            </a:r>
            <a:endParaRPr lang="en-US" sz="1050" dirty="0"/>
          </a:p>
        </p:txBody>
      </p:sp>
      <p:sp>
        <p:nvSpPr>
          <p:cNvPr id="16" name="Shape 14"/>
          <p:cNvSpPr/>
          <p:nvPr/>
        </p:nvSpPr>
        <p:spPr>
          <a:xfrm>
            <a:off x="502920" y="3054096"/>
            <a:ext cx="5440680" cy="1371600"/>
          </a:xfrm>
          <a:prstGeom prst="roundRect">
            <a:avLst>
              <a:gd name="adj" fmla="val 4000"/>
            </a:avLst>
          </a:prstGeom>
          <a:solidFill>
            <a:srgbClr val="FAF8F6"/>
          </a:solidFill>
          <a:ln w="9525">
            <a:solidFill>
              <a:srgbClr val="DDD5CE"/>
            </a:solidFill>
            <a:prstDash val="solid"/>
          </a:ln>
        </p:spPr>
      </p:sp>
      <p:sp>
        <p:nvSpPr>
          <p:cNvPr id="17" name="Shape 15"/>
          <p:cNvSpPr/>
          <p:nvPr/>
        </p:nvSpPr>
        <p:spPr>
          <a:xfrm>
            <a:off x="740664" y="3328416"/>
            <a:ext cx="384048" cy="384048"/>
          </a:xfrm>
          <a:prstGeom prst="ellipse">
            <a:avLst/>
          </a:prstGeom>
          <a:solidFill>
            <a:srgbClr val="8C1515"/>
          </a:solidFill>
          <a:ln/>
        </p:spPr>
      </p:sp>
      <p:sp>
        <p:nvSpPr>
          <p:cNvPr id="18" name="Text 16"/>
          <p:cNvSpPr/>
          <p:nvPr/>
        </p:nvSpPr>
        <p:spPr>
          <a:xfrm>
            <a:off x="74066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25272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Telepharmacy &amp; Remote Patient Care</a:t>
            </a:r>
            <a:endParaRPr lang="en-US" sz="1350" dirty="0"/>
          </a:p>
        </p:txBody>
      </p:sp>
      <p:sp>
        <p:nvSpPr>
          <p:cNvPr id="20" name="Text 18"/>
          <p:cNvSpPr/>
          <p:nvPr/>
        </p:nvSpPr>
        <p:spPr>
          <a:xfrm>
            <a:off x="125272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Definition of Telepharmacy · Concept and Models of Telepharmacy · Remote Prescription Review and Counselling · Follow-up of…</a:t>
            </a:r>
            <a:endParaRPr lang="en-US" sz="1050" dirty="0"/>
          </a:p>
        </p:txBody>
      </p:sp>
      <p:sp>
        <p:nvSpPr>
          <p:cNvPr id="21" name="Shape 19"/>
          <p:cNvSpPr/>
          <p:nvPr/>
        </p:nvSpPr>
        <p:spPr>
          <a:xfrm>
            <a:off x="6263640" y="3054096"/>
            <a:ext cx="5440680" cy="1371600"/>
          </a:xfrm>
          <a:prstGeom prst="roundRect">
            <a:avLst>
              <a:gd name="adj" fmla="val 4000"/>
            </a:avLst>
          </a:prstGeom>
          <a:solidFill>
            <a:srgbClr val="FAF8F6"/>
          </a:solidFill>
          <a:ln w="9525">
            <a:solidFill>
              <a:srgbClr val="DDD5CE"/>
            </a:solidFill>
            <a:prstDash val="solid"/>
          </a:ln>
        </p:spPr>
      </p:sp>
      <p:sp>
        <p:nvSpPr>
          <p:cNvPr id="22" name="Shape 20"/>
          <p:cNvSpPr/>
          <p:nvPr/>
        </p:nvSpPr>
        <p:spPr>
          <a:xfrm>
            <a:off x="6501384" y="3328416"/>
            <a:ext cx="384048" cy="384048"/>
          </a:xfrm>
          <a:prstGeom prst="ellipse">
            <a:avLst/>
          </a:prstGeom>
          <a:solidFill>
            <a:srgbClr val="8C1515"/>
          </a:solidFill>
          <a:ln/>
        </p:spPr>
      </p:sp>
      <p:sp>
        <p:nvSpPr>
          <p:cNvPr id="23" name="Text 21"/>
          <p:cNvSpPr/>
          <p:nvPr/>
        </p:nvSpPr>
        <p:spPr>
          <a:xfrm>
            <a:off x="650138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01344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Digital Inventory, ADR &amp; Compliance Systems</a:t>
            </a:r>
            <a:endParaRPr lang="en-US" sz="1350" dirty="0"/>
          </a:p>
        </p:txBody>
      </p:sp>
      <p:sp>
        <p:nvSpPr>
          <p:cNvPr id="25" name="Text 23"/>
          <p:cNvSpPr/>
          <p:nvPr/>
        </p:nvSpPr>
        <p:spPr>
          <a:xfrm>
            <a:off x="701344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AI-Based Clinical Decision Support in Pharmacy</a:t>
            </a:r>
            <a:endParaRPr lang="en-US" sz="1050" dirty="0"/>
          </a:p>
        </p:txBody>
      </p:sp>
      <p:sp>
        <p:nvSpPr>
          <p:cNvPr id="26" name="Shape 24"/>
          <p:cNvSpPr/>
          <p:nvPr/>
        </p:nvSpPr>
        <p:spPr>
          <a:xfrm>
            <a:off x="502920" y="4681728"/>
            <a:ext cx="11183112" cy="987552"/>
          </a:xfrm>
          <a:prstGeom prst="roundRect">
            <a:avLst>
              <a:gd name="adj" fmla="val 5556"/>
            </a:avLst>
          </a:prstGeom>
          <a:solidFill>
            <a:srgbClr val="2E1010"/>
          </a:solidFill>
          <a:ln w="9525">
            <a:solidFill>
              <a:srgbClr val="46201F"/>
            </a:solidFill>
            <a:prstDash val="solid"/>
          </a:ln>
        </p:spPr>
      </p:sp>
      <p:sp>
        <p:nvSpPr>
          <p:cNvPr id="27" name="Text 25"/>
          <p:cNvSpPr/>
          <p:nvPr/>
        </p:nvSpPr>
        <p:spPr>
          <a:xfrm>
            <a:off x="868680" y="4846320"/>
            <a:ext cx="3291840" cy="292608"/>
          </a:xfrm>
          <a:prstGeom prst="rect">
            <a:avLst/>
          </a:prstGeom>
          <a:noFill/>
          <a:ln/>
        </p:spPr>
        <p:txBody>
          <a:bodyPr wrap="square" lIns="0" tIns="0" rIns="0" bIns="0" rtlCol="0" anchor="ctr"/>
          <a:lstStyle/>
          <a:p>
            <a:pPr indent="0" marL="0">
              <a:buNone/>
            </a:pPr>
            <a:r>
              <a:rPr lang="en-US" sz="1350" b="1" dirty="0">
                <a:solidFill>
                  <a:srgbClr val="F0C9C9"/>
                </a:solidFill>
                <a:latin typeface="Calibri" pitchFamily="34" charset="0"/>
                <a:ea typeface="Calibri" pitchFamily="34" charset="-122"/>
                <a:cs typeface="Calibri" pitchFamily="34" charset="-120"/>
              </a:rPr>
              <a:t>2 assessed practicals</a:t>
            </a:r>
            <a:endParaRPr lang="en-US" sz="1350" dirty="0"/>
          </a:p>
        </p:txBody>
      </p:sp>
      <p:sp>
        <p:nvSpPr>
          <p:cNvPr id="28" name="Text 26"/>
          <p:cNvSpPr/>
          <p:nvPr/>
        </p:nvSpPr>
        <p:spPr>
          <a:xfrm>
            <a:off x="868680" y="5157216"/>
            <a:ext cx="10515600" cy="384048"/>
          </a:xfrm>
          <a:prstGeom prst="rect">
            <a:avLst/>
          </a:prstGeom>
          <a:noFill/>
          <a:ln/>
        </p:spPr>
        <p:txBody>
          <a:bodyPr wrap="square" lIns="0" tIns="0" rIns="0" bIns="0" rtlCol="0" anchor="ctr"/>
          <a:lstStyle/>
          <a:p>
            <a:pPr indent="0" marL="0">
              <a:buNone/>
            </a:pPr>
            <a:r>
              <a:rPr lang="en-US" sz="1150" dirty="0">
                <a:solidFill>
                  <a:srgbClr val="E7DCD8"/>
                </a:solidFill>
                <a:latin typeface="Calibri" pitchFamily="34" charset="0"/>
                <a:ea typeface="Calibri" pitchFamily="34" charset="-122"/>
                <a:cs typeface="Calibri" pitchFamily="34" charset="-120"/>
              </a:rPr>
              <a:t>Digital Dispensing Using FEFO/FIFO Principles &amp; Patient Counselling · Pharmacovigilance Reporting Desk</a:t>
            </a:r>
            <a:endParaRPr lang="en-US" sz="1150" dirty="0"/>
          </a:p>
        </p:txBody>
      </p:sp>
      <p:sp>
        <p:nvSpPr>
          <p:cNvPr id="29" name="Text 2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30" name="Text 2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LEARNING OUTCOMES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you will be able to do</a:t>
            </a:r>
            <a:endParaRPr lang="en-US" sz="2900" dirty="0"/>
          </a:p>
        </p:txBody>
      </p:sp>
      <p:sp>
        <p:nvSpPr>
          <p:cNvPr id="6" name="Shape 4"/>
          <p:cNvSpPr/>
          <p:nvPr/>
        </p:nvSpPr>
        <p:spPr>
          <a:xfrm>
            <a:off x="502920" y="1591056"/>
            <a:ext cx="310896" cy="310896"/>
          </a:xfrm>
          <a:prstGeom prst="ellipse">
            <a:avLst/>
          </a:prstGeom>
          <a:solidFill>
            <a:srgbClr val="F2E4E4"/>
          </a:solidFill>
          <a:ln/>
        </p:spPr>
      </p:sp>
      <p:sp>
        <p:nvSpPr>
          <p:cNvPr id="7" name="Text 5"/>
          <p:cNvSpPr/>
          <p:nvPr/>
        </p:nvSpPr>
        <p:spPr>
          <a:xfrm>
            <a:off x="50292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96012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Explain</a:t>
            </a:r>
            <a:endParaRPr lang="en-US" sz="1400" dirty="0"/>
          </a:p>
        </p:txBody>
      </p:sp>
      <p:sp>
        <p:nvSpPr>
          <p:cNvPr id="9" name="Text 7"/>
          <p:cNvSpPr/>
          <p:nvPr/>
        </p:nvSpPr>
        <p:spPr>
          <a:xfrm>
            <a:off x="96012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Introduction to Digital Pharmacy, EHR Systems and Telepharmacy</a:t>
            </a:r>
            <a:endParaRPr lang="en-US" sz="1250" dirty="0"/>
          </a:p>
        </p:txBody>
      </p:sp>
      <p:sp>
        <p:nvSpPr>
          <p:cNvPr id="10" name="Shape 8"/>
          <p:cNvSpPr/>
          <p:nvPr/>
        </p:nvSpPr>
        <p:spPr>
          <a:xfrm>
            <a:off x="6263640" y="1591056"/>
            <a:ext cx="310896" cy="310896"/>
          </a:xfrm>
          <a:prstGeom prst="ellipse">
            <a:avLst/>
          </a:prstGeom>
          <a:solidFill>
            <a:srgbClr val="F2E4E4"/>
          </a:solidFill>
          <a:ln/>
        </p:spPr>
      </p:sp>
      <p:sp>
        <p:nvSpPr>
          <p:cNvPr id="11" name="Text 9"/>
          <p:cNvSpPr/>
          <p:nvPr/>
        </p:nvSpPr>
        <p:spPr>
          <a:xfrm>
            <a:off x="626364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72084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Operate</a:t>
            </a:r>
            <a:endParaRPr lang="en-US" sz="1400" dirty="0"/>
          </a:p>
        </p:txBody>
      </p:sp>
      <p:sp>
        <p:nvSpPr>
          <p:cNvPr id="13" name="Text 11"/>
          <p:cNvSpPr/>
          <p:nvPr/>
        </p:nvSpPr>
        <p:spPr>
          <a:xfrm>
            <a:off x="672084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Definition of Digital Pharmacy</a:t>
            </a:r>
            <a:endParaRPr lang="en-US" sz="1250" dirty="0"/>
          </a:p>
        </p:txBody>
      </p:sp>
      <p:sp>
        <p:nvSpPr>
          <p:cNvPr id="14" name="Shape 12"/>
          <p:cNvSpPr/>
          <p:nvPr/>
        </p:nvSpPr>
        <p:spPr>
          <a:xfrm>
            <a:off x="502920" y="2962656"/>
            <a:ext cx="310896" cy="310896"/>
          </a:xfrm>
          <a:prstGeom prst="ellipse">
            <a:avLst/>
          </a:prstGeom>
          <a:solidFill>
            <a:srgbClr val="F2E4E4"/>
          </a:solidFill>
          <a:ln/>
        </p:spPr>
      </p:sp>
      <p:sp>
        <p:nvSpPr>
          <p:cNvPr id="15" name="Text 13"/>
          <p:cNvSpPr/>
          <p:nvPr/>
        </p:nvSpPr>
        <p:spPr>
          <a:xfrm>
            <a:off x="50292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96012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Apply</a:t>
            </a:r>
            <a:endParaRPr lang="en-US" sz="1400" dirty="0"/>
          </a:p>
        </p:txBody>
      </p:sp>
      <p:sp>
        <p:nvSpPr>
          <p:cNvPr id="17" name="Text 15"/>
          <p:cNvSpPr/>
          <p:nvPr/>
        </p:nvSpPr>
        <p:spPr>
          <a:xfrm>
            <a:off x="96012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Electronic Health Records (EHR) in Pharmacy Practice</a:t>
            </a:r>
            <a:endParaRPr lang="en-US" sz="1250" dirty="0"/>
          </a:p>
        </p:txBody>
      </p:sp>
      <p:sp>
        <p:nvSpPr>
          <p:cNvPr id="18" name="Shape 16"/>
          <p:cNvSpPr/>
          <p:nvPr/>
        </p:nvSpPr>
        <p:spPr>
          <a:xfrm>
            <a:off x="6263640" y="2962656"/>
            <a:ext cx="310896" cy="310896"/>
          </a:xfrm>
          <a:prstGeom prst="ellipse">
            <a:avLst/>
          </a:prstGeom>
          <a:solidFill>
            <a:srgbClr val="F2E4E4"/>
          </a:solidFill>
          <a:ln/>
        </p:spPr>
      </p:sp>
      <p:sp>
        <p:nvSpPr>
          <p:cNvPr id="19" name="Text 17"/>
          <p:cNvSpPr/>
          <p:nvPr/>
        </p:nvSpPr>
        <p:spPr>
          <a:xfrm>
            <a:off x="626364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672084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Evaluate</a:t>
            </a:r>
            <a:endParaRPr lang="en-US" sz="1400" dirty="0"/>
          </a:p>
        </p:txBody>
      </p:sp>
      <p:sp>
        <p:nvSpPr>
          <p:cNvPr id="21" name="Text 19"/>
          <p:cNvSpPr/>
          <p:nvPr/>
        </p:nvSpPr>
        <p:spPr>
          <a:xfrm>
            <a:off x="672084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Definition of Electronic Health Records (EHR)</a:t>
            </a:r>
            <a:endParaRPr lang="en-US" sz="1250" dirty="0"/>
          </a:p>
        </p:txBody>
      </p:sp>
      <p:sp>
        <p:nvSpPr>
          <p:cNvPr id="22" name="Shape 20"/>
          <p:cNvSpPr/>
          <p:nvPr/>
        </p:nvSpPr>
        <p:spPr>
          <a:xfrm>
            <a:off x="502920" y="4334256"/>
            <a:ext cx="310896" cy="310896"/>
          </a:xfrm>
          <a:prstGeom prst="ellipse">
            <a:avLst/>
          </a:prstGeom>
          <a:solidFill>
            <a:srgbClr val="F2E4E4"/>
          </a:solidFill>
          <a:ln/>
        </p:spPr>
      </p:sp>
      <p:sp>
        <p:nvSpPr>
          <p:cNvPr id="23" name="Text 21"/>
          <p:cNvSpPr/>
          <p:nvPr/>
        </p:nvSpPr>
        <p:spPr>
          <a:xfrm>
            <a:off x="50292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96012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Describe</a:t>
            </a:r>
            <a:endParaRPr lang="en-US" sz="1400" dirty="0"/>
          </a:p>
        </p:txBody>
      </p:sp>
      <p:sp>
        <p:nvSpPr>
          <p:cNvPr id="25" name="Text 23"/>
          <p:cNvSpPr/>
          <p:nvPr/>
        </p:nvSpPr>
        <p:spPr>
          <a:xfrm>
            <a:off x="96012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Telepharmacy &amp; Remote Patient Care</a:t>
            </a:r>
            <a:endParaRPr lang="en-US" sz="1250" dirty="0"/>
          </a:p>
        </p:txBody>
      </p:sp>
      <p:sp>
        <p:nvSpPr>
          <p:cNvPr id="26" name="Shape 24"/>
          <p:cNvSpPr/>
          <p:nvPr/>
        </p:nvSpPr>
        <p:spPr>
          <a:xfrm>
            <a:off x="6263640" y="4334256"/>
            <a:ext cx="310896" cy="310896"/>
          </a:xfrm>
          <a:prstGeom prst="ellipse">
            <a:avLst/>
          </a:prstGeom>
          <a:solidFill>
            <a:srgbClr val="F2E4E4"/>
          </a:solidFill>
          <a:ln/>
        </p:spPr>
      </p:sp>
      <p:sp>
        <p:nvSpPr>
          <p:cNvPr id="27" name="Text 25"/>
          <p:cNvSpPr/>
          <p:nvPr/>
        </p:nvSpPr>
        <p:spPr>
          <a:xfrm>
            <a:off x="626364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72084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Document</a:t>
            </a:r>
            <a:endParaRPr lang="en-US" sz="1400" dirty="0"/>
          </a:p>
        </p:txBody>
      </p:sp>
      <p:sp>
        <p:nvSpPr>
          <p:cNvPr id="29" name="Text 27"/>
          <p:cNvSpPr/>
          <p:nvPr/>
        </p:nvSpPr>
        <p:spPr>
          <a:xfrm>
            <a:off x="672084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Definition of Telepharmacy</a:t>
            </a:r>
            <a:endParaRPr lang="en-US" sz="1250" dirty="0"/>
          </a:p>
        </p:txBody>
      </p:sp>
      <p:sp>
        <p:nvSpPr>
          <p:cNvPr id="30" name="Shape 28"/>
          <p:cNvSpPr/>
          <p:nvPr/>
        </p:nvSpPr>
        <p:spPr>
          <a:xfrm>
            <a:off x="502920" y="5504688"/>
            <a:ext cx="11183112" cy="585216"/>
          </a:xfrm>
          <a:prstGeom prst="roundRect">
            <a:avLst>
              <a:gd name="adj" fmla="val 9375"/>
            </a:avLst>
          </a:prstGeom>
          <a:solidFill>
            <a:srgbClr val="FAF8F6"/>
          </a:solidFill>
          <a:ln w="9525">
            <a:solidFill>
              <a:srgbClr val="DDD5CE"/>
            </a:solidFill>
            <a:prstDash val="solid"/>
          </a:ln>
        </p:spPr>
      </p:sp>
      <p:sp>
        <p:nvSpPr>
          <p:cNvPr id="31" name="Text 29"/>
          <p:cNvSpPr/>
          <p:nvPr/>
        </p:nvSpPr>
        <p:spPr>
          <a:xfrm>
            <a:off x="868680" y="5504688"/>
            <a:ext cx="10515600" cy="585216"/>
          </a:xfrm>
          <a:prstGeom prst="rect">
            <a:avLst/>
          </a:prstGeom>
          <a:noFill/>
          <a:ln/>
        </p:spPr>
        <p:txBody>
          <a:bodyPr wrap="square" lIns="0" tIns="0" rIns="0" bIns="0" rtlCol="0" anchor="ctr"/>
          <a:lstStyle/>
          <a:p>
            <a:pPr indent="0" marL="0">
              <a:buNone/>
            </a:pPr>
            <a:r>
              <a:rPr lang="en-US" sz="1200" dirty="0">
                <a:solidFill>
                  <a:srgbClr val="26221F"/>
                </a:solidFill>
                <a:latin typeface="Calibri" pitchFamily="34" charset="0"/>
                <a:ea typeface="Calibri" pitchFamily="34" charset="-122"/>
                <a:cs typeface="Calibri" pitchFamily="34" charset="-120"/>
              </a:rPr>
              <a:t>Assessment · 2 faculty-evaluated practicals  +  100-question internal examination (4 units × 25)</a:t>
            </a:r>
            <a:endParaRPr lang="en-US" sz="120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DIGITAL PHARMACY, EHR SYSTEMS AND TELEPHARMACY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Digital transformation</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Digital transformation has brought significant changes to healthcare systems worldwide, and pharmacy practice is no exception. The integration of computer technologies, communication systems, and data management tools has led to the development of digital pharmacy, Electronic Health Record (EHR) systems, and telepharmacy services. These advancements have improved efficiency, accuracy, accessibility, and patient safety in healthcare delivery. Understanding these concepts is essential for pharmacy students, as modern pharmacy practice is increasingly dependent on digital systems and technology-driven processes.</a:t>
            </a:r>
            <a:endParaRPr lang="en-US" sz="140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Digital systems not only support routine pharmacy operations but also enhance clinical decision-making and patient-centered care.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DIGITAL PHARMACY, EHR SYSTEMS AND TELEPHARMACY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Electronic Health Records</a:t>
            </a:r>
            <a:endParaRPr lang="en-US" sz="2900" dirty="0"/>
          </a:p>
        </p:txBody>
      </p:sp>
      <p:sp>
        <p:nvSpPr>
          <p:cNvPr id="6" name="Text 4"/>
          <p:cNvSpPr/>
          <p:nvPr/>
        </p:nvSpPr>
        <p:spPr>
          <a:xfrm>
            <a:off x="502920" y="1536192"/>
            <a:ext cx="11183112" cy="4297680"/>
          </a:xfrm>
          <a:prstGeom prst="rect">
            <a:avLst/>
          </a:prstGeom>
          <a:noFill/>
          <a:ln/>
        </p:spPr>
        <p:txBody>
          <a:bodyPr wrap="square" lIns="0" tIns="0" rIns="0" bIns="0" rtlCol="0" anchor="t"/>
          <a:lstStyle/>
          <a:p>
            <a:pPr indent="0" marL="0">
              <a:lnSpc>
                <a:spcPts val="2800"/>
              </a:lnSpc>
              <a:buNone/>
            </a:pPr>
            <a:r>
              <a:rPr lang="en-US" sz="1750" dirty="0">
                <a:solidFill>
                  <a:srgbClr val="26221F"/>
                </a:solidFill>
                <a:latin typeface="Calibri" pitchFamily="34" charset="0"/>
                <a:ea typeface="Calibri" pitchFamily="34" charset="-122"/>
                <a:cs typeface="Calibri" pitchFamily="34" charset="-120"/>
              </a:rPr>
              <a:t>Electronic Health Records are digital versions of patient medical records that store comprehensive information including patient demographics, medical history, medications, laboratory results, and treatment plans. EHR systems allow healthcare providers to access and share patient data across different departments and healthcare facilities, improving coordination and continuity of care.</a:t>
            </a:r>
            <a:endParaRPr lang="en-US" sz="1750" dirty="0"/>
          </a:p>
        </p:txBody>
      </p:sp>
      <p:sp>
        <p:nvSpPr>
          <p:cNvPr id="7" name="Text 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8" name="Text 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DIGITAL PHARMACY, EHR SYSTEMS AND TELEPHARMACY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Benefits of telepharmacy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The benefits of telepharmacy include improved access to healthcare services, reduced travel time for patients, and enhanced patient engagement. It also supports continuity of care by allowing regular follow-up and monitoring.</a:t>
            </a:r>
            <a:endParaRPr lang="en-US" sz="17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However, challenges such as technological limitations, lack of infrastructure, and regulatory concerns may affect its implementation.</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DIGITAL PHARMACY, EHR SYSTEMS AND TELEPHARMACY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Data management</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Data management is an important aspect of digital pharmacy and healthcare systems. It involves the collection, storage, processing, and retrieval of patient data. Ensuring data security and confidentiality is essential to protect patient information from unauthorized access.</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Digital systems use technologies such as encryption, authentication, and access control to maintain data security.</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DIGITAL PHARMACY, EHR SYSTEMS AND TELEPHARMACY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Introduction to Digital Pharmacy, EHR Systems and Telepharmacy at a…</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Details</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Objective</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To understand the workflow of digital pharmacy systems and the process of electronic…</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Topic Covered</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Digital pharmacy workflow and e-prescription processing</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Requirements</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Computer/mobile with internet access, demo pharmacy software or sample digital prescription…</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Procedure</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are introduced to a digital pharmacy workflow. They observe how a prescription is…</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Activity</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simulate entering a digital prescription with details such as patient name, drug name…</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Observation</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observe that digital systems improve accuracy, reduce manual errors, and ensure smooth…</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ELECTRONIC HEALTH RECORDS (EHR) IN PHARMACY PRACTICE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Electronic Health Records (EHR)</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Electronic Health Records (EHR) have become a fundamental component of modern healthcare systems, enabling efficient management of patient information and improving the quality of care. In pharmacy practice, EHR systems play a critical role in providing accurate and complete patient data, supporting medication management, and enhancing patient safety. The use of EHR systems allows pharmacists to access real-time information, collaborate with healthcare professionals, and make informed clinical decisions.</a:t>
            </a:r>
            <a:endParaRPr lang="en-US" sz="15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 integration of pharmacy systems with EHR has transformed traditional practices into more efficient, data-driven processes.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ELECTRONIC HEALTH RECORDS (EHR) IN PHARMACY PRACTICE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EHR systems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EHR systems consist of multiple components that work together to manage patient data. These include patient demographics, clinical data, medication records, laboratory reports, imaging data, and billing information.</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Each component plays a specific role in providing a complete picture of patient health.</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ELECTRONIC HEALTH RECORDS (EHR) IN PHARMACY PRACTICE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Integration of Pharmacy Systems with Hospital EHR</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Benefit</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Real-time Data Access</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Improves decision-making</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Electronic Prescriptions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Reduces errors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Integrated Records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Enhances coordination</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Automated Alerts</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Improves patient safety</a:t>
            </a:r>
            <a:endParaRPr lang="en-US" sz="1150" dirty="0"/>
          </a:p>
        </p:txBody>
      </p:sp>
      <p:sp>
        <p:nvSpPr>
          <p:cNvPr id="21" name="Text 19"/>
          <p:cNvSpPr/>
          <p:nvPr/>
        </p:nvSpPr>
        <p:spPr>
          <a:xfrm>
            <a:off x="502920" y="4901184"/>
            <a:ext cx="11183112" cy="1362456"/>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 major advantage is that integrated systems reduce duplication and improve healthcare efficiency.</a:t>
            </a:r>
            <a:endParaRPr lang="en-US" sz="1200" dirty="0"/>
          </a:p>
        </p:txBody>
      </p:sp>
      <p:sp>
        <p:nvSpPr>
          <p:cNvPr id="22" name="Text 2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23" name="Text 2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ELECTRONIC HEALTH RECORDS (EHR) IN PHARMACY PRACTICE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Electronic Health Records (EHR) in Pharmacy Practice at a glance</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Details</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Objective</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To understand the structure, components, and use of Electronic Health Records (EHR) in pharmacy…</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Topic Covered</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Electronic Health Records (EHR) and medication data management</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Requirements</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Computer/mobile with internet access, demo EHR system or sample patient record, dummy patient…</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Procedure</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are introduced to a sample EHR system interface. They observe how patient information…</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Activity</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review a sample patient record and identify key sections such as medication history…</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Observation</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observe that EHR systems provide complete patient information in a structured format…</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TELEPHARMACY &amp; REMOTE PATIENT CARE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Telepharmacy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Telepharmacy is an advanced and rapidly evolving component of digital healthcare that enables the delivery of pharmaceutical services through telecommunications and digital technologies. With the increasing demand for accessible healthcare services and the growing use of digital platforms, telepharmacy has become an essential tool in modern pharmacy practice. It allows pharmacists to extend their services beyond traditional physical settings and provide care to patients in remote, rural, and underserved areas.</a:t>
            </a:r>
            <a:endParaRPr lang="en-US" sz="1400" dirty="0"/>
          </a:p>
        </p:txBody>
      </p:sp>
      <p:sp>
        <p:nvSpPr>
          <p:cNvPr id="7" name="Shape 5"/>
          <p:cNvSpPr/>
          <p:nvPr/>
        </p:nvSpPr>
        <p:spPr>
          <a:xfrm>
            <a:off x="7680960" y="1536192"/>
            <a:ext cx="4005072" cy="2505456"/>
          </a:xfrm>
          <a:prstGeom prst="roundRect">
            <a:avLst>
              <a:gd name="adj" fmla="val 219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645920"/>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Telepharmacy supports various functions such as prescription verification, medication counseling, therapy monitoring, and drug information services, thereby improving patient outcomes and healthcare accessibility.</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TELEPHARMACY &amp; REMOTE PATIENT CARE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Telepharmacy (2)</a:t>
            </a:r>
            <a:endParaRPr lang="en-US" sz="2900" dirty="0"/>
          </a:p>
        </p:txBody>
      </p:sp>
      <p:sp>
        <p:nvSpPr>
          <p:cNvPr id="6" name="Shape 4"/>
          <p:cNvSpPr/>
          <p:nvPr/>
        </p:nvSpPr>
        <p:spPr>
          <a:xfrm>
            <a:off x="502920" y="1554480"/>
            <a:ext cx="11183112" cy="2176272"/>
          </a:xfrm>
          <a:prstGeom prst="roundRect">
            <a:avLst>
              <a:gd name="adj" fmla="val 2521"/>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NOTE</a:t>
            </a:r>
            <a:endParaRPr lang="en-US" sz="1050" dirty="0"/>
          </a:p>
        </p:txBody>
      </p:sp>
      <p:sp>
        <p:nvSpPr>
          <p:cNvPr id="8" name="Text 6"/>
          <p:cNvSpPr/>
          <p:nvPr/>
        </p:nvSpPr>
        <p:spPr>
          <a:xfrm>
            <a:off x="914400" y="2212848"/>
            <a:ext cx="10332720" cy="1335024"/>
          </a:xfrm>
          <a:prstGeom prst="rect">
            <a:avLst/>
          </a:prstGeom>
          <a:noFill/>
          <a:ln/>
        </p:spPr>
        <p:txBody>
          <a:bodyPr wrap="square" lIns="0" tIns="0" rIns="0" bIns="0" rtlCol="0" anchor="t"/>
          <a:lstStyle/>
          <a:p>
            <a:pPr indent="0" marL="0">
              <a:lnSpc>
                <a:spcPts val="2100"/>
              </a:lnSpc>
              <a:buNone/>
            </a:pPr>
            <a:r>
              <a:rPr lang="en-US" sz="1400" dirty="0">
                <a:solidFill>
                  <a:srgbClr val="F4ECE9"/>
                </a:solidFill>
                <a:latin typeface="Calibri" pitchFamily="34" charset="0"/>
                <a:ea typeface="Calibri" pitchFamily="34" charset="-122"/>
                <a:cs typeface="Calibri" pitchFamily="34" charset="-120"/>
              </a:rPr>
              <a:t>Telepharmacy improves accessibility and ensures timely delivery of pharmaceutical services. Another classification of telepharmacy is based on operational models. These include centralized models, decentralized models, and hybrid models. In centralized models, a central pharmacy supervises multiple remote sites and provides services through digital communication systems. In decentralized models, services are distributed across multiple locations with local support. Hybrid models combine both centralized and decentralized approaches, offering flexibility…</a:t>
            </a:r>
            <a:endParaRPr lang="en-US" sz="14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TELEPHARMACY &amp; REMOTE PATIENT CARE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Remote prescription review</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Remote prescription review is one of the most important functions of telepharmacy. In this process, pharmacists review electronic prescriptions submitted by healthcare providers to ensure their accuracy and appropriateness. They check for drug interactions, contraindications, allergies, and dosage errors before approving the prescription for dispensing.</a:t>
            </a:r>
            <a:endParaRPr lang="en-US" sz="15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This process reduces medication errors and enhances patient safety.</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TELEPHARMACY &amp; REMOTE PATIENT CARE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Telepharmacy services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Telepharmacy services must comply with legal and regulatory requirements to ensure safe and effective practice. Legal considerations include licensing of pharmacists, authorization to provide remote services, and compliance with healthcare regulations.</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Pharmacists must ensure that they are licensed to practice in the regions where they provide telepharmacy services.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TELEPHARMACY &amp; REMOTE PATIENT CARE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Telepharmacy &amp; Remote Patient Care at a glance</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Details</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Objective</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To understand the concept and application of telepharmacy in providing remote pharmaceutical…</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Topic Covered</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Telepharmacy services and remote patient counselling</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Requirements</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Computer/mobile with internet access, video call platform or telepharmacy demo, dummy patient…</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Procedure</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are introduced to a telepharmacy setup. They observe how a pharmacist interacts with a…</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Activity</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simulate a telepharmacy session by preparing a basic medication counselling scenario…</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Observation</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observe that telepharmacy enables remote access to pharmaceutical care and improves…</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DIGITAL INVENTORY, ADR &amp; COMPLIANCE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Advancement of digital technologies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The advancement of digital technologies has significantly transformed pharmacy operations, particularly in inventory management, pharmacovigilance, and regulatory compliance. Digital systems enable efficient tracking of medicines, monitoring of drug safety, and maintenance of regulatory documentation. In modern pharmacy practice, the integration of digital inventory systems, adverse drug reaction (ADR) reporting platforms, and compliance tools ensures accuracy, efficiency, and patient safety.</a:t>
            </a:r>
            <a:endParaRPr lang="en-US" sz="15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These systems reduce manual errors, improve workflow, and support evidence-based decision-making.</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DIGITAL INVENTORY, ADR &amp; COMPLIANCE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Digital Inventory, ADR &amp; Compliance Systems at a glance</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Real-time Tracking</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Monitors stock levels instantly</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Automated Alerts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Notifies low stock levels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Barcode/RFID</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Enables accurate tracking</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Reporting</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Generates inventory reports</a:t>
            </a:r>
            <a:endParaRPr lang="en-US" sz="1150" dirty="0"/>
          </a:p>
        </p:txBody>
      </p:sp>
      <p:sp>
        <p:nvSpPr>
          <p:cNvPr id="21" name="Text 19"/>
          <p:cNvSpPr/>
          <p:nvPr/>
        </p:nvSpPr>
        <p:spPr>
          <a:xfrm>
            <a:off x="502920" y="4901184"/>
            <a:ext cx="11183112" cy="1362456"/>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 key point is that digital inventory systems improve efficiency and reduce human error. Batch Tracking, Expiry Monitoring and Recall Systems Batch tracking is an essential feature of digital inventory systems that…</a:t>
            </a:r>
            <a:endParaRPr lang="en-US" sz="1200" dirty="0"/>
          </a:p>
        </p:txBody>
      </p:sp>
      <p:sp>
        <p:nvSpPr>
          <p:cNvPr id="22" name="Text 2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23" name="Text 2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DIGITAL INVENTORY, ADR &amp; COMPLIANCE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AI-based Clinical Decision Support Systems (CDSS)</a:t>
            </a:r>
            <a:endParaRPr lang="en-US" sz="2400" dirty="0"/>
          </a:p>
        </p:txBody>
      </p:sp>
      <p:sp>
        <p:nvSpPr>
          <p:cNvPr id="6" name="Text 4"/>
          <p:cNvSpPr/>
          <p:nvPr/>
        </p:nvSpPr>
        <p:spPr>
          <a:xfrm>
            <a:off x="502920" y="1536192"/>
            <a:ext cx="11183112" cy="4297680"/>
          </a:xfrm>
          <a:prstGeom prst="rect">
            <a:avLst/>
          </a:prstGeom>
          <a:noFill/>
          <a:ln/>
        </p:spPr>
        <p:txBody>
          <a:bodyPr wrap="square" lIns="0" tIns="0" rIns="0" bIns="0" rtlCol="0" anchor="t"/>
          <a:lstStyle/>
          <a:p>
            <a:pPr indent="0" marL="0">
              <a:lnSpc>
                <a:spcPts val="2800"/>
              </a:lnSpc>
              <a:buNone/>
            </a:pPr>
            <a:r>
              <a:rPr lang="en-US" sz="1750" dirty="0">
                <a:solidFill>
                  <a:srgbClr val="26221F"/>
                </a:solidFill>
                <a:latin typeface="Calibri" pitchFamily="34" charset="0"/>
                <a:ea typeface="Calibri" pitchFamily="34" charset="-122"/>
                <a:cs typeface="Calibri" pitchFamily="34" charset="-120"/>
              </a:rPr>
              <a:t>AI-based Clinical Decision Support Systems (CDSS) can analyze thousands of patient records and clinical guidelines within seconds to assist pharmacists in making safer medication decisions. These systems can automatically detect potential drug interactions, allergies, and incorrect dosages before a medicine is dispensed.</a:t>
            </a:r>
            <a:endParaRPr lang="en-US" sz="1750" dirty="0"/>
          </a:p>
        </p:txBody>
      </p:sp>
      <p:sp>
        <p:nvSpPr>
          <p:cNvPr id="7" name="Text 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8" name="Text 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DIGITAL INVENTORY, ADR &amp; COMPLIANCE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AI-based Clinical Decision Support Systems (CDSS) (2)</a:t>
            </a:r>
            <a:endParaRPr lang="en-US" sz="2400" dirty="0"/>
          </a:p>
        </p:txBody>
      </p:sp>
      <p:sp>
        <p:nvSpPr>
          <p:cNvPr id="6" name="Shape 4"/>
          <p:cNvSpPr/>
          <p:nvPr/>
        </p:nvSpPr>
        <p:spPr>
          <a:xfrm>
            <a:off x="502920" y="1554480"/>
            <a:ext cx="11183112" cy="1737360"/>
          </a:xfrm>
          <a:prstGeom prst="roundRect">
            <a:avLst>
              <a:gd name="adj" fmla="val 3158"/>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DID YOU KNOW?</a:t>
            </a:r>
            <a:endParaRPr lang="en-US" sz="1050" dirty="0"/>
          </a:p>
        </p:txBody>
      </p:sp>
      <p:sp>
        <p:nvSpPr>
          <p:cNvPr id="8" name="Text 6"/>
          <p:cNvSpPr/>
          <p:nvPr/>
        </p:nvSpPr>
        <p:spPr>
          <a:xfrm>
            <a:off x="914400" y="2212848"/>
            <a:ext cx="10332720" cy="801014"/>
          </a:xfrm>
          <a:prstGeom prst="rect">
            <a:avLst/>
          </a:prstGeom>
          <a:noFill/>
          <a:ln/>
        </p:spPr>
        <p:txBody>
          <a:bodyPr wrap="square" lIns="0" tIns="0" rIns="0" bIns="0" rtlCol="0" anchor="t"/>
          <a:lstStyle/>
          <a:p>
            <a:pPr indent="0" marL="0">
              <a:lnSpc>
                <a:spcPts val="2100"/>
              </a:lnSpc>
              <a:buNone/>
            </a:pPr>
            <a:r>
              <a:rPr lang="en-US" sz="1400" dirty="0">
                <a:solidFill>
                  <a:srgbClr val="F4ECE9"/>
                </a:solidFill>
                <a:latin typeface="Calibri" pitchFamily="34" charset="0"/>
                <a:ea typeface="Calibri" pitchFamily="34" charset="-122"/>
                <a:cs typeface="Calibri" pitchFamily="34" charset="-120"/>
              </a:rPr>
              <a:t>AI-based Clinical Decision Support Systems (CDSS) can analyze thousands of patient records and clinical guidelines within seconds to assist pharmacists in making safer medication decisions. These systems can automatically detect potential drug interactions, allergies, and incorrect dosages before a medicine is dispensed.</a:t>
            </a:r>
            <a:endParaRPr lang="en-US" sz="14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10058400" y="-1097280"/>
            <a:ext cx="4023360" cy="4023360"/>
          </a:xfrm>
          <a:prstGeom prst="ellipse">
            <a:avLst/>
          </a:prstGeom>
          <a:solidFill>
            <a:srgbClr val="8C1515">
              <a:alpha val="28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THE PRACTICALS</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2 assessed practicals</a:t>
            </a:r>
            <a:endParaRPr lang="en-US" sz="3400" dirty="0"/>
          </a:p>
        </p:txBody>
      </p:sp>
      <p:sp>
        <p:nvSpPr>
          <p:cNvPr id="5" name="Text 3"/>
          <p:cNvSpPr/>
          <p:nvPr/>
        </p:nvSpPr>
        <p:spPr>
          <a:xfrm>
            <a:off x="777240" y="1847088"/>
            <a:ext cx="10241280" cy="749808"/>
          </a:xfrm>
          <a:prstGeom prst="rect">
            <a:avLst/>
          </a:prstGeom>
          <a:noFill/>
          <a:ln/>
        </p:spPr>
        <p:txBody>
          <a:bodyPr wrap="square" lIns="0" tIns="0" rIns="0" bIns="0" rtlCol="0" anchor="ctr"/>
          <a:lstStyle/>
          <a:p>
            <a:pPr indent="0" marL="0">
              <a:lnSpc>
                <a:spcPts val="1900"/>
              </a:lnSpc>
              <a:buNone/>
            </a:pPr>
            <a:r>
              <a:rPr lang="en-US" sz="1300" dirty="0">
                <a:solidFill>
                  <a:srgbClr val="C9C2BA"/>
                </a:solidFill>
                <a:latin typeface="Calibri" pitchFamily="34" charset="0"/>
                <a:ea typeface="Calibri" pitchFamily="34" charset="-122"/>
                <a:cs typeface="Calibri" pitchFamily="34" charset="-120"/>
              </a:rPr>
              <a:t>Every practical follows the institutional standard — Aim, Principle, Theory, Requirements, Procedure and Guided Method — and is submitted to faculty for evaluation. Verified practicals count towards the hands-on experience certificate.</a:t>
            </a:r>
            <a:endParaRPr lang="en-US" sz="1300" dirty="0"/>
          </a:p>
        </p:txBody>
      </p:sp>
      <p:sp>
        <p:nvSpPr>
          <p:cNvPr id="6" name="Shape 4"/>
          <p:cNvSpPr/>
          <p:nvPr/>
        </p:nvSpPr>
        <p:spPr>
          <a:xfrm>
            <a:off x="777240" y="2761488"/>
            <a:ext cx="10607040" cy="868680"/>
          </a:xfrm>
          <a:prstGeom prst="roundRect">
            <a:avLst>
              <a:gd name="adj" fmla="val 6316"/>
            </a:avLst>
          </a:prstGeom>
          <a:solidFill>
            <a:srgbClr val="241A19"/>
          </a:solidFill>
          <a:ln w="9525">
            <a:solidFill>
              <a:srgbClr val="3E2A28"/>
            </a:solidFill>
            <a:prstDash val="solid"/>
          </a:ln>
        </p:spPr>
      </p:sp>
      <p:sp>
        <p:nvSpPr>
          <p:cNvPr id="7" name="Shape 5"/>
          <p:cNvSpPr/>
          <p:nvPr/>
        </p:nvSpPr>
        <p:spPr>
          <a:xfrm>
            <a:off x="1097280" y="3003804"/>
            <a:ext cx="384048" cy="384048"/>
          </a:xfrm>
          <a:prstGeom prst="ellipse">
            <a:avLst/>
          </a:prstGeom>
          <a:solidFill>
            <a:srgbClr val="8C1515"/>
          </a:solidFill>
          <a:ln/>
        </p:spPr>
      </p:sp>
      <p:sp>
        <p:nvSpPr>
          <p:cNvPr id="8" name="Text 6"/>
          <p:cNvSpPr/>
          <p:nvPr/>
        </p:nvSpPr>
        <p:spPr>
          <a:xfrm>
            <a:off x="1097280" y="30038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664208" y="2834640"/>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2 · Unit 1 · Practical 1</a:t>
            </a:r>
            <a:endParaRPr lang="en-US" sz="1000" dirty="0"/>
          </a:p>
        </p:txBody>
      </p:sp>
      <p:sp>
        <p:nvSpPr>
          <p:cNvPr id="10" name="Text 8"/>
          <p:cNvSpPr/>
          <p:nvPr/>
        </p:nvSpPr>
        <p:spPr>
          <a:xfrm>
            <a:off x="1664208" y="3054096"/>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Digital Dispensing Using FEFO/FIFO Principles &amp; Patient Counselling</a:t>
            </a:r>
            <a:endParaRPr lang="en-US" sz="1350" dirty="0"/>
          </a:p>
        </p:txBody>
      </p:sp>
      <p:sp>
        <p:nvSpPr>
          <p:cNvPr id="11" name="Shape 9"/>
          <p:cNvSpPr/>
          <p:nvPr/>
        </p:nvSpPr>
        <p:spPr>
          <a:xfrm>
            <a:off x="777240" y="3803904"/>
            <a:ext cx="10607040" cy="868680"/>
          </a:xfrm>
          <a:prstGeom prst="roundRect">
            <a:avLst>
              <a:gd name="adj" fmla="val 6316"/>
            </a:avLst>
          </a:prstGeom>
          <a:solidFill>
            <a:srgbClr val="241A19"/>
          </a:solidFill>
          <a:ln w="9525">
            <a:solidFill>
              <a:srgbClr val="3E2A28"/>
            </a:solidFill>
            <a:prstDash val="solid"/>
          </a:ln>
        </p:spPr>
      </p:sp>
      <p:sp>
        <p:nvSpPr>
          <p:cNvPr id="12" name="Shape 10"/>
          <p:cNvSpPr/>
          <p:nvPr/>
        </p:nvSpPr>
        <p:spPr>
          <a:xfrm>
            <a:off x="1097280" y="4046220"/>
            <a:ext cx="384048" cy="384048"/>
          </a:xfrm>
          <a:prstGeom prst="ellipse">
            <a:avLst/>
          </a:prstGeom>
          <a:solidFill>
            <a:srgbClr val="8C1515"/>
          </a:solidFill>
          <a:ln/>
        </p:spPr>
      </p:sp>
      <p:sp>
        <p:nvSpPr>
          <p:cNvPr id="13" name="Text 11"/>
          <p:cNvSpPr/>
          <p:nvPr/>
        </p:nvSpPr>
        <p:spPr>
          <a:xfrm>
            <a:off x="1097280" y="40462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664208" y="3877056"/>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2 · Unit 4 · Practical 2</a:t>
            </a:r>
            <a:endParaRPr lang="en-US" sz="1000" dirty="0"/>
          </a:p>
        </p:txBody>
      </p:sp>
      <p:sp>
        <p:nvSpPr>
          <p:cNvPr id="15" name="Text 13"/>
          <p:cNvSpPr/>
          <p:nvPr/>
        </p:nvSpPr>
        <p:spPr>
          <a:xfrm>
            <a:off x="1664208" y="4096512"/>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Pharmacovigilance Reporting Desk</a:t>
            </a:r>
            <a:endParaRPr lang="en-US" sz="1350" dirty="0"/>
          </a:p>
        </p:txBody>
      </p:sp>
      <p:sp>
        <p:nvSpPr>
          <p:cNvPr id="16" name="Text 1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2 · Digital Pharmacy, EHR &amp; Telepharmacy</a:t>
            </a:r>
            <a:endParaRPr lang="en-US" sz="950" dirty="0"/>
          </a:p>
        </p:txBody>
      </p:sp>
      <p:sp>
        <p:nvSpPr>
          <p:cNvPr id="17" name="Text 1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2 · UNIT 1 · PRACTICAL 1</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Digital Dispensing Using FEFO/FIFO Principles &amp; Patient Counselling</a:t>
            </a:r>
            <a:endParaRPr lang="en-US" sz="24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accurately dispense prescribed medicines using a digital pharmacy system by selecting the correct drug on FEFO/FIFO principles, verifying product details, documenting the process and counselling the patient.</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Safe dispensing means giving the right drug, right strength, right quantity to the right patient, and rotating stock so medicines are used before they expire. FEFO (First Expiry First Out) dispenses the earliest-expiry batch first to minimise wastage; FIFO (First In First Out) is used when expiry dates are identical, dispensing the earliest-received stock. Every pack carries a batch number, manufacturing date and expiry date, linked in a digital inventory to stock levels.</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Verify patient identity and prescription validity.</a:t>
            </a:r>
            <a:endParaRPr lang="en-US" sz="1150" dirty="0"/>
          </a:p>
        </p:txBody>
      </p:sp>
      <p:sp>
        <p:nvSpPr>
          <p:cNvPr id="16" name="Shape 14"/>
          <p:cNvSpPr/>
          <p:nvPr/>
        </p:nvSpPr>
        <p:spPr>
          <a:xfrm>
            <a:off x="6263640" y="2578608"/>
            <a:ext cx="292608" cy="292608"/>
          </a:xfrm>
          <a:prstGeom prst="ellipse">
            <a:avLst/>
          </a:prstGeom>
          <a:solidFill>
            <a:srgbClr val="F2E4E4"/>
          </a:solidFill>
          <a:ln/>
        </p:spPr>
      </p:sp>
      <p:sp>
        <p:nvSpPr>
          <p:cNvPr id="17" name="Text 15"/>
          <p:cNvSpPr/>
          <p:nvPr/>
        </p:nvSpPr>
        <p:spPr>
          <a:xfrm>
            <a:off x="6263640" y="25786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6032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Locate the prescribed medicine; verify drug name, strength and dosage form.</a:t>
            </a:r>
            <a:endParaRPr lang="en-US" sz="1150" dirty="0"/>
          </a:p>
        </p:txBody>
      </p:sp>
      <p:sp>
        <p:nvSpPr>
          <p:cNvPr id="19" name="Shape 17"/>
          <p:cNvSpPr/>
          <p:nvPr/>
        </p:nvSpPr>
        <p:spPr>
          <a:xfrm>
            <a:off x="6263640" y="3218688"/>
            <a:ext cx="292608" cy="292608"/>
          </a:xfrm>
          <a:prstGeom prst="ellipse">
            <a:avLst/>
          </a:prstGeom>
          <a:solidFill>
            <a:srgbClr val="F2E4E4"/>
          </a:solidFill>
          <a:ln/>
        </p:spPr>
      </p:sp>
      <p:sp>
        <p:nvSpPr>
          <p:cNvPr id="20" name="Text 18"/>
          <p:cNvSpPr/>
          <p:nvPr/>
        </p:nvSpPr>
        <p:spPr>
          <a:xfrm>
            <a:off x="6263640" y="321868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0040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Check batch number, manufacturing and expiry dates, and stock availability.</a:t>
            </a:r>
            <a:endParaRPr lang="en-US" sz="1150" dirty="0"/>
          </a:p>
        </p:txBody>
      </p:sp>
      <p:sp>
        <p:nvSpPr>
          <p:cNvPr id="22" name="Shape 20"/>
          <p:cNvSpPr/>
          <p:nvPr/>
        </p:nvSpPr>
        <p:spPr>
          <a:xfrm>
            <a:off x="6263640" y="3858768"/>
            <a:ext cx="292608" cy="292608"/>
          </a:xfrm>
          <a:prstGeom prst="ellipse">
            <a:avLst/>
          </a:prstGeom>
          <a:solidFill>
            <a:srgbClr val="F2E4E4"/>
          </a:solidFill>
          <a:ln/>
        </p:spPr>
      </p:sp>
      <p:sp>
        <p:nvSpPr>
          <p:cNvPr id="23" name="Text 21"/>
          <p:cNvSpPr/>
          <p:nvPr/>
        </p:nvSpPr>
        <p:spPr>
          <a:xfrm>
            <a:off x="6263640" y="385876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84048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Apply FEFO (earliest expiry first); apply FIFO if expiry dates are identical.</a:t>
            </a:r>
            <a:endParaRPr lang="en-US" sz="1150" dirty="0"/>
          </a:p>
        </p:txBody>
      </p:sp>
      <p:sp>
        <p:nvSpPr>
          <p:cNvPr id="25" name="Shape 23"/>
          <p:cNvSpPr/>
          <p:nvPr/>
        </p:nvSpPr>
        <p:spPr>
          <a:xfrm>
            <a:off x="6263640" y="4498848"/>
            <a:ext cx="292608" cy="292608"/>
          </a:xfrm>
          <a:prstGeom prst="ellipse">
            <a:avLst/>
          </a:prstGeom>
          <a:solidFill>
            <a:srgbClr val="F2E4E4"/>
          </a:solidFill>
          <a:ln/>
        </p:spPr>
      </p:sp>
      <p:sp>
        <p:nvSpPr>
          <p:cNvPr id="26" name="Text 24"/>
          <p:cNvSpPr/>
          <p:nvPr/>
        </p:nvSpPr>
        <p:spPr>
          <a:xfrm>
            <a:off x="6263640" y="449884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48056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Dispense the correct quantity; if a batch is short, complete from the next FEFO batch and record both.</a:t>
            </a:r>
            <a:endParaRPr lang="en-US" sz="1150" dirty="0"/>
          </a:p>
        </p:txBody>
      </p:sp>
      <p:sp>
        <p:nvSpPr>
          <p:cNvPr id="28" name="Shape 26"/>
          <p:cNvSpPr/>
          <p:nvPr/>
        </p:nvSpPr>
        <p:spPr>
          <a:xfrm>
            <a:off x="6263640" y="5138928"/>
            <a:ext cx="292608" cy="292608"/>
          </a:xfrm>
          <a:prstGeom prst="ellipse">
            <a:avLst/>
          </a:prstGeom>
          <a:solidFill>
            <a:srgbClr val="F2E4E4"/>
          </a:solidFill>
          <a:ln/>
        </p:spPr>
      </p:sp>
      <p:sp>
        <p:nvSpPr>
          <p:cNvPr id="29" name="Text 27"/>
          <p:cNvSpPr/>
          <p:nvPr/>
        </p:nvSpPr>
        <p:spPr>
          <a:xfrm>
            <a:off x="6263640" y="51389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1206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Generate the dispensing label and update the inventory and medication record.</a:t>
            </a:r>
            <a:endParaRPr lang="en-US" sz="1150" dirty="0"/>
          </a:p>
        </p:txBody>
      </p:sp>
      <p:sp>
        <p:nvSpPr>
          <p:cNvPr id="31" name="Text 29"/>
          <p:cNvSpPr/>
          <p:nvPr/>
        </p:nvSpPr>
        <p:spPr>
          <a:xfrm>
            <a:off x="6675120" y="5815584"/>
            <a:ext cx="5010912" cy="274320"/>
          </a:xfrm>
          <a:prstGeom prst="rect">
            <a:avLst/>
          </a:prstGeom>
          <a:noFill/>
          <a:ln/>
        </p:spPr>
        <p:txBody>
          <a:bodyPr wrap="square" lIns="0" tIns="0" rIns="0" bIns="0"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+ 1 further steps — see the practical brief on ALIZON OS</a:t>
            </a:r>
            <a:endParaRPr lang="en-US" sz="105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2 · UNIT 4 · PRACTICAL 2</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Pharmacovigilance Reporting Desk</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work a suspected adverse drug reaction from first report to submitted case — taking the history from the patient, classifying seriousness and expectedness, scoring causality with the Naranjo algorithm, and filing a valid report inside the regulatory clock.</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Pharmacovigilance is defined by the WHO as the detection, assessment, understanding and prevention of adverse effects — and the last word is the point. Pre-marketing trials are far too small and too short to detect reactions occurring in one patient in several thousand, so post-marketing spontaneous reporting is the principal mechanism by which rare harms are found. The Naranjo algorithm converts causality from an assertion into a score, using ten items covering previous reports, temporal relationship, dechallenge, rechallenge…</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Interview the patient. Establish onset and timing, recent medicines, the extent of involvement, any prodrome, previous…</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Classify seriousness against the regulatory outcome criteria, independently of causality.</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Determine expectedness by comparing the reaction with the approved product information.</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Score causality item by item with Naranjo, distinguishing carefully between no and unknown.</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Complete the report form, ensuring all four minimum elements are present, and file within the clock.</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Take the clinical action the case requires — record the allergy, warn about cross-reacting agents, and arrange urgent…</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2 · Digital Pharmacy, EHR &amp; Telepharmacy</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692640" y="3840480"/>
            <a:ext cx="4206240" cy="4206240"/>
          </a:xfrm>
          <a:prstGeom prst="ellipse">
            <a:avLst/>
          </a:prstGeom>
          <a:solidFill>
            <a:srgbClr val="8C1515">
              <a:alpha val="26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HOW THIS MODULE IS ASSESSED</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Completing Module 2</a:t>
            </a:r>
            <a:endParaRPr lang="en-US" sz="3400" dirty="0"/>
          </a:p>
        </p:txBody>
      </p:sp>
      <p:sp>
        <p:nvSpPr>
          <p:cNvPr id="5" name="Shape 3"/>
          <p:cNvSpPr/>
          <p:nvPr/>
        </p:nvSpPr>
        <p:spPr>
          <a:xfrm>
            <a:off x="777240" y="2048256"/>
            <a:ext cx="10607040" cy="822960"/>
          </a:xfrm>
          <a:prstGeom prst="roundRect">
            <a:avLst>
              <a:gd name="adj" fmla="val 6667"/>
            </a:avLst>
          </a:prstGeom>
          <a:solidFill>
            <a:srgbClr val="241A19"/>
          </a:solidFill>
          <a:ln w="9525">
            <a:solidFill>
              <a:srgbClr val="3E2A28"/>
            </a:solidFill>
            <a:prstDash val="solid"/>
          </a:ln>
        </p:spPr>
      </p:sp>
      <p:sp>
        <p:nvSpPr>
          <p:cNvPr id="6" name="Text 4"/>
          <p:cNvSpPr/>
          <p:nvPr/>
        </p:nvSpPr>
        <p:spPr>
          <a:xfrm>
            <a:off x="1143000" y="2048256"/>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Practicals</a:t>
            </a:r>
            <a:endParaRPr lang="en-US" sz="1300" dirty="0"/>
          </a:p>
        </p:txBody>
      </p:sp>
      <p:sp>
        <p:nvSpPr>
          <p:cNvPr id="7" name="Text 5"/>
          <p:cNvSpPr/>
          <p:nvPr/>
        </p:nvSpPr>
        <p:spPr>
          <a:xfrm>
            <a:off x="3200400" y="2048256"/>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Complete all 2 practicals on ALIZON OS. Every submission is evaluated by faculty.</a:t>
            </a:r>
            <a:endParaRPr lang="en-US" sz="1250" dirty="0"/>
          </a:p>
        </p:txBody>
      </p:sp>
      <p:sp>
        <p:nvSpPr>
          <p:cNvPr id="8" name="Shape 6"/>
          <p:cNvSpPr/>
          <p:nvPr/>
        </p:nvSpPr>
        <p:spPr>
          <a:xfrm>
            <a:off x="777240" y="3017520"/>
            <a:ext cx="10607040" cy="822960"/>
          </a:xfrm>
          <a:prstGeom prst="roundRect">
            <a:avLst>
              <a:gd name="adj" fmla="val 6667"/>
            </a:avLst>
          </a:prstGeom>
          <a:solidFill>
            <a:srgbClr val="241A19"/>
          </a:solidFill>
          <a:ln w="9525">
            <a:solidFill>
              <a:srgbClr val="3E2A28"/>
            </a:solidFill>
            <a:prstDash val="solid"/>
          </a:ln>
        </p:spPr>
      </p:sp>
      <p:sp>
        <p:nvSpPr>
          <p:cNvPr id="9" name="Text 7"/>
          <p:cNvSpPr/>
          <p:nvPr/>
        </p:nvSpPr>
        <p:spPr>
          <a:xfrm>
            <a:off x="1143000" y="3017520"/>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Attendance</a:t>
            </a:r>
            <a:endParaRPr lang="en-US" sz="1300" dirty="0"/>
          </a:p>
        </p:txBody>
      </p:sp>
      <p:sp>
        <p:nvSpPr>
          <p:cNvPr id="10" name="Text 8"/>
          <p:cNvSpPr/>
          <p:nvPr/>
        </p:nvSpPr>
        <p:spPr>
          <a:xfrm>
            <a:off x="3200400" y="3017520"/>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Attendance is recorded automatically from submitted work — signing in alone does not count.</a:t>
            </a:r>
            <a:endParaRPr lang="en-US" sz="1250" dirty="0"/>
          </a:p>
        </p:txBody>
      </p:sp>
      <p:sp>
        <p:nvSpPr>
          <p:cNvPr id="11" name="Shape 9"/>
          <p:cNvSpPr/>
          <p:nvPr/>
        </p:nvSpPr>
        <p:spPr>
          <a:xfrm>
            <a:off x="777240" y="3986784"/>
            <a:ext cx="10607040" cy="822960"/>
          </a:xfrm>
          <a:prstGeom prst="roundRect">
            <a:avLst>
              <a:gd name="adj" fmla="val 6667"/>
            </a:avLst>
          </a:prstGeom>
          <a:solidFill>
            <a:srgbClr val="241A19"/>
          </a:solidFill>
          <a:ln w="9525">
            <a:solidFill>
              <a:srgbClr val="3E2A28"/>
            </a:solidFill>
            <a:prstDash val="solid"/>
          </a:ln>
        </p:spPr>
      </p:sp>
      <p:sp>
        <p:nvSpPr>
          <p:cNvPr id="12" name="Text 10"/>
          <p:cNvSpPr/>
          <p:nvPr/>
        </p:nvSpPr>
        <p:spPr>
          <a:xfrm>
            <a:off x="1143000" y="3986784"/>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Examination</a:t>
            </a:r>
            <a:endParaRPr lang="en-US" sz="1300" dirty="0"/>
          </a:p>
        </p:txBody>
      </p:sp>
      <p:sp>
        <p:nvSpPr>
          <p:cNvPr id="13" name="Text 11"/>
          <p:cNvSpPr/>
          <p:nvPr/>
        </p:nvSpPr>
        <p:spPr>
          <a:xfrm>
            <a:off x="3200400" y="3986784"/>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100 multiple-choice questions across 4 units. Practise on the mock paper before the internal examination.</a:t>
            </a:r>
            <a:endParaRPr lang="en-US" sz="1250" dirty="0"/>
          </a:p>
        </p:txBody>
      </p:sp>
      <p:sp>
        <p:nvSpPr>
          <p:cNvPr id="14" name="Shape 12"/>
          <p:cNvSpPr/>
          <p:nvPr/>
        </p:nvSpPr>
        <p:spPr>
          <a:xfrm>
            <a:off x="777240" y="4956048"/>
            <a:ext cx="10607040" cy="822960"/>
          </a:xfrm>
          <a:prstGeom prst="roundRect">
            <a:avLst>
              <a:gd name="adj" fmla="val 6667"/>
            </a:avLst>
          </a:prstGeom>
          <a:solidFill>
            <a:srgbClr val="241A19"/>
          </a:solidFill>
          <a:ln w="9525">
            <a:solidFill>
              <a:srgbClr val="3E2A28"/>
            </a:solidFill>
            <a:prstDash val="solid"/>
          </a:ln>
        </p:spPr>
      </p:sp>
      <p:sp>
        <p:nvSpPr>
          <p:cNvPr id="15" name="Text 13"/>
          <p:cNvSpPr/>
          <p:nvPr/>
        </p:nvSpPr>
        <p:spPr>
          <a:xfrm>
            <a:off x="1143000" y="4956048"/>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Certificate</a:t>
            </a:r>
            <a:endParaRPr lang="en-US" sz="1300" dirty="0"/>
          </a:p>
        </p:txBody>
      </p:sp>
      <p:sp>
        <p:nvSpPr>
          <p:cNvPr id="16" name="Text 14"/>
          <p:cNvSpPr/>
          <p:nvPr/>
        </p:nvSpPr>
        <p:spPr>
          <a:xfrm>
            <a:off x="3200400" y="4956048"/>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Faculty-verified practicals earn a Certificate of Practical Experience, with the hours set by the institution.</a:t>
            </a:r>
            <a:endParaRPr lang="en-US" sz="1250" dirty="0"/>
          </a:p>
        </p:txBody>
      </p:sp>
      <p:sp>
        <p:nvSpPr>
          <p:cNvPr id="17" name="Text 15"/>
          <p:cNvSpPr/>
          <p:nvPr/>
        </p:nvSpPr>
        <p:spPr>
          <a:xfrm>
            <a:off x="777240" y="6053328"/>
            <a:ext cx="10607040" cy="310896"/>
          </a:xfrm>
          <a:prstGeom prst="rect">
            <a:avLst/>
          </a:prstGeom>
          <a:noFill/>
          <a:ln/>
        </p:spPr>
        <p:txBody>
          <a:bodyPr wrap="square" lIns="0" tIns="0" rIns="0" bIns="0" rtlCol="0" anchor="ctr"/>
          <a:lstStyle/>
          <a:p>
            <a:pPr indent="0" marL="0">
              <a:buNone/>
            </a:pPr>
            <a:r>
              <a:rPr lang="en-US" sz="1150" dirty="0">
                <a:solidFill>
                  <a:srgbClr val="9A7B3F"/>
                </a:solidFill>
                <a:latin typeface="Calibri" pitchFamily="34" charset="0"/>
                <a:ea typeface="Calibri" pitchFamily="34" charset="-122"/>
                <a:cs typeface="Calibri" pitchFamily="34" charset="-120"/>
              </a:rPr>
              <a:t>Study material, practicals, mock papers and results · alizon.in      Institution · www.alizongov.com</a:t>
            </a:r>
            <a:endParaRPr lang="en-US" sz="1150" dirty="0"/>
          </a:p>
        </p:txBody>
      </p:sp>
      <p:sp>
        <p:nvSpPr>
          <p:cNvPr id="18" name="Text 1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2 · Digital Pharmacy, EHR &amp; Telepharmacy</a:t>
            </a:r>
            <a:endParaRPr lang="en-US" sz="950" dirty="0"/>
          </a:p>
        </p:txBody>
      </p:sp>
      <p:sp>
        <p:nvSpPr>
          <p:cNvPr id="19" name="Text 1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Alizon School of Medical and Digital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 Digital Pharmacy, EHR &amp; Telepharmacy</dc:title>
  <dc:subject>Certificate Course in Digital Health &amp; Artificial Intelligence for Pharmacy</dc:subject>
  <dc:creator>Alizon School of Medical &amp; Digital Intelligence</dc:creator>
  <cp:lastModifiedBy>Alizon School of Medical &amp; Digital Intelligence</cp:lastModifiedBy>
  <cp:revision>1</cp:revision>
  <dcterms:created xsi:type="dcterms:W3CDTF">2026-08-10T05:52:32Z</dcterms:created>
  <dcterms:modified xsi:type="dcterms:W3CDTF">2026-08-10T05:52:32Z</dcterms:modified>
</cp:coreProperties>
</file>