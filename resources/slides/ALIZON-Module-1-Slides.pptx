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1</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AI Foundations &amp; Digital Systems for Pharmacy Practice</a:t>
            </a:r>
            <a:endParaRPr lang="en-US" sz="34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A Practice-Based Introduction</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2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Foundations of Artificial Intelligence in Pharmacy</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Introduction to Artificial Intelligence · Machine Learning and Deep Learning · Role of AI in Healthcare and Pharmaceutical…</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Digital Pharmacy &amp; Information Systems</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Pharmacy Information Systems (PIS) and Hospital Information Systems (HIS) · Based on Function · Comparison of PIS and HIS ·…</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Ethics, Regulation &amp; Data Protection in Digital Pharmacy</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PCI Regulations and Professional Responsibilities · Patient Safety and Medication Error Prevention · Strategies for Error…</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Computer Applications &amp; Digital Documentation</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Electronic Prescriptions and Digital Medication Orders · Advantages of E-Prescriptions · Electronic Patient Records and…</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2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Data Breach Response Simulation · RxDetect — Digital Drug Information &amp; Formulary Investigation</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Foundations of Artificial Intelligence in Pharmacy</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Introduction to Artificial Intelligence</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Digital Pharmacy &amp; Information Systems</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Evaluate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Pharmacy Information Systems (PIS) and Hospital Information Systems…</a:t>
            </a:r>
            <a:endParaRPr lang="en-US" sz="1250" dirty="0"/>
          </a:p>
        </p:txBody>
      </p:sp>
      <p:sp>
        <p:nvSpPr>
          <p:cNvPr id="22" name="Shape 20"/>
          <p:cNvSpPr/>
          <p:nvPr/>
        </p:nvSpPr>
        <p:spPr>
          <a:xfrm>
            <a:off x="502920" y="4334256"/>
            <a:ext cx="310896" cy="310896"/>
          </a:xfrm>
          <a:prstGeom prst="ellipse">
            <a:avLst/>
          </a:prstGeom>
          <a:solidFill>
            <a:srgbClr val="F2E4E4"/>
          </a:solidFill>
          <a:ln/>
        </p:spPr>
      </p:sp>
      <p:sp>
        <p:nvSpPr>
          <p:cNvPr id="23" name="Text 21"/>
          <p:cNvSpPr/>
          <p:nvPr/>
        </p:nvSpPr>
        <p:spPr>
          <a:xfrm>
            <a:off x="50292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25" name="Text 23"/>
          <p:cNvSpPr/>
          <p:nvPr/>
        </p:nvSpPr>
        <p:spPr>
          <a:xfrm>
            <a:off x="96012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Ethics, Regulation &amp; Data Protection in Digital Pharmacy</a:t>
            </a:r>
            <a:endParaRPr lang="en-US" sz="1250" dirty="0"/>
          </a:p>
        </p:txBody>
      </p:sp>
      <p:sp>
        <p:nvSpPr>
          <p:cNvPr id="26" name="Shape 24"/>
          <p:cNvSpPr/>
          <p:nvPr/>
        </p:nvSpPr>
        <p:spPr>
          <a:xfrm>
            <a:off x="6263640" y="4334256"/>
            <a:ext cx="310896" cy="310896"/>
          </a:xfrm>
          <a:prstGeom prst="ellipse">
            <a:avLst/>
          </a:prstGeom>
          <a:solidFill>
            <a:srgbClr val="F2E4E4"/>
          </a:solidFill>
          <a:ln/>
        </p:spPr>
      </p:sp>
      <p:sp>
        <p:nvSpPr>
          <p:cNvPr id="27" name="Text 25"/>
          <p:cNvSpPr/>
          <p:nvPr/>
        </p:nvSpPr>
        <p:spPr>
          <a:xfrm>
            <a:off x="626364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Document</a:t>
            </a:r>
            <a:endParaRPr lang="en-US" sz="1400" dirty="0"/>
          </a:p>
        </p:txBody>
      </p:sp>
      <p:sp>
        <p:nvSpPr>
          <p:cNvPr id="29" name="Text 27"/>
          <p:cNvSpPr/>
          <p:nvPr/>
        </p:nvSpPr>
        <p:spPr>
          <a:xfrm>
            <a:off x="672084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PCI Regulations and Professional Responsibilities</a:t>
            </a:r>
            <a:endParaRPr lang="en-US" sz="1250" dirty="0"/>
          </a:p>
        </p:txBody>
      </p:sp>
      <p:sp>
        <p:nvSpPr>
          <p:cNvPr id="30" name="Shape 28"/>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31" name="Text 29"/>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2 faculty-evaluated practicals  +  100-question internal examination (4 units × 25)</a:t>
            </a:r>
            <a:endParaRPr lang="en-US" sz="120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FOUNDATIONS OF ARTIFICIAL INTELLIGENCE IN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 (AI)</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100"/>
              </a:lnSpc>
              <a:buNone/>
            </a:pPr>
            <a:r>
              <a:rPr lang="en-US" sz="1400" dirty="0">
                <a:solidFill>
                  <a:srgbClr val="26221F"/>
                </a:solidFill>
                <a:latin typeface="Calibri" pitchFamily="34" charset="0"/>
                <a:ea typeface="Calibri" pitchFamily="34" charset="-122"/>
                <a:cs typeface="Calibri" pitchFamily="34" charset="-120"/>
              </a:rPr>
              <a:t>Artificial Intelligence (AI) is defined as the ability of machines or computer systems to perform tasks that normally require human intelligence such as learning, reasoning, decision-making, and problem-solving. In the modern healthcare environment, AI has become a powerful tool that enhances the efficiency and accuracy of medical and pharmaceutical practices. The rapid growth of digital technologies has enabled AI to process large volumes of healthcare data, making it easier for professionals to deliver precise and patient-centered care.</a:t>
            </a:r>
            <a:endParaRPr lang="en-US" sz="140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AI systems function by using algorithms, data, and computational models to identify patterns and generate meaningful outputs that support decision-making.</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FOUNDATIONS OF ARTIFICIAL INTELLIGENCE IN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Important point</a:t>
            </a:r>
            <a:endParaRPr lang="en-US" sz="2900" dirty="0"/>
          </a:p>
        </p:txBody>
      </p:sp>
      <p:sp>
        <p:nvSpPr>
          <p:cNvPr id="6" name="Shape 4"/>
          <p:cNvSpPr/>
          <p:nvPr/>
        </p:nvSpPr>
        <p:spPr>
          <a:xfrm>
            <a:off x="502920" y="1554480"/>
            <a:ext cx="11183112" cy="2176272"/>
          </a:xfrm>
          <a:prstGeom prst="roundRect">
            <a:avLst>
              <a:gd name="adj" fmla="val 2521"/>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NOTE</a:t>
            </a:r>
            <a:endParaRPr lang="en-US" sz="1050" dirty="0"/>
          </a:p>
        </p:txBody>
      </p:sp>
      <p:sp>
        <p:nvSpPr>
          <p:cNvPr id="8" name="Text 6"/>
          <p:cNvSpPr/>
          <p:nvPr/>
        </p:nvSpPr>
        <p:spPr>
          <a:xfrm>
            <a:off x="914400" y="2212848"/>
            <a:ext cx="10332720" cy="1335024"/>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An important point is that machine learning helps in predictive analysis and clinical decision support. Deep Learning (DL) is a more advanced subset of Machine Learning that uses artificial neural networks inspired by the human brain. These networks consist of multiple layers that process complex and high-dimensional data. Deep Learning is particularly useful in medical imaging, pattern recognition, and natural language processing. For example, it is used to analyze radiological images, detect abnormalities, and interpret clinical data. A major…</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FOUNDATIONS OF ARTIFICIAL INTELLIGENCE IN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400"/>
              </a:lnSpc>
              <a:buNone/>
            </a:pPr>
            <a:r>
              <a:rPr lang="en-US" sz="1550" dirty="0">
                <a:solidFill>
                  <a:srgbClr val="26221F"/>
                </a:solidFill>
                <a:latin typeface="Calibri" pitchFamily="34" charset="0"/>
                <a:ea typeface="Calibri" pitchFamily="34" charset="-122"/>
                <a:cs typeface="Calibri" pitchFamily="34" charset="-120"/>
              </a:rPr>
              <a:t>Artificial Intelligence plays a transformative role in healthcare and pharmaceutical sciences by improving diagnosis, treatment, and patient management. One of the primary roles of AI is in early disease detection, where algorithms analyze patient data to identify potential health conditions before symptoms become severe. AI also supports personalized medicine by tailoring treatments based on individual patient characteristics such as genetics, lifestyle, and medical history. This leads to more effective and targeted therapies.</a:t>
            </a:r>
            <a:endParaRPr lang="en-US" sz="15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FOUNDATIONS OF ARTIFICIAL INTELLIGENCE IN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Artificial Intelligence (2)</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Artificial Intelligence has significantly revolutionized drug discovery and development processes. Traditional drug discovery is time-consuming, expensive, and involves a high risk of failure. AI accelerates this process by analyzing large datasets of chemical compounds, biological targets, and clinical trial data. It helps in identifying potential drug candidates and predicting their effectiveness and safety.</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An important advantage is that AI reduces time and cost in drug development.</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FOUNDATIONS OF ARTIFICIAL INTELLIGENCE IN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Overview of AI in Pharmacovigilance and Medication Safety</a:t>
            </a:r>
            <a:endParaRPr lang="en-US" sz="24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AI also contributes to medication safety by identifying errors such as incorrect dosing, drug interactions, and contraindications. It provides real-time alerts to healthcare professionals, allowing them to take immediate action and prevent harm to patients. AI systems can continuously monitor patient data and provide recommendations for safer medication use.</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An important point is that AI improves patient safety through continuous monitoring.</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FOUNDATIONS OF ARTIFICIAL INTELLIGENCE IN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Foundations of Artificial Intelligence in Pharmacy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how Artificial Intelligence can be used for drug information retrieval and…</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AI application in pharmacy – Drug Information System</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OpenAI tool (AlizonAi), basic drug knowledge.</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open the AI platform and enter the name of a commonly used drug. They ask queries…</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Example 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Enter a prompt such as "Explain the uses, dosage, and side effects of Metformin." Observe and…</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AI provides quick and structured drug-related information. It helps in understanding drug…</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DIGITAL PHARMACY &amp; INFORMATION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Pharmacy Information Systems (PIS)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Pharmacy Information Systems (PIS) are specialized software systems designed to manage pharmacy-related activities such as drug dispensing, inventory control, prescription validation, and medication records. These systems help pharmacists in maintaining accurate drug information, tracking stock levels, and ensuring safe dispensing practices.</a:t>
            </a:r>
            <a:endParaRPr lang="en-US" sz="15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PIS also supports clinical decision-making by providing alerts for drug interactions, allergies, and dosage errors.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DIGITAL PHARMACY &amp; INFORMATION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Comparison of PIS and HIS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288950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p>
        </p:txBody>
      </p:sp>
      <p:sp>
        <p:nvSpPr>
          <p:cNvPr id="8" name="Text 6"/>
          <p:cNvSpPr/>
          <p:nvPr/>
        </p:nvSpPr>
        <p:spPr>
          <a:xfrm>
            <a:off x="3886200" y="1554480"/>
            <a:ext cx="3675888"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Pharmacy Information System (PIS)</a:t>
            </a:r>
            <a:endParaRPr lang="en-US" sz="1150" dirty="0"/>
          </a:p>
        </p:txBody>
      </p:sp>
      <p:sp>
        <p:nvSpPr>
          <p:cNvPr id="9" name="Text 7"/>
          <p:cNvSpPr/>
          <p:nvPr/>
        </p:nvSpPr>
        <p:spPr>
          <a:xfrm>
            <a:off x="7872984" y="1554480"/>
            <a:ext cx="3685032"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Hospital Information System (HIS)</a:t>
            </a:r>
            <a:endParaRPr lang="en-US" sz="1150" dirty="0"/>
          </a:p>
        </p:txBody>
      </p:sp>
      <p:sp>
        <p:nvSpPr>
          <p:cNvPr id="10" name="Shape 8"/>
          <p:cNvSpPr/>
          <p:nvPr/>
        </p:nvSpPr>
        <p:spPr>
          <a:xfrm>
            <a:off x="502920" y="2066544"/>
            <a:ext cx="11183112" cy="658368"/>
          </a:xfrm>
          <a:prstGeom prst="rect">
            <a:avLst/>
          </a:prstGeom>
          <a:solidFill>
            <a:srgbClr val="FFFFFF"/>
          </a:solidFill>
          <a:ln w="9525">
            <a:solidFill>
              <a:srgbClr val="DDD5CE"/>
            </a:solidFill>
            <a:prstDash val="solid"/>
          </a:ln>
        </p:spPr>
      </p:sp>
      <p:sp>
        <p:nvSpPr>
          <p:cNvPr id="11" name="Text 9"/>
          <p:cNvSpPr/>
          <p:nvPr/>
        </p:nvSpPr>
        <p:spPr>
          <a:xfrm>
            <a:off x="685800" y="2066544"/>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Scope</a:t>
            </a:r>
            <a:endParaRPr lang="en-US" sz="1150" dirty="0"/>
          </a:p>
        </p:txBody>
      </p:sp>
      <p:sp>
        <p:nvSpPr>
          <p:cNvPr id="12" name="Text 10"/>
          <p:cNvSpPr/>
          <p:nvPr/>
        </p:nvSpPr>
        <p:spPr>
          <a:xfrm>
            <a:off x="3886200" y="2066544"/>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Pharmacy-specific</a:t>
            </a:r>
            <a:endParaRPr lang="en-US" sz="1150" dirty="0"/>
          </a:p>
        </p:txBody>
      </p:sp>
      <p:sp>
        <p:nvSpPr>
          <p:cNvPr id="13" name="Text 11"/>
          <p:cNvSpPr/>
          <p:nvPr/>
        </p:nvSpPr>
        <p:spPr>
          <a:xfrm>
            <a:off x="7872984" y="2066544"/>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Entire hospital</a:t>
            </a:r>
            <a:endParaRPr lang="en-US" sz="1150" dirty="0"/>
          </a:p>
        </p:txBody>
      </p:sp>
      <p:sp>
        <p:nvSpPr>
          <p:cNvPr id="14" name="Shape 12"/>
          <p:cNvSpPr/>
          <p:nvPr/>
        </p:nvSpPr>
        <p:spPr>
          <a:xfrm>
            <a:off x="502920" y="2724912"/>
            <a:ext cx="11183112" cy="658368"/>
          </a:xfrm>
          <a:prstGeom prst="rect">
            <a:avLst/>
          </a:prstGeom>
          <a:solidFill>
            <a:srgbClr val="FAF8F6"/>
          </a:solidFill>
          <a:ln w="9525">
            <a:solidFill>
              <a:srgbClr val="DDD5CE"/>
            </a:solidFill>
            <a:prstDash val="solid"/>
          </a:ln>
        </p:spPr>
      </p:sp>
      <p:sp>
        <p:nvSpPr>
          <p:cNvPr id="15" name="Text 13"/>
          <p:cNvSpPr/>
          <p:nvPr/>
        </p:nvSpPr>
        <p:spPr>
          <a:xfrm>
            <a:off x="685800" y="2724912"/>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Function</a:t>
            </a:r>
            <a:endParaRPr lang="en-US" sz="1150" dirty="0"/>
          </a:p>
        </p:txBody>
      </p:sp>
      <p:sp>
        <p:nvSpPr>
          <p:cNvPr id="16" name="Text 14"/>
          <p:cNvSpPr/>
          <p:nvPr/>
        </p:nvSpPr>
        <p:spPr>
          <a:xfrm>
            <a:off x="3886200" y="2724912"/>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Drug dispensing, inventory</a:t>
            </a:r>
            <a:endParaRPr lang="en-US" sz="1150" dirty="0"/>
          </a:p>
        </p:txBody>
      </p:sp>
      <p:sp>
        <p:nvSpPr>
          <p:cNvPr id="17" name="Text 15"/>
          <p:cNvSpPr/>
          <p:nvPr/>
        </p:nvSpPr>
        <p:spPr>
          <a:xfrm>
            <a:off x="7872984" y="2724912"/>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Patient records, billing, labs</a:t>
            </a:r>
            <a:endParaRPr lang="en-US" sz="1150" dirty="0"/>
          </a:p>
        </p:txBody>
      </p:sp>
      <p:sp>
        <p:nvSpPr>
          <p:cNvPr id="18" name="Shape 16"/>
          <p:cNvSpPr/>
          <p:nvPr/>
        </p:nvSpPr>
        <p:spPr>
          <a:xfrm>
            <a:off x="502920" y="3383280"/>
            <a:ext cx="11183112" cy="658368"/>
          </a:xfrm>
          <a:prstGeom prst="rect">
            <a:avLst/>
          </a:prstGeom>
          <a:solidFill>
            <a:srgbClr val="FFFFFF"/>
          </a:solidFill>
          <a:ln w="9525">
            <a:solidFill>
              <a:srgbClr val="DDD5CE"/>
            </a:solidFill>
            <a:prstDash val="solid"/>
          </a:ln>
        </p:spPr>
      </p:sp>
      <p:sp>
        <p:nvSpPr>
          <p:cNvPr id="19" name="Text 17"/>
          <p:cNvSpPr/>
          <p:nvPr/>
        </p:nvSpPr>
        <p:spPr>
          <a:xfrm>
            <a:off x="685800" y="3383280"/>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Users</a:t>
            </a:r>
            <a:endParaRPr lang="en-US" sz="1150" dirty="0"/>
          </a:p>
        </p:txBody>
      </p:sp>
      <p:sp>
        <p:nvSpPr>
          <p:cNvPr id="20" name="Text 18"/>
          <p:cNvSpPr/>
          <p:nvPr/>
        </p:nvSpPr>
        <p:spPr>
          <a:xfrm>
            <a:off x="3886200" y="3383280"/>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Pharmacists</a:t>
            </a:r>
            <a:endParaRPr lang="en-US" sz="1150" dirty="0"/>
          </a:p>
        </p:txBody>
      </p:sp>
      <p:sp>
        <p:nvSpPr>
          <p:cNvPr id="21" name="Text 19"/>
          <p:cNvSpPr/>
          <p:nvPr/>
        </p:nvSpPr>
        <p:spPr>
          <a:xfrm>
            <a:off x="7872984" y="3383280"/>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All healthcare professionals</a:t>
            </a:r>
            <a:endParaRPr lang="en-US" sz="1150" dirty="0"/>
          </a:p>
        </p:txBody>
      </p:sp>
      <p:sp>
        <p:nvSpPr>
          <p:cNvPr id="22" name="Shape 20"/>
          <p:cNvSpPr/>
          <p:nvPr/>
        </p:nvSpPr>
        <p:spPr>
          <a:xfrm>
            <a:off x="502920" y="4041648"/>
            <a:ext cx="11183112" cy="658368"/>
          </a:xfrm>
          <a:prstGeom prst="rect">
            <a:avLst/>
          </a:prstGeom>
          <a:solidFill>
            <a:srgbClr val="FAF8F6"/>
          </a:solidFill>
          <a:ln w="9525">
            <a:solidFill>
              <a:srgbClr val="DDD5CE"/>
            </a:solidFill>
            <a:prstDash val="solid"/>
          </a:ln>
        </p:spPr>
      </p:sp>
      <p:sp>
        <p:nvSpPr>
          <p:cNvPr id="23" name="Text 21"/>
          <p:cNvSpPr/>
          <p:nvPr/>
        </p:nvSpPr>
        <p:spPr>
          <a:xfrm>
            <a:off x="685800" y="4041648"/>
            <a:ext cx="288950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Integration</a:t>
            </a:r>
            <a:endParaRPr lang="en-US" sz="1150" dirty="0"/>
          </a:p>
        </p:txBody>
      </p:sp>
      <p:sp>
        <p:nvSpPr>
          <p:cNvPr id="24" name="Text 22"/>
          <p:cNvSpPr/>
          <p:nvPr/>
        </p:nvSpPr>
        <p:spPr>
          <a:xfrm>
            <a:off x="3886200" y="4041648"/>
            <a:ext cx="3675888"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May be standalone or integrated</a:t>
            </a:r>
            <a:endParaRPr lang="en-US" sz="1150" dirty="0"/>
          </a:p>
        </p:txBody>
      </p:sp>
      <p:sp>
        <p:nvSpPr>
          <p:cNvPr id="25" name="Text 23"/>
          <p:cNvSpPr/>
          <p:nvPr/>
        </p:nvSpPr>
        <p:spPr>
          <a:xfrm>
            <a:off x="7872984" y="4041648"/>
            <a:ext cx="3685032"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Fully integrated system</a:t>
            </a:r>
            <a:endParaRPr lang="en-US" sz="1150" dirty="0"/>
          </a:p>
        </p:txBody>
      </p:sp>
      <p:sp>
        <p:nvSpPr>
          <p:cNvPr id="26" name="Text 2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27" name="Text 2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DIGITAL PHARMACY &amp; INFORMATION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Benefits of EHR Integration</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Benefit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Improved Patient Safety</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Reduces medication errors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Better Communication</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Connects healthcare professionals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Real-Time Access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Provides updated patient data</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Efficient Workflow</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Reduces duplication of work</a:t>
            </a:r>
            <a:endParaRPr lang="en-US" sz="1150" dirty="0"/>
          </a:p>
        </p:txBody>
      </p:sp>
      <p:sp>
        <p:nvSpPr>
          <p:cNvPr id="21" name="Text 1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22" name="Text 2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DIGITAL PHARMACY &amp; INFORMATION SYSTEMS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Digital Pharmacy &amp; Information Systems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structure and functioning of Pharmacy Information Systems (PIS) and Hospital…</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Pharmacy Information System (PIS) / Hospital Information System (HIS)</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demo software or screenshots (OpenMRS / GNU Health or any…</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 digital healthcare system interface such as a demo PIS or HIS…</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identify key components such as patient records, drug database, prescription module…</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digital systems allow real-time data access, reduce manual errors, and…</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ETHICS, REGULATION &amp; DATA PROTECTION IN DIGITAL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Integration of digital technologies in pharmacy practice</a:t>
            </a:r>
            <a:endParaRPr lang="en-US" sz="24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The integration of digital technologies in pharmacy practice has significantly improved healthcare delivery, but it has also introduced new ethical, legal, and data protection challenges. As pharmacy becomes more technology-driven, it is essential for professionals to follow ethical standards, regulatory guidelines, and data protection principles. This ensures patient safety, confidentiality, and trust in healthcare systems.</a:t>
            </a:r>
            <a:endParaRPr lang="en-US" sz="1550" dirty="0"/>
          </a:p>
        </p:txBody>
      </p:sp>
      <p:sp>
        <p:nvSpPr>
          <p:cNvPr id="7" name="Shape 5"/>
          <p:cNvSpPr/>
          <p:nvPr/>
        </p:nvSpPr>
        <p:spPr>
          <a:xfrm>
            <a:off x="7680960" y="1536192"/>
            <a:ext cx="4005072" cy="2263140"/>
          </a:xfrm>
          <a:prstGeom prst="roundRect">
            <a:avLst>
              <a:gd name="adj" fmla="val 2424"/>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40360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Digital pharmacy involves handling sensitive patient data, electronic prescriptions, and clinical decision systems, making ethics and regulation a critical component of practice.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ETHICS, REGULATION &amp; DATA PROTECTION IN DIGITAL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Data Privacy, Confidentiality and Consent</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Consent can be classified into implied consent, expressed consent, and informed consent. Implied consent is assumed when a patient seeks treatment. Expressed consent is clearly stated by the patient.</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Informed consent involves providing complete information to the patient before obtaining permission.</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ETHICS, REGULATION &amp; DATA PROTECTION IN DIGITAL PHARMACY</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Ethics, Regulation &amp; Data Protection in Digital Pharmacy at a glance</a:t>
            </a:r>
            <a:endParaRPr lang="en-US" sz="24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Details</a:t>
            </a:r>
            <a:endParaRPr lang="en-US" sz="1150" dirty="0"/>
          </a:p>
        </p:txBody>
      </p:sp>
      <p:sp>
        <p:nvSpPr>
          <p:cNvPr id="9" name="Shape 7"/>
          <p:cNvSpPr/>
          <p:nvPr/>
        </p:nvSpPr>
        <p:spPr>
          <a:xfrm>
            <a:off x="502920" y="2066544"/>
            <a:ext cx="11183112" cy="566928"/>
          </a:xfrm>
          <a:prstGeom prst="rect">
            <a:avLst/>
          </a:prstGeom>
          <a:solidFill>
            <a:srgbClr val="FFFFFF"/>
          </a:solidFill>
          <a:ln w="9525">
            <a:solidFill>
              <a:srgbClr val="DDD5CE"/>
            </a:solidFill>
            <a:prstDash val="solid"/>
          </a:ln>
        </p:spPr>
      </p:sp>
      <p:sp>
        <p:nvSpPr>
          <p:cNvPr id="10" name="Text 8"/>
          <p:cNvSpPr/>
          <p:nvPr/>
        </p:nvSpPr>
        <p:spPr>
          <a:xfrm>
            <a:off x="685800" y="206654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Objective</a:t>
            </a:r>
            <a:endParaRPr lang="en-US" sz="1150" dirty="0"/>
          </a:p>
        </p:txBody>
      </p:sp>
      <p:sp>
        <p:nvSpPr>
          <p:cNvPr id="11" name="Text 9"/>
          <p:cNvSpPr/>
          <p:nvPr/>
        </p:nvSpPr>
        <p:spPr>
          <a:xfrm>
            <a:off x="5166360" y="206654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To understand the importance of data privacy, patient safety, and ethical practices in digital…</a:t>
            </a:r>
            <a:endParaRPr lang="en-US" sz="1150" dirty="0"/>
          </a:p>
        </p:txBody>
      </p:sp>
      <p:sp>
        <p:nvSpPr>
          <p:cNvPr id="12" name="Shape 10"/>
          <p:cNvSpPr/>
          <p:nvPr/>
        </p:nvSpPr>
        <p:spPr>
          <a:xfrm>
            <a:off x="502920" y="2633472"/>
            <a:ext cx="11183112" cy="566928"/>
          </a:xfrm>
          <a:prstGeom prst="rect">
            <a:avLst/>
          </a:prstGeom>
          <a:solidFill>
            <a:srgbClr val="FAF8F6"/>
          </a:solidFill>
          <a:ln w="9525">
            <a:solidFill>
              <a:srgbClr val="DDD5CE"/>
            </a:solidFill>
            <a:prstDash val="solid"/>
          </a:ln>
        </p:spPr>
      </p:sp>
      <p:sp>
        <p:nvSpPr>
          <p:cNvPr id="13" name="Text 11"/>
          <p:cNvSpPr/>
          <p:nvPr/>
        </p:nvSpPr>
        <p:spPr>
          <a:xfrm>
            <a:off x="685800" y="2633472"/>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Topic Covered</a:t>
            </a:r>
            <a:endParaRPr lang="en-US" sz="1150" dirty="0"/>
          </a:p>
        </p:txBody>
      </p:sp>
      <p:sp>
        <p:nvSpPr>
          <p:cNvPr id="14" name="Text 12"/>
          <p:cNvSpPr/>
          <p:nvPr/>
        </p:nvSpPr>
        <p:spPr>
          <a:xfrm>
            <a:off x="5166360" y="2633472"/>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Data privacy, confidentiality, and medication safety in digital systems</a:t>
            </a:r>
            <a:endParaRPr lang="en-US" sz="1150" dirty="0"/>
          </a:p>
        </p:txBody>
      </p:sp>
      <p:sp>
        <p:nvSpPr>
          <p:cNvPr id="15" name="Shape 13"/>
          <p:cNvSpPr/>
          <p:nvPr/>
        </p:nvSpPr>
        <p:spPr>
          <a:xfrm>
            <a:off x="502920" y="3200400"/>
            <a:ext cx="11183112" cy="566928"/>
          </a:xfrm>
          <a:prstGeom prst="rect">
            <a:avLst/>
          </a:prstGeom>
          <a:solidFill>
            <a:srgbClr val="FFFFFF"/>
          </a:solidFill>
          <a:ln w="9525">
            <a:solidFill>
              <a:srgbClr val="DDD5CE"/>
            </a:solidFill>
            <a:prstDash val="solid"/>
          </a:ln>
        </p:spPr>
      </p:sp>
      <p:sp>
        <p:nvSpPr>
          <p:cNvPr id="16" name="Text 14"/>
          <p:cNvSpPr/>
          <p:nvPr/>
        </p:nvSpPr>
        <p:spPr>
          <a:xfrm>
            <a:off x="685800" y="3200400"/>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Requirements</a:t>
            </a:r>
            <a:endParaRPr lang="en-US" sz="1150" dirty="0"/>
          </a:p>
        </p:txBody>
      </p:sp>
      <p:sp>
        <p:nvSpPr>
          <p:cNvPr id="17" name="Text 15"/>
          <p:cNvSpPr/>
          <p:nvPr/>
        </p:nvSpPr>
        <p:spPr>
          <a:xfrm>
            <a:off x="5166360" y="3200400"/>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Computer/mobile with internet access, demo digital system or AI tool, sample patient/drug data…</a:t>
            </a:r>
            <a:endParaRPr lang="en-US" sz="1150" dirty="0"/>
          </a:p>
        </p:txBody>
      </p:sp>
      <p:sp>
        <p:nvSpPr>
          <p:cNvPr id="18" name="Shape 16"/>
          <p:cNvSpPr/>
          <p:nvPr/>
        </p:nvSpPr>
        <p:spPr>
          <a:xfrm>
            <a:off x="502920" y="3767328"/>
            <a:ext cx="11183112" cy="566928"/>
          </a:xfrm>
          <a:prstGeom prst="rect">
            <a:avLst/>
          </a:prstGeom>
          <a:solidFill>
            <a:srgbClr val="FAF8F6"/>
          </a:solidFill>
          <a:ln w="9525">
            <a:solidFill>
              <a:srgbClr val="DDD5CE"/>
            </a:solidFill>
            <a:prstDash val="solid"/>
          </a:ln>
        </p:spPr>
      </p:sp>
      <p:sp>
        <p:nvSpPr>
          <p:cNvPr id="19" name="Text 17"/>
          <p:cNvSpPr/>
          <p:nvPr/>
        </p:nvSpPr>
        <p:spPr>
          <a:xfrm>
            <a:off x="685800" y="3767328"/>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Procedure</a:t>
            </a:r>
            <a:endParaRPr lang="en-US" sz="1150" dirty="0"/>
          </a:p>
        </p:txBody>
      </p:sp>
      <p:sp>
        <p:nvSpPr>
          <p:cNvPr id="20" name="Text 18"/>
          <p:cNvSpPr/>
          <p:nvPr/>
        </p:nvSpPr>
        <p:spPr>
          <a:xfrm>
            <a:off x="5166360" y="3767328"/>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are introduced to a digital pharmacy system or simulated environment. They observe how…</a:t>
            </a:r>
            <a:endParaRPr lang="en-US" sz="1150" dirty="0"/>
          </a:p>
        </p:txBody>
      </p:sp>
      <p:sp>
        <p:nvSpPr>
          <p:cNvPr id="21" name="Shape 19"/>
          <p:cNvSpPr/>
          <p:nvPr/>
        </p:nvSpPr>
        <p:spPr>
          <a:xfrm>
            <a:off x="502920" y="4334256"/>
            <a:ext cx="11183112" cy="566928"/>
          </a:xfrm>
          <a:prstGeom prst="rect">
            <a:avLst/>
          </a:prstGeom>
          <a:solidFill>
            <a:srgbClr val="FFFFFF"/>
          </a:solidFill>
          <a:ln w="9525">
            <a:solidFill>
              <a:srgbClr val="DDD5CE"/>
            </a:solidFill>
            <a:prstDash val="solid"/>
          </a:ln>
        </p:spPr>
      </p:sp>
      <p:sp>
        <p:nvSpPr>
          <p:cNvPr id="22" name="Text 20"/>
          <p:cNvSpPr/>
          <p:nvPr/>
        </p:nvSpPr>
        <p:spPr>
          <a:xfrm>
            <a:off x="685800" y="4334256"/>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Activity</a:t>
            </a:r>
            <a:endParaRPr lang="en-US" sz="1150" dirty="0"/>
          </a:p>
        </p:txBody>
      </p:sp>
      <p:sp>
        <p:nvSpPr>
          <p:cNvPr id="23" name="Text 21"/>
          <p:cNvSpPr/>
          <p:nvPr/>
        </p:nvSpPr>
        <p:spPr>
          <a:xfrm>
            <a:off x="5166360" y="4334256"/>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enter a sample drug and check for possible drug interactions or adverse effects using…</a:t>
            </a:r>
            <a:endParaRPr lang="en-US" sz="1150" dirty="0"/>
          </a:p>
        </p:txBody>
      </p:sp>
      <p:sp>
        <p:nvSpPr>
          <p:cNvPr id="24" name="Shape 22"/>
          <p:cNvSpPr/>
          <p:nvPr/>
        </p:nvSpPr>
        <p:spPr>
          <a:xfrm>
            <a:off x="502920" y="4901184"/>
            <a:ext cx="11183112" cy="566928"/>
          </a:xfrm>
          <a:prstGeom prst="rect">
            <a:avLst/>
          </a:prstGeom>
          <a:solidFill>
            <a:srgbClr val="FAF8F6"/>
          </a:solidFill>
          <a:ln w="9525">
            <a:solidFill>
              <a:srgbClr val="DDD5CE"/>
            </a:solidFill>
            <a:prstDash val="solid"/>
          </a:ln>
        </p:spPr>
      </p:sp>
      <p:sp>
        <p:nvSpPr>
          <p:cNvPr id="25" name="Text 23"/>
          <p:cNvSpPr/>
          <p:nvPr/>
        </p:nvSpPr>
        <p:spPr>
          <a:xfrm>
            <a:off x="685800" y="4901184"/>
            <a:ext cx="416966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Observation</a:t>
            </a:r>
            <a:endParaRPr lang="en-US" sz="1150" dirty="0"/>
          </a:p>
        </p:txBody>
      </p:sp>
      <p:sp>
        <p:nvSpPr>
          <p:cNvPr id="26" name="Text 24"/>
          <p:cNvSpPr/>
          <p:nvPr/>
        </p:nvSpPr>
        <p:spPr>
          <a:xfrm>
            <a:off x="5166360" y="4901184"/>
            <a:ext cx="6391656"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Students observe that digital systems provide alerts for medication safety and restrict…</a:t>
            </a:r>
            <a:endParaRPr lang="en-US" sz="1150" dirty="0"/>
          </a:p>
        </p:txBody>
      </p:sp>
      <p:sp>
        <p:nvSpPr>
          <p:cNvPr id="27" name="Text 2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28" name="Text 2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COMPUTER APPLICATIONS &amp; DIGITAL DOCUMENTATION</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Computer applications and digital documentation</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Computer applications and digital documentation have become essential components of modern pharmacy practice. The use of digital technologies in healthcare has transformed traditional manual processes into efficient, accurate, and well-organized systems. Digital documentation allows pharmacists to manage prescriptions, patient records, billing, and regulatory requirements effectively. It improves communication among healthcare professionals and ensures better patient care.</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Computer applications in pharmacy include software systems, digital records, dashboards, and automated workflows that support clinical and administrative functions.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COMPUTER APPLICATIONS &amp; DIGITAL DOCUMENTATION</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Advantages of E-Prescriptions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Advantage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Accuracy</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Reduces handwriting errors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Speed</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Faster transmission of prescriptions</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Safety</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Alerts for drug interactions</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Record Keeping</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Easy storage and retrieval</a:t>
            </a:r>
            <a:endParaRPr lang="en-US" sz="1150" dirty="0"/>
          </a:p>
        </p:txBody>
      </p:sp>
      <p:sp>
        <p:nvSpPr>
          <p:cNvPr id="21" name="Text 1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22" name="Text 2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COMPUTER APPLICATIONS &amp; DIGITAL DOCUMENTATION</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Pharmacy software</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Pharmacy software refers to computer programs designed to manage pharmacy operations such as dispensing, inventory control, and patient records. Dashboards are visual interfaces that display important data such as drug stock levels, prescription status, and patient information.</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User interfaces (UI) are the means through which users interact with the software.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COMPUTER APPLICATIONS &amp; DIGITAL DOCUMENTATION</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Introduction to Digital Pharmacy, EHR Systems and Telepharmacy</a:t>
            </a:r>
            <a:endParaRPr lang="en-US" sz="24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300"/>
              </a:lnSpc>
              <a:buNone/>
            </a:pPr>
            <a:r>
              <a:rPr lang="en-US" sz="1550" dirty="0">
                <a:solidFill>
                  <a:srgbClr val="26221F"/>
                </a:solidFill>
                <a:latin typeface="Calibri" pitchFamily="34" charset="0"/>
                <a:ea typeface="Calibri" pitchFamily="34" charset="-122"/>
                <a:cs typeface="Calibri" pitchFamily="34" charset="-120"/>
              </a:rPr>
              <a:t>Digital pharmacy systems integrated with Electronic Health Records (EHR) allow pharmacists to access complete patient histories in real time, helping them identify drug interactions, allergies, and dosing errors instantly. In addition, telepharmacy services are increasingly used to provide pharmaceutical care in remote and rural areas, where access to pharmacists is limited.</a:t>
            </a:r>
            <a:endParaRPr lang="en-US" sz="1550" dirty="0"/>
          </a:p>
        </p:txBody>
      </p:sp>
      <p:sp>
        <p:nvSpPr>
          <p:cNvPr id="7" name="Shape 5"/>
          <p:cNvSpPr/>
          <p:nvPr/>
        </p:nvSpPr>
        <p:spPr>
          <a:xfrm>
            <a:off x="7680960" y="1536192"/>
            <a:ext cx="4005072" cy="2020824"/>
          </a:xfrm>
          <a:prstGeom prst="roundRect">
            <a:avLst>
              <a:gd name="adj" fmla="val 2715"/>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1161288"/>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This means patients can receive medication counseling and support without visiting a pharmacy, improving healthcare accessibility and ensuring continuity of care.</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COMPUTER APPLICATIONS &amp; DIGITAL DOCUMENTATION</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Introduction to Digital Pharmacy, EHR Systems and Telepharmacy (2)</a:t>
            </a:r>
            <a:endParaRPr lang="en-US" sz="2400" dirty="0"/>
          </a:p>
        </p:txBody>
      </p:sp>
      <p:sp>
        <p:nvSpPr>
          <p:cNvPr id="6" name="Shape 4"/>
          <p:cNvSpPr/>
          <p:nvPr/>
        </p:nvSpPr>
        <p:spPr>
          <a:xfrm>
            <a:off x="502920" y="1554480"/>
            <a:ext cx="11183112" cy="2176272"/>
          </a:xfrm>
          <a:prstGeom prst="roundRect">
            <a:avLst>
              <a:gd name="adj" fmla="val 2521"/>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DID YOU KNOW?</a:t>
            </a:r>
            <a:endParaRPr lang="en-US" sz="1050" dirty="0"/>
          </a:p>
        </p:txBody>
      </p:sp>
      <p:sp>
        <p:nvSpPr>
          <p:cNvPr id="8" name="Text 6"/>
          <p:cNvSpPr/>
          <p:nvPr/>
        </p:nvSpPr>
        <p:spPr>
          <a:xfrm>
            <a:off x="914400" y="2212848"/>
            <a:ext cx="10332720" cy="1335024"/>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Digital pharmacy systems integrated with Electronic Health Records (EHR) allow pharmacists to access complete patient histories in real time, helping them identify drug interactions, allergies, and dosing errors instantly. In addition, telepharmacy services are increasingly used to provide pharmaceutical care in remote and rural areas, where access to pharmacists is limited. This means patients can receive medication counseling and support without visiting a pharmacy, improving healthcare accessibility and ensuring continuity of care.</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868680"/>
          </a:xfrm>
          <a:prstGeom prst="roundRect">
            <a:avLst>
              <a:gd name="adj" fmla="val 6316"/>
            </a:avLst>
          </a:prstGeom>
          <a:solidFill>
            <a:srgbClr val="241A19"/>
          </a:solidFill>
          <a:ln w="9525">
            <a:solidFill>
              <a:srgbClr val="3E2A28"/>
            </a:solidFill>
            <a:prstDash val="solid"/>
          </a:ln>
        </p:spPr>
      </p:sp>
      <p:sp>
        <p:nvSpPr>
          <p:cNvPr id="7" name="Shape 5"/>
          <p:cNvSpPr/>
          <p:nvPr/>
        </p:nvSpPr>
        <p:spPr>
          <a:xfrm>
            <a:off x="1097280" y="3003804"/>
            <a:ext cx="384048" cy="384048"/>
          </a:xfrm>
          <a:prstGeom prst="ellipse">
            <a:avLst/>
          </a:prstGeom>
          <a:solidFill>
            <a:srgbClr val="8C1515"/>
          </a:solidFill>
          <a:ln/>
        </p:spPr>
      </p:sp>
      <p:sp>
        <p:nvSpPr>
          <p:cNvPr id="8" name="Text 6"/>
          <p:cNvSpPr/>
          <p:nvPr/>
        </p:nvSpPr>
        <p:spPr>
          <a:xfrm>
            <a:off x="1097280" y="30038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1 · Unit 3 · Practical 2</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Data Breach Response Simulation</a:t>
            </a:r>
            <a:endParaRPr lang="en-US" sz="1350" dirty="0"/>
          </a:p>
        </p:txBody>
      </p:sp>
      <p:sp>
        <p:nvSpPr>
          <p:cNvPr id="11" name="Shape 9"/>
          <p:cNvSpPr/>
          <p:nvPr/>
        </p:nvSpPr>
        <p:spPr>
          <a:xfrm>
            <a:off x="777240" y="3803904"/>
            <a:ext cx="10607040" cy="868680"/>
          </a:xfrm>
          <a:prstGeom prst="roundRect">
            <a:avLst>
              <a:gd name="adj" fmla="val 6316"/>
            </a:avLst>
          </a:prstGeom>
          <a:solidFill>
            <a:srgbClr val="241A19"/>
          </a:solidFill>
          <a:ln w="9525">
            <a:solidFill>
              <a:srgbClr val="3E2A28"/>
            </a:solidFill>
            <a:prstDash val="solid"/>
          </a:ln>
        </p:spPr>
      </p:sp>
      <p:sp>
        <p:nvSpPr>
          <p:cNvPr id="12" name="Shape 10"/>
          <p:cNvSpPr/>
          <p:nvPr/>
        </p:nvSpPr>
        <p:spPr>
          <a:xfrm>
            <a:off x="1097280" y="4046220"/>
            <a:ext cx="384048" cy="384048"/>
          </a:xfrm>
          <a:prstGeom prst="ellipse">
            <a:avLst/>
          </a:prstGeom>
          <a:solidFill>
            <a:srgbClr val="8C1515"/>
          </a:solidFill>
          <a:ln/>
        </p:spPr>
      </p:sp>
      <p:sp>
        <p:nvSpPr>
          <p:cNvPr id="13" name="Text 11"/>
          <p:cNvSpPr/>
          <p:nvPr/>
        </p:nvSpPr>
        <p:spPr>
          <a:xfrm>
            <a:off x="1097280" y="40462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87705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1 · Unit 3 · Practical 3</a:t>
            </a:r>
            <a:endParaRPr lang="en-US" sz="1000" dirty="0"/>
          </a:p>
        </p:txBody>
      </p:sp>
      <p:sp>
        <p:nvSpPr>
          <p:cNvPr id="15" name="Text 13"/>
          <p:cNvSpPr/>
          <p:nvPr/>
        </p:nvSpPr>
        <p:spPr>
          <a:xfrm>
            <a:off x="1664208" y="409651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RxDetect — Digital Drug Information &amp; Formulary Investigation</a:t>
            </a:r>
            <a:endParaRPr lang="en-US" sz="1350" dirty="0"/>
          </a:p>
        </p:txBody>
      </p:sp>
      <p:sp>
        <p:nvSpPr>
          <p:cNvPr id="16" name="Text 14"/>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7" name="Text 15"/>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1 · UNIT 3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Data Breach Response Simulation</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respond to a live personal data breach in a hospital pharmacy — containing it, assessing its scope and risk, deciding notifiability under the Digital Personal Data Protection Act, and handling the requests and pressures that arrive while the response is under way.</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personal data breach is any event leading to unauthorised access to, or disclosure, loss or alteration of, personal data. In healthcare the data is sensitive by nature, and the harm is rarely financial: it is stigma, discrimination, loss of employment, damaged relationships and the erosion of the trust on which clinical disclosure depends. Two pressures arrive predictably during a breach response and both must be refused.</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Contain the exposure in the correct order, securing what you control before pursuing what you do not.</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Assess the risk by consequence to the individuals, not by the format of the record.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notifiability and notify both the Board and every affected Data Principal.</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Handle the subject access request — verify identity, inform, and disclose their own data within the statutory period.</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Refuse the improper disclosure, refer it to the proper channel and document the approach.</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Propose preventive action that removes the conditions that made the breach possible.</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1 · UNIT 3 · PRACTICAL 3</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400" b="1" dirty="0">
                <a:solidFill>
                  <a:srgbClr val="26221F"/>
                </a:solidFill>
                <a:latin typeface="Cambria" pitchFamily="34" charset="0"/>
                <a:ea typeface="Cambria" pitchFamily="34" charset="-122"/>
                <a:cs typeface="Cambria" pitchFamily="34" charset="-120"/>
              </a:rPr>
              <a:t>RxDetect — Digital Drug Information &amp; Formulary Investigation</a:t>
            </a:r>
            <a:endParaRPr lang="en-US" sz="24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investigate and resolve medication-related problems using simulated digital drug databases, clinical drug references and a hospital digital formulary — verifying a complex prescription, judging the clinical importance of the interactions found, selecting a formulary-compliant alternative and…</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Prescription verification is a systematic search for the things that could harm this patient, carried out before the medicine leaves the pharmacy. The pharmacist works to a fixed set of checks — indication, dose, interactions, contraindications, allergy, organ function, formulary status, adverse effects and monitoring — because the check that is skipped is the one that causes harm. This case turns on the pharmacology of a single interaction and the discipline of noticing everything around it.</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Accept the case and start the case clock.</a:t>
            </a:r>
            <a:endParaRPr lang="en-US" sz="1150" dirty="0"/>
          </a:p>
        </p:txBody>
      </p:sp>
      <p:sp>
        <p:nvSpPr>
          <p:cNvPr id="16" name="Shape 14"/>
          <p:cNvSpPr/>
          <p:nvPr/>
        </p:nvSpPr>
        <p:spPr>
          <a:xfrm>
            <a:off x="6263640" y="2578608"/>
            <a:ext cx="292608" cy="292608"/>
          </a:xfrm>
          <a:prstGeom prst="ellipse">
            <a:avLst/>
          </a:prstGeom>
          <a:solidFill>
            <a:srgbClr val="F2E4E4"/>
          </a:solidFill>
          <a:ln/>
        </p:spPr>
      </p:sp>
      <p:sp>
        <p:nvSpPr>
          <p:cNvPr id="17" name="Text 15"/>
          <p:cNvSpPr/>
          <p:nvPr/>
        </p:nvSpPr>
        <p:spPr>
          <a:xfrm>
            <a:off x="6263640" y="25786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6032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the patient record section by section — nothing is displayed until you request it.</a:t>
            </a:r>
            <a:endParaRPr lang="en-US" sz="1150" dirty="0"/>
          </a:p>
        </p:txBody>
      </p:sp>
      <p:sp>
        <p:nvSpPr>
          <p:cNvPr id="19" name="Shape 17"/>
          <p:cNvSpPr/>
          <p:nvPr/>
        </p:nvSpPr>
        <p:spPr>
          <a:xfrm>
            <a:off x="6263640" y="3218688"/>
            <a:ext cx="292608" cy="292608"/>
          </a:xfrm>
          <a:prstGeom prst="ellipse">
            <a:avLst/>
          </a:prstGeom>
          <a:solidFill>
            <a:srgbClr val="F2E4E4"/>
          </a:solidFill>
          <a:ln/>
        </p:spPr>
      </p:sp>
      <p:sp>
        <p:nvSpPr>
          <p:cNvPr id="20" name="Text 18"/>
          <p:cNvSpPr/>
          <p:nvPr/>
        </p:nvSpPr>
        <p:spPr>
          <a:xfrm>
            <a:off x="6263640" y="321868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0040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Verify the e-prescription: approve, hold or investigate.</a:t>
            </a:r>
            <a:endParaRPr lang="en-US" sz="1150" dirty="0"/>
          </a:p>
        </p:txBody>
      </p:sp>
      <p:sp>
        <p:nvSpPr>
          <p:cNvPr id="22" name="Shape 20"/>
          <p:cNvSpPr/>
          <p:nvPr/>
        </p:nvSpPr>
        <p:spPr>
          <a:xfrm>
            <a:off x="6263640" y="3858768"/>
            <a:ext cx="292608" cy="292608"/>
          </a:xfrm>
          <a:prstGeom prst="ellipse">
            <a:avLst/>
          </a:prstGeom>
          <a:solidFill>
            <a:srgbClr val="F2E4E4"/>
          </a:solidFill>
          <a:ln/>
        </p:spPr>
      </p:sp>
      <p:sp>
        <p:nvSpPr>
          <p:cNvPr id="23" name="Text 21"/>
          <p:cNvSpPr/>
          <p:nvPr/>
        </p:nvSpPr>
        <p:spPr>
          <a:xfrm>
            <a:off x="6263640" y="385876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84048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Choose what to investigate from the standard verification checks.</a:t>
            </a:r>
            <a:endParaRPr lang="en-US" sz="1150" dirty="0"/>
          </a:p>
        </p:txBody>
      </p:sp>
      <p:sp>
        <p:nvSpPr>
          <p:cNvPr id="25" name="Shape 23"/>
          <p:cNvSpPr/>
          <p:nvPr/>
        </p:nvSpPr>
        <p:spPr>
          <a:xfrm>
            <a:off x="6263640" y="4498848"/>
            <a:ext cx="292608" cy="292608"/>
          </a:xfrm>
          <a:prstGeom prst="ellipse">
            <a:avLst/>
          </a:prstGeom>
          <a:solidFill>
            <a:srgbClr val="F2E4E4"/>
          </a:solidFill>
          <a:ln/>
        </p:spPr>
      </p:sp>
      <p:sp>
        <p:nvSpPr>
          <p:cNvPr id="26" name="Text 24"/>
          <p:cNvSpPr/>
          <p:nvPr/>
        </p:nvSpPr>
        <p:spPr>
          <a:xfrm>
            <a:off x="6263640" y="449884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48056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Select the right information source for three different questions.</a:t>
            </a:r>
            <a:endParaRPr lang="en-US" sz="1150" dirty="0"/>
          </a:p>
        </p:txBody>
      </p:sp>
      <p:sp>
        <p:nvSpPr>
          <p:cNvPr id="28" name="Shape 26"/>
          <p:cNvSpPr/>
          <p:nvPr/>
        </p:nvSpPr>
        <p:spPr>
          <a:xfrm>
            <a:off x="6263640" y="5138928"/>
            <a:ext cx="292608" cy="292608"/>
          </a:xfrm>
          <a:prstGeom prst="ellipse">
            <a:avLst/>
          </a:prstGeom>
          <a:solidFill>
            <a:srgbClr val="F2E4E4"/>
          </a:solidFill>
          <a:ln/>
        </p:spPr>
      </p:sp>
      <p:sp>
        <p:nvSpPr>
          <p:cNvPr id="29" name="Text 27"/>
          <p:cNvSpPr/>
          <p:nvPr/>
        </p:nvSpPr>
        <p:spPr>
          <a:xfrm>
            <a:off x="6263640" y="51389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120640"/>
            <a:ext cx="5010912" cy="594360"/>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Analyse every drug pair in the interaction checker and judge whether each is clinically important for this patient.</a:t>
            </a:r>
            <a:endParaRPr lang="en-US" sz="1150" dirty="0"/>
          </a:p>
        </p:txBody>
      </p:sp>
      <p:sp>
        <p:nvSpPr>
          <p:cNvPr id="31" name="Text 29"/>
          <p:cNvSpPr/>
          <p:nvPr/>
        </p:nvSpPr>
        <p:spPr>
          <a:xfrm>
            <a:off x="6675120" y="5815584"/>
            <a:ext cx="5010912" cy="274320"/>
          </a:xfrm>
          <a:prstGeom prst="rect">
            <a:avLst/>
          </a:prstGeom>
          <a:noFill/>
          <a:ln/>
        </p:spPr>
        <p:txBody>
          <a:bodyPr wrap="square" lIns="0" tIns="0" rIns="0" bIns="0" rtlCol="0" anchor="ctr"/>
          <a:lstStyle/>
          <a:p>
            <a:pPr indent="0" marL="0">
              <a:buNone/>
            </a:pPr>
            <a:r>
              <a:rPr lang="en-US" sz="1050" i="1" dirty="0">
                <a:solidFill>
                  <a:srgbClr val="6E6A63"/>
                </a:solidFill>
                <a:latin typeface="Calibri" pitchFamily="34" charset="0"/>
                <a:ea typeface="Calibri" pitchFamily="34" charset="-122"/>
                <a:cs typeface="Calibri" pitchFamily="34" charset="-120"/>
              </a:rPr>
              <a:t>+ 9 further steps — see the practical brief on ALIZON OS</a:t>
            </a:r>
            <a:endParaRPr lang="en-US" sz="105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1</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2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1 · AI Foundations &amp; Digital Systems for Pharmacy Practice</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 AI Foundations &amp; Digital Systems for Pharmacy Practice</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