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00F"/>
        </a:solidFill>
      </p:bgPr>
    </p:bg>
    <p:spTree>
      <p:nvGrpSpPr>
        <p:cNvPr id="1" name=""/>
        <p:cNvGrpSpPr/>
        <p:nvPr/>
      </p:nvGrpSpPr>
      <p:grpSpPr>
        <a:xfrm>
          <a:off x="0" y="0"/>
          <a:ext cx="0" cy="0"/>
          <a:chOff x="0" y="0"/>
          <a:chExt cx="0" cy="0"/>
        </a:xfrm>
      </p:grpSpPr>
      <p:sp>
        <p:nvSpPr>
          <p:cNvPr id="2" name="Shape 0"/>
          <p:cNvSpPr/>
          <p:nvPr/>
        </p:nvSpPr>
        <p:spPr>
          <a:xfrm>
            <a:off x="0" y="2487168"/>
            <a:ext cx="12191695" cy="45720"/>
          </a:xfrm>
          <a:prstGeom prst="rect">
            <a:avLst/>
          </a:prstGeom>
          <a:solidFill>
            <a:srgbClr val="8C1515"/>
          </a:solidFill>
          <a:ln w="12700">
            <a:solidFill>
              <a:srgbClr val="8C1515"/>
            </a:solidFill>
            <a:prstDash val="solid"/>
          </a:ln>
        </p:spPr>
      </p:sp>
      <p:sp>
        <p:nvSpPr>
          <p:cNvPr id="3" name="Text 1"/>
          <p:cNvSpPr/>
          <p:nvPr/>
        </p:nvSpPr>
        <p:spPr>
          <a:xfrm>
            <a:off x="822960" y="1371600"/>
            <a:ext cx="10515600" cy="310896"/>
          </a:xfrm>
          <a:prstGeom prst="rect">
            <a:avLst/>
          </a:prstGeom>
          <a:noFill/>
          <a:ln/>
        </p:spPr>
        <p:txBody>
          <a:bodyPr wrap="square" rtlCol="0" anchor="ctr"/>
          <a:lstStyle/>
          <a:p>
            <a:pPr indent="0" marL="0">
              <a:buNone/>
            </a:pPr>
            <a:r>
              <a:rPr lang="en-US" sz="1250" b="1" spc="200" kern="0" dirty="0">
                <a:solidFill>
                  <a:srgbClr val="9A7B3F"/>
                </a:solidFill>
                <a:latin typeface="Calibri" pitchFamily="34" charset="0"/>
                <a:ea typeface="Calibri" pitchFamily="34" charset="-122"/>
                <a:cs typeface="Calibri" pitchFamily="34" charset="-120"/>
              </a:rPr>
              <a:t>ALIZON SCHOOL OF MEDICAL &amp; DIGITAL INTELLIGENCE</a:t>
            </a:r>
            <a:endParaRPr lang="en-US" sz="1250" dirty="0"/>
          </a:p>
        </p:txBody>
      </p:sp>
      <p:sp>
        <p:nvSpPr>
          <p:cNvPr id="4" name="Text 2"/>
          <p:cNvSpPr/>
          <p:nvPr/>
        </p:nvSpPr>
        <p:spPr>
          <a:xfrm>
            <a:off x="822960" y="1783080"/>
            <a:ext cx="10515600" cy="457200"/>
          </a:xfrm>
          <a:prstGeom prst="rect">
            <a:avLst/>
          </a:prstGeom>
          <a:noFill/>
          <a:ln/>
        </p:spPr>
        <p:txBody>
          <a:bodyPr wrap="square" rtlCol="0" anchor="ctr"/>
          <a:lstStyle/>
          <a:p>
            <a:pPr indent="0" marL="0">
              <a:buNone/>
            </a:pPr>
            <a:r>
              <a:rPr lang="en-US" sz="1800" dirty="0">
                <a:solidFill>
                  <a:srgbClr val="D9CFC7"/>
                </a:solidFill>
                <a:latin typeface="Calibri" pitchFamily="34" charset="0"/>
                <a:ea typeface="Calibri" pitchFamily="34" charset="-122"/>
                <a:cs typeface="Calibri" pitchFamily="34" charset="-120"/>
              </a:rPr>
              <a:t>Pharmacy AI · Module 1 — AI Foundations &amp; Digital Systems</a:t>
            </a:r>
            <a:endParaRPr lang="en-US" sz="1800" dirty="0"/>
          </a:p>
        </p:txBody>
      </p:sp>
      <p:sp>
        <p:nvSpPr>
          <p:cNvPr id="5" name="Text 3"/>
          <p:cNvSpPr/>
          <p:nvPr/>
        </p:nvSpPr>
        <p:spPr>
          <a:xfrm>
            <a:off x="822960" y="2743200"/>
            <a:ext cx="10515600" cy="9144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How to do Practical 1 and Practical 2</a:t>
            </a:r>
            <a:endParaRPr lang="en-US" sz="4000" dirty="0"/>
          </a:p>
        </p:txBody>
      </p:sp>
      <p:sp>
        <p:nvSpPr>
          <p:cNvPr id="6" name="Text 4"/>
          <p:cNvSpPr/>
          <p:nvPr/>
        </p:nvSpPr>
        <p:spPr>
          <a:xfrm>
            <a:off x="822960" y="3703320"/>
            <a:ext cx="10515600" cy="457200"/>
          </a:xfrm>
          <a:prstGeom prst="rect">
            <a:avLst/>
          </a:prstGeom>
          <a:noFill/>
          <a:ln/>
        </p:spPr>
        <p:txBody>
          <a:bodyPr wrap="square" rtlCol="0" anchor="ctr"/>
          <a:lstStyle/>
          <a:p>
            <a:pPr indent="0" marL="0">
              <a:buNone/>
            </a:pPr>
            <a:r>
              <a:rPr lang="en-US" sz="1600" dirty="0">
                <a:solidFill>
                  <a:srgbClr val="B9AFA7"/>
                </a:solidFill>
                <a:latin typeface="Calibri" pitchFamily="34" charset="0"/>
                <a:ea typeface="Calibri" pitchFamily="34" charset="-122"/>
                <a:cs typeface="Calibri" pitchFamily="34" charset="-120"/>
              </a:rPr>
              <a:t>What the practical is, what you are doing, and how to work it</a:t>
            </a:r>
            <a:endParaRPr lang="en-US" sz="1600" dirty="0"/>
          </a:p>
        </p:txBody>
      </p:sp>
      <p:sp>
        <p:nvSpPr>
          <p:cNvPr id="7" name="Text 5"/>
          <p:cNvSpPr/>
          <p:nvPr/>
        </p:nvSpPr>
        <p:spPr>
          <a:xfrm>
            <a:off x="822960" y="4572000"/>
            <a:ext cx="10515600" cy="822960"/>
          </a:xfrm>
          <a:prstGeom prst="rect">
            <a:avLst/>
          </a:prstGeom>
          <a:noFill/>
          <a:ln/>
        </p:spPr>
        <p:txBody>
          <a:bodyPr wrap="square" rtlCol="0" anchor="ctr"/>
          <a:lstStyle/>
          <a:p>
            <a:pPr indent="0" marL="0">
              <a:lnSpc>
                <a:spcPct val="140000"/>
              </a:lnSpc>
              <a:buNone/>
            </a:pPr>
            <a:r>
              <a:rPr lang="en-US" sz="1350" dirty="0">
                <a:solidFill>
                  <a:srgbClr val="9A7B3F"/>
                </a:solidFill>
                <a:latin typeface="Calibri" pitchFamily="34" charset="0"/>
                <a:ea typeface="Calibri" pitchFamily="34" charset="-122"/>
                <a:cs typeface="Calibri" pitchFamily="34" charset="-120"/>
              </a:rPr>
              <a:t>Practical 1 · Designing a Drug-like Candidate using Machine Learning   (Unit 1)</a:t>
            </a:r>
            <a:endParaRPr lang="en-US" sz="1350" dirty="0"/>
          </a:p>
          <a:p>
            <a:pPr indent="0" marL="0">
              <a:lnSpc>
                <a:spcPct val="140000"/>
              </a:lnSpc>
              <a:buNone/>
            </a:pPr>
            <a:r>
              <a:rPr lang="en-US" sz="1350" dirty="0">
                <a:solidFill>
                  <a:srgbClr val="9A7B3F"/>
                </a:solidFill>
                <a:latin typeface="Calibri" pitchFamily="34" charset="0"/>
                <a:ea typeface="Calibri" pitchFamily="34" charset="-122"/>
                <a:cs typeface="Calibri" pitchFamily="34" charset="-120"/>
              </a:rPr>
              <a:t>Practical 2 · Data Breach Response Simulation   (Unit 3)</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6"/>
        </a:solidFill>
      </p:bgPr>
    </p:bg>
    <p:spTree>
      <p:nvGrpSpPr>
        <p:cNvPr id="1" name=""/>
        <p:cNvGrpSpPr/>
        <p:nvPr/>
      </p:nvGrpSpPr>
      <p:grpSpPr>
        <a:xfrm>
          <a:off x="0" y="0"/>
          <a:ext cx="0" cy="0"/>
          <a:chOff x="0" y="0"/>
          <a:chExt cx="0" cy="0"/>
        </a:xfrm>
      </p:grpSpPr>
      <p:sp>
        <p:nvSpPr>
          <p:cNvPr id="2" name="Shape 0"/>
          <p:cNvSpPr/>
          <p:nvPr/>
        </p:nvSpPr>
        <p:spPr>
          <a:xfrm>
            <a:off x="0" y="0"/>
            <a:ext cx="12191695" cy="1133856"/>
          </a:xfrm>
          <a:prstGeom prst="rect">
            <a:avLst/>
          </a:prstGeom>
          <a:solidFill>
            <a:srgbClr val="FFFFFF"/>
          </a:solidFill>
          <a:ln w="12700">
            <a:solidFill>
              <a:srgbClr val="FFFFFF"/>
            </a:solidFill>
            <a:prstDash val="solid"/>
          </a:ln>
        </p:spPr>
      </p:sp>
      <p:sp>
        <p:nvSpPr>
          <p:cNvPr id="3" name="Shape 1"/>
          <p:cNvSpPr/>
          <p:nvPr/>
        </p:nvSpPr>
        <p:spPr>
          <a:xfrm>
            <a:off x="0" y="1133856"/>
            <a:ext cx="12191695" cy="32004"/>
          </a:xfrm>
          <a:prstGeom prst="rect">
            <a:avLst/>
          </a:prstGeom>
          <a:solidFill>
            <a:srgbClr val="8C1515"/>
          </a:solidFill>
          <a:ln w="12700">
            <a:solidFill>
              <a:srgbClr val="8C1515"/>
            </a:solidFill>
            <a:prstDash val="solid"/>
          </a:ln>
        </p:spPr>
      </p:sp>
      <p:sp>
        <p:nvSpPr>
          <p:cNvPr id="4" name="Text 2"/>
          <p:cNvSpPr/>
          <p:nvPr/>
        </p:nvSpPr>
        <p:spPr>
          <a:xfrm>
            <a:off x="566928" y="201168"/>
            <a:ext cx="10972800" cy="274320"/>
          </a:xfrm>
          <a:prstGeom prst="rect">
            <a:avLst/>
          </a:prstGeom>
          <a:noFill/>
          <a:ln/>
        </p:spPr>
        <p:txBody>
          <a:bodyPr wrap="square" rtlCol="0" anchor="ctr"/>
          <a:lstStyle/>
          <a:p>
            <a:pPr indent="0" marL="0">
              <a:buNone/>
            </a:pPr>
            <a:r>
              <a:rPr lang="en-US" sz="1100" b="1" spc="140" kern="0" dirty="0">
                <a:solidFill>
                  <a:srgbClr val="8C1515"/>
                </a:solidFill>
                <a:latin typeface="Calibri" pitchFamily="34" charset="0"/>
                <a:ea typeface="Calibri" pitchFamily="34" charset="-122"/>
                <a:cs typeface="Calibri" pitchFamily="34" charset="-120"/>
              </a:rPr>
              <a:t>Module 1 · overview</a:t>
            </a:r>
            <a:endParaRPr lang="en-US" sz="1100" dirty="0"/>
          </a:p>
        </p:txBody>
      </p:sp>
      <p:sp>
        <p:nvSpPr>
          <p:cNvPr id="5" name="Text 3"/>
          <p:cNvSpPr/>
          <p:nvPr/>
        </p:nvSpPr>
        <p:spPr>
          <a:xfrm>
            <a:off x="566928" y="475488"/>
            <a:ext cx="11064240" cy="566928"/>
          </a:xfrm>
          <a:prstGeom prst="rect">
            <a:avLst/>
          </a:prstGeom>
          <a:noFill/>
          <a:ln/>
        </p:spPr>
        <p:txBody>
          <a:bodyPr wrap="square" rtlCol="0" anchor="ctr"/>
          <a:lstStyle/>
          <a:p>
            <a:pPr indent="0" marL="0">
              <a:buNone/>
            </a:pPr>
            <a:r>
              <a:rPr lang="en-US" sz="2600" b="1" dirty="0">
                <a:solidFill>
                  <a:srgbClr val="26221F"/>
                </a:solidFill>
                <a:latin typeface="Cambria" pitchFamily="34" charset="0"/>
                <a:ea typeface="Cambria" pitchFamily="34" charset="-122"/>
                <a:cs typeface="Cambria" pitchFamily="34" charset="-120"/>
              </a:rPr>
              <a:t>Two practicals, two different skills</a:t>
            </a:r>
            <a:endParaRPr lang="en-US" sz="2600" dirty="0"/>
          </a:p>
        </p:txBody>
      </p:sp>
      <p:sp>
        <p:nvSpPr>
          <p:cNvPr id="6" name="Shape 4"/>
          <p:cNvSpPr/>
          <p:nvPr/>
        </p:nvSpPr>
        <p:spPr>
          <a:xfrm>
            <a:off x="0" y="6473952"/>
            <a:ext cx="12191695" cy="384048"/>
          </a:xfrm>
          <a:prstGeom prst="rect">
            <a:avLst/>
          </a:prstGeom>
          <a:solidFill>
            <a:srgbClr val="FAF8F6"/>
          </a:solidFill>
          <a:ln w="12700">
            <a:solidFill>
              <a:srgbClr val="FAF8F6"/>
            </a:solidFill>
            <a:prstDash val="solid"/>
          </a:ln>
        </p:spPr>
      </p:sp>
      <p:sp>
        <p:nvSpPr>
          <p:cNvPr id="7" name="Text 5"/>
          <p:cNvSpPr/>
          <p:nvPr/>
        </p:nvSpPr>
        <p:spPr>
          <a:xfrm>
            <a:off x="457200" y="6492240"/>
            <a:ext cx="8229600" cy="310896"/>
          </a:xfrm>
          <a:prstGeom prst="rect">
            <a:avLst/>
          </a:prstGeom>
          <a:noFill/>
          <a:ln/>
        </p:spPr>
        <p:txBody>
          <a:bodyPr wrap="square" rtlCol="0" anchor="ctr"/>
          <a:lstStyle/>
          <a:p>
            <a:pPr indent="0" marL="0">
              <a:buNone/>
            </a:pPr>
            <a:r>
              <a:rPr lang="en-US" sz="1000" dirty="0">
                <a:solidFill>
                  <a:srgbClr val="6E6A63"/>
                </a:solidFill>
                <a:latin typeface="Calibri" pitchFamily="34" charset="0"/>
                <a:ea typeface="Calibri" pitchFamily="34" charset="-122"/>
                <a:cs typeface="Calibri" pitchFamily="34" charset="-120"/>
              </a:rPr>
              <a:t>ALIZON OS · Pharmacy AI · Module 1 — AI Foundations &amp; Digital Systems</a:t>
            </a:r>
            <a:endParaRPr lang="en-US" sz="1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600200"/>
          <a:ext cx="10515600" cy="914400"/>
        </p:xfrm>
        <a:graphic>
          <a:graphicData uri="http://schemas.openxmlformats.org/drawingml/2006/table">
            <a:tbl>
              <a:tblPr/>
              <a:tblGrid>
                <a:gridCol w="2103120"/>
                <a:gridCol w="4206240"/>
                <a:gridCol w="4206240"/>
              </a:tblGrid>
              <a:tr h="0">
                <a:tc>
                  <a:txBody>
                    <a:bodyPr/>
                    <a:lstStyle/>
                    <a:p>
                      <a:pPr indent="0" marL="0">
                        <a:buNone/>
                      </a:pP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solidFill>
                      <a:srgbClr val="FAF8F6"/>
                    </a:solidFill>
                  </a:tcPr>
                </a:tc>
                <a:tc>
                  <a:txBody>
                    <a:bodyPr/>
                    <a:lstStyle/>
                    <a:p>
                      <a:pPr indent="0" marL="0">
                        <a:buNone/>
                      </a:pPr>
                      <a:r>
                        <a:rPr lang="en-US" sz="1350" b="1" dirty="0">
                          <a:solidFill>
                            <a:srgbClr val="26221F"/>
                          </a:solidFill>
                          <a:latin typeface="Calibri" pitchFamily="34" charset="0"/>
                          <a:ea typeface="Calibri" pitchFamily="34" charset="-122"/>
                          <a:cs typeface="Calibri" pitchFamily="34" charset="-120"/>
                        </a:rPr>
                        <a:t>Practical 1</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solidFill>
                      <a:srgbClr val="EFE7E1"/>
                    </a:solidFill>
                  </a:tcPr>
                </a:tc>
                <a:tc>
                  <a:txBody>
                    <a:bodyPr/>
                    <a:lstStyle/>
                    <a:p>
                      <a:pPr indent="0" marL="0">
                        <a:buNone/>
                      </a:pPr>
                      <a:r>
                        <a:rPr lang="en-US" sz="1350" b="1" dirty="0">
                          <a:solidFill>
                            <a:srgbClr val="26221F"/>
                          </a:solidFill>
                          <a:latin typeface="Calibri" pitchFamily="34" charset="0"/>
                          <a:ea typeface="Calibri" pitchFamily="34" charset="-122"/>
                          <a:cs typeface="Calibri" pitchFamily="34" charset="-120"/>
                        </a:rPr>
                        <a:t>Practical 2</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solidFill>
                      <a:srgbClr val="EFE7E1"/>
                    </a:solidFill>
                  </a:tcPr>
                </a:tc>
              </a:tr>
              <a:tr h="0">
                <a:tc>
                  <a:txBody>
                    <a:bodyPr/>
                    <a:lstStyle/>
                    <a:p>
                      <a:pPr indent="0" marL="0">
                        <a:buNone/>
                      </a:pPr>
                      <a:r>
                        <a:rPr lang="en-US" sz="1350" b="1" dirty="0">
                          <a:solidFill>
                            <a:srgbClr val="26221F"/>
                          </a:solidFill>
                          <a:latin typeface="Calibri" pitchFamily="34" charset="0"/>
                          <a:ea typeface="Calibri" pitchFamily="34" charset="-122"/>
                          <a:cs typeface="Calibri" pitchFamily="34" charset="-120"/>
                        </a:rPr>
                        <a:t>Unit</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350" dirty="0">
                          <a:solidFill>
                            <a:srgbClr val="26221F"/>
                          </a:solidFill>
                          <a:latin typeface="Calibri" pitchFamily="34" charset="0"/>
                          <a:ea typeface="Calibri" pitchFamily="34" charset="-122"/>
                          <a:cs typeface="Calibri" pitchFamily="34" charset="-120"/>
                        </a:rPr>
                        <a:t>Unit 1</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350" dirty="0">
                          <a:solidFill>
                            <a:srgbClr val="26221F"/>
                          </a:solidFill>
                          <a:latin typeface="Calibri" pitchFamily="34" charset="0"/>
                          <a:ea typeface="Calibri" pitchFamily="34" charset="-122"/>
                          <a:cs typeface="Calibri" pitchFamily="34" charset="-120"/>
                        </a:rPr>
                        <a:t>Unit 3</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r h="0">
                <a:tc>
                  <a:txBody>
                    <a:bodyPr/>
                    <a:lstStyle/>
                    <a:p>
                      <a:pPr indent="0" marL="0">
                        <a:buNone/>
                      </a:pPr>
                      <a:r>
                        <a:rPr lang="en-US" sz="1350" b="1" dirty="0">
                          <a:solidFill>
                            <a:srgbClr val="26221F"/>
                          </a:solidFill>
                          <a:latin typeface="Calibri" pitchFamily="34" charset="0"/>
                          <a:ea typeface="Calibri" pitchFamily="34" charset="-122"/>
                          <a:cs typeface="Calibri" pitchFamily="34" charset="-120"/>
                        </a:rPr>
                        <a:t>You are</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350" dirty="0">
                          <a:solidFill>
                            <a:srgbClr val="26221F"/>
                          </a:solidFill>
                          <a:latin typeface="Calibri" pitchFamily="34" charset="0"/>
                          <a:ea typeface="Calibri" pitchFamily="34" charset="-122"/>
                          <a:cs typeface="Calibri" pitchFamily="34" charset="-120"/>
                        </a:rPr>
                        <a:t>Designing a drug-like candidate</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350" dirty="0">
                          <a:solidFill>
                            <a:srgbClr val="26221F"/>
                          </a:solidFill>
                          <a:latin typeface="Calibri" pitchFamily="34" charset="0"/>
                          <a:ea typeface="Calibri" pitchFamily="34" charset="-122"/>
                          <a:cs typeface="Calibri" pitchFamily="34" charset="-120"/>
                        </a:rPr>
                        <a:t>Responding to a live data breach</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r h="0">
                <a:tc>
                  <a:txBody>
                    <a:bodyPr/>
                    <a:lstStyle/>
                    <a:p>
                      <a:pPr indent="0" marL="0">
                        <a:buNone/>
                      </a:pPr>
                      <a:r>
                        <a:rPr lang="en-US" sz="1350" b="1" dirty="0">
                          <a:solidFill>
                            <a:srgbClr val="26221F"/>
                          </a:solidFill>
                          <a:latin typeface="Calibri" pitchFamily="34" charset="0"/>
                          <a:ea typeface="Calibri" pitchFamily="34" charset="-122"/>
                          <a:cs typeface="Calibri" pitchFamily="34" charset="-120"/>
                        </a:rPr>
                        <a:t>You work with</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350" dirty="0">
                          <a:solidFill>
                            <a:srgbClr val="26221F"/>
                          </a:solidFill>
                          <a:latin typeface="Calibri" pitchFamily="34" charset="0"/>
                          <a:ea typeface="Calibri" pitchFamily="34" charset="-122"/>
                          <a:cs typeface="Calibri" pitchFamily="34" charset="-120"/>
                        </a:rPr>
                        <a:t>A molecule and its predicted properties</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350" dirty="0">
                          <a:solidFill>
                            <a:srgbClr val="26221F"/>
                          </a:solidFill>
                          <a:latin typeface="Calibri" pitchFamily="34" charset="0"/>
                          <a:ea typeface="Calibri" pitchFamily="34" charset="-122"/>
                          <a:cs typeface="Calibri" pitchFamily="34" charset="-120"/>
                        </a:rPr>
                        <a:t>An incident arriving on a clock</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r h="0">
                <a:tc>
                  <a:txBody>
                    <a:bodyPr/>
                    <a:lstStyle/>
                    <a:p>
                      <a:pPr indent="0" marL="0">
                        <a:buNone/>
                      </a:pPr>
                      <a:r>
                        <a:rPr lang="en-US" sz="1350" b="1" dirty="0">
                          <a:solidFill>
                            <a:srgbClr val="26221F"/>
                          </a:solidFill>
                          <a:latin typeface="Calibri" pitchFamily="34" charset="0"/>
                          <a:ea typeface="Calibri" pitchFamily="34" charset="-122"/>
                          <a:cs typeface="Calibri" pitchFamily="34" charset="-120"/>
                        </a:rPr>
                        <a:t>The skill</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350" dirty="0">
                          <a:solidFill>
                            <a:srgbClr val="26221F"/>
                          </a:solidFill>
                          <a:latin typeface="Calibri" pitchFamily="34" charset="0"/>
                          <a:ea typeface="Calibri" pitchFamily="34" charset="-122"/>
                          <a:cs typeface="Calibri" pitchFamily="34" charset="-120"/>
                        </a:rPr>
                        <a:t>Reading an AI prediction and acting on it</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350" dirty="0">
                          <a:solidFill>
                            <a:srgbClr val="26221F"/>
                          </a:solidFill>
                          <a:latin typeface="Calibri" pitchFamily="34" charset="0"/>
                          <a:ea typeface="Calibri" pitchFamily="34" charset="-122"/>
                          <a:cs typeface="Calibri" pitchFamily="34" charset="-120"/>
                        </a:rPr>
                        <a:t>Deciding correctly under time and pressure</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r h="0">
                <a:tc>
                  <a:txBody>
                    <a:bodyPr/>
                    <a:lstStyle/>
                    <a:p>
                      <a:pPr indent="0" marL="0">
                        <a:buNone/>
                      </a:pPr>
                      <a:r>
                        <a:rPr lang="en-US" sz="1350" b="1" dirty="0">
                          <a:solidFill>
                            <a:srgbClr val="26221F"/>
                          </a:solidFill>
                          <a:latin typeface="Calibri" pitchFamily="34" charset="0"/>
                          <a:ea typeface="Calibri" pitchFamily="34" charset="-122"/>
                          <a:cs typeface="Calibri" pitchFamily="34" charset="-120"/>
                        </a:rPr>
                        <a:t>Assessed by</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350" dirty="0">
                          <a:solidFill>
                            <a:srgbClr val="26221F"/>
                          </a:solidFill>
                          <a:latin typeface="Calibri" pitchFamily="34" charset="0"/>
                          <a:ea typeface="Calibri" pitchFamily="34" charset="-122"/>
                          <a:cs typeface="Calibri" pitchFamily="34" charset="-120"/>
                        </a:rPr>
                        <a:t>Question paper (20) + report</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350" dirty="0">
                          <a:solidFill>
                            <a:srgbClr val="26221F"/>
                          </a:solidFill>
                          <a:latin typeface="Calibri" pitchFamily="34" charset="0"/>
                          <a:ea typeface="Calibri" pitchFamily="34" charset="-122"/>
                          <a:cs typeface="Calibri" pitchFamily="34" charset="-120"/>
                        </a:rPr>
                        <a:t>Six-criterion rubric out of 100</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bl>
          </a:graphicData>
        </a:graphic>
      </p:graphicFrame>
      <p:sp>
        <p:nvSpPr>
          <p:cNvPr id="9" name="Shape 6"/>
          <p:cNvSpPr/>
          <p:nvPr/>
        </p:nvSpPr>
        <p:spPr>
          <a:xfrm>
            <a:off x="685800" y="5532120"/>
            <a:ext cx="10881360" cy="749808"/>
          </a:xfrm>
          <a:prstGeom prst="rect">
            <a:avLst/>
          </a:prstGeom>
          <a:solidFill>
            <a:srgbClr val="F7EFEF"/>
          </a:solidFill>
          <a:ln w="12700">
            <a:solidFill>
              <a:srgbClr val="E7CFCF"/>
            </a:solidFill>
            <a:prstDash val="solid"/>
          </a:ln>
        </p:spPr>
      </p:sp>
      <p:sp>
        <p:nvSpPr>
          <p:cNvPr id="10" name="Shape 7"/>
          <p:cNvSpPr/>
          <p:nvPr/>
        </p:nvSpPr>
        <p:spPr>
          <a:xfrm>
            <a:off x="685800" y="5532120"/>
            <a:ext cx="50292" cy="749808"/>
          </a:xfrm>
          <a:prstGeom prst="rect">
            <a:avLst/>
          </a:prstGeom>
          <a:solidFill>
            <a:srgbClr val="8C1515"/>
          </a:solidFill>
          <a:ln w="12700">
            <a:solidFill>
              <a:srgbClr val="8C1515"/>
            </a:solidFill>
            <a:prstDash val="solid"/>
          </a:ln>
        </p:spPr>
      </p:sp>
      <p:sp>
        <p:nvSpPr>
          <p:cNvPr id="11" name="Text 8"/>
          <p:cNvSpPr/>
          <p:nvPr/>
        </p:nvSpPr>
        <p:spPr>
          <a:xfrm>
            <a:off x="868680" y="5586984"/>
            <a:ext cx="10515600" cy="640080"/>
          </a:xfrm>
          <a:prstGeom prst="rect">
            <a:avLst/>
          </a:prstGeom>
          <a:noFill/>
          <a:ln/>
        </p:spPr>
        <p:txBody>
          <a:bodyPr wrap="square" rtlCol="0" anchor="ctr"/>
          <a:lstStyle/>
          <a:p>
            <a:pPr indent="0" marL="0">
              <a:buNone/>
            </a:pPr>
            <a:r>
              <a:rPr lang="en-US" sz="1250" dirty="0">
                <a:solidFill>
                  <a:srgbClr val="26221F"/>
                </a:solidFill>
                <a:latin typeface="Calibri" pitchFamily="34" charset="0"/>
                <a:ea typeface="Calibri" pitchFamily="34" charset="-122"/>
                <a:cs typeface="Calibri" pitchFamily="34" charset="-120"/>
              </a:rPr>
              <a:t>Both are AI-foundation practicals: one asks what the model predicts and what you do about it, the other asks what you do when digital systems fail and personal data is exposed.</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6"/>
        </a:solidFill>
      </p:bgPr>
    </p:bg>
    <p:spTree>
      <p:nvGrpSpPr>
        <p:cNvPr id="1" name=""/>
        <p:cNvGrpSpPr/>
        <p:nvPr/>
      </p:nvGrpSpPr>
      <p:grpSpPr>
        <a:xfrm>
          <a:off x="0" y="0"/>
          <a:ext cx="0" cy="0"/>
          <a:chOff x="0" y="0"/>
          <a:chExt cx="0" cy="0"/>
        </a:xfrm>
      </p:grpSpPr>
      <p:sp>
        <p:nvSpPr>
          <p:cNvPr id="2" name="Shape 0"/>
          <p:cNvSpPr/>
          <p:nvPr/>
        </p:nvSpPr>
        <p:spPr>
          <a:xfrm>
            <a:off x="0" y="0"/>
            <a:ext cx="12191695" cy="1133856"/>
          </a:xfrm>
          <a:prstGeom prst="rect">
            <a:avLst/>
          </a:prstGeom>
          <a:solidFill>
            <a:srgbClr val="FFFFFF"/>
          </a:solidFill>
          <a:ln w="12700">
            <a:solidFill>
              <a:srgbClr val="FFFFFF"/>
            </a:solidFill>
            <a:prstDash val="solid"/>
          </a:ln>
        </p:spPr>
      </p:sp>
      <p:sp>
        <p:nvSpPr>
          <p:cNvPr id="3" name="Shape 1"/>
          <p:cNvSpPr/>
          <p:nvPr/>
        </p:nvSpPr>
        <p:spPr>
          <a:xfrm>
            <a:off x="0" y="1133856"/>
            <a:ext cx="12191695" cy="32004"/>
          </a:xfrm>
          <a:prstGeom prst="rect">
            <a:avLst/>
          </a:prstGeom>
          <a:solidFill>
            <a:srgbClr val="8C1515"/>
          </a:solidFill>
          <a:ln w="12700">
            <a:solidFill>
              <a:srgbClr val="8C1515"/>
            </a:solidFill>
            <a:prstDash val="solid"/>
          </a:ln>
        </p:spPr>
      </p:sp>
      <p:sp>
        <p:nvSpPr>
          <p:cNvPr id="4" name="Text 2"/>
          <p:cNvSpPr/>
          <p:nvPr/>
        </p:nvSpPr>
        <p:spPr>
          <a:xfrm>
            <a:off x="566928" y="201168"/>
            <a:ext cx="10972800" cy="274320"/>
          </a:xfrm>
          <a:prstGeom prst="rect">
            <a:avLst/>
          </a:prstGeom>
          <a:noFill/>
          <a:ln/>
        </p:spPr>
        <p:txBody>
          <a:bodyPr wrap="square" rtlCol="0" anchor="ctr"/>
          <a:lstStyle/>
          <a:p>
            <a:pPr indent="0" marL="0">
              <a:buNone/>
            </a:pPr>
            <a:r>
              <a:rPr lang="en-US" sz="1100" b="1" spc="140" kern="0" dirty="0">
                <a:solidFill>
                  <a:srgbClr val="8C1515"/>
                </a:solidFill>
                <a:latin typeface="Calibri" pitchFamily="34" charset="0"/>
                <a:ea typeface="Calibri" pitchFamily="34" charset="-122"/>
                <a:cs typeface="Calibri" pitchFamily="34" charset="-120"/>
              </a:rPr>
              <a:t>Before either practical</a:t>
            </a:r>
            <a:endParaRPr lang="en-US" sz="1100" dirty="0"/>
          </a:p>
        </p:txBody>
      </p:sp>
      <p:sp>
        <p:nvSpPr>
          <p:cNvPr id="5" name="Text 3"/>
          <p:cNvSpPr/>
          <p:nvPr/>
        </p:nvSpPr>
        <p:spPr>
          <a:xfrm>
            <a:off x="566928" y="475488"/>
            <a:ext cx="11064240" cy="566928"/>
          </a:xfrm>
          <a:prstGeom prst="rect">
            <a:avLst/>
          </a:prstGeom>
          <a:noFill/>
          <a:ln/>
        </p:spPr>
        <p:txBody>
          <a:bodyPr wrap="square" rtlCol="0" anchor="ctr"/>
          <a:lstStyle/>
          <a:p>
            <a:pPr indent="0" marL="0">
              <a:buNone/>
            </a:pPr>
            <a:r>
              <a:rPr lang="en-US" sz="2600" b="1" dirty="0">
                <a:solidFill>
                  <a:srgbClr val="26221F"/>
                </a:solidFill>
                <a:latin typeface="Cambria" pitchFamily="34" charset="0"/>
                <a:ea typeface="Cambria" pitchFamily="34" charset="-122"/>
                <a:cs typeface="Cambria" pitchFamily="34" charset="-120"/>
              </a:rPr>
              <a:t>The shape of every practical</a:t>
            </a:r>
            <a:endParaRPr lang="en-US" sz="2600" dirty="0"/>
          </a:p>
        </p:txBody>
      </p:sp>
      <p:sp>
        <p:nvSpPr>
          <p:cNvPr id="6" name="Shape 4"/>
          <p:cNvSpPr/>
          <p:nvPr/>
        </p:nvSpPr>
        <p:spPr>
          <a:xfrm>
            <a:off x="0" y="6473952"/>
            <a:ext cx="12191695" cy="384048"/>
          </a:xfrm>
          <a:prstGeom prst="rect">
            <a:avLst/>
          </a:prstGeom>
          <a:solidFill>
            <a:srgbClr val="FAF8F6"/>
          </a:solidFill>
          <a:ln w="12700">
            <a:solidFill>
              <a:srgbClr val="FAF8F6"/>
            </a:solidFill>
            <a:prstDash val="solid"/>
          </a:ln>
        </p:spPr>
      </p:sp>
      <p:sp>
        <p:nvSpPr>
          <p:cNvPr id="7" name="Text 5"/>
          <p:cNvSpPr/>
          <p:nvPr/>
        </p:nvSpPr>
        <p:spPr>
          <a:xfrm>
            <a:off x="457200" y="6492240"/>
            <a:ext cx="8229600" cy="310896"/>
          </a:xfrm>
          <a:prstGeom prst="rect">
            <a:avLst/>
          </a:prstGeom>
          <a:noFill/>
          <a:ln/>
        </p:spPr>
        <p:txBody>
          <a:bodyPr wrap="square" rtlCol="0" anchor="ctr"/>
          <a:lstStyle/>
          <a:p>
            <a:pPr indent="0" marL="0">
              <a:buNone/>
            </a:pPr>
            <a:r>
              <a:rPr lang="en-US" sz="1000" dirty="0">
                <a:solidFill>
                  <a:srgbClr val="6E6A63"/>
                </a:solidFill>
                <a:latin typeface="Calibri" pitchFamily="34" charset="0"/>
                <a:ea typeface="Calibri" pitchFamily="34" charset="-122"/>
                <a:cs typeface="Calibri" pitchFamily="34" charset="-120"/>
              </a:rPr>
              <a:t>ALIZON OS · Pharmacy AI · Module 1 — AI Foundations &amp; Digital Systems</a:t>
            </a:r>
            <a:endParaRPr lang="en-US" sz="1000" dirty="0"/>
          </a:p>
        </p:txBody>
      </p:sp>
      <p:sp>
        <p:nvSpPr>
          <p:cNvPr id="8" name="Text 6"/>
          <p:cNvSpPr/>
          <p:nvPr/>
        </p:nvSpPr>
        <p:spPr>
          <a:xfrm>
            <a:off x="685800" y="1517904"/>
            <a:ext cx="10881360" cy="4572000"/>
          </a:xfrm>
          <a:prstGeom prst="rect">
            <a:avLst/>
          </a:prstGeom>
          <a:noFill/>
          <a:ln/>
        </p:spPr>
        <p:txBody>
          <a:bodyPr wrap="square" rtlCol="0" anchor="t"/>
          <a:lstStyle/>
          <a:p>
            <a:pPr marL="342900" indent="-342900">
              <a:lnSpc>
                <a:spcPct val="122000"/>
              </a:lnSpc>
              <a:buSzPct val="100000"/>
              <a:buChar char="•"/>
            </a:pPr>
            <a:r>
              <a:rPr lang="en-US" sz="1600" dirty="0">
                <a:solidFill>
                  <a:srgbClr val="26221F"/>
                </a:solidFill>
                <a:latin typeface="Calibri" pitchFamily="34" charset="0"/>
                <a:ea typeface="Calibri" pitchFamily="34" charset="-122"/>
                <a:cs typeface="Calibri" pitchFamily="34" charset="-120"/>
              </a:rPr>
              <a:t>Briefing — aim, principle, theory, requirements, procedure and guided method. Read it before touching anything.</a:t>
            </a:r>
            <a:endParaRPr lang="en-US" sz="1600" dirty="0"/>
          </a:p>
          <a:p>
            <a:pPr marL="342900" indent="-342900">
              <a:lnSpc>
                <a:spcPct val="122000"/>
              </a:lnSpc>
              <a:buSzPct val="100000"/>
              <a:buChar char="•"/>
            </a:pPr>
            <a:r>
              <a:rPr lang="en-US" sz="1600" dirty="0">
                <a:solidFill>
                  <a:srgbClr val="26221F"/>
                </a:solidFill>
                <a:latin typeface="Calibri" pitchFamily="34" charset="0"/>
                <a:ea typeface="Calibri" pitchFamily="34" charset="-122"/>
                <a:cs typeface="Calibri" pitchFamily="34" charset="-120"/>
              </a:rPr>
              <a:t>The work area — the molecule builder, or the incident room. This is where the marks are earned.</a:t>
            </a:r>
            <a:endParaRPr lang="en-US" sz="1600" dirty="0"/>
          </a:p>
          <a:p>
            <a:pPr marL="342900" indent="-342900">
              <a:lnSpc>
                <a:spcPct val="122000"/>
              </a:lnSpc>
              <a:buSzPct val="100000"/>
              <a:buChar char="•"/>
            </a:pPr>
            <a:r>
              <a:rPr lang="en-US" sz="1600" dirty="0">
                <a:solidFill>
                  <a:srgbClr val="26221F"/>
                </a:solidFill>
                <a:latin typeface="Calibri" pitchFamily="34" charset="0"/>
                <a:ea typeface="Calibri" pitchFamily="34" charset="-122"/>
                <a:cs typeface="Calibri" pitchFamily="34" charset="-120"/>
              </a:rPr>
              <a:t>Result &amp; Record — the generated report and your mark.</a:t>
            </a:r>
            <a:endParaRPr lang="en-US" sz="1600" dirty="0"/>
          </a:p>
          <a:p>
            <a:pPr marL="342900" indent="-342900">
              <a:lnSpc>
                <a:spcPct val="122000"/>
              </a:lnSpc>
              <a:buSzPct val="100000"/>
              <a:buChar char="•"/>
            </a:pPr>
            <a:r>
              <a:rPr lang="en-US" sz="1600" dirty="0">
                <a:solidFill>
                  <a:srgbClr val="26221F"/>
                </a:solidFill>
                <a:latin typeface="Calibri" pitchFamily="34" charset="0"/>
                <a:ea typeface="Calibri" pitchFamily="34" charset="-122"/>
                <a:cs typeface="Calibri" pitchFamily="34" charset="-120"/>
              </a:rPr>
              <a:t>You then write your own report, attach the required PDFs and submit it to faculty.</a:t>
            </a:r>
            <a:endParaRPr lang="en-US" sz="1600" dirty="0"/>
          </a:p>
          <a:p>
            <a:pPr marL="342900" indent="-342900">
              <a:lnSpc>
                <a:spcPct val="122000"/>
              </a:lnSpc>
              <a:buSzPct val="100000"/>
              <a:buChar char="•"/>
            </a:pPr>
            <a:r>
              <a:rPr lang="en-US" sz="1600" dirty="0">
                <a:solidFill>
                  <a:srgbClr val="26221F"/>
                </a:solidFill>
                <a:latin typeface="Calibri" pitchFamily="34" charset="0"/>
                <a:ea typeface="Calibri" pitchFamily="34" charset="-122"/>
                <a:cs typeface="Calibri" pitchFamily="34" charset="-120"/>
              </a:rPr>
              <a:t>Download PDF gives you a real PDF file of the letterheaded report to keep.</a:t>
            </a:r>
            <a:endParaRPr lang="en-US" sz="1600" dirty="0"/>
          </a:p>
        </p:txBody>
      </p:sp>
      <p:sp>
        <p:nvSpPr>
          <p:cNvPr id="9" name="Shape 7"/>
          <p:cNvSpPr/>
          <p:nvPr/>
        </p:nvSpPr>
        <p:spPr>
          <a:xfrm>
            <a:off x="685800" y="5532120"/>
            <a:ext cx="10881360" cy="749808"/>
          </a:xfrm>
          <a:prstGeom prst="rect">
            <a:avLst/>
          </a:prstGeom>
          <a:solidFill>
            <a:srgbClr val="F7EFEF"/>
          </a:solidFill>
          <a:ln w="12700">
            <a:solidFill>
              <a:srgbClr val="E7CFCF"/>
            </a:solidFill>
            <a:prstDash val="solid"/>
          </a:ln>
        </p:spPr>
      </p:sp>
      <p:sp>
        <p:nvSpPr>
          <p:cNvPr id="10" name="Shape 8"/>
          <p:cNvSpPr/>
          <p:nvPr/>
        </p:nvSpPr>
        <p:spPr>
          <a:xfrm>
            <a:off x="685800" y="5532120"/>
            <a:ext cx="50292" cy="749808"/>
          </a:xfrm>
          <a:prstGeom prst="rect">
            <a:avLst/>
          </a:prstGeom>
          <a:solidFill>
            <a:srgbClr val="8C1515"/>
          </a:solidFill>
          <a:ln w="12700">
            <a:solidFill>
              <a:srgbClr val="8C1515"/>
            </a:solidFill>
            <a:prstDash val="solid"/>
          </a:ln>
        </p:spPr>
      </p:sp>
      <p:sp>
        <p:nvSpPr>
          <p:cNvPr id="11" name="Text 9"/>
          <p:cNvSpPr/>
          <p:nvPr/>
        </p:nvSpPr>
        <p:spPr>
          <a:xfrm>
            <a:off x="868680" y="5586984"/>
            <a:ext cx="10515600" cy="640080"/>
          </a:xfrm>
          <a:prstGeom prst="rect">
            <a:avLst/>
          </a:prstGeom>
          <a:noFill/>
          <a:ln/>
        </p:spPr>
        <p:txBody>
          <a:bodyPr wrap="square" rtlCol="0" anchor="ctr"/>
          <a:lstStyle/>
          <a:p>
            <a:pPr indent="0" marL="0">
              <a:buNone/>
            </a:pPr>
            <a:r>
              <a:rPr lang="en-US" sz="1250" dirty="0">
                <a:solidFill>
                  <a:srgbClr val="26221F"/>
                </a:solidFill>
                <a:latin typeface="Calibri" pitchFamily="34" charset="0"/>
                <a:ea typeface="Calibri" pitchFamily="34" charset="-122"/>
                <a:cs typeface="Calibri" pitchFamily="34" charset="-120"/>
              </a:rPr>
              <a:t>Everything in both practicals is simulated for teaching. No molecule here is a medicine and no record here belongs to a real person.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E1010"/>
        </a:solidFill>
      </p:bgPr>
    </p:bg>
    <p:spTree>
      <p:nvGrpSpPr>
        <p:cNvPr id="1" name=""/>
        <p:cNvGrpSpPr/>
        <p:nvPr/>
      </p:nvGrpSpPr>
      <p:grpSpPr>
        <a:xfrm>
          <a:off x="0" y="0"/>
          <a:ext cx="0" cy="0"/>
          <a:chOff x="0" y="0"/>
          <a:chExt cx="0" cy="0"/>
        </a:xfrm>
      </p:grpSpPr>
      <p:sp>
        <p:nvSpPr>
          <p:cNvPr id="2" name="Text 0"/>
          <p:cNvSpPr/>
          <p:nvPr/>
        </p:nvSpPr>
        <p:spPr>
          <a:xfrm>
            <a:off x="822960" y="2377440"/>
            <a:ext cx="10515600" cy="457200"/>
          </a:xfrm>
          <a:prstGeom prst="rect">
            <a:avLst/>
          </a:prstGeom>
          <a:noFill/>
          <a:ln/>
        </p:spPr>
        <p:txBody>
          <a:bodyPr wrap="square" rtlCol="0" anchor="ctr"/>
          <a:lstStyle/>
          <a:p>
            <a:pPr indent="0" marL="0">
              <a:buNone/>
            </a:pPr>
            <a:r>
              <a:rPr lang="en-US" sz="1300" b="1" spc="240" kern="0" dirty="0">
                <a:solidFill>
                  <a:srgbClr val="9A7B3F"/>
                </a:solidFill>
                <a:latin typeface="Calibri" pitchFamily="34" charset="0"/>
                <a:ea typeface="Calibri" pitchFamily="34" charset="-122"/>
                <a:cs typeface="Calibri" pitchFamily="34" charset="-120"/>
              </a:rPr>
              <a:t>PRACTICAL 1 · UNIT 1</a:t>
            </a:r>
            <a:endParaRPr lang="en-US" sz="1300" dirty="0"/>
          </a:p>
        </p:txBody>
      </p:sp>
      <p:sp>
        <p:nvSpPr>
          <p:cNvPr id="3" name="Text 1"/>
          <p:cNvSpPr/>
          <p:nvPr/>
        </p:nvSpPr>
        <p:spPr>
          <a:xfrm>
            <a:off x="822960" y="2834640"/>
            <a:ext cx="10515600" cy="146304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Designing a Drug-like Candidate using Machine Learning</a:t>
            </a:r>
            <a:endParaRPr lang="en-US" sz="3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6"/>
        </a:solidFill>
      </p:bgPr>
    </p:bg>
    <p:spTree>
      <p:nvGrpSpPr>
        <p:cNvPr id="1" name=""/>
        <p:cNvGrpSpPr/>
        <p:nvPr/>
      </p:nvGrpSpPr>
      <p:grpSpPr>
        <a:xfrm>
          <a:off x="0" y="0"/>
          <a:ext cx="0" cy="0"/>
          <a:chOff x="0" y="0"/>
          <a:chExt cx="0" cy="0"/>
        </a:xfrm>
      </p:grpSpPr>
      <p:sp>
        <p:nvSpPr>
          <p:cNvPr id="2" name="Shape 0"/>
          <p:cNvSpPr/>
          <p:nvPr/>
        </p:nvSpPr>
        <p:spPr>
          <a:xfrm>
            <a:off x="0" y="0"/>
            <a:ext cx="12191695" cy="1133856"/>
          </a:xfrm>
          <a:prstGeom prst="rect">
            <a:avLst/>
          </a:prstGeom>
          <a:solidFill>
            <a:srgbClr val="FFFFFF"/>
          </a:solidFill>
          <a:ln w="12700">
            <a:solidFill>
              <a:srgbClr val="FFFFFF"/>
            </a:solidFill>
            <a:prstDash val="solid"/>
          </a:ln>
        </p:spPr>
      </p:sp>
      <p:sp>
        <p:nvSpPr>
          <p:cNvPr id="3" name="Shape 1"/>
          <p:cNvSpPr/>
          <p:nvPr/>
        </p:nvSpPr>
        <p:spPr>
          <a:xfrm>
            <a:off x="0" y="1133856"/>
            <a:ext cx="12191695" cy="32004"/>
          </a:xfrm>
          <a:prstGeom prst="rect">
            <a:avLst/>
          </a:prstGeom>
          <a:solidFill>
            <a:srgbClr val="8C1515"/>
          </a:solidFill>
          <a:ln w="12700">
            <a:solidFill>
              <a:srgbClr val="8C1515"/>
            </a:solidFill>
            <a:prstDash val="solid"/>
          </a:ln>
        </p:spPr>
      </p:sp>
      <p:sp>
        <p:nvSpPr>
          <p:cNvPr id="4" name="Text 2"/>
          <p:cNvSpPr/>
          <p:nvPr/>
        </p:nvSpPr>
        <p:spPr>
          <a:xfrm>
            <a:off x="566928" y="201168"/>
            <a:ext cx="10972800" cy="274320"/>
          </a:xfrm>
          <a:prstGeom prst="rect">
            <a:avLst/>
          </a:prstGeom>
          <a:noFill/>
          <a:ln/>
        </p:spPr>
        <p:txBody>
          <a:bodyPr wrap="square" rtlCol="0" anchor="ctr"/>
          <a:lstStyle/>
          <a:p>
            <a:pPr indent="0" marL="0">
              <a:buNone/>
            </a:pPr>
            <a:r>
              <a:rPr lang="en-US" sz="1100" b="1" spc="140" kern="0" dirty="0">
                <a:solidFill>
                  <a:srgbClr val="8C1515"/>
                </a:solidFill>
                <a:latin typeface="Calibri" pitchFamily="34" charset="0"/>
                <a:ea typeface="Calibri" pitchFamily="34" charset="-122"/>
                <a:cs typeface="Calibri" pitchFamily="34" charset="-120"/>
              </a:rPr>
              <a:t>Practical 1 · what you are doing</a:t>
            </a:r>
            <a:endParaRPr lang="en-US" sz="1100" dirty="0"/>
          </a:p>
        </p:txBody>
      </p:sp>
      <p:sp>
        <p:nvSpPr>
          <p:cNvPr id="5" name="Text 3"/>
          <p:cNvSpPr/>
          <p:nvPr/>
        </p:nvSpPr>
        <p:spPr>
          <a:xfrm>
            <a:off x="566928" y="475488"/>
            <a:ext cx="11064240" cy="566928"/>
          </a:xfrm>
          <a:prstGeom prst="rect">
            <a:avLst/>
          </a:prstGeom>
          <a:noFill/>
          <a:ln/>
        </p:spPr>
        <p:txBody>
          <a:bodyPr wrap="square" rtlCol="0" anchor="ctr"/>
          <a:lstStyle/>
          <a:p>
            <a:pPr indent="0" marL="0">
              <a:buNone/>
            </a:pPr>
            <a:r>
              <a:rPr lang="en-US" sz="2600" b="1" dirty="0">
                <a:solidFill>
                  <a:srgbClr val="26221F"/>
                </a:solidFill>
                <a:latin typeface="Cambria" pitchFamily="34" charset="0"/>
                <a:ea typeface="Cambria" pitchFamily="34" charset="-122"/>
                <a:cs typeface="Cambria" pitchFamily="34" charset="-120"/>
              </a:rPr>
              <a:t>Aim</a:t>
            </a:r>
            <a:endParaRPr lang="en-US" sz="2600" dirty="0"/>
          </a:p>
        </p:txBody>
      </p:sp>
      <p:sp>
        <p:nvSpPr>
          <p:cNvPr id="6" name="Shape 4"/>
          <p:cNvSpPr/>
          <p:nvPr/>
        </p:nvSpPr>
        <p:spPr>
          <a:xfrm>
            <a:off x="0" y="6473952"/>
            <a:ext cx="12191695" cy="384048"/>
          </a:xfrm>
          <a:prstGeom prst="rect">
            <a:avLst/>
          </a:prstGeom>
          <a:solidFill>
            <a:srgbClr val="FAF8F6"/>
          </a:solidFill>
          <a:ln w="12700">
            <a:solidFill>
              <a:srgbClr val="FAF8F6"/>
            </a:solidFill>
            <a:prstDash val="solid"/>
          </a:ln>
        </p:spPr>
      </p:sp>
      <p:sp>
        <p:nvSpPr>
          <p:cNvPr id="7" name="Text 5"/>
          <p:cNvSpPr/>
          <p:nvPr/>
        </p:nvSpPr>
        <p:spPr>
          <a:xfrm>
            <a:off x="457200" y="6492240"/>
            <a:ext cx="8229600" cy="310896"/>
          </a:xfrm>
          <a:prstGeom prst="rect">
            <a:avLst/>
          </a:prstGeom>
          <a:noFill/>
          <a:ln/>
        </p:spPr>
        <p:txBody>
          <a:bodyPr wrap="square" rtlCol="0" anchor="ctr"/>
          <a:lstStyle/>
          <a:p>
            <a:pPr indent="0" marL="0">
              <a:buNone/>
            </a:pPr>
            <a:r>
              <a:rPr lang="en-US" sz="1000" dirty="0">
                <a:solidFill>
                  <a:srgbClr val="6E6A63"/>
                </a:solidFill>
                <a:latin typeface="Calibri" pitchFamily="34" charset="0"/>
                <a:ea typeface="Calibri" pitchFamily="34" charset="-122"/>
                <a:cs typeface="Calibri" pitchFamily="34" charset="-120"/>
              </a:rPr>
              <a:t>ALIZON OS · Pharmacy AI · Module 1 — AI Foundations &amp; Digital Systems</a:t>
            </a:r>
            <a:endParaRPr lang="en-US" sz="1000" dirty="0"/>
          </a:p>
        </p:txBody>
      </p:sp>
      <p:sp>
        <p:nvSpPr>
          <p:cNvPr id="8" name="Text 6"/>
          <p:cNvSpPr/>
          <p:nvPr/>
        </p:nvSpPr>
        <p:spPr>
          <a:xfrm>
            <a:off x="685800" y="1600200"/>
            <a:ext cx="10881360" cy="2011680"/>
          </a:xfrm>
          <a:prstGeom prst="rect">
            <a:avLst/>
          </a:prstGeom>
          <a:noFill/>
          <a:ln/>
        </p:spPr>
        <p:txBody>
          <a:bodyPr wrap="square" rtlCol="0" anchor="ctr"/>
          <a:lstStyle/>
          <a:p>
            <a:pPr indent="0" marL="0">
              <a:lnSpc>
                <a:spcPct val="130000"/>
              </a:lnSpc>
              <a:buNone/>
            </a:pPr>
            <a:r>
              <a:rPr lang="en-US" sz="1700" dirty="0">
                <a:solidFill>
                  <a:srgbClr val="26221F"/>
                </a:solidFill>
                <a:latin typeface="Calibri" pitchFamily="34" charset="0"/>
                <a:ea typeface="Calibri" pitchFamily="34" charset="-122"/>
                <a:cs typeface="Calibri" pitchFamily="34" charset="-120"/>
              </a:rPr>
              <a:t>To design a candidate drug molecule in-silico, correct faulty candidates, and evaluate its drug-likeness and predicted oral bioavailability using an AI (machine-learning) model.</a:t>
            </a:r>
            <a:endParaRPr lang="en-US" sz="1700" dirty="0"/>
          </a:p>
        </p:txBody>
      </p:sp>
      <p:sp>
        <p:nvSpPr>
          <p:cNvPr id="9" name="Text 7"/>
          <p:cNvSpPr/>
          <p:nvPr/>
        </p:nvSpPr>
        <p:spPr>
          <a:xfrm>
            <a:off x="685800" y="3749040"/>
            <a:ext cx="10881360" cy="292608"/>
          </a:xfrm>
          <a:prstGeom prst="rect">
            <a:avLst/>
          </a:prstGeom>
          <a:noFill/>
          <a:ln/>
        </p:spPr>
        <p:txBody>
          <a:bodyPr wrap="square" rtlCol="0" anchor="ctr"/>
          <a:lstStyle/>
          <a:p>
            <a:pPr indent="0" marL="0">
              <a:buNone/>
            </a:pPr>
            <a:r>
              <a:rPr lang="en-US" sz="1200" b="1" spc="120" kern="0" dirty="0">
                <a:solidFill>
                  <a:srgbClr val="8C1515"/>
                </a:solidFill>
                <a:latin typeface="Calibri" pitchFamily="34" charset="0"/>
                <a:ea typeface="Calibri" pitchFamily="34" charset="-122"/>
                <a:cs typeface="Calibri" pitchFamily="34" charset="-120"/>
              </a:rPr>
              <a:t>You will need</a:t>
            </a:r>
            <a:endParaRPr lang="en-US" sz="1200" dirty="0"/>
          </a:p>
        </p:txBody>
      </p:sp>
      <p:sp>
        <p:nvSpPr>
          <p:cNvPr id="10" name="Text 8"/>
          <p:cNvSpPr/>
          <p:nvPr/>
        </p:nvSpPr>
        <p:spPr>
          <a:xfrm>
            <a:off x="685800" y="4078224"/>
            <a:ext cx="10881360" cy="1371600"/>
          </a:xfrm>
          <a:prstGeom prst="rect">
            <a:avLst/>
          </a:prstGeom>
          <a:noFill/>
          <a:ln/>
        </p:spPr>
        <p:txBody>
          <a:bodyPr wrap="square" rtlCol="0" anchor="t"/>
          <a:lstStyle/>
          <a:p>
            <a:pPr marL="342900" indent="-342900">
              <a:lnSpc>
                <a:spcPct val="122000"/>
              </a:lnSpc>
              <a:buSzPct val="100000"/>
              <a:buChar char="•"/>
            </a:pPr>
            <a:r>
              <a:rPr lang="en-US" sz="1350" dirty="0">
                <a:solidFill>
                  <a:srgbClr val="26221F"/>
                </a:solidFill>
                <a:latin typeface="Calibri" pitchFamily="34" charset="0"/>
                <a:ea typeface="Calibri" pitchFamily="34" charset="-122"/>
                <a:cs typeface="Calibri" pitchFamily="34" charset="-120"/>
              </a:rPr>
              <a:t>AI molecule synthesizer / design tool</a:t>
            </a:r>
            <a:endParaRPr lang="en-US" sz="1350" dirty="0"/>
          </a:p>
          <a:p>
            <a:pPr marL="342900" indent="-342900">
              <a:lnSpc>
                <a:spcPct val="122000"/>
              </a:lnSpc>
              <a:buSzPct val="100000"/>
              <a:buChar char="•"/>
            </a:pPr>
            <a:r>
              <a:rPr lang="en-US" sz="1350" dirty="0">
                <a:solidFill>
                  <a:srgbClr val="26221F"/>
                </a:solidFill>
                <a:latin typeface="Calibri" pitchFamily="34" charset="0"/>
                <a:ea typeface="Calibri" pitchFamily="34" charset="-122"/>
                <a:cs typeface="Calibri" pitchFamily="34" charset="-120"/>
              </a:rPr>
              <a:t>Property sliders (MW, LogP, TPSA, H-bond donors/acceptors, rotatable bonds)</a:t>
            </a:r>
            <a:endParaRPr lang="en-US" sz="1350" dirty="0"/>
          </a:p>
          <a:p>
            <a:pPr marL="342900" indent="-342900">
              <a:lnSpc>
                <a:spcPct val="122000"/>
              </a:lnSpc>
              <a:buSzPct val="100000"/>
              <a:buChar char="•"/>
            </a:pPr>
            <a:r>
              <a:rPr lang="en-US" sz="1350" dirty="0">
                <a:solidFill>
                  <a:srgbClr val="26221F"/>
                </a:solidFill>
                <a:latin typeface="Calibri" pitchFamily="34" charset="0"/>
                <a:ea typeface="Calibri" pitchFamily="34" charset="-122"/>
                <a:cs typeface="Calibri" pitchFamily="34" charset="-120"/>
              </a:rPr>
              <a:t>Machine-learning drug-likeness classifier</a:t>
            </a:r>
            <a:endParaRPr lang="en-US" sz="1350" dirty="0"/>
          </a:p>
          <a:p>
            <a:pPr marL="342900" indent="-342900">
              <a:lnSpc>
                <a:spcPct val="122000"/>
              </a:lnSpc>
              <a:buSzPct val="100000"/>
              <a:buChar char="•"/>
            </a:pPr>
            <a:r>
              <a:rPr lang="en-US" sz="1350" dirty="0">
                <a:solidFill>
                  <a:srgbClr val="26221F"/>
                </a:solidFill>
                <a:latin typeface="Calibri" pitchFamily="34" charset="0"/>
                <a:ea typeface="Calibri" pitchFamily="34" charset="-122"/>
                <a:cs typeface="Calibri" pitchFamily="34" charset="-120"/>
              </a:rPr>
              <a:t>Lipinski &amp; Veber rule references</a:t>
            </a:r>
            <a:endParaRPr lang="en-US" sz="1350" dirty="0"/>
          </a:p>
          <a:p>
            <a:pPr marL="342900" indent="-342900">
              <a:lnSpc>
                <a:spcPct val="122000"/>
              </a:lnSpc>
              <a:buSzPct val="100000"/>
              <a:buChar char="•"/>
            </a:pPr>
            <a:r>
              <a:rPr lang="en-US" sz="1350" dirty="0">
                <a:solidFill>
                  <a:srgbClr val="26221F"/>
                </a:solidFill>
                <a:latin typeface="Calibri" pitchFamily="34" charset="0"/>
                <a:ea typeface="Calibri" pitchFamily="34" charset="-122"/>
                <a:cs typeface="Calibri" pitchFamily="34" charset="-120"/>
              </a:rPr>
              <a:t>Built-in report generator</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6"/>
        </a:solidFill>
      </p:bgPr>
    </p:bg>
    <p:spTree>
      <p:nvGrpSpPr>
        <p:cNvPr id="1" name=""/>
        <p:cNvGrpSpPr/>
        <p:nvPr/>
      </p:nvGrpSpPr>
      <p:grpSpPr>
        <a:xfrm>
          <a:off x="0" y="0"/>
          <a:ext cx="0" cy="0"/>
          <a:chOff x="0" y="0"/>
          <a:chExt cx="0" cy="0"/>
        </a:xfrm>
      </p:grpSpPr>
      <p:sp>
        <p:nvSpPr>
          <p:cNvPr id="2" name="Shape 0"/>
          <p:cNvSpPr/>
          <p:nvPr/>
        </p:nvSpPr>
        <p:spPr>
          <a:xfrm>
            <a:off x="0" y="0"/>
            <a:ext cx="12191695" cy="1133856"/>
          </a:xfrm>
          <a:prstGeom prst="rect">
            <a:avLst/>
          </a:prstGeom>
          <a:solidFill>
            <a:srgbClr val="FFFFFF"/>
          </a:solidFill>
          <a:ln w="12700">
            <a:solidFill>
              <a:srgbClr val="FFFFFF"/>
            </a:solidFill>
            <a:prstDash val="solid"/>
          </a:ln>
        </p:spPr>
      </p:sp>
      <p:sp>
        <p:nvSpPr>
          <p:cNvPr id="3" name="Shape 1"/>
          <p:cNvSpPr/>
          <p:nvPr/>
        </p:nvSpPr>
        <p:spPr>
          <a:xfrm>
            <a:off x="0" y="1133856"/>
            <a:ext cx="12191695" cy="32004"/>
          </a:xfrm>
          <a:prstGeom prst="rect">
            <a:avLst/>
          </a:prstGeom>
          <a:solidFill>
            <a:srgbClr val="8C1515"/>
          </a:solidFill>
          <a:ln w="12700">
            <a:solidFill>
              <a:srgbClr val="8C1515"/>
            </a:solidFill>
            <a:prstDash val="solid"/>
          </a:ln>
        </p:spPr>
      </p:sp>
      <p:sp>
        <p:nvSpPr>
          <p:cNvPr id="4" name="Text 2"/>
          <p:cNvSpPr/>
          <p:nvPr/>
        </p:nvSpPr>
        <p:spPr>
          <a:xfrm>
            <a:off x="566928" y="201168"/>
            <a:ext cx="10972800" cy="274320"/>
          </a:xfrm>
          <a:prstGeom prst="rect">
            <a:avLst/>
          </a:prstGeom>
          <a:noFill/>
          <a:ln/>
        </p:spPr>
        <p:txBody>
          <a:bodyPr wrap="square" rtlCol="0" anchor="ctr"/>
          <a:lstStyle/>
          <a:p>
            <a:pPr indent="0" marL="0">
              <a:buNone/>
            </a:pPr>
            <a:r>
              <a:rPr lang="en-US" sz="1100" b="1" spc="140" kern="0" dirty="0">
                <a:solidFill>
                  <a:srgbClr val="8C1515"/>
                </a:solidFill>
                <a:latin typeface="Calibri" pitchFamily="34" charset="0"/>
                <a:ea typeface="Calibri" pitchFamily="34" charset="-122"/>
                <a:cs typeface="Calibri" pitchFamily="34" charset="-120"/>
              </a:rPr>
              <a:t>Practical 1 · why it works</a:t>
            </a:r>
            <a:endParaRPr lang="en-US" sz="1100" dirty="0"/>
          </a:p>
        </p:txBody>
      </p:sp>
      <p:sp>
        <p:nvSpPr>
          <p:cNvPr id="5" name="Text 3"/>
          <p:cNvSpPr/>
          <p:nvPr/>
        </p:nvSpPr>
        <p:spPr>
          <a:xfrm>
            <a:off x="566928" y="475488"/>
            <a:ext cx="11064240" cy="566928"/>
          </a:xfrm>
          <a:prstGeom prst="rect">
            <a:avLst/>
          </a:prstGeom>
          <a:noFill/>
          <a:ln/>
        </p:spPr>
        <p:txBody>
          <a:bodyPr wrap="square" rtlCol="0" anchor="ctr"/>
          <a:lstStyle/>
          <a:p>
            <a:pPr indent="0" marL="0">
              <a:buNone/>
            </a:pPr>
            <a:r>
              <a:rPr lang="en-US" sz="2600" b="1" dirty="0">
                <a:solidFill>
                  <a:srgbClr val="26221F"/>
                </a:solidFill>
                <a:latin typeface="Cambria" pitchFamily="34" charset="0"/>
                <a:ea typeface="Cambria" pitchFamily="34" charset="-122"/>
                <a:cs typeface="Cambria" pitchFamily="34" charset="-120"/>
              </a:rPr>
              <a:t>Principle</a:t>
            </a:r>
            <a:endParaRPr lang="en-US" sz="2600" dirty="0"/>
          </a:p>
        </p:txBody>
      </p:sp>
      <p:sp>
        <p:nvSpPr>
          <p:cNvPr id="6" name="Shape 4"/>
          <p:cNvSpPr/>
          <p:nvPr/>
        </p:nvSpPr>
        <p:spPr>
          <a:xfrm>
            <a:off x="0" y="6473952"/>
            <a:ext cx="12191695" cy="384048"/>
          </a:xfrm>
          <a:prstGeom prst="rect">
            <a:avLst/>
          </a:prstGeom>
          <a:solidFill>
            <a:srgbClr val="FAF8F6"/>
          </a:solidFill>
          <a:ln w="12700">
            <a:solidFill>
              <a:srgbClr val="FAF8F6"/>
            </a:solidFill>
            <a:prstDash val="solid"/>
          </a:ln>
        </p:spPr>
      </p:sp>
      <p:sp>
        <p:nvSpPr>
          <p:cNvPr id="7" name="Text 5"/>
          <p:cNvSpPr/>
          <p:nvPr/>
        </p:nvSpPr>
        <p:spPr>
          <a:xfrm>
            <a:off x="457200" y="6492240"/>
            <a:ext cx="8229600" cy="310896"/>
          </a:xfrm>
          <a:prstGeom prst="rect">
            <a:avLst/>
          </a:prstGeom>
          <a:noFill/>
          <a:ln/>
        </p:spPr>
        <p:txBody>
          <a:bodyPr wrap="square" rtlCol="0" anchor="ctr"/>
          <a:lstStyle/>
          <a:p>
            <a:pPr indent="0" marL="0">
              <a:buNone/>
            </a:pPr>
            <a:r>
              <a:rPr lang="en-US" sz="1000" dirty="0">
                <a:solidFill>
                  <a:srgbClr val="6E6A63"/>
                </a:solidFill>
                <a:latin typeface="Calibri" pitchFamily="34" charset="0"/>
                <a:ea typeface="Calibri" pitchFamily="34" charset="-122"/>
                <a:cs typeface="Calibri" pitchFamily="34" charset="-120"/>
              </a:rPr>
              <a:t>ALIZON OS · Pharmacy AI · Module 1 — AI Foundations &amp; Digital Systems</a:t>
            </a:r>
            <a:endParaRPr lang="en-US" sz="1000" dirty="0"/>
          </a:p>
        </p:txBody>
      </p:sp>
      <p:sp>
        <p:nvSpPr>
          <p:cNvPr id="8" name="Text 6"/>
          <p:cNvSpPr/>
          <p:nvPr/>
        </p:nvSpPr>
        <p:spPr>
          <a:xfrm>
            <a:off x="685800" y="1600200"/>
            <a:ext cx="10881360" cy="2194560"/>
          </a:xfrm>
          <a:prstGeom prst="rect">
            <a:avLst/>
          </a:prstGeom>
          <a:noFill/>
          <a:ln/>
        </p:spPr>
        <p:txBody>
          <a:bodyPr wrap="square" rtlCol="0" anchor="ctr"/>
          <a:lstStyle/>
          <a:p>
            <a:pPr indent="0" marL="0">
              <a:lnSpc>
                <a:spcPct val="130000"/>
              </a:lnSpc>
              <a:buNone/>
            </a:pPr>
            <a:r>
              <a:rPr lang="en-US" sz="1650" dirty="0">
                <a:solidFill>
                  <a:srgbClr val="26221F"/>
                </a:solidFill>
                <a:latin typeface="Calibri" pitchFamily="34" charset="0"/>
                <a:ea typeface="Calibri" pitchFamily="34" charset="-122"/>
                <a:cs typeface="Calibri" pitchFamily="34" charset="-120"/>
              </a:rPr>
              <a:t>Most oral drugs share physicochemical properties captured by Lipinski’s Rule of Five (MW ≤ 500, LogP ≤ 5, H-bond donors ≤ 5, acceptors ≤ 10) and Veber’s rules (rotatable bonds ≤ 10, TPSA ≤ 140). A machine-learning classifier learns the relationship between these descriptors and drug-likeness/bioavailability, screening candidates rapidly before laboratory work.</a:t>
            </a:r>
            <a:endParaRPr lang="en-US" sz="1650" dirty="0"/>
          </a:p>
        </p:txBody>
      </p:sp>
      <p:sp>
        <p:nvSpPr>
          <p:cNvPr id="9" name="Text 7"/>
          <p:cNvSpPr/>
          <p:nvPr/>
        </p:nvSpPr>
        <p:spPr>
          <a:xfrm>
            <a:off x="685800" y="4892040"/>
            <a:ext cx="10881360" cy="1188720"/>
          </a:xfrm>
          <a:prstGeom prst="rect">
            <a:avLst/>
          </a:prstGeom>
          <a:noFill/>
          <a:ln/>
        </p:spPr>
        <p:txBody>
          <a:bodyPr wrap="square" rtlCol="0" anchor="ctr"/>
          <a:lstStyle/>
          <a:p>
            <a:pPr indent="0" marL="0">
              <a:lnSpc>
                <a:spcPct val="118000"/>
              </a:lnSpc>
              <a:buNone/>
            </a:pPr>
            <a:r>
              <a:rPr lang="en-US" sz="1250" dirty="0">
                <a:solidFill>
                  <a:srgbClr val="6E6A63"/>
                </a:solidFill>
                <a:latin typeface="Calibri" pitchFamily="34" charset="0"/>
                <a:ea typeface="Calibri" pitchFamily="34" charset="-122"/>
                <a:cs typeface="Calibri" pitchFamily="34" charset="-120"/>
              </a:rPr>
              <a:t>AI/ML/DL learn patterns from data. A logistic-regression classifier outputs a probability (0–1) of drug-likeness from molecular descriptors. High TPSA and molecular weight reduce membrane permeability and oral absorption; balanced lipophilicity (LogP ~2–3) improves it. In-silico screening cuts cost and time in early drug discovery.</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6"/>
        </a:solidFill>
      </p:bgPr>
    </p:bg>
    <p:spTree>
      <p:nvGrpSpPr>
        <p:cNvPr id="1" name=""/>
        <p:cNvGrpSpPr/>
        <p:nvPr/>
      </p:nvGrpSpPr>
      <p:grpSpPr>
        <a:xfrm>
          <a:off x="0" y="0"/>
          <a:ext cx="0" cy="0"/>
          <a:chOff x="0" y="0"/>
          <a:chExt cx="0" cy="0"/>
        </a:xfrm>
      </p:grpSpPr>
      <p:sp>
        <p:nvSpPr>
          <p:cNvPr id="2" name="Shape 0"/>
          <p:cNvSpPr/>
          <p:nvPr/>
        </p:nvSpPr>
        <p:spPr>
          <a:xfrm>
            <a:off x="0" y="0"/>
            <a:ext cx="12191695" cy="1133856"/>
          </a:xfrm>
          <a:prstGeom prst="rect">
            <a:avLst/>
          </a:prstGeom>
          <a:solidFill>
            <a:srgbClr val="FFFFFF"/>
          </a:solidFill>
          <a:ln w="12700">
            <a:solidFill>
              <a:srgbClr val="FFFFFF"/>
            </a:solidFill>
            <a:prstDash val="solid"/>
          </a:ln>
        </p:spPr>
      </p:sp>
      <p:sp>
        <p:nvSpPr>
          <p:cNvPr id="3" name="Shape 1"/>
          <p:cNvSpPr/>
          <p:nvPr/>
        </p:nvSpPr>
        <p:spPr>
          <a:xfrm>
            <a:off x="0" y="1133856"/>
            <a:ext cx="12191695" cy="32004"/>
          </a:xfrm>
          <a:prstGeom prst="rect">
            <a:avLst/>
          </a:prstGeom>
          <a:solidFill>
            <a:srgbClr val="8C1515"/>
          </a:solidFill>
          <a:ln w="12700">
            <a:solidFill>
              <a:srgbClr val="8C1515"/>
            </a:solidFill>
            <a:prstDash val="solid"/>
          </a:ln>
        </p:spPr>
      </p:sp>
      <p:sp>
        <p:nvSpPr>
          <p:cNvPr id="4" name="Text 2"/>
          <p:cNvSpPr/>
          <p:nvPr/>
        </p:nvSpPr>
        <p:spPr>
          <a:xfrm>
            <a:off x="566928" y="201168"/>
            <a:ext cx="10972800" cy="274320"/>
          </a:xfrm>
          <a:prstGeom prst="rect">
            <a:avLst/>
          </a:prstGeom>
          <a:noFill/>
          <a:ln/>
        </p:spPr>
        <p:txBody>
          <a:bodyPr wrap="square" rtlCol="0" anchor="ctr"/>
          <a:lstStyle/>
          <a:p>
            <a:pPr indent="0" marL="0">
              <a:buNone/>
            </a:pPr>
            <a:r>
              <a:rPr lang="en-US" sz="1100" b="1" spc="140" kern="0" dirty="0">
                <a:solidFill>
                  <a:srgbClr val="8C1515"/>
                </a:solidFill>
                <a:latin typeface="Calibri" pitchFamily="34" charset="0"/>
                <a:ea typeface="Calibri" pitchFamily="34" charset="-122"/>
                <a:cs typeface="Calibri" pitchFamily="34" charset="-120"/>
              </a:rPr>
              <a:t>Practical 1 · screen tour</a:t>
            </a:r>
            <a:endParaRPr lang="en-US" sz="1100" dirty="0"/>
          </a:p>
        </p:txBody>
      </p:sp>
      <p:sp>
        <p:nvSpPr>
          <p:cNvPr id="5" name="Text 3"/>
          <p:cNvSpPr/>
          <p:nvPr/>
        </p:nvSpPr>
        <p:spPr>
          <a:xfrm>
            <a:off x="566928" y="475488"/>
            <a:ext cx="11064240" cy="566928"/>
          </a:xfrm>
          <a:prstGeom prst="rect">
            <a:avLst/>
          </a:prstGeom>
          <a:noFill/>
          <a:ln/>
        </p:spPr>
        <p:txBody>
          <a:bodyPr wrap="square" rtlCol="0" anchor="ctr"/>
          <a:lstStyle/>
          <a:p>
            <a:pPr indent="0" marL="0">
              <a:buNone/>
            </a:pPr>
            <a:r>
              <a:rPr lang="en-US" sz="2600" b="1" dirty="0">
                <a:solidFill>
                  <a:srgbClr val="26221F"/>
                </a:solidFill>
                <a:latin typeface="Cambria" pitchFamily="34" charset="0"/>
                <a:ea typeface="Cambria" pitchFamily="34" charset="-122"/>
                <a:cs typeface="Cambria" pitchFamily="34" charset="-120"/>
              </a:rPr>
              <a:t>What is on the bench</a:t>
            </a:r>
            <a:endParaRPr lang="en-US" sz="2600" dirty="0"/>
          </a:p>
        </p:txBody>
      </p:sp>
      <p:sp>
        <p:nvSpPr>
          <p:cNvPr id="6" name="Shape 4"/>
          <p:cNvSpPr/>
          <p:nvPr/>
        </p:nvSpPr>
        <p:spPr>
          <a:xfrm>
            <a:off x="0" y="6473952"/>
            <a:ext cx="12191695" cy="384048"/>
          </a:xfrm>
          <a:prstGeom prst="rect">
            <a:avLst/>
          </a:prstGeom>
          <a:solidFill>
            <a:srgbClr val="FAF8F6"/>
          </a:solidFill>
          <a:ln w="12700">
            <a:solidFill>
              <a:srgbClr val="FAF8F6"/>
            </a:solidFill>
            <a:prstDash val="solid"/>
          </a:ln>
        </p:spPr>
      </p:sp>
      <p:sp>
        <p:nvSpPr>
          <p:cNvPr id="7" name="Text 5"/>
          <p:cNvSpPr/>
          <p:nvPr/>
        </p:nvSpPr>
        <p:spPr>
          <a:xfrm>
            <a:off x="457200" y="6492240"/>
            <a:ext cx="8229600" cy="310896"/>
          </a:xfrm>
          <a:prstGeom prst="rect">
            <a:avLst/>
          </a:prstGeom>
          <a:noFill/>
          <a:ln/>
        </p:spPr>
        <p:txBody>
          <a:bodyPr wrap="square" rtlCol="0" anchor="ctr"/>
          <a:lstStyle/>
          <a:p>
            <a:pPr indent="0" marL="0">
              <a:buNone/>
            </a:pPr>
            <a:r>
              <a:rPr lang="en-US" sz="1000" dirty="0">
                <a:solidFill>
                  <a:srgbClr val="6E6A63"/>
                </a:solidFill>
                <a:latin typeface="Calibri" pitchFamily="34" charset="0"/>
                <a:ea typeface="Calibri" pitchFamily="34" charset="-122"/>
                <a:cs typeface="Calibri" pitchFamily="34" charset="-120"/>
              </a:rPr>
              <a:t>ALIZON OS · Pharmacy AI · Module 1 — AI Foundations &amp; Digital Systems</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554480"/>
          <a:ext cx="5029200" cy="914400"/>
        </p:xfrm>
        <a:graphic>
          <a:graphicData uri="http://schemas.openxmlformats.org/drawingml/2006/table">
            <a:tbl>
              <a:tblPr/>
              <a:tblGrid>
                <a:gridCol w="502920"/>
                <a:gridCol w="4526280"/>
              </a:tblGrid>
              <a:tr h="0">
                <a:tc>
                  <a:txBody>
                    <a:bodyPr/>
                    <a:lstStyle/>
                    <a:p>
                      <a:pP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solidFill>
                      <a:srgbClr val="EFE7E1"/>
                    </a:solidFill>
                  </a:tcPr>
                </a:tc>
                <a:tc>
                  <a:txBody>
                    <a:bodyPr/>
                    <a:lstStyle/>
                    <a:p>
                      <a:pPr indent="0" marL="0">
                        <a:buNone/>
                      </a:pPr>
                      <a:r>
                        <a:rPr lang="en-US" sz="1150" b="1" dirty="0">
                          <a:solidFill>
                            <a:srgbClr val="26221F"/>
                          </a:solidFill>
                          <a:latin typeface="Calibri" pitchFamily="34" charset="0"/>
                          <a:ea typeface="Calibri" pitchFamily="34" charset="-122"/>
                          <a:cs typeface="Calibri" pitchFamily="34" charset="-120"/>
                        </a:rPr>
                        <a:t>Panel</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solidFill>
                      <a:srgbClr val="EFE7E1"/>
                    </a:solidFill>
                  </a:tcPr>
                </a:tc>
              </a:tr>
              <a:tr h="0">
                <a:tc>
                  <a:txBody>
                    <a:bodyPr/>
                    <a:lstStyle/>
                    <a:p>
                      <a:pPr algn="ctr" indent="0" marL="0">
                        <a:buNone/>
                      </a:pPr>
                      <a:r>
                        <a:rPr lang="en-US" sz="1150" b="1" dirty="0">
                          <a:solidFill>
                            <a:srgbClr val="8C1515"/>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150" dirty="0">
                          <a:solidFill>
                            <a:srgbClr val="26221F"/>
                          </a:solidFill>
                          <a:latin typeface="Calibri" pitchFamily="34" charset="0"/>
                          <a:ea typeface="Calibri" pitchFamily="34" charset="-122"/>
                          <a:cs typeface="Calibri" pitchFamily="34" charset="-120"/>
                        </a:rPr>
                        <a:t>Lab Manual — the experiment sheet you work from</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r h="0">
                <a:tc>
                  <a:txBody>
                    <a:bodyPr/>
                    <a:lstStyle/>
                    <a:p>
                      <a:pPr algn="ctr" indent="0" marL="0">
                        <a:buNone/>
                      </a:pPr>
                      <a:r>
                        <a:rPr lang="en-US" sz="1150" b="1" dirty="0">
                          <a:solidFill>
                            <a:srgbClr val="8C151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150" dirty="0">
                          <a:solidFill>
                            <a:srgbClr val="26221F"/>
                          </a:solidFill>
                          <a:latin typeface="Calibri" pitchFamily="34" charset="0"/>
                          <a:ea typeface="Calibri" pitchFamily="34" charset="-122"/>
                          <a:cs typeface="Calibri" pitchFamily="34" charset="-120"/>
                        </a:rPr>
                        <a:t>Molecule Builder — load a scaffold, then edit it</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r h="0">
                <a:tc>
                  <a:txBody>
                    <a:bodyPr/>
                    <a:lstStyle/>
                    <a:p>
                      <a:pPr algn="ctr" indent="0" marL="0">
                        <a:buNone/>
                      </a:pPr>
                      <a:r>
                        <a:rPr lang="en-US" sz="1150" b="1" dirty="0">
                          <a:solidFill>
                            <a:srgbClr val="8C151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150" dirty="0">
                          <a:solidFill>
                            <a:srgbClr val="26221F"/>
                          </a:solidFill>
                          <a:latin typeface="Calibri" pitchFamily="34" charset="0"/>
                          <a:ea typeface="Calibri" pitchFamily="34" charset="-122"/>
                          <a:cs typeface="Calibri" pitchFamily="34" charset="-120"/>
                        </a:rPr>
                        <a:t>AI Analysis — predicted properties and gauges</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r h="0">
                <a:tc>
                  <a:txBody>
                    <a:bodyPr/>
                    <a:lstStyle/>
                    <a:p>
                      <a:pPr algn="ctr" indent="0" marL="0">
                        <a:buNone/>
                      </a:pPr>
                      <a:r>
                        <a:rPr lang="en-US" sz="1150" b="1" dirty="0">
                          <a:solidFill>
                            <a:srgbClr val="8C1515"/>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150" dirty="0">
                          <a:solidFill>
                            <a:srgbClr val="26221F"/>
                          </a:solidFill>
                          <a:latin typeface="Calibri" pitchFamily="34" charset="0"/>
                          <a:ea typeface="Calibri" pitchFamily="34" charset="-122"/>
                          <a:cs typeface="Calibri" pitchFamily="34" charset="-120"/>
                        </a:rPr>
                        <a:t>Formulation Workbench</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r h="0">
                <a:tc>
                  <a:txBody>
                    <a:bodyPr/>
                    <a:lstStyle/>
                    <a:p>
                      <a:pPr algn="ctr" indent="0" marL="0">
                        <a:buNone/>
                      </a:pPr>
                      <a:r>
                        <a:rPr lang="en-US" sz="1150" b="1" dirty="0">
                          <a:solidFill>
                            <a:srgbClr val="8C151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150" dirty="0">
                          <a:solidFill>
                            <a:srgbClr val="26221F"/>
                          </a:solidFill>
                          <a:latin typeface="Calibri" pitchFamily="34" charset="0"/>
                          <a:ea typeface="Calibri" pitchFamily="34" charset="-122"/>
                          <a:cs typeface="Calibri" pitchFamily="34" charset="-120"/>
                        </a:rPr>
                        <a:t>Fix the Medicine — nine clinical challenges</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r h="0">
                <a:tc>
                  <a:txBody>
                    <a:bodyPr/>
                    <a:lstStyle/>
                    <a:p>
                      <a:pPr algn="ctr" indent="0" marL="0">
                        <a:buNone/>
                      </a:pPr>
                      <a:r>
                        <a:rPr lang="en-US" sz="1150" b="1" dirty="0">
                          <a:solidFill>
                            <a:srgbClr val="8C1515"/>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150" dirty="0">
                          <a:solidFill>
                            <a:srgbClr val="26221F"/>
                          </a:solidFill>
                          <a:latin typeface="Calibri" pitchFamily="34" charset="0"/>
                          <a:ea typeface="Calibri" pitchFamily="34" charset="-122"/>
                          <a:cs typeface="Calibri" pitchFamily="34" charset="-120"/>
                        </a:rPr>
                        <a:t>Observation Table — recorded as you go</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r h="0">
                <a:tc>
                  <a:txBody>
                    <a:bodyPr/>
                    <a:lstStyle/>
                    <a:p>
                      <a:pPr algn="ctr" indent="0" marL="0">
                        <a:buNone/>
                      </a:pPr>
                      <a:r>
                        <a:rPr lang="en-US" sz="1150" b="1" dirty="0">
                          <a:solidFill>
                            <a:srgbClr val="8C1515"/>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150" dirty="0">
                          <a:solidFill>
                            <a:srgbClr val="26221F"/>
                          </a:solidFill>
                          <a:latin typeface="Calibri" pitchFamily="34" charset="0"/>
                          <a:ea typeface="Calibri" pitchFamily="34" charset="-122"/>
                          <a:cs typeface="Calibri" pitchFamily="34" charset="-120"/>
                        </a:rPr>
                        <a:t>Practical Question Paper — assigned by code</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r h="0">
                <a:tc>
                  <a:txBody>
                    <a:bodyPr/>
                    <a:lstStyle/>
                    <a:p>
                      <a:pPr algn="ctr" indent="0" marL="0">
                        <a:buNone/>
                      </a:pPr>
                      <a:r>
                        <a:rPr lang="en-US" sz="1150" b="1" dirty="0">
                          <a:solidFill>
                            <a:srgbClr val="8C1515"/>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150" dirty="0">
                          <a:solidFill>
                            <a:srgbClr val="26221F"/>
                          </a:solidFill>
                          <a:latin typeface="Calibri" pitchFamily="34" charset="0"/>
                          <a:ea typeface="Calibri" pitchFamily="34" charset="-122"/>
                          <a:cs typeface="Calibri" pitchFamily="34" charset="-120"/>
                        </a:rPr>
                        <a:t>Generate Report</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bl>
          </a:graphicData>
        </a:graphic>
      </p:graphicFrame>
      <p:sp>
        <p:nvSpPr>
          <p:cNvPr id="9" name="Shape 6"/>
          <p:cNvSpPr/>
          <p:nvPr/>
        </p:nvSpPr>
        <p:spPr>
          <a:xfrm>
            <a:off x="5902452" y="1785112"/>
            <a:ext cx="5751576" cy="4019296"/>
          </a:xfrm>
          <a:prstGeom prst="rect">
            <a:avLst/>
          </a:prstGeom>
          <a:solidFill>
            <a:srgbClr val="FFFFFF"/>
          </a:solidFill>
          <a:ln w="9525">
            <a:solidFill>
              <a:srgbClr val="DDD5CE"/>
            </a:solidFill>
            <a:prstDash val="solid"/>
          </a:ln>
        </p:spPr>
      </p:sp>
      <p:pic>
        <p:nvPicPr>
          <p:cNvPr id="10" name="Image 0" descr="/Users/kukku/Desktop/junk/alizon-os-deploy/resources/slides/img/p1_manual.png">    </p:cNvPr>
          <p:cNvPicPr>
            <a:picLocks noChangeAspect="1"/>
          </p:cNvPicPr>
          <p:nvPr/>
        </p:nvPicPr>
        <p:blipFill>
          <a:blip r:embed="rId1"/>
          <a:stretch>
            <a:fillRect/>
          </a:stretch>
        </p:blipFill>
        <p:spPr>
          <a:xfrm>
            <a:off x="5943600" y="1826260"/>
            <a:ext cx="5669280" cy="3937000"/>
          </a:xfrm>
          <a:prstGeom prst="rect">
            <a:avLst/>
          </a:prstGeom>
        </p:spPr>
      </p:pic>
      <p:sp>
        <p:nvSpPr>
          <p:cNvPr id="11" name="Text 7"/>
          <p:cNvSpPr/>
          <p:nvPr/>
        </p:nvSpPr>
        <p:spPr>
          <a:xfrm>
            <a:off x="5943600" y="5836412"/>
            <a:ext cx="5669280" cy="256032"/>
          </a:xfrm>
          <a:prstGeom prst="rect">
            <a:avLst/>
          </a:prstGeom>
          <a:noFill/>
          <a:ln/>
        </p:spPr>
        <p:txBody>
          <a:bodyPr wrap="square" rtlCol="0" anchor="ctr"/>
          <a:lstStyle/>
          <a:p>
            <a:pPr algn="ctr" indent="0" marL="0">
              <a:buNone/>
            </a:pPr>
            <a:r>
              <a:rPr lang="en-US" sz="1050" i="1" dirty="0">
                <a:solidFill>
                  <a:srgbClr val="6E6A63"/>
                </a:solidFill>
                <a:latin typeface="Calibri" pitchFamily="34" charset="0"/>
                <a:ea typeface="Calibri" pitchFamily="34" charset="-122"/>
                <a:cs typeface="Calibri" pitchFamily="34" charset="-120"/>
              </a:rPr>
              <a:t>01 Lab Manual — the experiment sheet, opened at the Aim</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6"/>
        </a:solidFill>
      </p:bgPr>
    </p:bg>
    <p:spTree>
      <p:nvGrpSpPr>
        <p:cNvPr id="1" name=""/>
        <p:cNvGrpSpPr/>
        <p:nvPr/>
      </p:nvGrpSpPr>
      <p:grpSpPr>
        <a:xfrm>
          <a:off x="0" y="0"/>
          <a:ext cx="0" cy="0"/>
          <a:chOff x="0" y="0"/>
          <a:chExt cx="0" cy="0"/>
        </a:xfrm>
      </p:grpSpPr>
      <p:sp>
        <p:nvSpPr>
          <p:cNvPr id="2" name="Shape 0"/>
          <p:cNvSpPr/>
          <p:nvPr/>
        </p:nvSpPr>
        <p:spPr>
          <a:xfrm>
            <a:off x="0" y="0"/>
            <a:ext cx="12191695" cy="1133856"/>
          </a:xfrm>
          <a:prstGeom prst="rect">
            <a:avLst/>
          </a:prstGeom>
          <a:solidFill>
            <a:srgbClr val="FFFFFF"/>
          </a:solidFill>
          <a:ln w="12700">
            <a:solidFill>
              <a:srgbClr val="FFFFFF"/>
            </a:solidFill>
            <a:prstDash val="solid"/>
          </a:ln>
        </p:spPr>
      </p:sp>
      <p:sp>
        <p:nvSpPr>
          <p:cNvPr id="3" name="Shape 1"/>
          <p:cNvSpPr/>
          <p:nvPr/>
        </p:nvSpPr>
        <p:spPr>
          <a:xfrm>
            <a:off x="0" y="1133856"/>
            <a:ext cx="12191695" cy="32004"/>
          </a:xfrm>
          <a:prstGeom prst="rect">
            <a:avLst/>
          </a:prstGeom>
          <a:solidFill>
            <a:srgbClr val="8C1515"/>
          </a:solidFill>
          <a:ln w="12700">
            <a:solidFill>
              <a:srgbClr val="8C1515"/>
            </a:solidFill>
            <a:prstDash val="solid"/>
          </a:ln>
        </p:spPr>
      </p:sp>
      <p:sp>
        <p:nvSpPr>
          <p:cNvPr id="4" name="Text 2"/>
          <p:cNvSpPr/>
          <p:nvPr/>
        </p:nvSpPr>
        <p:spPr>
          <a:xfrm>
            <a:off x="566928" y="201168"/>
            <a:ext cx="10972800" cy="274320"/>
          </a:xfrm>
          <a:prstGeom prst="rect">
            <a:avLst/>
          </a:prstGeom>
          <a:noFill/>
          <a:ln/>
        </p:spPr>
        <p:txBody>
          <a:bodyPr wrap="square" rtlCol="0" anchor="ctr"/>
          <a:lstStyle/>
          <a:p>
            <a:pPr indent="0" marL="0">
              <a:buNone/>
            </a:pPr>
            <a:r>
              <a:rPr lang="en-US" sz="1100" b="1" spc="140" kern="0" dirty="0">
                <a:solidFill>
                  <a:srgbClr val="8C1515"/>
                </a:solidFill>
                <a:latin typeface="Calibri" pitchFamily="34" charset="0"/>
                <a:ea typeface="Calibri" pitchFamily="34" charset="-122"/>
                <a:cs typeface="Calibri" pitchFamily="34" charset="-120"/>
              </a:rPr>
              <a:t>Practical 1 · the bench</a:t>
            </a:r>
            <a:endParaRPr lang="en-US" sz="1100" dirty="0"/>
          </a:p>
        </p:txBody>
      </p:sp>
      <p:sp>
        <p:nvSpPr>
          <p:cNvPr id="5" name="Text 3"/>
          <p:cNvSpPr/>
          <p:nvPr/>
        </p:nvSpPr>
        <p:spPr>
          <a:xfrm>
            <a:off x="566928" y="475488"/>
            <a:ext cx="11064240" cy="566928"/>
          </a:xfrm>
          <a:prstGeom prst="rect">
            <a:avLst/>
          </a:prstGeom>
          <a:noFill/>
          <a:ln/>
        </p:spPr>
        <p:txBody>
          <a:bodyPr wrap="square" rtlCol="0" anchor="ctr"/>
          <a:lstStyle/>
          <a:p>
            <a:pPr indent="0" marL="0">
              <a:buNone/>
            </a:pPr>
            <a:r>
              <a:rPr lang="en-US" sz="2600" b="1" dirty="0">
                <a:solidFill>
                  <a:srgbClr val="26221F"/>
                </a:solidFill>
                <a:latin typeface="Cambria" pitchFamily="34" charset="0"/>
                <a:ea typeface="Cambria" pitchFamily="34" charset="-122"/>
                <a:cs typeface="Cambria" pitchFamily="34" charset="-120"/>
              </a:rPr>
              <a:t>Molecule Builder and AI Analysis, side by side</a:t>
            </a:r>
            <a:endParaRPr lang="en-US" sz="2600" dirty="0"/>
          </a:p>
        </p:txBody>
      </p:sp>
      <p:sp>
        <p:nvSpPr>
          <p:cNvPr id="6" name="Shape 4"/>
          <p:cNvSpPr/>
          <p:nvPr/>
        </p:nvSpPr>
        <p:spPr>
          <a:xfrm>
            <a:off x="0" y="6473952"/>
            <a:ext cx="12191695" cy="384048"/>
          </a:xfrm>
          <a:prstGeom prst="rect">
            <a:avLst/>
          </a:prstGeom>
          <a:solidFill>
            <a:srgbClr val="FAF8F6"/>
          </a:solidFill>
          <a:ln w="12700">
            <a:solidFill>
              <a:srgbClr val="FAF8F6"/>
            </a:solidFill>
            <a:prstDash val="solid"/>
          </a:ln>
        </p:spPr>
      </p:sp>
      <p:sp>
        <p:nvSpPr>
          <p:cNvPr id="7" name="Text 5"/>
          <p:cNvSpPr/>
          <p:nvPr/>
        </p:nvSpPr>
        <p:spPr>
          <a:xfrm>
            <a:off x="457200" y="6492240"/>
            <a:ext cx="8229600" cy="310896"/>
          </a:xfrm>
          <a:prstGeom prst="rect">
            <a:avLst/>
          </a:prstGeom>
          <a:noFill/>
          <a:ln/>
        </p:spPr>
        <p:txBody>
          <a:bodyPr wrap="square" rtlCol="0" anchor="ctr"/>
          <a:lstStyle/>
          <a:p>
            <a:pPr indent="0" marL="0">
              <a:buNone/>
            </a:pPr>
            <a:r>
              <a:rPr lang="en-US" sz="1000" dirty="0">
                <a:solidFill>
                  <a:srgbClr val="6E6A63"/>
                </a:solidFill>
                <a:latin typeface="Calibri" pitchFamily="34" charset="0"/>
                <a:ea typeface="Calibri" pitchFamily="34" charset="-122"/>
                <a:cs typeface="Calibri" pitchFamily="34" charset="-120"/>
              </a:rPr>
              <a:t>ALIZON OS · Pharmacy AI · Module 1 — AI Foundations &amp; Digital Systems</a:t>
            </a:r>
            <a:endParaRPr lang="en-US" sz="1000" dirty="0"/>
          </a:p>
        </p:txBody>
      </p:sp>
      <p:sp>
        <p:nvSpPr>
          <p:cNvPr id="8" name="Shape 6"/>
          <p:cNvSpPr/>
          <p:nvPr/>
        </p:nvSpPr>
        <p:spPr>
          <a:xfrm>
            <a:off x="2995676" y="1421892"/>
            <a:ext cx="6170168" cy="4974336"/>
          </a:xfrm>
          <a:prstGeom prst="rect">
            <a:avLst/>
          </a:prstGeom>
          <a:solidFill>
            <a:srgbClr val="FFFFFF"/>
          </a:solidFill>
          <a:ln w="9525">
            <a:solidFill>
              <a:srgbClr val="DDD5CE"/>
            </a:solidFill>
            <a:prstDash val="solid"/>
          </a:ln>
        </p:spPr>
      </p:sp>
      <p:pic>
        <p:nvPicPr>
          <p:cNvPr id="9" name="Image 0" descr="/Users/kukku/Desktop/junk/alizon-os-deploy/resources/slides/img/p1_workbench.png">    </p:cNvPr>
          <p:cNvPicPr>
            <a:picLocks noChangeAspect="1"/>
          </p:cNvPicPr>
          <p:nvPr/>
        </p:nvPicPr>
        <p:blipFill>
          <a:blip r:embed="rId1"/>
          <a:stretch>
            <a:fillRect/>
          </a:stretch>
        </p:blipFill>
        <p:spPr>
          <a:xfrm>
            <a:off x="3036824" y="1463040"/>
            <a:ext cx="6087872" cy="4892040"/>
          </a:xfrm>
          <a:prstGeom prst="rect">
            <a:avLst/>
          </a:prstGeom>
        </p:spPr>
      </p:pic>
      <p:sp>
        <p:nvSpPr>
          <p:cNvPr id="10" name="Text 7"/>
          <p:cNvSpPr/>
          <p:nvPr/>
        </p:nvSpPr>
        <p:spPr>
          <a:xfrm>
            <a:off x="822960" y="6428232"/>
            <a:ext cx="10515600" cy="256032"/>
          </a:xfrm>
          <a:prstGeom prst="rect">
            <a:avLst/>
          </a:prstGeom>
          <a:noFill/>
          <a:ln/>
        </p:spPr>
        <p:txBody>
          <a:bodyPr wrap="square" rtlCol="0" anchor="ctr"/>
          <a:lstStyle/>
          <a:p>
            <a:pPr algn="ctr" indent="0" marL="0">
              <a:buNone/>
            </a:pPr>
            <a:r>
              <a:rPr lang="en-US" sz="1050" i="1" dirty="0">
                <a:solidFill>
                  <a:srgbClr val="6E6A63"/>
                </a:solidFill>
                <a:latin typeface="Calibri" pitchFamily="34" charset="0"/>
                <a:ea typeface="Calibri" pitchFamily="34" charset="-122"/>
                <a:cs typeface="Calibri" pitchFamily="34" charset="-120"/>
              </a:rPr>
              <a:t>02 Formulation Workbench — sliders on the left, the AI verdict on the right. Every rule that passes turns green.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6"/>
        </a:solidFill>
      </p:bgPr>
    </p:bg>
    <p:spTree>
      <p:nvGrpSpPr>
        <p:cNvPr id="1" name=""/>
        <p:cNvGrpSpPr/>
        <p:nvPr/>
      </p:nvGrpSpPr>
      <p:grpSpPr>
        <a:xfrm>
          <a:off x="0" y="0"/>
          <a:ext cx="0" cy="0"/>
          <a:chOff x="0" y="0"/>
          <a:chExt cx="0" cy="0"/>
        </a:xfrm>
      </p:grpSpPr>
      <p:sp>
        <p:nvSpPr>
          <p:cNvPr id="2" name="Shape 0"/>
          <p:cNvSpPr/>
          <p:nvPr/>
        </p:nvSpPr>
        <p:spPr>
          <a:xfrm>
            <a:off x="0" y="0"/>
            <a:ext cx="12191695" cy="1133856"/>
          </a:xfrm>
          <a:prstGeom prst="rect">
            <a:avLst/>
          </a:prstGeom>
          <a:solidFill>
            <a:srgbClr val="FFFFFF"/>
          </a:solidFill>
          <a:ln w="12700">
            <a:solidFill>
              <a:srgbClr val="FFFFFF"/>
            </a:solidFill>
            <a:prstDash val="solid"/>
          </a:ln>
        </p:spPr>
      </p:sp>
      <p:sp>
        <p:nvSpPr>
          <p:cNvPr id="3" name="Shape 1"/>
          <p:cNvSpPr/>
          <p:nvPr/>
        </p:nvSpPr>
        <p:spPr>
          <a:xfrm>
            <a:off x="0" y="1133856"/>
            <a:ext cx="12191695" cy="32004"/>
          </a:xfrm>
          <a:prstGeom prst="rect">
            <a:avLst/>
          </a:prstGeom>
          <a:solidFill>
            <a:srgbClr val="8C1515"/>
          </a:solidFill>
          <a:ln w="12700">
            <a:solidFill>
              <a:srgbClr val="8C1515"/>
            </a:solidFill>
            <a:prstDash val="solid"/>
          </a:ln>
        </p:spPr>
      </p:sp>
      <p:sp>
        <p:nvSpPr>
          <p:cNvPr id="4" name="Text 2"/>
          <p:cNvSpPr/>
          <p:nvPr/>
        </p:nvSpPr>
        <p:spPr>
          <a:xfrm>
            <a:off x="566928" y="201168"/>
            <a:ext cx="10972800" cy="274320"/>
          </a:xfrm>
          <a:prstGeom prst="rect">
            <a:avLst/>
          </a:prstGeom>
          <a:noFill/>
          <a:ln/>
        </p:spPr>
        <p:txBody>
          <a:bodyPr wrap="square" rtlCol="0" anchor="ctr"/>
          <a:lstStyle/>
          <a:p>
            <a:pPr indent="0" marL="0">
              <a:buNone/>
            </a:pPr>
            <a:r>
              <a:rPr lang="en-US" sz="1100" b="1" spc="140" kern="0" dirty="0">
                <a:solidFill>
                  <a:srgbClr val="8C1515"/>
                </a:solidFill>
                <a:latin typeface="Calibri" pitchFamily="34" charset="0"/>
                <a:ea typeface="Calibri" pitchFamily="34" charset="-122"/>
                <a:cs typeface="Calibri" pitchFamily="34" charset="-120"/>
              </a:rPr>
              <a:t>Practical 1 · what the AI reports</a:t>
            </a:r>
            <a:endParaRPr lang="en-US" sz="1100" dirty="0"/>
          </a:p>
        </p:txBody>
      </p:sp>
      <p:sp>
        <p:nvSpPr>
          <p:cNvPr id="5" name="Text 3"/>
          <p:cNvSpPr/>
          <p:nvPr/>
        </p:nvSpPr>
        <p:spPr>
          <a:xfrm>
            <a:off x="566928" y="475488"/>
            <a:ext cx="11064240" cy="566928"/>
          </a:xfrm>
          <a:prstGeom prst="rect">
            <a:avLst/>
          </a:prstGeom>
          <a:noFill/>
          <a:ln/>
        </p:spPr>
        <p:txBody>
          <a:bodyPr wrap="square" rtlCol="0" anchor="ctr"/>
          <a:lstStyle/>
          <a:p>
            <a:pPr indent="0" marL="0">
              <a:buNone/>
            </a:pPr>
            <a:r>
              <a:rPr lang="en-US" sz="2600" b="1" dirty="0">
                <a:solidFill>
                  <a:srgbClr val="26221F"/>
                </a:solidFill>
                <a:latin typeface="Cambria" pitchFamily="34" charset="0"/>
                <a:ea typeface="Cambria" pitchFamily="34" charset="-122"/>
                <a:cs typeface="Cambria" pitchFamily="34" charset="-120"/>
              </a:rPr>
              <a:t>The properties you are reading</a:t>
            </a:r>
            <a:endParaRPr lang="en-US" sz="2600" dirty="0"/>
          </a:p>
        </p:txBody>
      </p:sp>
      <p:sp>
        <p:nvSpPr>
          <p:cNvPr id="6" name="Shape 4"/>
          <p:cNvSpPr/>
          <p:nvPr/>
        </p:nvSpPr>
        <p:spPr>
          <a:xfrm>
            <a:off x="0" y="6473952"/>
            <a:ext cx="12191695" cy="384048"/>
          </a:xfrm>
          <a:prstGeom prst="rect">
            <a:avLst/>
          </a:prstGeom>
          <a:solidFill>
            <a:srgbClr val="FAF8F6"/>
          </a:solidFill>
          <a:ln w="12700">
            <a:solidFill>
              <a:srgbClr val="FAF8F6"/>
            </a:solidFill>
            <a:prstDash val="solid"/>
          </a:ln>
        </p:spPr>
      </p:sp>
      <p:sp>
        <p:nvSpPr>
          <p:cNvPr id="7" name="Text 5"/>
          <p:cNvSpPr/>
          <p:nvPr/>
        </p:nvSpPr>
        <p:spPr>
          <a:xfrm>
            <a:off x="457200" y="6492240"/>
            <a:ext cx="8229600" cy="310896"/>
          </a:xfrm>
          <a:prstGeom prst="rect">
            <a:avLst/>
          </a:prstGeom>
          <a:noFill/>
          <a:ln/>
        </p:spPr>
        <p:txBody>
          <a:bodyPr wrap="square" rtlCol="0" anchor="ctr"/>
          <a:lstStyle/>
          <a:p>
            <a:pPr indent="0" marL="0">
              <a:buNone/>
            </a:pPr>
            <a:r>
              <a:rPr lang="en-US" sz="1000" dirty="0">
                <a:solidFill>
                  <a:srgbClr val="6E6A63"/>
                </a:solidFill>
                <a:latin typeface="Calibri" pitchFamily="34" charset="0"/>
                <a:ea typeface="Calibri" pitchFamily="34" charset="-122"/>
                <a:cs typeface="Calibri" pitchFamily="34" charset="-120"/>
              </a:rPr>
              <a:t>ALIZON OS · Pharmacy AI · Module 1 — AI Foundations &amp; Digital Systems</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2960" y="1600200"/>
          <a:ext cx="10515600" cy="914400"/>
        </p:xfrm>
        <a:graphic>
          <a:graphicData uri="http://schemas.openxmlformats.org/drawingml/2006/table">
            <a:tbl>
              <a:tblPr/>
              <a:tblGrid>
                <a:gridCol w="1737360"/>
                <a:gridCol w="3291840"/>
                <a:gridCol w="5486400"/>
              </a:tblGrid>
              <a:tr h="0">
                <a:tc>
                  <a:txBody>
                    <a:bodyPr/>
                    <a:lstStyle/>
                    <a:p>
                      <a:pPr indent="0" marL="0">
                        <a:buNone/>
                      </a:pPr>
                      <a:r>
                        <a:rPr lang="en-US" sz="1350" b="1" dirty="0">
                          <a:solidFill>
                            <a:srgbClr val="26221F"/>
                          </a:solidFill>
                          <a:latin typeface="Calibri" pitchFamily="34" charset="0"/>
                          <a:ea typeface="Calibri" pitchFamily="34" charset="-122"/>
                          <a:cs typeface="Calibri" pitchFamily="34" charset="-120"/>
                        </a:rPr>
                        <a:t>Descriptor</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solidFill>
                      <a:srgbClr val="EFE7E1"/>
                    </a:solidFill>
                  </a:tcPr>
                </a:tc>
                <a:tc>
                  <a:txBody>
                    <a:bodyPr/>
                    <a:lstStyle/>
                    <a:p>
                      <a:pPr indent="0" marL="0">
                        <a:buNone/>
                      </a:pPr>
                      <a:r>
                        <a:rPr lang="en-US" sz="1350" b="1" dirty="0">
                          <a:solidFill>
                            <a:srgbClr val="26221F"/>
                          </a:solidFill>
                          <a:latin typeface="Calibri" pitchFamily="34" charset="0"/>
                          <a:ea typeface="Calibri" pitchFamily="34" charset="-122"/>
                          <a:cs typeface="Calibri" pitchFamily="34" charset="-120"/>
                        </a:rPr>
                        <a:t>Target</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solidFill>
                      <a:srgbClr val="EFE7E1"/>
                    </a:solidFill>
                  </a:tcPr>
                </a:tc>
                <a:tc>
                  <a:txBody>
                    <a:bodyPr/>
                    <a:lstStyle/>
                    <a:p>
                      <a:pPr indent="0" marL="0">
                        <a:buNone/>
                      </a:pPr>
                      <a:r>
                        <a:rPr lang="en-US" sz="1350" b="1" dirty="0">
                          <a:solidFill>
                            <a:srgbClr val="26221F"/>
                          </a:solidFill>
                          <a:latin typeface="Calibri" pitchFamily="34" charset="0"/>
                          <a:ea typeface="Calibri" pitchFamily="34" charset="-122"/>
                          <a:cs typeface="Calibri" pitchFamily="34" charset="-120"/>
                        </a:rPr>
                        <a:t>What it means</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solidFill>
                      <a:srgbClr val="EFE7E1"/>
                    </a:solidFill>
                  </a:tcPr>
                </a:tc>
              </a:tr>
              <a:tr h="0">
                <a:tc>
                  <a:txBody>
                    <a:bodyPr/>
                    <a:lstStyle/>
                    <a:p>
                      <a:pPr indent="0" marL="0">
                        <a:buNone/>
                      </a:pPr>
                      <a:r>
                        <a:rPr lang="en-US" sz="1350" b="1" dirty="0">
                          <a:solidFill>
                            <a:srgbClr val="26221F"/>
                          </a:solidFill>
                          <a:latin typeface="Calibri" pitchFamily="34" charset="0"/>
                          <a:ea typeface="Calibri" pitchFamily="34" charset="-122"/>
                          <a:cs typeface="Calibri" pitchFamily="34" charset="-120"/>
                        </a:rPr>
                        <a:t>MW</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350" dirty="0">
                          <a:solidFill>
                            <a:srgbClr val="26221F"/>
                          </a:solidFill>
                          <a:latin typeface="Calibri" pitchFamily="34" charset="0"/>
                          <a:ea typeface="Calibri" pitchFamily="34" charset="-122"/>
                          <a:cs typeface="Calibri" pitchFamily="34" charset="-120"/>
                        </a:rPr>
                        <a:t>≤ 500</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350" dirty="0">
                          <a:solidFill>
                            <a:srgbClr val="26221F"/>
                          </a:solidFill>
                          <a:latin typeface="Calibri" pitchFamily="34" charset="0"/>
                          <a:ea typeface="Calibri" pitchFamily="34" charset="-122"/>
                          <a:cs typeface="Calibri" pitchFamily="34" charset="-120"/>
                        </a:rPr>
                        <a:t>Molecular weight</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r h="0">
                <a:tc>
                  <a:txBody>
                    <a:bodyPr/>
                    <a:lstStyle/>
                    <a:p>
                      <a:pPr indent="0" marL="0">
                        <a:buNone/>
                      </a:pPr>
                      <a:r>
                        <a:rPr lang="en-US" sz="1350" b="1" dirty="0">
                          <a:solidFill>
                            <a:srgbClr val="26221F"/>
                          </a:solidFill>
                          <a:latin typeface="Calibri" pitchFamily="34" charset="0"/>
                          <a:ea typeface="Calibri" pitchFamily="34" charset="-122"/>
                          <a:cs typeface="Calibri" pitchFamily="34" charset="-120"/>
                        </a:rPr>
                        <a:t>LogP</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350" dirty="0">
                          <a:solidFill>
                            <a:srgbClr val="26221F"/>
                          </a:solidFill>
                          <a:latin typeface="Calibri" pitchFamily="34" charset="0"/>
                          <a:ea typeface="Calibri" pitchFamily="34" charset="-122"/>
                          <a:cs typeface="Calibri" pitchFamily="34" charset="-120"/>
                        </a:rPr>
                        <a:t>≤ 5  (ideal 1–3)</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350" dirty="0">
                          <a:solidFill>
                            <a:srgbClr val="26221F"/>
                          </a:solidFill>
                          <a:latin typeface="Calibri" pitchFamily="34" charset="0"/>
                          <a:ea typeface="Calibri" pitchFamily="34" charset="-122"/>
                          <a:cs typeface="Calibri" pitchFamily="34" charset="-120"/>
                        </a:rPr>
                        <a:t>Lipophilicity</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r h="0">
                <a:tc>
                  <a:txBody>
                    <a:bodyPr/>
                    <a:lstStyle/>
                    <a:p>
                      <a:pPr indent="0" marL="0">
                        <a:buNone/>
                      </a:pPr>
                      <a:r>
                        <a:rPr lang="en-US" sz="1350" b="1" dirty="0">
                          <a:solidFill>
                            <a:srgbClr val="26221F"/>
                          </a:solidFill>
                          <a:latin typeface="Calibri" pitchFamily="34" charset="0"/>
                          <a:ea typeface="Calibri" pitchFamily="34" charset="-122"/>
                          <a:cs typeface="Calibri" pitchFamily="34" charset="-120"/>
                        </a:rPr>
                        <a:t>HBD</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350" dirty="0">
                          <a:solidFill>
                            <a:srgbClr val="26221F"/>
                          </a:solidFill>
                          <a:latin typeface="Calibri" pitchFamily="34" charset="0"/>
                          <a:ea typeface="Calibri" pitchFamily="34" charset="-122"/>
                          <a:cs typeface="Calibri" pitchFamily="34" charset="-120"/>
                        </a:rPr>
                        <a:t>≤ 5</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350" dirty="0">
                          <a:solidFill>
                            <a:srgbClr val="26221F"/>
                          </a:solidFill>
                          <a:latin typeface="Calibri" pitchFamily="34" charset="0"/>
                          <a:ea typeface="Calibri" pitchFamily="34" charset="-122"/>
                          <a:cs typeface="Calibri" pitchFamily="34" charset="-120"/>
                        </a:rPr>
                        <a:t>Hydrogen-bond donors</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r h="0">
                <a:tc>
                  <a:txBody>
                    <a:bodyPr/>
                    <a:lstStyle/>
                    <a:p>
                      <a:pPr indent="0" marL="0">
                        <a:buNone/>
                      </a:pPr>
                      <a:r>
                        <a:rPr lang="en-US" sz="1350" b="1" dirty="0">
                          <a:solidFill>
                            <a:srgbClr val="26221F"/>
                          </a:solidFill>
                          <a:latin typeface="Calibri" pitchFamily="34" charset="0"/>
                          <a:ea typeface="Calibri" pitchFamily="34" charset="-122"/>
                          <a:cs typeface="Calibri" pitchFamily="34" charset="-120"/>
                        </a:rPr>
                        <a:t>HBA</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350" dirty="0">
                          <a:solidFill>
                            <a:srgbClr val="26221F"/>
                          </a:solidFill>
                          <a:latin typeface="Calibri" pitchFamily="34" charset="0"/>
                          <a:ea typeface="Calibri" pitchFamily="34" charset="-122"/>
                          <a:cs typeface="Calibri" pitchFamily="34" charset="-120"/>
                        </a:rPr>
                        <a:t>≤ 10</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350" dirty="0">
                          <a:solidFill>
                            <a:srgbClr val="26221F"/>
                          </a:solidFill>
                          <a:latin typeface="Calibri" pitchFamily="34" charset="0"/>
                          <a:ea typeface="Calibri" pitchFamily="34" charset="-122"/>
                          <a:cs typeface="Calibri" pitchFamily="34" charset="-120"/>
                        </a:rPr>
                        <a:t>Hydrogen-bond acceptors</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r h="0">
                <a:tc>
                  <a:txBody>
                    <a:bodyPr/>
                    <a:lstStyle/>
                    <a:p>
                      <a:pPr indent="0" marL="0">
                        <a:buNone/>
                      </a:pPr>
                      <a:r>
                        <a:rPr lang="en-US" sz="1350" b="1" dirty="0">
                          <a:solidFill>
                            <a:srgbClr val="26221F"/>
                          </a:solidFill>
                          <a:latin typeface="Calibri" pitchFamily="34" charset="0"/>
                          <a:ea typeface="Calibri" pitchFamily="34" charset="-122"/>
                          <a:cs typeface="Calibri" pitchFamily="34" charset="-120"/>
                        </a:rPr>
                        <a:t>TPSA</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350" dirty="0">
                          <a:solidFill>
                            <a:srgbClr val="26221F"/>
                          </a:solidFill>
                          <a:latin typeface="Calibri" pitchFamily="34" charset="0"/>
                          <a:ea typeface="Calibri" pitchFamily="34" charset="-122"/>
                          <a:cs typeface="Calibri" pitchFamily="34" charset="-120"/>
                        </a:rPr>
                        <a:t>≤ 140  (&lt; 90 well absorbed)</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350" dirty="0">
                          <a:solidFill>
                            <a:srgbClr val="26221F"/>
                          </a:solidFill>
                          <a:latin typeface="Calibri" pitchFamily="34" charset="0"/>
                          <a:ea typeface="Calibri" pitchFamily="34" charset="-122"/>
                          <a:cs typeface="Calibri" pitchFamily="34" charset="-120"/>
                        </a:rPr>
                        <a:t>Topological polar surface area</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r h="0">
                <a:tc>
                  <a:txBody>
                    <a:bodyPr/>
                    <a:lstStyle/>
                    <a:p>
                      <a:pPr indent="0" marL="0">
                        <a:buNone/>
                      </a:pPr>
                      <a:r>
                        <a:rPr lang="en-US" sz="1350" b="1" dirty="0">
                          <a:solidFill>
                            <a:srgbClr val="26221F"/>
                          </a:solidFill>
                          <a:latin typeface="Calibri" pitchFamily="34" charset="0"/>
                          <a:ea typeface="Calibri" pitchFamily="34" charset="-122"/>
                          <a:cs typeface="Calibri" pitchFamily="34" charset="-120"/>
                        </a:rPr>
                        <a:t>RotB</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350" dirty="0">
                          <a:solidFill>
                            <a:srgbClr val="26221F"/>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350" dirty="0">
                          <a:solidFill>
                            <a:srgbClr val="26221F"/>
                          </a:solidFill>
                          <a:latin typeface="Calibri" pitchFamily="34" charset="0"/>
                          <a:ea typeface="Calibri" pitchFamily="34" charset="-122"/>
                          <a:cs typeface="Calibri" pitchFamily="34" charset="-120"/>
                        </a:rPr>
                        <a:t>Rotatable bonds — molecular flexibility</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bl>
          </a:graphicData>
        </a:graphic>
      </p:graphicFrame>
      <p:sp>
        <p:nvSpPr>
          <p:cNvPr id="9" name="Shape 6"/>
          <p:cNvSpPr/>
          <p:nvPr/>
        </p:nvSpPr>
        <p:spPr>
          <a:xfrm>
            <a:off x="685800" y="5532120"/>
            <a:ext cx="10881360" cy="749808"/>
          </a:xfrm>
          <a:prstGeom prst="rect">
            <a:avLst/>
          </a:prstGeom>
          <a:solidFill>
            <a:srgbClr val="F7EFEF"/>
          </a:solidFill>
          <a:ln w="12700">
            <a:solidFill>
              <a:srgbClr val="E7CFCF"/>
            </a:solidFill>
            <a:prstDash val="solid"/>
          </a:ln>
        </p:spPr>
      </p:sp>
      <p:sp>
        <p:nvSpPr>
          <p:cNvPr id="10" name="Shape 7"/>
          <p:cNvSpPr/>
          <p:nvPr/>
        </p:nvSpPr>
        <p:spPr>
          <a:xfrm>
            <a:off x="685800" y="5532120"/>
            <a:ext cx="50292" cy="749808"/>
          </a:xfrm>
          <a:prstGeom prst="rect">
            <a:avLst/>
          </a:prstGeom>
          <a:solidFill>
            <a:srgbClr val="8C1515"/>
          </a:solidFill>
          <a:ln w="12700">
            <a:solidFill>
              <a:srgbClr val="8C1515"/>
            </a:solidFill>
            <a:prstDash val="solid"/>
          </a:ln>
        </p:spPr>
      </p:sp>
      <p:sp>
        <p:nvSpPr>
          <p:cNvPr id="11" name="Text 8"/>
          <p:cNvSpPr/>
          <p:nvPr/>
        </p:nvSpPr>
        <p:spPr>
          <a:xfrm>
            <a:off x="868680" y="5586984"/>
            <a:ext cx="10515600" cy="640080"/>
          </a:xfrm>
          <a:prstGeom prst="rect">
            <a:avLst/>
          </a:prstGeom>
          <a:noFill/>
          <a:ln/>
        </p:spPr>
        <p:txBody>
          <a:bodyPr wrap="square" rtlCol="0" anchor="ctr"/>
          <a:lstStyle/>
          <a:p>
            <a:pPr indent="0" marL="0">
              <a:buNone/>
            </a:pPr>
            <a:r>
              <a:rPr lang="en-US" sz="1250" dirty="0">
                <a:solidFill>
                  <a:srgbClr val="26221F"/>
                </a:solidFill>
                <a:latin typeface="Calibri" pitchFamily="34" charset="0"/>
                <a:ea typeface="Calibri" pitchFamily="34" charset="-122"/>
                <a:cs typeface="Calibri" pitchFamily="34" charset="-120"/>
              </a:rPr>
              <a:t>A candidate that meets the targets is predicted to be more drug-like by mouth. It is a prediction from the structure, not a measurement in a patient.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6"/>
        </a:solidFill>
      </p:bgPr>
    </p:bg>
    <p:spTree>
      <p:nvGrpSpPr>
        <p:cNvPr id="1" name=""/>
        <p:cNvGrpSpPr/>
        <p:nvPr/>
      </p:nvGrpSpPr>
      <p:grpSpPr>
        <a:xfrm>
          <a:off x="0" y="0"/>
          <a:ext cx="0" cy="0"/>
          <a:chOff x="0" y="0"/>
          <a:chExt cx="0" cy="0"/>
        </a:xfrm>
      </p:grpSpPr>
      <p:sp>
        <p:nvSpPr>
          <p:cNvPr id="2" name="Shape 0"/>
          <p:cNvSpPr/>
          <p:nvPr/>
        </p:nvSpPr>
        <p:spPr>
          <a:xfrm>
            <a:off x="0" y="0"/>
            <a:ext cx="12191695" cy="1133856"/>
          </a:xfrm>
          <a:prstGeom prst="rect">
            <a:avLst/>
          </a:prstGeom>
          <a:solidFill>
            <a:srgbClr val="FFFFFF"/>
          </a:solidFill>
          <a:ln w="12700">
            <a:solidFill>
              <a:srgbClr val="FFFFFF"/>
            </a:solidFill>
            <a:prstDash val="solid"/>
          </a:ln>
        </p:spPr>
      </p:sp>
      <p:sp>
        <p:nvSpPr>
          <p:cNvPr id="3" name="Shape 1"/>
          <p:cNvSpPr/>
          <p:nvPr/>
        </p:nvSpPr>
        <p:spPr>
          <a:xfrm>
            <a:off x="0" y="1133856"/>
            <a:ext cx="12191695" cy="32004"/>
          </a:xfrm>
          <a:prstGeom prst="rect">
            <a:avLst/>
          </a:prstGeom>
          <a:solidFill>
            <a:srgbClr val="8C1515"/>
          </a:solidFill>
          <a:ln w="12700">
            <a:solidFill>
              <a:srgbClr val="8C1515"/>
            </a:solidFill>
            <a:prstDash val="solid"/>
          </a:ln>
        </p:spPr>
      </p:sp>
      <p:sp>
        <p:nvSpPr>
          <p:cNvPr id="4" name="Text 2"/>
          <p:cNvSpPr/>
          <p:nvPr/>
        </p:nvSpPr>
        <p:spPr>
          <a:xfrm>
            <a:off x="566928" y="201168"/>
            <a:ext cx="10972800" cy="274320"/>
          </a:xfrm>
          <a:prstGeom prst="rect">
            <a:avLst/>
          </a:prstGeom>
          <a:noFill/>
          <a:ln/>
        </p:spPr>
        <p:txBody>
          <a:bodyPr wrap="square" rtlCol="0" anchor="ctr"/>
          <a:lstStyle/>
          <a:p>
            <a:pPr indent="0" marL="0">
              <a:buNone/>
            </a:pPr>
            <a:r>
              <a:rPr lang="en-US" sz="1100" b="1" spc="140" kern="0" dirty="0">
                <a:solidFill>
                  <a:srgbClr val="8C1515"/>
                </a:solidFill>
                <a:latin typeface="Calibri" pitchFamily="34" charset="0"/>
                <a:ea typeface="Calibri" pitchFamily="34" charset="-122"/>
                <a:cs typeface="Calibri" pitchFamily="34" charset="-120"/>
              </a:rPr>
              <a:t>Practical 1 · how to do it</a:t>
            </a:r>
            <a:endParaRPr lang="en-US" sz="1100" dirty="0"/>
          </a:p>
        </p:txBody>
      </p:sp>
      <p:sp>
        <p:nvSpPr>
          <p:cNvPr id="5" name="Text 3"/>
          <p:cNvSpPr/>
          <p:nvPr/>
        </p:nvSpPr>
        <p:spPr>
          <a:xfrm>
            <a:off x="566928" y="475488"/>
            <a:ext cx="11064240" cy="566928"/>
          </a:xfrm>
          <a:prstGeom prst="rect">
            <a:avLst/>
          </a:prstGeom>
          <a:noFill/>
          <a:ln/>
        </p:spPr>
        <p:txBody>
          <a:bodyPr wrap="square" rtlCol="0" anchor="ctr"/>
          <a:lstStyle/>
          <a:p>
            <a:pPr indent="0" marL="0">
              <a:buNone/>
            </a:pPr>
            <a:r>
              <a:rPr lang="en-US" sz="2600" b="1" dirty="0">
                <a:solidFill>
                  <a:srgbClr val="26221F"/>
                </a:solidFill>
                <a:latin typeface="Cambria" pitchFamily="34" charset="0"/>
                <a:ea typeface="Cambria" pitchFamily="34" charset="-122"/>
                <a:cs typeface="Cambria" pitchFamily="34" charset="-120"/>
              </a:rPr>
              <a:t>Procedure, in order</a:t>
            </a:r>
            <a:endParaRPr lang="en-US" sz="2600" dirty="0"/>
          </a:p>
        </p:txBody>
      </p:sp>
      <p:sp>
        <p:nvSpPr>
          <p:cNvPr id="6" name="Shape 4"/>
          <p:cNvSpPr/>
          <p:nvPr/>
        </p:nvSpPr>
        <p:spPr>
          <a:xfrm>
            <a:off x="0" y="6473952"/>
            <a:ext cx="12191695" cy="384048"/>
          </a:xfrm>
          <a:prstGeom prst="rect">
            <a:avLst/>
          </a:prstGeom>
          <a:solidFill>
            <a:srgbClr val="FAF8F6"/>
          </a:solidFill>
          <a:ln w="12700">
            <a:solidFill>
              <a:srgbClr val="FAF8F6"/>
            </a:solidFill>
            <a:prstDash val="solid"/>
          </a:ln>
        </p:spPr>
      </p:sp>
      <p:sp>
        <p:nvSpPr>
          <p:cNvPr id="7" name="Text 5"/>
          <p:cNvSpPr/>
          <p:nvPr/>
        </p:nvSpPr>
        <p:spPr>
          <a:xfrm>
            <a:off x="457200" y="6492240"/>
            <a:ext cx="8229600" cy="310896"/>
          </a:xfrm>
          <a:prstGeom prst="rect">
            <a:avLst/>
          </a:prstGeom>
          <a:noFill/>
          <a:ln/>
        </p:spPr>
        <p:txBody>
          <a:bodyPr wrap="square" rtlCol="0" anchor="ctr"/>
          <a:lstStyle/>
          <a:p>
            <a:pPr indent="0" marL="0">
              <a:buNone/>
            </a:pPr>
            <a:r>
              <a:rPr lang="en-US" sz="1000" dirty="0">
                <a:solidFill>
                  <a:srgbClr val="6E6A63"/>
                </a:solidFill>
                <a:latin typeface="Calibri" pitchFamily="34" charset="0"/>
                <a:ea typeface="Calibri" pitchFamily="34" charset="-122"/>
                <a:cs typeface="Calibri" pitchFamily="34" charset="-120"/>
              </a:rPr>
              <a:t>ALIZON OS · Pharmacy AI · Module 1 — AI Foundations &amp; Digital Systems</a:t>
            </a:r>
            <a:endParaRPr lang="en-US" sz="1000" dirty="0"/>
          </a:p>
        </p:txBody>
      </p:sp>
      <p:sp>
        <p:nvSpPr>
          <p:cNvPr id="8" name="Text 6"/>
          <p:cNvSpPr/>
          <p:nvPr/>
        </p:nvSpPr>
        <p:spPr>
          <a:xfrm>
            <a:off x="640080" y="1517904"/>
            <a:ext cx="5212080" cy="4572000"/>
          </a:xfrm>
          <a:prstGeom prst="rect">
            <a:avLst/>
          </a:prstGeom>
          <a:noFill/>
          <a:ln/>
        </p:spPr>
        <p:txBody>
          <a:bodyPr wrap="square" rtlCol="0" anchor="t"/>
          <a:lstStyle/>
          <a:p>
            <a:pPr marL="342900" indent="-342900">
              <a:lnSpc>
                <a:spcPct val="122000"/>
              </a:lnSpc>
              <a:buSzPct val="100000"/>
              <a:buChar char="•"/>
            </a:pPr>
            <a:r>
              <a:rPr lang="en-US" sz="1350" dirty="0">
                <a:solidFill>
                  <a:srgbClr val="26221F"/>
                </a:solidFill>
                <a:latin typeface="Calibri" pitchFamily="34" charset="0"/>
                <a:ea typeface="Calibri" pitchFamily="34" charset="-122"/>
                <a:cs typeface="Calibri" pitchFamily="34" charset="-120"/>
              </a:rPr>
              <a:t>Load a molecular scaffold into the AI synthesizer.</a:t>
            </a:r>
            <a:endParaRPr lang="en-US" sz="1350" dirty="0"/>
          </a:p>
          <a:p>
            <a:pPr marL="342900" indent="-342900">
              <a:lnSpc>
                <a:spcPct val="122000"/>
              </a:lnSpc>
              <a:buSzPct val="100000"/>
              <a:buChar char="•"/>
            </a:pPr>
            <a:r>
              <a:rPr lang="en-US" sz="1350" dirty="0">
                <a:solidFill>
                  <a:srgbClr val="26221F"/>
                </a:solidFill>
                <a:latin typeface="Calibri" pitchFamily="34" charset="0"/>
                <a:ea typeface="Calibri" pitchFamily="34" charset="-122"/>
                <a:cs typeface="Calibri" pitchFamily="34" charset="-120"/>
              </a:rPr>
              <a:t>Tune the physicochemical properties using the sliders.</a:t>
            </a:r>
            <a:endParaRPr lang="en-US" sz="1350" dirty="0"/>
          </a:p>
          <a:p>
            <a:pPr marL="342900" indent="-342900">
              <a:lnSpc>
                <a:spcPct val="122000"/>
              </a:lnSpc>
              <a:buSzPct val="100000"/>
              <a:buChar char="•"/>
            </a:pPr>
            <a:r>
              <a:rPr lang="en-US" sz="1350" dirty="0">
                <a:solidFill>
                  <a:srgbClr val="26221F"/>
                </a:solidFill>
                <a:latin typeface="Calibri" pitchFamily="34" charset="0"/>
                <a:ea typeface="Calibri" pitchFamily="34" charset="-122"/>
                <a:cs typeface="Calibri" pitchFamily="34" charset="-120"/>
              </a:rPr>
              <a:t>Correct any candidate that violates Lipinski or Veber rules.</a:t>
            </a:r>
            <a:endParaRPr lang="en-US" sz="1350" dirty="0"/>
          </a:p>
          <a:p>
            <a:pPr marL="342900" indent="-342900">
              <a:lnSpc>
                <a:spcPct val="122000"/>
              </a:lnSpc>
              <a:buSzPct val="100000"/>
              <a:buChar char="•"/>
            </a:pPr>
            <a:r>
              <a:rPr lang="en-US" sz="1350" dirty="0">
                <a:solidFill>
                  <a:srgbClr val="26221F"/>
                </a:solidFill>
                <a:latin typeface="Calibri" pitchFamily="34" charset="0"/>
                <a:ea typeface="Calibri" pitchFamily="34" charset="-122"/>
                <a:cs typeface="Calibri" pitchFamily="34" charset="-120"/>
              </a:rPr>
              <a:t>Read the AI gauges for predicted drug-likeness and oral bioavailability.</a:t>
            </a:r>
            <a:endParaRPr lang="en-US" sz="1350" dirty="0"/>
          </a:p>
          <a:p>
            <a:pPr marL="342900" indent="-342900">
              <a:lnSpc>
                <a:spcPct val="122000"/>
              </a:lnSpc>
              <a:buSzPct val="100000"/>
              <a:buChar char="•"/>
            </a:pPr>
            <a:r>
              <a:rPr lang="en-US" sz="1350" dirty="0">
                <a:solidFill>
                  <a:srgbClr val="26221F"/>
                </a:solidFill>
                <a:latin typeface="Calibri" pitchFamily="34" charset="0"/>
                <a:ea typeface="Calibri" pitchFamily="34" charset="-122"/>
                <a:cs typeface="Calibri" pitchFamily="34" charset="-120"/>
              </a:rPr>
              <a:t>Select your best candidate and record its properties.</a:t>
            </a:r>
            <a:endParaRPr lang="en-US" sz="1350" dirty="0"/>
          </a:p>
          <a:p>
            <a:pPr marL="342900" indent="-342900">
              <a:lnSpc>
                <a:spcPct val="122000"/>
              </a:lnSpc>
              <a:buSzPct val="100000"/>
              <a:buChar char="•"/>
            </a:pPr>
            <a:r>
              <a:rPr lang="en-US" sz="1350" dirty="0">
                <a:solidFill>
                  <a:srgbClr val="26221F"/>
                </a:solidFill>
                <a:latin typeface="Calibri" pitchFamily="34" charset="0"/>
                <a:ea typeface="Calibri" pitchFamily="34" charset="-122"/>
                <a:cs typeface="Calibri" pitchFamily="34" charset="-120"/>
              </a:rPr>
              <a:t>Generate the report with your results.</a:t>
            </a:r>
            <a:endParaRPr lang="en-US" sz="1350" dirty="0"/>
          </a:p>
        </p:txBody>
      </p:sp>
      <p:sp>
        <p:nvSpPr>
          <p:cNvPr id="9" name="Shape 7"/>
          <p:cNvSpPr/>
          <p:nvPr/>
        </p:nvSpPr>
        <p:spPr>
          <a:xfrm>
            <a:off x="6085332" y="1567543"/>
            <a:ext cx="5568696" cy="4491010"/>
          </a:xfrm>
          <a:prstGeom prst="rect">
            <a:avLst/>
          </a:prstGeom>
          <a:solidFill>
            <a:srgbClr val="FFFFFF"/>
          </a:solidFill>
          <a:ln w="9525">
            <a:solidFill>
              <a:srgbClr val="DDD5CE"/>
            </a:solidFill>
            <a:prstDash val="solid"/>
          </a:ln>
        </p:spPr>
      </p:sp>
      <p:pic>
        <p:nvPicPr>
          <p:cNvPr id="10" name="Image 0" descr="/Users/kukku/Desktop/junk/alizon-os-deploy/resources/slides/img/p1_case.png">    </p:cNvPr>
          <p:cNvPicPr>
            <a:picLocks noChangeAspect="1"/>
          </p:cNvPicPr>
          <p:nvPr/>
        </p:nvPicPr>
        <p:blipFill>
          <a:blip r:embed="rId1"/>
          <a:stretch>
            <a:fillRect/>
          </a:stretch>
        </p:blipFill>
        <p:spPr>
          <a:xfrm>
            <a:off x="6126480" y="1608691"/>
            <a:ext cx="5486400" cy="4408714"/>
          </a:xfrm>
          <a:prstGeom prst="rect">
            <a:avLst/>
          </a:prstGeom>
        </p:spPr>
      </p:pic>
      <p:sp>
        <p:nvSpPr>
          <p:cNvPr id="11" name="Text 8"/>
          <p:cNvSpPr/>
          <p:nvPr/>
        </p:nvSpPr>
        <p:spPr>
          <a:xfrm>
            <a:off x="6126480" y="6090557"/>
            <a:ext cx="5486400" cy="256032"/>
          </a:xfrm>
          <a:prstGeom prst="rect">
            <a:avLst/>
          </a:prstGeom>
          <a:noFill/>
          <a:ln/>
        </p:spPr>
        <p:txBody>
          <a:bodyPr wrap="square" rtlCol="0" anchor="ctr"/>
          <a:lstStyle/>
          <a:p>
            <a:pPr algn="ctr" indent="0" marL="0">
              <a:buNone/>
            </a:pPr>
            <a:r>
              <a:rPr lang="en-US" sz="1050" i="1" dirty="0">
                <a:solidFill>
                  <a:srgbClr val="6E6A63"/>
                </a:solidFill>
                <a:latin typeface="Calibri" pitchFamily="34" charset="0"/>
                <a:ea typeface="Calibri" pitchFamily="34" charset="-122"/>
                <a:cs typeface="Calibri" pitchFamily="34" charset="-120"/>
              </a:rPr>
              <a:t>A faulty candidate loaded from Fix the Medicine — read the diagnosis, then correct it</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6"/>
        </a:solidFill>
      </p:bgPr>
    </p:bg>
    <p:spTree>
      <p:nvGrpSpPr>
        <p:cNvPr id="1" name=""/>
        <p:cNvGrpSpPr/>
        <p:nvPr/>
      </p:nvGrpSpPr>
      <p:grpSpPr>
        <a:xfrm>
          <a:off x="0" y="0"/>
          <a:ext cx="0" cy="0"/>
          <a:chOff x="0" y="0"/>
          <a:chExt cx="0" cy="0"/>
        </a:xfrm>
      </p:grpSpPr>
      <p:sp>
        <p:nvSpPr>
          <p:cNvPr id="2" name="Shape 0"/>
          <p:cNvSpPr/>
          <p:nvPr/>
        </p:nvSpPr>
        <p:spPr>
          <a:xfrm>
            <a:off x="0" y="0"/>
            <a:ext cx="12191695" cy="1133856"/>
          </a:xfrm>
          <a:prstGeom prst="rect">
            <a:avLst/>
          </a:prstGeom>
          <a:solidFill>
            <a:srgbClr val="FFFFFF"/>
          </a:solidFill>
          <a:ln w="12700">
            <a:solidFill>
              <a:srgbClr val="FFFFFF"/>
            </a:solidFill>
            <a:prstDash val="solid"/>
          </a:ln>
        </p:spPr>
      </p:sp>
      <p:sp>
        <p:nvSpPr>
          <p:cNvPr id="3" name="Shape 1"/>
          <p:cNvSpPr/>
          <p:nvPr/>
        </p:nvSpPr>
        <p:spPr>
          <a:xfrm>
            <a:off x="0" y="1133856"/>
            <a:ext cx="12191695" cy="32004"/>
          </a:xfrm>
          <a:prstGeom prst="rect">
            <a:avLst/>
          </a:prstGeom>
          <a:solidFill>
            <a:srgbClr val="8C1515"/>
          </a:solidFill>
          <a:ln w="12700">
            <a:solidFill>
              <a:srgbClr val="8C1515"/>
            </a:solidFill>
            <a:prstDash val="solid"/>
          </a:ln>
        </p:spPr>
      </p:sp>
      <p:sp>
        <p:nvSpPr>
          <p:cNvPr id="4" name="Text 2"/>
          <p:cNvSpPr/>
          <p:nvPr/>
        </p:nvSpPr>
        <p:spPr>
          <a:xfrm>
            <a:off x="566928" y="201168"/>
            <a:ext cx="10972800" cy="274320"/>
          </a:xfrm>
          <a:prstGeom prst="rect">
            <a:avLst/>
          </a:prstGeom>
          <a:noFill/>
          <a:ln/>
        </p:spPr>
        <p:txBody>
          <a:bodyPr wrap="square" rtlCol="0" anchor="ctr"/>
          <a:lstStyle/>
          <a:p>
            <a:pPr indent="0" marL="0">
              <a:buNone/>
            </a:pPr>
            <a:r>
              <a:rPr lang="en-US" sz="1100" b="1" spc="140" kern="0" dirty="0">
                <a:solidFill>
                  <a:srgbClr val="8C1515"/>
                </a:solidFill>
                <a:latin typeface="Calibri" pitchFamily="34" charset="0"/>
                <a:ea typeface="Calibri" pitchFamily="34" charset="-122"/>
                <a:cs typeface="Calibri" pitchFamily="34" charset="-120"/>
              </a:rPr>
              <a:t>Practical 1 · the challenges</a:t>
            </a:r>
            <a:endParaRPr lang="en-US" sz="1100" dirty="0"/>
          </a:p>
        </p:txBody>
      </p:sp>
      <p:sp>
        <p:nvSpPr>
          <p:cNvPr id="5" name="Text 3"/>
          <p:cNvSpPr/>
          <p:nvPr/>
        </p:nvSpPr>
        <p:spPr>
          <a:xfrm>
            <a:off x="566928" y="475488"/>
            <a:ext cx="11064240" cy="566928"/>
          </a:xfrm>
          <a:prstGeom prst="rect">
            <a:avLst/>
          </a:prstGeom>
          <a:noFill/>
          <a:ln/>
        </p:spPr>
        <p:txBody>
          <a:bodyPr wrap="square" rtlCol="0" anchor="ctr"/>
          <a:lstStyle/>
          <a:p>
            <a:pPr indent="0" marL="0">
              <a:buNone/>
            </a:pPr>
            <a:r>
              <a:rPr lang="en-US" sz="2600" b="1" dirty="0">
                <a:solidFill>
                  <a:srgbClr val="26221F"/>
                </a:solidFill>
                <a:latin typeface="Cambria" pitchFamily="34" charset="0"/>
                <a:ea typeface="Cambria" pitchFamily="34" charset="-122"/>
                <a:cs typeface="Cambria" pitchFamily="34" charset="-120"/>
              </a:rPr>
              <a:t>Fix the Medicine — nine cases</a:t>
            </a:r>
            <a:endParaRPr lang="en-US" sz="2600" dirty="0"/>
          </a:p>
        </p:txBody>
      </p:sp>
      <p:sp>
        <p:nvSpPr>
          <p:cNvPr id="6" name="Shape 4"/>
          <p:cNvSpPr/>
          <p:nvPr/>
        </p:nvSpPr>
        <p:spPr>
          <a:xfrm>
            <a:off x="0" y="6473952"/>
            <a:ext cx="12191695" cy="384048"/>
          </a:xfrm>
          <a:prstGeom prst="rect">
            <a:avLst/>
          </a:prstGeom>
          <a:solidFill>
            <a:srgbClr val="FAF8F6"/>
          </a:solidFill>
          <a:ln w="12700">
            <a:solidFill>
              <a:srgbClr val="FAF8F6"/>
            </a:solidFill>
            <a:prstDash val="solid"/>
          </a:ln>
        </p:spPr>
      </p:sp>
      <p:sp>
        <p:nvSpPr>
          <p:cNvPr id="7" name="Text 5"/>
          <p:cNvSpPr/>
          <p:nvPr/>
        </p:nvSpPr>
        <p:spPr>
          <a:xfrm>
            <a:off x="457200" y="6492240"/>
            <a:ext cx="8229600" cy="310896"/>
          </a:xfrm>
          <a:prstGeom prst="rect">
            <a:avLst/>
          </a:prstGeom>
          <a:noFill/>
          <a:ln/>
        </p:spPr>
        <p:txBody>
          <a:bodyPr wrap="square" rtlCol="0" anchor="ctr"/>
          <a:lstStyle/>
          <a:p>
            <a:pPr indent="0" marL="0">
              <a:buNone/>
            </a:pPr>
            <a:r>
              <a:rPr lang="en-US" sz="1000" dirty="0">
                <a:solidFill>
                  <a:srgbClr val="6E6A63"/>
                </a:solidFill>
                <a:latin typeface="Calibri" pitchFamily="34" charset="0"/>
                <a:ea typeface="Calibri" pitchFamily="34" charset="-122"/>
                <a:cs typeface="Calibri" pitchFamily="34" charset="-120"/>
              </a:rPr>
              <a:t>ALIZON OS · Pharmacy AI · Module 1 — AI Foundations &amp; Digital Systems</a:t>
            </a:r>
            <a:endParaRPr lang="en-US" sz="1000" dirty="0"/>
          </a:p>
        </p:txBody>
      </p:sp>
      <p:sp>
        <p:nvSpPr>
          <p:cNvPr id="8" name="Text 6"/>
          <p:cNvSpPr/>
          <p:nvPr/>
        </p:nvSpPr>
        <p:spPr>
          <a:xfrm>
            <a:off x="777240" y="1517904"/>
            <a:ext cx="5120640" cy="4572000"/>
          </a:xfrm>
          <a:prstGeom prst="rect">
            <a:avLst/>
          </a:prstGeom>
          <a:noFill/>
          <a:ln/>
        </p:spPr>
        <p:txBody>
          <a:bodyPr wrap="square" rtlCol="0" anchor="t"/>
          <a:lstStyle/>
          <a:p>
            <a:pPr marL="342900" indent="-342900">
              <a:lnSpc>
                <a:spcPct val="122000"/>
              </a:lnSpc>
              <a:buSzPct val="100000"/>
              <a:buChar char="•"/>
            </a:pPr>
            <a:r>
              <a:rPr lang="en-US" sz="1500" dirty="0">
                <a:solidFill>
                  <a:srgbClr val="26221F"/>
                </a:solidFill>
                <a:latin typeface="Calibri" pitchFamily="34" charset="0"/>
                <a:ea typeface="Calibri" pitchFamily="34" charset="-122"/>
                <a:cs typeface="Calibri" pitchFamily="34" charset="-120"/>
              </a:rPr>
              <a:t>Case 1 · Overweight</a:t>
            </a:r>
            <a:endParaRPr lang="en-US" sz="1500" dirty="0"/>
          </a:p>
          <a:p>
            <a:pPr marL="342900" indent="-342900">
              <a:lnSpc>
                <a:spcPct val="122000"/>
              </a:lnSpc>
              <a:buSzPct val="100000"/>
              <a:buChar char="•"/>
            </a:pPr>
            <a:r>
              <a:rPr lang="en-US" sz="1500" dirty="0">
                <a:solidFill>
                  <a:srgbClr val="26221F"/>
                </a:solidFill>
                <a:latin typeface="Calibri" pitchFamily="34" charset="0"/>
                <a:ea typeface="Calibri" pitchFamily="34" charset="-122"/>
                <a:cs typeface="Calibri" pitchFamily="34" charset="-120"/>
              </a:rPr>
              <a:t>Case 2 · Too greasy</a:t>
            </a:r>
            <a:endParaRPr lang="en-US" sz="1500" dirty="0"/>
          </a:p>
          <a:p>
            <a:pPr marL="342900" indent="-342900">
              <a:lnSpc>
                <a:spcPct val="122000"/>
              </a:lnSpc>
              <a:buSzPct val="100000"/>
              <a:buChar char="•"/>
            </a:pPr>
            <a:r>
              <a:rPr lang="en-US" sz="1500" dirty="0">
                <a:solidFill>
                  <a:srgbClr val="26221F"/>
                </a:solidFill>
                <a:latin typeface="Calibri" pitchFamily="34" charset="0"/>
                <a:ea typeface="Calibri" pitchFamily="34" charset="-122"/>
                <a:cs typeface="Calibri" pitchFamily="34" charset="-120"/>
              </a:rPr>
              <a:t>Case 3 · Poor absorption</a:t>
            </a:r>
            <a:endParaRPr lang="en-US" sz="1500" dirty="0"/>
          </a:p>
          <a:p>
            <a:pPr marL="342900" indent="-342900">
              <a:lnSpc>
                <a:spcPct val="122000"/>
              </a:lnSpc>
              <a:buSzPct val="100000"/>
              <a:buChar char="•"/>
            </a:pPr>
            <a:r>
              <a:rPr lang="en-US" sz="1500" dirty="0">
                <a:solidFill>
                  <a:srgbClr val="26221F"/>
                </a:solidFill>
                <a:latin typeface="Calibri" pitchFamily="34" charset="0"/>
                <a:ea typeface="Calibri" pitchFamily="34" charset="-122"/>
                <a:cs typeface="Calibri" pitchFamily="34" charset="-120"/>
              </a:rPr>
              <a:t>Case 4 · Too flexible</a:t>
            </a:r>
            <a:endParaRPr lang="en-US" sz="1500" dirty="0"/>
          </a:p>
          <a:p>
            <a:pPr marL="342900" indent="-342900">
              <a:lnSpc>
                <a:spcPct val="122000"/>
              </a:lnSpc>
              <a:buSzPct val="100000"/>
              <a:buChar char="•"/>
            </a:pPr>
            <a:r>
              <a:rPr lang="en-US" sz="1500" dirty="0">
                <a:solidFill>
                  <a:srgbClr val="26221F"/>
                </a:solidFill>
                <a:latin typeface="Calibri" pitchFamily="34" charset="0"/>
                <a:ea typeface="Calibri" pitchFamily="34" charset="-122"/>
                <a:cs typeface="Calibri" pitchFamily="34" charset="-120"/>
              </a:rPr>
              <a:t>Case 5 · Multiple faults</a:t>
            </a:r>
            <a:endParaRPr lang="en-US" sz="1500" dirty="0"/>
          </a:p>
        </p:txBody>
      </p:sp>
      <p:sp>
        <p:nvSpPr>
          <p:cNvPr id="9" name="Text 7"/>
          <p:cNvSpPr/>
          <p:nvPr/>
        </p:nvSpPr>
        <p:spPr>
          <a:xfrm>
            <a:off x="6309360" y="1517904"/>
            <a:ext cx="5120640" cy="4572000"/>
          </a:xfrm>
          <a:prstGeom prst="rect">
            <a:avLst/>
          </a:prstGeom>
          <a:noFill/>
          <a:ln/>
        </p:spPr>
        <p:txBody>
          <a:bodyPr wrap="square" rtlCol="0" anchor="t"/>
          <a:lstStyle/>
          <a:p>
            <a:pPr marL="342900" indent="-342900">
              <a:lnSpc>
                <a:spcPct val="122000"/>
              </a:lnSpc>
              <a:buSzPct val="100000"/>
              <a:buChar char="•"/>
            </a:pPr>
            <a:r>
              <a:rPr lang="en-US" sz="1500" dirty="0">
                <a:solidFill>
                  <a:srgbClr val="26221F"/>
                </a:solidFill>
                <a:latin typeface="Calibri" pitchFamily="34" charset="0"/>
                <a:ea typeface="Calibri" pitchFamily="34" charset="-122"/>
                <a:cs typeface="Calibri" pitchFamily="34" charset="-120"/>
              </a:rPr>
              <a:t>Case 6 · Borderline</a:t>
            </a:r>
            <a:endParaRPr lang="en-US" sz="1500" dirty="0"/>
          </a:p>
          <a:p>
            <a:pPr marL="342900" indent="-342900">
              <a:lnSpc>
                <a:spcPct val="122000"/>
              </a:lnSpc>
              <a:buSzPct val="100000"/>
              <a:buChar char="•"/>
            </a:pPr>
            <a:r>
              <a:rPr lang="en-US" sz="1500" dirty="0">
                <a:solidFill>
                  <a:srgbClr val="26221F"/>
                </a:solidFill>
                <a:latin typeface="Calibri" pitchFamily="34" charset="0"/>
                <a:ea typeface="Calibri" pitchFamily="34" charset="-122"/>
                <a:cs typeface="Calibri" pitchFamily="34" charset="-120"/>
              </a:rPr>
              <a:t>Case 7 · Big &amp; lipophilic</a:t>
            </a:r>
            <a:endParaRPr lang="en-US" sz="1500" dirty="0"/>
          </a:p>
          <a:p>
            <a:pPr marL="342900" indent="-342900">
              <a:lnSpc>
                <a:spcPct val="122000"/>
              </a:lnSpc>
              <a:buSzPct val="100000"/>
              <a:buChar char="•"/>
            </a:pPr>
            <a:r>
              <a:rPr lang="en-US" sz="1500" dirty="0">
                <a:solidFill>
                  <a:srgbClr val="26221F"/>
                </a:solidFill>
                <a:latin typeface="Calibri" pitchFamily="34" charset="0"/>
                <a:ea typeface="Calibri" pitchFamily="34" charset="-122"/>
                <a:cs typeface="Calibri" pitchFamily="34" charset="-120"/>
              </a:rPr>
              <a:t>Case 8 · Peptide-like</a:t>
            </a:r>
            <a:endParaRPr lang="en-US" sz="1500" dirty="0"/>
          </a:p>
          <a:p>
            <a:pPr marL="342900" indent="-342900">
              <a:lnSpc>
                <a:spcPct val="122000"/>
              </a:lnSpc>
              <a:buSzPct val="100000"/>
              <a:buChar char="•"/>
            </a:pPr>
            <a:r>
              <a:rPr lang="en-US" sz="1500" dirty="0">
                <a:solidFill>
                  <a:srgbClr val="26221F"/>
                </a:solidFill>
                <a:latin typeface="Calibri" pitchFamily="34" charset="0"/>
                <a:ea typeface="Calibri" pitchFamily="34" charset="-122"/>
                <a:cs typeface="Calibri" pitchFamily="34" charset="-120"/>
              </a:rPr>
              <a:t>Case 9 · Almost there</a:t>
            </a:r>
            <a:endParaRPr lang="en-US" sz="1500" dirty="0"/>
          </a:p>
        </p:txBody>
      </p:sp>
      <p:sp>
        <p:nvSpPr>
          <p:cNvPr id="10" name="Shape 8"/>
          <p:cNvSpPr/>
          <p:nvPr/>
        </p:nvSpPr>
        <p:spPr>
          <a:xfrm>
            <a:off x="685800" y="5532120"/>
            <a:ext cx="10881360" cy="749808"/>
          </a:xfrm>
          <a:prstGeom prst="rect">
            <a:avLst/>
          </a:prstGeom>
          <a:solidFill>
            <a:srgbClr val="F7EFEF"/>
          </a:solidFill>
          <a:ln w="12700">
            <a:solidFill>
              <a:srgbClr val="E7CFCF"/>
            </a:solidFill>
            <a:prstDash val="solid"/>
          </a:ln>
        </p:spPr>
      </p:sp>
      <p:sp>
        <p:nvSpPr>
          <p:cNvPr id="11" name="Shape 9"/>
          <p:cNvSpPr/>
          <p:nvPr/>
        </p:nvSpPr>
        <p:spPr>
          <a:xfrm>
            <a:off x="685800" y="5532120"/>
            <a:ext cx="50292" cy="749808"/>
          </a:xfrm>
          <a:prstGeom prst="rect">
            <a:avLst/>
          </a:prstGeom>
          <a:solidFill>
            <a:srgbClr val="8C1515"/>
          </a:solidFill>
          <a:ln w="12700">
            <a:solidFill>
              <a:srgbClr val="8C1515"/>
            </a:solidFill>
            <a:prstDash val="solid"/>
          </a:ln>
        </p:spPr>
      </p:sp>
      <p:sp>
        <p:nvSpPr>
          <p:cNvPr id="12" name="Text 10"/>
          <p:cNvSpPr/>
          <p:nvPr/>
        </p:nvSpPr>
        <p:spPr>
          <a:xfrm>
            <a:off x="868680" y="5586984"/>
            <a:ext cx="10515600" cy="640080"/>
          </a:xfrm>
          <a:prstGeom prst="rect">
            <a:avLst/>
          </a:prstGeom>
          <a:noFill/>
          <a:ln/>
        </p:spPr>
        <p:txBody>
          <a:bodyPr wrap="square" rtlCol="0" anchor="ctr"/>
          <a:lstStyle/>
          <a:p>
            <a:pPr indent="0" marL="0">
              <a:buNone/>
            </a:pPr>
            <a:r>
              <a:rPr lang="en-US" sz="1250" dirty="0">
                <a:solidFill>
                  <a:srgbClr val="26221F"/>
                </a:solidFill>
                <a:latin typeface="Calibri" pitchFamily="34" charset="0"/>
                <a:ea typeface="Calibri" pitchFamily="34" charset="-122"/>
                <a:cs typeface="Calibri" pitchFamily="34" charset="-120"/>
              </a:rPr>
              <a:t>Each case has one identifiable fault. Name the rule that is broken before editing the molecule — then fix that, and check you have not broken another.</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6"/>
        </a:solidFill>
      </p:bgPr>
    </p:bg>
    <p:spTree>
      <p:nvGrpSpPr>
        <p:cNvPr id="1" name=""/>
        <p:cNvGrpSpPr/>
        <p:nvPr/>
      </p:nvGrpSpPr>
      <p:grpSpPr>
        <a:xfrm>
          <a:off x="0" y="0"/>
          <a:ext cx="0" cy="0"/>
          <a:chOff x="0" y="0"/>
          <a:chExt cx="0" cy="0"/>
        </a:xfrm>
      </p:grpSpPr>
      <p:sp>
        <p:nvSpPr>
          <p:cNvPr id="2" name="Shape 0"/>
          <p:cNvSpPr/>
          <p:nvPr/>
        </p:nvSpPr>
        <p:spPr>
          <a:xfrm>
            <a:off x="0" y="0"/>
            <a:ext cx="12191695" cy="1133856"/>
          </a:xfrm>
          <a:prstGeom prst="rect">
            <a:avLst/>
          </a:prstGeom>
          <a:solidFill>
            <a:srgbClr val="FFFFFF"/>
          </a:solidFill>
          <a:ln w="12700">
            <a:solidFill>
              <a:srgbClr val="FFFFFF"/>
            </a:solidFill>
            <a:prstDash val="solid"/>
          </a:ln>
        </p:spPr>
      </p:sp>
      <p:sp>
        <p:nvSpPr>
          <p:cNvPr id="3" name="Shape 1"/>
          <p:cNvSpPr/>
          <p:nvPr/>
        </p:nvSpPr>
        <p:spPr>
          <a:xfrm>
            <a:off x="0" y="1133856"/>
            <a:ext cx="12191695" cy="32004"/>
          </a:xfrm>
          <a:prstGeom prst="rect">
            <a:avLst/>
          </a:prstGeom>
          <a:solidFill>
            <a:srgbClr val="8C1515"/>
          </a:solidFill>
          <a:ln w="12700">
            <a:solidFill>
              <a:srgbClr val="8C1515"/>
            </a:solidFill>
            <a:prstDash val="solid"/>
          </a:ln>
        </p:spPr>
      </p:sp>
      <p:sp>
        <p:nvSpPr>
          <p:cNvPr id="4" name="Text 2"/>
          <p:cNvSpPr/>
          <p:nvPr/>
        </p:nvSpPr>
        <p:spPr>
          <a:xfrm>
            <a:off x="566928" y="201168"/>
            <a:ext cx="10972800" cy="274320"/>
          </a:xfrm>
          <a:prstGeom prst="rect">
            <a:avLst/>
          </a:prstGeom>
          <a:noFill/>
          <a:ln/>
        </p:spPr>
        <p:txBody>
          <a:bodyPr wrap="square" rtlCol="0" anchor="ctr"/>
          <a:lstStyle/>
          <a:p>
            <a:pPr indent="0" marL="0">
              <a:buNone/>
            </a:pPr>
            <a:r>
              <a:rPr lang="en-US" sz="1100" b="1" spc="140" kern="0" dirty="0">
                <a:solidFill>
                  <a:srgbClr val="8C1515"/>
                </a:solidFill>
                <a:latin typeface="Calibri" pitchFamily="34" charset="0"/>
                <a:ea typeface="Calibri" pitchFamily="34" charset="-122"/>
                <a:cs typeface="Calibri" pitchFamily="34" charset="-120"/>
              </a:rPr>
              <a:t>Practical 1 · the rules</a:t>
            </a:r>
            <a:endParaRPr lang="en-US" sz="1100" dirty="0"/>
          </a:p>
        </p:txBody>
      </p:sp>
      <p:sp>
        <p:nvSpPr>
          <p:cNvPr id="5" name="Text 3"/>
          <p:cNvSpPr/>
          <p:nvPr/>
        </p:nvSpPr>
        <p:spPr>
          <a:xfrm>
            <a:off x="566928" y="475488"/>
            <a:ext cx="11064240" cy="566928"/>
          </a:xfrm>
          <a:prstGeom prst="rect">
            <a:avLst/>
          </a:prstGeom>
          <a:noFill/>
          <a:ln/>
        </p:spPr>
        <p:txBody>
          <a:bodyPr wrap="square" rtlCol="0" anchor="ctr"/>
          <a:lstStyle/>
          <a:p>
            <a:pPr indent="0" marL="0">
              <a:buNone/>
            </a:pPr>
            <a:r>
              <a:rPr lang="en-US" sz="2600" b="1" dirty="0">
                <a:solidFill>
                  <a:srgbClr val="26221F"/>
                </a:solidFill>
                <a:latin typeface="Cambria" pitchFamily="34" charset="0"/>
                <a:ea typeface="Cambria" pitchFamily="34" charset="-122"/>
                <a:cs typeface="Cambria" pitchFamily="34" charset="-120"/>
              </a:rPr>
              <a:t>Guided method</a:t>
            </a:r>
            <a:endParaRPr lang="en-US" sz="2600" dirty="0"/>
          </a:p>
        </p:txBody>
      </p:sp>
      <p:sp>
        <p:nvSpPr>
          <p:cNvPr id="6" name="Shape 4"/>
          <p:cNvSpPr/>
          <p:nvPr/>
        </p:nvSpPr>
        <p:spPr>
          <a:xfrm>
            <a:off x="0" y="6473952"/>
            <a:ext cx="12191695" cy="384048"/>
          </a:xfrm>
          <a:prstGeom prst="rect">
            <a:avLst/>
          </a:prstGeom>
          <a:solidFill>
            <a:srgbClr val="FAF8F6"/>
          </a:solidFill>
          <a:ln w="12700">
            <a:solidFill>
              <a:srgbClr val="FAF8F6"/>
            </a:solidFill>
            <a:prstDash val="solid"/>
          </a:ln>
        </p:spPr>
      </p:sp>
      <p:sp>
        <p:nvSpPr>
          <p:cNvPr id="7" name="Text 5"/>
          <p:cNvSpPr/>
          <p:nvPr/>
        </p:nvSpPr>
        <p:spPr>
          <a:xfrm>
            <a:off x="457200" y="6492240"/>
            <a:ext cx="8229600" cy="310896"/>
          </a:xfrm>
          <a:prstGeom prst="rect">
            <a:avLst/>
          </a:prstGeom>
          <a:noFill/>
          <a:ln/>
        </p:spPr>
        <p:txBody>
          <a:bodyPr wrap="square" rtlCol="0" anchor="ctr"/>
          <a:lstStyle/>
          <a:p>
            <a:pPr indent="0" marL="0">
              <a:buNone/>
            </a:pPr>
            <a:r>
              <a:rPr lang="en-US" sz="1000" dirty="0">
                <a:solidFill>
                  <a:srgbClr val="6E6A63"/>
                </a:solidFill>
                <a:latin typeface="Calibri" pitchFamily="34" charset="0"/>
                <a:ea typeface="Calibri" pitchFamily="34" charset="-122"/>
                <a:cs typeface="Calibri" pitchFamily="34" charset="-120"/>
              </a:rPr>
              <a:t>ALIZON OS · Pharmacy AI · Module 1 — AI Foundations &amp; Digital Systems</a:t>
            </a:r>
            <a:endParaRPr lang="en-US" sz="1000" dirty="0"/>
          </a:p>
        </p:txBody>
      </p:sp>
      <p:sp>
        <p:nvSpPr>
          <p:cNvPr id="8" name="Text 6"/>
          <p:cNvSpPr/>
          <p:nvPr/>
        </p:nvSpPr>
        <p:spPr>
          <a:xfrm>
            <a:off x="685800" y="1517904"/>
            <a:ext cx="10881360" cy="4572000"/>
          </a:xfrm>
          <a:prstGeom prst="rect">
            <a:avLst/>
          </a:prstGeom>
          <a:noFill/>
          <a:ln/>
        </p:spPr>
        <p:txBody>
          <a:bodyPr wrap="square" rtlCol="0" anchor="t"/>
          <a:lstStyle/>
          <a:p>
            <a:pPr marL="342900" indent="-342900">
              <a:lnSpc>
                <a:spcPct val="122000"/>
              </a:lnSpc>
              <a:buSzPct val="100000"/>
              <a:buChar char="•"/>
            </a:pPr>
            <a:r>
              <a:rPr lang="en-US" sz="1500" dirty="0">
                <a:solidFill>
                  <a:srgbClr val="26221F"/>
                </a:solidFill>
                <a:latin typeface="Calibri" pitchFamily="34" charset="0"/>
                <a:ea typeface="Calibri" pitchFamily="34" charset="-122"/>
                <a:cs typeface="Calibri" pitchFamily="34" charset="-120"/>
              </a:rPr>
              <a:t>Start from a scaffold and watch the AI gauges as you adjust each property.</a:t>
            </a:r>
            <a:endParaRPr lang="en-US" sz="1500" dirty="0"/>
          </a:p>
          <a:p>
            <a:pPr marL="342900" indent="-342900">
              <a:lnSpc>
                <a:spcPct val="122000"/>
              </a:lnSpc>
              <a:buSzPct val="100000"/>
              <a:buChar char="•"/>
            </a:pPr>
            <a:r>
              <a:rPr lang="en-US" sz="1500" dirty="0">
                <a:solidFill>
                  <a:srgbClr val="26221F"/>
                </a:solidFill>
                <a:latin typeface="Calibri" pitchFamily="34" charset="0"/>
                <a:ea typeface="Calibri" pitchFamily="34" charset="-122"/>
                <a:cs typeface="Calibri" pitchFamily="34" charset="-120"/>
              </a:rPr>
              <a:t>Keep MW ≤ 500 and LogP around 2–3; lower TPSA below ~90 to raise predicted bioavailability.</a:t>
            </a:r>
            <a:endParaRPr lang="en-US" sz="1500" dirty="0"/>
          </a:p>
          <a:p>
            <a:pPr marL="342900" indent="-342900">
              <a:lnSpc>
                <a:spcPct val="122000"/>
              </a:lnSpc>
              <a:buSzPct val="100000"/>
              <a:buChar char="•"/>
            </a:pPr>
            <a:r>
              <a:rPr lang="en-US" sz="1500" dirty="0">
                <a:solidFill>
                  <a:srgbClr val="26221F"/>
                </a:solidFill>
                <a:latin typeface="Calibri" pitchFamily="34" charset="0"/>
                <a:ea typeface="Calibri" pitchFamily="34" charset="-122"/>
                <a:cs typeface="Calibri" pitchFamily="34" charset="-120"/>
              </a:rPr>
              <a:t>Fix any rule violation the model flags (e.g. too many H-bond donors).</a:t>
            </a:r>
            <a:endParaRPr lang="en-US" sz="1500" dirty="0"/>
          </a:p>
          <a:p>
            <a:pPr marL="342900" indent="-342900">
              <a:lnSpc>
                <a:spcPct val="122000"/>
              </a:lnSpc>
              <a:buSzPct val="100000"/>
              <a:buChar char="•"/>
            </a:pPr>
            <a:r>
              <a:rPr lang="en-US" sz="1500" dirty="0">
                <a:solidFill>
                  <a:srgbClr val="26221F"/>
                </a:solidFill>
                <a:latin typeface="Calibri" pitchFamily="34" charset="0"/>
                <a:ea typeface="Calibri" pitchFamily="34" charset="-122"/>
                <a:cs typeface="Calibri" pitchFamily="34" charset="-120"/>
              </a:rPr>
              <a:t>Compare candidates and keep the one with the highest drug-likeness and bioavailability.</a:t>
            </a:r>
            <a:endParaRPr lang="en-US" sz="1500" dirty="0"/>
          </a:p>
          <a:p>
            <a:pPr marL="342900" indent="-342900">
              <a:lnSpc>
                <a:spcPct val="122000"/>
              </a:lnSpc>
              <a:buSzPct val="100000"/>
              <a:buChar char="•"/>
            </a:pPr>
            <a:r>
              <a:rPr lang="en-US" sz="1500" dirty="0">
                <a:solidFill>
                  <a:srgbClr val="26221F"/>
                </a:solidFill>
                <a:latin typeface="Calibri" pitchFamily="34" charset="0"/>
                <a:ea typeface="Calibri" pitchFamily="34" charset="-122"/>
                <a:cs typeface="Calibri" pitchFamily="34" charset="-120"/>
              </a:rPr>
              <a:t>Name your best molecule and generate the report.</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6"/>
        </a:solidFill>
      </p:bgPr>
    </p:bg>
    <p:spTree>
      <p:nvGrpSpPr>
        <p:cNvPr id="1" name=""/>
        <p:cNvGrpSpPr/>
        <p:nvPr/>
      </p:nvGrpSpPr>
      <p:grpSpPr>
        <a:xfrm>
          <a:off x="0" y="0"/>
          <a:ext cx="0" cy="0"/>
          <a:chOff x="0" y="0"/>
          <a:chExt cx="0" cy="0"/>
        </a:xfrm>
      </p:grpSpPr>
      <p:sp>
        <p:nvSpPr>
          <p:cNvPr id="2" name="Shape 0"/>
          <p:cNvSpPr/>
          <p:nvPr/>
        </p:nvSpPr>
        <p:spPr>
          <a:xfrm>
            <a:off x="0" y="0"/>
            <a:ext cx="12191695" cy="1133856"/>
          </a:xfrm>
          <a:prstGeom prst="rect">
            <a:avLst/>
          </a:prstGeom>
          <a:solidFill>
            <a:srgbClr val="FFFFFF"/>
          </a:solidFill>
          <a:ln w="12700">
            <a:solidFill>
              <a:srgbClr val="FFFFFF"/>
            </a:solidFill>
            <a:prstDash val="solid"/>
          </a:ln>
        </p:spPr>
      </p:sp>
      <p:sp>
        <p:nvSpPr>
          <p:cNvPr id="3" name="Shape 1"/>
          <p:cNvSpPr/>
          <p:nvPr/>
        </p:nvSpPr>
        <p:spPr>
          <a:xfrm>
            <a:off x="0" y="1133856"/>
            <a:ext cx="12191695" cy="32004"/>
          </a:xfrm>
          <a:prstGeom prst="rect">
            <a:avLst/>
          </a:prstGeom>
          <a:solidFill>
            <a:srgbClr val="8C1515"/>
          </a:solidFill>
          <a:ln w="12700">
            <a:solidFill>
              <a:srgbClr val="8C1515"/>
            </a:solidFill>
            <a:prstDash val="solid"/>
          </a:ln>
        </p:spPr>
      </p:sp>
      <p:sp>
        <p:nvSpPr>
          <p:cNvPr id="4" name="Text 2"/>
          <p:cNvSpPr/>
          <p:nvPr/>
        </p:nvSpPr>
        <p:spPr>
          <a:xfrm>
            <a:off x="566928" y="201168"/>
            <a:ext cx="10972800" cy="274320"/>
          </a:xfrm>
          <a:prstGeom prst="rect">
            <a:avLst/>
          </a:prstGeom>
          <a:noFill/>
          <a:ln/>
        </p:spPr>
        <p:txBody>
          <a:bodyPr wrap="square" rtlCol="0" anchor="ctr"/>
          <a:lstStyle/>
          <a:p>
            <a:pPr indent="0" marL="0">
              <a:buNone/>
            </a:pPr>
            <a:r>
              <a:rPr lang="en-US" sz="1100" b="1" spc="140" kern="0" dirty="0">
                <a:solidFill>
                  <a:srgbClr val="8C1515"/>
                </a:solidFill>
                <a:latin typeface="Calibri" pitchFamily="34" charset="0"/>
                <a:ea typeface="Calibri" pitchFamily="34" charset="-122"/>
                <a:cs typeface="Calibri" pitchFamily="34" charset="-120"/>
              </a:rPr>
              <a:t>Practical 1 · assessment</a:t>
            </a:r>
            <a:endParaRPr lang="en-US" sz="1100" dirty="0"/>
          </a:p>
        </p:txBody>
      </p:sp>
      <p:sp>
        <p:nvSpPr>
          <p:cNvPr id="5" name="Text 3"/>
          <p:cNvSpPr/>
          <p:nvPr/>
        </p:nvSpPr>
        <p:spPr>
          <a:xfrm>
            <a:off x="566928" y="475488"/>
            <a:ext cx="11064240" cy="566928"/>
          </a:xfrm>
          <a:prstGeom prst="rect">
            <a:avLst/>
          </a:prstGeom>
          <a:noFill/>
          <a:ln/>
        </p:spPr>
        <p:txBody>
          <a:bodyPr wrap="square" rtlCol="0" anchor="ctr"/>
          <a:lstStyle/>
          <a:p>
            <a:pPr indent="0" marL="0">
              <a:buNone/>
            </a:pPr>
            <a:r>
              <a:rPr lang="en-US" sz="2600" b="1" dirty="0">
                <a:solidFill>
                  <a:srgbClr val="26221F"/>
                </a:solidFill>
                <a:latin typeface="Cambria" pitchFamily="34" charset="0"/>
                <a:ea typeface="Cambria" pitchFamily="34" charset="-122"/>
                <a:cs typeface="Cambria" pitchFamily="34" charset="-120"/>
              </a:rPr>
              <a:t>Question paper and report</a:t>
            </a:r>
            <a:endParaRPr lang="en-US" sz="2600" dirty="0"/>
          </a:p>
        </p:txBody>
      </p:sp>
      <p:sp>
        <p:nvSpPr>
          <p:cNvPr id="6" name="Shape 4"/>
          <p:cNvSpPr/>
          <p:nvPr/>
        </p:nvSpPr>
        <p:spPr>
          <a:xfrm>
            <a:off x="0" y="6473952"/>
            <a:ext cx="12191695" cy="384048"/>
          </a:xfrm>
          <a:prstGeom prst="rect">
            <a:avLst/>
          </a:prstGeom>
          <a:solidFill>
            <a:srgbClr val="FAF8F6"/>
          </a:solidFill>
          <a:ln w="12700">
            <a:solidFill>
              <a:srgbClr val="FAF8F6"/>
            </a:solidFill>
            <a:prstDash val="solid"/>
          </a:ln>
        </p:spPr>
      </p:sp>
      <p:sp>
        <p:nvSpPr>
          <p:cNvPr id="7" name="Text 5"/>
          <p:cNvSpPr/>
          <p:nvPr/>
        </p:nvSpPr>
        <p:spPr>
          <a:xfrm>
            <a:off x="457200" y="6492240"/>
            <a:ext cx="8229600" cy="310896"/>
          </a:xfrm>
          <a:prstGeom prst="rect">
            <a:avLst/>
          </a:prstGeom>
          <a:noFill/>
          <a:ln/>
        </p:spPr>
        <p:txBody>
          <a:bodyPr wrap="square" rtlCol="0" anchor="ctr"/>
          <a:lstStyle/>
          <a:p>
            <a:pPr indent="0" marL="0">
              <a:buNone/>
            </a:pPr>
            <a:r>
              <a:rPr lang="en-US" sz="1000" dirty="0">
                <a:solidFill>
                  <a:srgbClr val="6E6A63"/>
                </a:solidFill>
                <a:latin typeface="Calibri" pitchFamily="34" charset="0"/>
                <a:ea typeface="Calibri" pitchFamily="34" charset="-122"/>
                <a:cs typeface="Calibri" pitchFamily="34" charset="-120"/>
              </a:rPr>
              <a:t>ALIZON OS · Pharmacy AI · Module 1 — AI Foundations &amp; Digital Systems</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22960" y="1554480"/>
          <a:ext cx="5120640" cy="914400"/>
        </p:xfrm>
        <a:graphic>
          <a:graphicData uri="http://schemas.openxmlformats.org/drawingml/2006/table">
            <a:tbl>
              <a:tblPr/>
              <a:tblGrid>
                <a:gridCol w="1005840"/>
                <a:gridCol w="2926080"/>
                <a:gridCol w="1188720"/>
              </a:tblGrid>
              <a:tr h="0">
                <a:tc>
                  <a:txBody>
                    <a:bodyPr/>
                    <a:lstStyle/>
                    <a:p>
                      <a:pPr indent="0" marL="0">
                        <a:buNone/>
                      </a:pPr>
                      <a:r>
                        <a:rPr lang="en-US" sz="1150" b="1" dirty="0">
                          <a:solidFill>
                            <a:srgbClr val="26221F"/>
                          </a:solidFill>
                          <a:latin typeface="Calibri" pitchFamily="34" charset="0"/>
                          <a:ea typeface="Calibri" pitchFamily="34" charset="-122"/>
                          <a:cs typeface="Calibri" pitchFamily="34" charset="-120"/>
                        </a:rPr>
                        <a:t>Section</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solidFill>
                      <a:srgbClr val="EFE7E1"/>
                    </a:solidFill>
                  </a:tcPr>
                </a:tc>
                <a:tc>
                  <a:txBody>
                    <a:bodyPr/>
                    <a:lstStyle/>
                    <a:p>
                      <a:pPr indent="0" marL="0">
                        <a:buNone/>
                      </a:pPr>
                      <a:r>
                        <a:rPr lang="en-US" sz="1150" b="1" dirty="0">
                          <a:solidFill>
                            <a:srgbClr val="26221F"/>
                          </a:solidFill>
                          <a:latin typeface="Calibri" pitchFamily="34" charset="0"/>
                          <a:ea typeface="Calibri" pitchFamily="34" charset="-122"/>
                          <a:cs typeface="Calibri" pitchFamily="34" charset="-120"/>
                        </a:rPr>
                        <a:t>Task</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solidFill>
                      <a:srgbClr val="EFE7E1"/>
                    </a:solidFill>
                  </a:tcPr>
                </a:tc>
                <a:tc>
                  <a:txBody>
                    <a:bodyPr/>
                    <a:lstStyle/>
                    <a:p>
                      <a:pPr algn="r" indent="0" marL="0">
                        <a:buNone/>
                      </a:pPr>
                      <a:r>
                        <a:rPr lang="en-US" sz="1150" b="1" dirty="0">
                          <a:solidFill>
                            <a:srgbClr val="26221F"/>
                          </a:solidFill>
                          <a:latin typeface="Calibri" pitchFamily="34" charset="0"/>
                          <a:ea typeface="Calibri" pitchFamily="34" charset="-122"/>
                          <a:cs typeface="Calibri" pitchFamily="34" charset="-120"/>
                        </a:rPr>
                        <a:t>Marks</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solidFill>
                      <a:srgbClr val="EFE7E1"/>
                    </a:solidFill>
                  </a:tcPr>
                </a:tc>
              </a:tr>
              <a:tr h="0">
                <a:tc>
                  <a:txBody>
                    <a:bodyPr/>
                    <a:lstStyle/>
                    <a:p>
                      <a:pPr indent="0" marL="0">
                        <a:buNone/>
                      </a:pPr>
                      <a:r>
                        <a:rPr lang="en-US" sz="1150" dirty="0">
                          <a:solidFill>
                            <a:srgbClr val="26221F"/>
                          </a:solidFill>
                          <a:latin typeface="Calibri" pitchFamily="34" charset="0"/>
                          <a:ea typeface="Calibri" pitchFamily="34" charset="-122"/>
                          <a:cs typeface="Calibri" pitchFamily="34" charset="-120"/>
                        </a:rPr>
                        <a:t>Part A</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150" dirty="0">
                          <a:solidFill>
                            <a:srgbClr val="26221F"/>
                          </a:solidFill>
                          <a:latin typeface="Calibri" pitchFamily="34" charset="0"/>
                          <a:ea typeface="Calibri" pitchFamily="34" charset="-122"/>
                          <a:cs typeface="Calibri" pitchFamily="34" charset="-120"/>
                        </a:rPr>
                        <a:t>Correct the faulty candidates</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algn="r" indent="0" marL="0">
                        <a:buNone/>
                      </a:pPr>
                      <a:r>
                        <a:rPr lang="en-US" sz="1150" dirty="0">
                          <a:solidFill>
                            <a:srgbClr val="26221F"/>
                          </a:solidFill>
                          <a:latin typeface="Calibri" pitchFamily="34" charset="0"/>
                          <a:ea typeface="Calibri" pitchFamily="34" charset="-122"/>
                          <a:cs typeface="Calibri" pitchFamily="34" charset="-120"/>
                        </a:rPr>
                        <a:t>2 × 5 = 10</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r h="0">
                <a:tc>
                  <a:txBody>
                    <a:bodyPr/>
                    <a:lstStyle/>
                    <a:p>
                      <a:pPr indent="0" marL="0">
                        <a:buNone/>
                      </a:pPr>
                      <a:r>
                        <a:rPr lang="en-US" sz="1150" dirty="0">
                          <a:solidFill>
                            <a:srgbClr val="26221F"/>
                          </a:solidFill>
                          <a:latin typeface="Calibri" pitchFamily="34" charset="0"/>
                          <a:ea typeface="Calibri" pitchFamily="34" charset="-122"/>
                          <a:cs typeface="Calibri" pitchFamily="34" charset="-120"/>
                        </a:rPr>
                        <a:t>Part B</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150" dirty="0">
                          <a:solidFill>
                            <a:srgbClr val="26221F"/>
                          </a:solidFill>
                          <a:latin typeface="Calibri" pitchFamily="34" charset="0"/>
                          <a:ea typeface="Calibri" pitchFamily="34" charset="-122"/>
                          <a:cs typeface="Calibri" pitchFamily="34" charset="-120"/>
                        </a:rPr>
                        <a:t>Design task</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algn="r" indent="0" marL="0">
                        <a:buNone/>
                      </a:pPr>
                      <a:r>
                        <a:rPr lang="en-US" sz="1150" dirty="0">
                          <a:solidFill>
                            <a:srgbClr val="26221F"/>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r h="0">
                <a:tc>
                  <a:txBody>
                    <a:bodyPr/>
                    <a:lstStyle/>
                    <a:p>
                      <a:pPr indent="0" marL="0">
                        <a:buNone/>
                      </a:pPr>
                      <a:r>
                        <a:rPr lang="en-US" sz="1150" dirty="0">
                          <a:solidFill>
                            <a:srgbClr val="26221F"/>
                          </a:solidFill>
                          <a:latin typeface="Calibri" pitchFamily="34" charset="0"/>
                          <a:ea typeface="Calibri" pitchFamily="34" charset="-122"/>
                          <a:cs typeface="Calibri" pitchFamily="34" charset="-120"/>
                        </a:rPr>
                        <a:t>Part C</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150" dirty="0">
                          <a:solidFill>
                            <a:srgbClr val="26221F"/>
                          </a:solidFill>
                          <a:latin typeface="Calibri" pitchFamily="34" charset="0"/>
                          <a:ea typeface="Calibri" pitchFamily="34" charset="-122"/>
                          <a:cs typeface="Calibri" pitchFamily="34" charset="-120"/>
                        </a:rPr>
                        <a:t>Viva / theory</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algn="r" indent="0" marL="0">
                        <a:buNone/>
                      </a:pPr>
                      <a:r>
                        <a:rPr lang="en-US" sz="1150" dirty="0">
                          <a:solidFill>
                            <a:srgbClr val="26221F"/>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r h="0">
                <a:tc>
                  <a:txBody>
                    <a:bodyPr/>
                    <a:lstStyle/>
                    <a:p>
                      <a:pPr indent="0" marL="0">
                        <a:buNone/>
                      </a:pPr>
                      <a:r>
                        <a:rPr lang="en-US" sz="1150" b="1" dirty="0">
                          <a:solidFill>
                            <a:srgbClr val="26221F"/>
                          </a:solidFill>
                          <a:latin typeface="Calibri" pitchFamily="34" charset="0"/>
                          <a:ea typeface="Calibri" pitchFamily="34" charset="-122"/>
                          <a:cs typeface="Calibri" pitchFamily="34" charset="-120"/>
                        </a:rPr>
                        <a:t>Total</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algn="r" indent="0" marL="0">
                        <a:buNone/>
                      </a:pPr>
                      <a:r>
                        <a:rPr lang="en-US" sz="1150" b="1" dirty="0">
                          <a:solidFill>
                            <a:srgbClr val="26221F"/>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bl>
          </a:graphicData>
        </a:graphic>
      </p:graphicFrame>
      <p:sp>
        <p:nvSpPr>
          <p:cNvPr id="9" name="Text 6"/>
          <p:cNvSpPr/>
          <p:nvPr/>
        </p:nvSpPr>
        <p:spPr>
          <a:xfrm>
            <a:off x="822960" y="3794760"/>
            <a:ext cx="5120640" cy="274320"/>
          </a:xfrm>
          <a:prstGeom prst="rect">
            <a:avLst/>
          </a:prstGeom>
          <a:noFill/>
          <a:ln/>
        </p:spPr>
        <p:txBody>
          <a:bodyPr wrap="square" rtlCol="0" anchor="ctr"/>
          <a:lstStyle/>
          <a:p>
            <a:pPr indent="0" marL="0">
              <a:buNone/>
            </a:pPr>
            <a:r>
              <a:rPr lang="en-US" sz="1200" b="1" spc="120" kern="0" dirty="0">
                <a:solidFill>
                  <a:srgbClr val="8C1515"/>
                </a:solidFill>
                <a:latin typeface="Calibri" pitchFamily="34" charset="0"/>
                <a:ea typeface="Calibri" pitchFamily="34" charset="-122"/>
                <a:cs typeface="Calibri" pitchFamily="34" charset="-120"/>
              </a:rPr>
              <a:t>Your report must contain</a:t>
            </a:r>
            <a:endParaRPr lang="en-US" sz="1200" dirty="0"/>
          </a:p>
        </p:txBody>
      </p:sp>
      <p:sp>
        <p:nvSpPr>
          <p:cNvPr id="10" name="Text 7"/>
          <p:cNvSpPr/>
          <p:nvPr/>
        </p:nvSpPr>
        <p:spPr>
          <a:xfrm>
            <a:off x="822960" y="4114800"/>
            <a:ext cx="5120640" cy="1005840"/>
          </a:xfrm>
          <a:prstGeom prst="rect">
            <a:avLst/>
          </a:prstGeom>
          <a:noFill/>
          <a:ln/>
        </p:spPr>
        <p:txBody>
          <a:bodyPr wrap="square" rtlCol="0" anchor="ctr"/>
          <a:lstStyle/>
          <a:p>
            <a:pPr indent="0" marL="0">
              <a:buNone/>
            </a:pPr>
            <a:r>
              <a:rPr lang="en-US" sz="1200" dirty="0">
                <a:solidFill>
                  <a:srgbClr val="26221F"/>
                </a:solidFill>
                <a:latin typeface="Calibri" pitchFamily="34" charset="0"/>
                <a:ea typeface="Calibri" pitchFamily="34" charset="-122"/>
                <a:cs typeface="Calibri" pitchFamily="34" charset="-120"/>
              </a:rPr>
              <a:t>Experiment · Principle · Best Designed Candidate · Method · Observation Table · Observation · Result · Discussion · Conclusion</a:t>
            </a:r>
            <a:endParaRPr lang="en-US" sz="1200" dirty="0"/>
          </a:p>
        </p:txBody>
      </p:sp>
      <p:sp>
        <p:nvSpPr>
          <p:cNvPr id="11" name="Shape 8"/>
          <p:cNvSpPr/>
          <p:nvPr/>
        </p:nvSpPr>
        <p:spPr>
          <a:xfrm>
            <a:off x="6085332" y="2145574"/>
            <a:ext cx="5568696" cy="3389811"/>
          </a:xfrm>
          <a:prstGeom prst="rect">
            <a:avLst/>
          </a:prstGeom>
          <a:solidFill>
            <a:srgbClr val="FFFFFF"/>
          </a:solidFill>
          <a:ln w="9525">
            <a:solidFill>
              <a:srgbClr val="DDD5CE"/>
            </a:solidFill>
            <a:prstDash val="solid"/>
          </a:ln>
        </p:spPr>
      </p:sp>
      <p:pic>
        <p:nvPicPr>
          <p:cNvPr id="12" name="Image 0" descr="/Users/kukku/Desktop/junk/alizon-os-deploy/resources/slides/img/p1_paper.png">    </p:cNvPr>
          <p:cNvPicPr>
            <a:picLocks noChangeAspect="1"/>
          </p:cNvPicPr>
          <p:nvPr/>
        </p:nvPicPr>
        <p:blipFill>
          <a:blip r:embed="rId1"/>
          <a:stretch>
            <a:fillRect/>
          </a:stretch>
        </p:blipFill>
        <p:spPr>
          <a:xfrm>
            <a:off x="6126480" y="2186722"/>
            <a:ext cx="5486400" cy="3307515"/>
          </a:xfrm>
          <a:prstGeom prst="rect">
            <a:avLst/>
          </a:prstGeom>
        </p:spPr>
      </p:pic>
      <p:sp>
        <p:nvSpPr>
          <p:cNvPr id="13" name="Text 9"/>
          <p:cNvSpPr/>
          <p:nvPr/>
        </p:nvSpPr>
        <p:spPr>
          <a:xfrm>
            <a:off x="6126480" y="5567390"/>
            <a:ext cx="5486400" cy="256032"/>
          </a:xfrm>
          <a:prstGeom prst="rect">
            <a:avLst/>
          </a:prstGeom>
          <a:noFill/>
          <a:ln/>
        </p:spPr>
        <p:txBody>
          <a:bodyPr wrap="square" rtlCol="0" anchor="ctr"/>
          <a:lstStyle/>
          <a:p>
            <a:pPr algn="ctr" indent="0" marL="0">
              <a:buNone/>
            </a:pPr>
            <a:r>
              <a:rPr lang="en-US" sz="1050" i="1" dirty="0">
                <a:solidFill>
                  <a:srgbClr val="6E6A63"/>
                </a:solidFill>
                <a:latin typeface="Calibri" pitchFamily="34" charset="0"/>
                <a:ea typeface="Calibri" pitchFamily="34" charset="-122"/>
                <a:cs typeface="Calibri" pitchFamily="34" charset="-120"/>
              </a:rPr>
              <a:t>04 A generated paper — every student gets a different one, traceable by its paper code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6"/>
        </a:solidFill>
      </p:bgPr>
    </p:bg>
    <p:spTree>
      <p:nvGrpSpPr>
        <p:cNvPr id="1" name=""/>
        <p:cNvGrpSpPr/>
        <p:nvPr/>
      </p:nvGrpSpPr>
      <p:grpSpPr>
        <a:xfrm>
          <a:off x="0" y="0"/>
          <a:ext cx="0" cy="0"/>
          <a:chOff x="0" y="0"/>
          <a:chExt cx="0" cy="0"/>
        </a:xfrm>
      </p:grpSpPr>
      <p:sp>
        <p:nvSpPr>
          <p:cNvPr id="2" name="Shape 0"/>
          <p:cNvSpPr/>
          <p:nvPr/>
        </p:nvSpPr>
        <p:spPr>
          <a:xfrm>
            <a:off x="0" y="0"/>
            <a:ext cx="12191695" cy="1133856"/>
          </a:xfrm>
          <a:prstGeom prst="rect">
            <a:avLst/>
          </a:prstGeom>
          <a:solidFill>
            <a:srgbClr val="FFFFFF"/>
          </a:solidFill>
          <a:ln w="12700">
            <a:solidFill>
              <a:srgbClr val="FFFFFF"/>
            </a:solidFill>
            <a:prstDash val="solid"/>
          </a:ln>
        </p:spPr>
      </p:sp>
      <p:sp>
        <p:nvSpPr>
          <p:cNvPr id="3" name="Shape 1"/>
          <p:cNvSpPr/>
          <p:nvPr/>
        </p:nvSpPr>
        <p:spPr>
          <a:xfrm>
            <a:off x="0" y="1133856"/>
            <a:ext cx="12191695" cy="32004"/>
          </a:xfrm>
          <a:prstGeom prst="rect">
            <a:avLst/>
          </a:prstGeom>
          <a:solidFill>
            <a:srgbClr val="8C1515"/>
          </a:solidFill>
          <a:ln w="12700">
            <a:solidFill>
              <a:srgbClr val="8C1515"/>
            </a:solidFill>
            <a:prstDash val="solid"/>
          </a:ln>
        </p:spPr>
      </p:sp>
      <p:sp>
        <p:nvSpPr>
          <p:cNvPr id="4" name="Text 2"/>
          <p:cNvSpPr/>
          <p:nvPr/>
        </p:nvSpPr>
        <p:spPr>
          <a:xfrm>
            <a:off x="566928" y="201168"/>
            <a:ext cx="10972800" cy="274320"/>
          </a:xfrm>
          <a:prstGeom prst="rect">
            <a:avLst/>
          </a:prstGeom>
          <a:noFill/>
          <a:ln/>
        </p:spPr>
        <p:txBody>
          <a:bodyPr wrap="square" rtlCol="0" anchor="ctr"/>
          <a:lstStyle/>
          <a:p>
            <a:pPr indent="0" marL="0">
              <a:buNone/>
            </a:pPr>
            <a:r>
              <a:rPr lang="en-US" sz="1100" b="1" spc="140" kern="0" dirty="0">
                <a:solidFill>
                  <a:srgbClr val="8C1515"/>
                </a:solidFill>
                <a:latin typeface="Calibri" pitchFamily="34" charset="0"/>
                <a:ea typeface="Calibri" pitchFamily="34" charset="-122"/>
                <a:cs typeface="Calibri" pitchFamily="34" charset="-120"/>
              </a:rPr>
              <a:t>Practical 1 · teaching notes</a:t>
            </a:r>
            <a:endParaRPr lang="en-US" sz="1100" dirty="0"/>
          </a:p>
        </p:txBody>
      </p:sp>
      <p:sp>
        <p:nvSpPr>
          <p:cNvPr id="5" name="Text 3"/>
          <p:cNvSpPr/>
          <p:nvPr/>
        </p:nvSpPr>
        <p:spPr>
          <a:xfrm>
            <a:off x="566928" y="475488"/>
            <a:ext cx="11064240" cy="566928"/>
          </a:xfrm>
          <a:prstGeom prst="rect">
            <a:avLst/>
          </a:prstGeom>
          <a:noFill/>
          <a:ln/>
        </p:spPr>
        <p:txBody>
          <a:bodyPr wrap="square" rtlCol="0" anchor="ctr"/>
          <a:lstStyle/>
          <a:p>
            <a:pPr indent="0" marL="0">
              <a:buNone/>
            </a:pPr>
            <a:r>
              <a:rPr lang="en-US" sz="2600" b="1" dirty="0">
                <a:solidFill>
                  <a:srgbClr val="26221F"/>
                </a:solidFill>
                <a:latin typeface="Cambria" pitchFamily="34" charset="0"/>
                <a:ea typeface="Cambria" pitchFamily="34" charset="-122"/>
                <a:cs typeface="Cambria" pitchFamily="34" charset="-120"/>
              </a:rPr>
              <a:t>What to draw out in class</a:t>
            </a:r>
            <a:endParaRPr lang="en-US" sz="2600" dirty="0"/>
          </a:p>
        </p:txBody>
      </p:sp>
      <p:sp>
        <p:nvSpPr>
          <p:cNvPr id="6" name="Shape 4"/>
          <p:cNvSpPr/>
          <p:nvPr/>
        </p:nvSpPr>
        <p:spPr>
          <a:xfrm>
            <a:off x="0" y="6473952"/>
            <a:ext cx="12191695" cy="384048"/>
          </a:xfrm>
          <a:prstGeom prst="rect">
            <a:avLst/>
          </a:prstGeom>
          <a:solidFill>
            <a:srgbClr val="FAF8F6"/>
          </a:solidFill>
          <a:ln w="12700">
            <a:solidFill>
              <a:srgbClr val="FAF8F6"/>
            </a:solidFill>
            <a:prstDash val="solid"/>
          </a:ln>
        </p:spPr>
      </p:sp>
      <p:sp>
        <p:nvSpPr>
          <p:cNvPr id="7" name="Text 5"/>
          <p:cNvSpPr/>
          <p:nvPr/>
        </p:nvSpPr>
        <p:spPr>
          <a:xfrm>
            <a:off x="457200" y="6492240"/>
            <a:ext cx="8229600" cy="310896"/>
          </a:xfrm>
          <a:prstGeom prst="rect">
            <a:avLst/>
          </a:prstGeom>
          <a:noFill/>
          <a:ln/>
        </p:spPr>
        <p:txBody>
          <a:bodyPr wrap="square" rtlCol="0" anchor="ctr"/>
          <a:lstStyle/>
          <a:p>
            <a:pPr indent="0" marL="0">
              <a:buNone/>
            </a:pPr>
            <a:r>
              <a:rPr lang="en-US" sz="1000" dirty="0">
                <a:solidFill>
                  <a:srgbClr val="6E6A63"/>
                </a:solidFill>
                <a:latin typeface="Calibri" pitchFamily="34" charset="0"/>
                <a:ea typeface="Calibri" pitchFamily="34" charset="-122"/>
                <a:cs typeface="Calibri" pitchFamily="34" charset="-120"/>
              </a:rPr>
              <a:t>ALIZON OS · Pharmacy AI · Module 1 — AI Foundations &amp; Digital Systems</a:t>
            </a:r>
            <a:endParaRPr lang="en-US" sz="1000" dirty="0"/>
          </a:p>
        </p:txBody>
      </p:sp>
      <p:sp>
        <p:nvSpPr>
          <p:cNvPr id="8" name="Text 6"/>
          <p:cNvSpPr/>
          <p:nvPr/>
        </p:nvSpPr>
        <p:spPr>
          <a:xfrm>
            <a:off x="685800" y="1517904"/>
            <a:ext cx="10881360" cy="4572000"/>
          </a:xfrm>
          <a:prstGeom prst="rect">
            <a:avLst/>
          </a:prstGeom>
          <a:noFill/>
          <a:ln/>
        </p:spPr>
        <p:txBody>
          <a:bodyPr wrap="square" rtlCol="0" anchor="t"/>
          <a:lstStyle/>
          <a:p>
            <a:pPr marL="342900" indent="-342900">
              <a:lnSpc>
                <a:spcPct val="122000"/>
              </a:lnSpc>
              <a:buSzPct val="100000"/>
              <a:buChar char="•"/>
            </a:pPr>
            <a:r>
              <a:rPr lang="en-US" sz="1450" dirty="0">
                <a:solidFill>
                  <a:srgbClr val="26221F"/>
                </a:solidFill>
                <a:latin typeface="Calibri" pitchFamily="34" charset="0"/>
                <a:ea typeface="Calibri" pitchFamily="34" charset="-122"/>
                <a:cs typeface="Calibri" pitchFamily="34" charset="-120"/>
              </a:rPr>
              <a:t>The rules are a guide, not a law. A violation is something the student must explain, not an automatic fail — real marketed drugs break them.</a:t>
            </a:r>
            <a:endParaRPr lang="en-US" sz="1450" dirty="0"/>
          </a:p>
          <a:p>
            <a:pPr marL="342900" indent="-342900">
              <a:lnSpc>
                <a:spcPct val="122000"/>
              </a:lnSpc>
              <a:buSzPct val="100000"/>
              <a:buChar char="•"/>
            </a:pPr>
            <a:r>
              <a:rPr lang="en-US" sz="1450" dirty="0">
                <a:solidFill>
                  <a:srgbClr val="26221F"/>
                </a:solidFill>
                <a:latin typeface="Calibri" pitchFamily="34" charset="0"/>
                <a:ea typeface="Calibri" pitchFamily="34" charset="-122"/>
                <a:cs typeface="Calibri" pitchFamily="34" charset="-120"/>
              </a:rPr>
              <a:t>The gauges are model predictions, not measurements. Say so out loud: bioavailability here is estimated from the descriptors, not observed in a patient.</a:t>
            </a:r>
            <a:endParaRPr lang="en-US" sz="1450" dirty="0"/>
          </a:p>
          <a:p>
            <a:pPr marL="342900" indent="-342900">
              <a:lnSpc>
                <a:spcPct val="122000"/>
              </a:lnSpc>
              <a:buSzPct val="100000"/>
              <a:buChar char="•"/>
            </a:pPr>
            <a:r>
              <a:rPr lang="en-US" sz="1450" dirty="0">
                <a:solidFill>
                  <a:srgbClr val="26221F"/>
                </a:solidFill>
                <a:latin typeface="Calibri" pitchFamily="34" charset="0"/>
                <a:ea typeface="Calibri" pitchFamily="34" charset="-122"/>
                <a:cs typeface="Calibri" pitchFamily="34" charset="-120"/>
              </a:rPr>
              <a:t>Each "Fix the Medicine" case has one identifiable fault. Make students name which rule is broken BEFORE they start editing the molecule.</a:t>
            </a:r>
            <a:endParaRPr lang="en-US" sz="1450" dirty="0"/>
          </a:p>
          <a:p>
            <a:pPr marL="342900" indent="-342900">
              <a:lnSpc>
                <a:spcPct val="122000"/>
              </a:lnSpc>
              <a:buSzPct val="100000"/>
              <a:buChar char="•"/>
            </a:pPr>
            <a:r>
              <a:rPr lang="en-US" sz="1450" dirty="0">
                <a:solidFill>
                  <a:srgbClr val="26221F"/>
                </a:solidFill>
                <a:latin typeface="Calibri" pitchFamily="34" charset="0"/>
                <a:ea typeface="Calibri" pitchFamily="34" charset="-122"/>
                <a:cs typeface="Calibri" pitchFamily="34" charset="-120"/>
              </a:rPr>
              <a:t>The observation table must be filled as they work. A student who reconstructs it at the end has skipped the experiment and it shows in the discussion.</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E1010"/>
        </a:solidFill>
      </p:bgPr>
    </p:bg>
    <p:spTree>
      <p:nvGrpSpPr>
        <p:cNvPr id="1" name=""/>
        <p:cNvGrpSpPr/>
        <p:nvPr/>
      </p:nvGrpSpPr>
      <p:grpSpPr>
        <a:xfrm>
          <a:off x="0" y="0"/>
          <a:ext cx="0" cy="0"/>
          <a:chOff x="0" y="0"/>
          <a:chExt cx="0" cy="0"/>
        </a:xfrm>
      </p:grpSpPr>
      <p:sp>
        <p:nvSpPr>
          <p:cNvPr id="2" name="Text 0"/>
          <p:cNvSpPr/>
          <p:nvPr/>
        </p:nvSpPr>
        <p:spPr>
          <a:xfrm>
            <a:off x="822960" y="2377440"/>
            <a:ext cx="10515600" cy="457200"/>
          </a:xfrm>
          <a:prstGeom prst="rect">
            <a:avLst/>
          </a:prstGeom>
          <a:noFill/>
          <a:ln/>
        </p:spPr>
        <p:txBody>
          <a:bodyPr wrap="square" rtlCol="0" anchor="ctr"/>
          <a:lstStyle/>
          <a:p>
            <a:pPr indent="0" marL="0">
              <a:buNone/>
            </a:pPr>
            <a:r>
              <a:rPr lang="en-US" sz="1300" b="1" spc="240" kern="0" dirty="0">
                <a:solidFill>
                  <a:srgbClr val="9A7B3F"/>
                </a:solidFill>
                <a:latin typeface="Calibri" pitchFamily="34" charset="0"/>
                <a:ea typeface="Calibri" pitchFamily="34" charset="-122"/>
                <a:cs typeface="Calibri" pitchFamily="34" charset="-120"/>
              </a:rPr>
              <a:t>PRACTICAL 2 · UNIT 3</a:t>
            </a:r>
            <a:endParaRPr lang="en-US" sz="1300" dirty="0"/>
          </a:p>
        </p:txBody>
      </p:sp>
      <p:sp>
        <p:nvSpPr>
          <p:cNvPr id="3" name="Text 1"/>
          <p:cNvSpPr/>
          <p:nvPr/>
        </p:nvSpPr>
        <p:spPr>
          <a:xfrm>
            <a:off x="822960" y="2834640"/>
            <a:ext cx="10515600" cy="146304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Data Breach Response Simulation</a:t>
            </a:r>
            <a:endParaRPr lang="en-US" sz="3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6"/>
        </a:solidFill>
      </p:bgPr>
    </p:bg>
    <p:spTree>
      <p:nvGrpSpPr>
        <p:cNvPr id="1" name=""/>
        <p:cNvGrpSpPr/>
        <p:nvPr/>
      </p:nvGrpSpPr>
      <p:grpSpPr>
        <a:xfrm>
          <a:off x="0" y="0"/>
          <a:ext cx="0" cy="0"/>
          <a:chOff x="0" y="0"/>
          <a:chExt cx="0" cy="0"/>
        </a:xfrm>
      </p:grpSpPr>
      <p:sp>
        <p:nvSpPr>
          <p:cNvPr id="2" name="Shape 0"/>
          <p:cNvSpPr/>
          <p:nvPr/>
        </p:nvSpPr>
        <p:spPr>
          <a:xfrm>
            <a:off x="0" y="0"/>
            <a:ext cx="12191695" cy="1133856"/>
          </a:xfrm>
          <a:prstGeom prst="rect">
            <a:avLst/>
          </a:prstGeom>
          <a:solidFill>
            <a:srgbClr val="FFFFFF"/>
          </a:solidFill>
          <a:ln w="12700">
            <a:solidFill>
              <a:srgbClr val="FFFFFF"/>
            </a:solidFill>
            <a:prstDash val="solid"/>
          </a:ln>
        </p:spPr>
      </p:sp>
      <p:sp>
        <p:nvSpPr>
          <p:cNvPr id="3" name="Shape 1"/>
          <p:cNvSpPr/>
          <p:nvPr/>
        </p:nvSpPr>
        <p:spPr>
          <a:xfrm>
            <a:off x="0" y="1133856"/>
            <a:ext cx="12191695" cy="32004"/>
          </a:xfrm>
          <a:prstGeom prst="rect">
            <a:avLst/>
          </a:prstGeom>
          <a:solidFill>
            <a:srgbClr val="8C1515"/>
          </a:solidFill>
          <a:ln w="12700">
            <a:solidFill>
              <a:srgbClr val="8C1515"/>
            </a:solidFill>
            <a:prstDash val="solid"/>
          </a:ln>
        </p:spPr>
      </p:sp>
      <p:sp>
        <p:nvSpPr>
          <p:cNvPr id="4" name="Text 2"/>
          <p:cNvSpPr/>
          <p:nvPr/>
        </p:nvSpPr>
        <p:spPr>
          <a:xfrm>
            <a:off x="566928" y="201168"/>
            <a:ext cx="10972800" cy="274320"/>
          </a:xfrm>
          <a:prstGeom prst="rect">
            <a:avLst/>
          </a:prstGeom>
          <a:noFill/>
          <a:ln/>
        </p:spPr>
        <p:txBody>
          <a:bodyPr wrap="square" rtlCol="0" anchor="ctr"/>
          <a:lstStyle/>
          <a:p>
            <a:pPr indent="0" marL="0">
              <a:buNone/>
            </a:pPr>
            <a:r>
              <a:rPr lang="en-US" sz="1100" b="1" spc="140" kern="0" dirty="0">
                <a:solidFill>
                  <a:srgbClr val="8C1515"/>
                </a:solidFill>
                <a:latin typeface="Calibri" pitchFamily="34" charset="0"/>
                <a:ea typeface="Calibri" pitchFamily="34" charset="-122"/>
                <a:cs typeface="Calibri" pitchFamily="34" charset="-120"/>
              </a:rPr>
              <a:t>Practical 2 · what you are doing</a:t>
            </a:r>
            <a:endParaRPr lang="en-US" sz="1100" dirty="0"/>
          </a:p>
        </p:txBody>
      </p:sp>
      <p:sp>
        <p:nvSpPr>
          <p:cNvPr id="5" name="Text 3"/>
          <p:cNvSpPr/>
          <p:nvPr/>
        </p:nvSpPr>
        <p:spPr>
          <a:xfrm>
            <a:off x="566928" y="475488"/>
            <a:ext cx="11064240" cy="566928"/>
          </a:xfrm>
          <a:prstGeom prst="rect">
            <a:avLst/>
          </a:prstGeom>
          <a:noFill/>
          <a:ln/>
        </p:spPr>
        <p:txBody>
          <a:bodyPr wrap="square" rtlCol="0" anchor="ctr"/>
          <a:lstStyle/>
          <a:p>
            <a:pPr indent="0" marL="0">
              <a:buNone/>
            </a:pPr>
            <a:r>
              <a:rPr lang="en-US" sz="2600" b="1" dirty="0">
                <a:solidFill>
                  <a:srgbClr val="26221F"/>
                </a:solidFill>
                <a:latin typeface="Cambria" pitchFamily="34" charset="0"/>
                <a:ea typeface="Cambria" pitchFamily="34" charset="-122"/>
                <a:cs typeface="Cambria" pitchFamily="34" charset="-120"/>
              </a:rPr>
              <a:t>Aim</a:t>
            </a:r>
            <a:endParaRPr lang="en-US" sz="2600" dirty="0"/>
          </a:p>
        </p:txBody>
      </p:sp>
      <p:sp>
        <p:nvSpPr>
          <p:cNvPr id="6" name="Shape 4"/>
          <p:cNvSpPr/>
          <p:nvPr/>
        </p:nvSpPr>
        <p:spPr>
          <a:xfrm>
            <a:off x="0" y="6473952"/>
            <a:ext cx="12191695" cy="384048"/>
          </a:xfrm>
          <a:prstGeom prst="rect">
            <a:avLst/>
          </a:prstGeom>
          <a:solidFill>
            <a:srgbClr val="FAF8F6"/>
          </a:solidFill>
          <a:ln w="12700">
            <a:solidFill>
              <a:srgbClr val="FAF8F6"/>
            </a:solidFill>
            <a:prstDash val="solid"/>
          </a:ln>
        </p:spPr>
      </p:sp>
      <p:sp>
        <p:nvSpPr>
          <p:cNvPr id="7" name="Text 5"/>
          <p:cNvSpPr/>
          <p:nvPr/>
        </p:nvSpPr>
        <p:spPr>
          <a:xfrm>
            <a:off x="457200" y="6492240"/>
            <a:ext cx="8229600" cy="310896"/>
          </a:xfrm>
          <a:prstGeom prst="rect">
            <a:avLst/>
          </a:prstGeom>
          <a:noFill/>
          <a:ln/>
        </p:spPr>
        <p:txBody>
          <a:bodyPr wrap="square" rtlCol="0" anchor="ctr"/>
          <a:lstStyle/>
          <a:p>
            <a:pPr indent="0" marL="0">
              <a:buNone/>
            </a:pPr>
            <a:r>
              <a:rPr lang="en-US" sz="1000" dirty="0">
                <a:solidFill>
                  <a:srgbClr val="6E6A63"/>
                </a:solidFill>
                <a:latin typeface="Calibri" pitchFamily="34" charset="0"/>
                <a:ea typeface="Calibri" pitchFamily="34" charset="-122"/>
                <a:cs typeface="Calibri" pitchFamily="34" charset="-120"/>
              </a:rPr>
              <a:t>ALIZON OS · Pharmacy AI · Module 1 — AI Foundations &amp; Digital Systems</a:t>
            </a:r>
            <a:endParaRPr lang="en-US" sz="1000" dirty="0"/>
          </a:p>
        </p:txBody>
      </p:sp>
      <p:sp>
        <p:nvSpPr>
          <p:cNvPr id="8" name="Text 6"/>
          <p:cNvSpPr/>
          <p:nvPr/>
        </p:nvSpPr>
        <p:spPr>
          <a:xfrm>
            <a:off x="685800" y="1600200"/>
            <a:ext cx="10881360" cy="2103120"/>
          </a:xfrm>
          <a:prstGeom prst="rect">
            <a:avLst/>
          </a:prstGeom>
          <a:noFill/>
          <a:ln/>
        </p:spPr>
        <p:txBody>
          <a:bodyPr wrap="square" rtlCol="0" anchor="ctr"/>
          <a:lstStyle/>
          <a:p>
            <a:pPr indent="0" marL="0">
              <a:lnSpc>
                <a:spcPct val="130000"/>
              </a:lnSpc>
              <a:buNone/>
            </a:pPr>
            <a:r>
              <a:rPr lang="en-US" sz="1700" dirty="0">
                <a:solidFill>
                  <a:srgbClr val="26221F"/>
                </a:solidFill>
                <a:latin typeface="Calibri" pitchFamily="34" charset="0"/>
                <a:ea typeface="Calibri" pitchFamily="34" charset="-122"/>
                <a:cs typeface="Calibri" pitchFamily="34" charset="-120"/>
              </a:rPr>
              <a:t>To respond to a live personal data breach in a hospital pharmacy — containing it, assessing its scope and risk, deciding notifiability under the Digital Personal Data Protection Act, and handling the requests and pressures that arrive while the response is under way.</a:t>
            </a:r>
            <a:endParaRPr lang="en-US" sz="1700" dirty="0"/>
          </a:p>
        </p:txBody>
      </p:sp>
      <p:sp>
        <p:nvSpPr>
          <p:cNvPr id="9" name="Text 7"/>
          <p:cNvSpPr/>
          <p:nvPr/>
        </p:nvSpPr>
        <p:spPr>
          <a:xfrm>
            <a:off x="685800" y="3840480"/>
            <a:ext cx="10881360" cy="292608"/>
          </a:xfrm>
          <a:prstGeom prst="rect">
            <a:avLst/>
          </a:prstGeom>
          <a:noFill/>
          <a:ln/>
        </p:spPr>
        <p:txBody>
          <a:bodyPr wrap="square" rtlCol="0" anchor="ctr"/>
          <a:lstStyle/>
          <a:p>
            <a:pPr indent="0" marL="0">
              <a:buNone/>
            </a:pPr>
            <a:r>
              <a:rPr lang="en-US" sz="1200" b="1" spc="120" kern="0" dirty="0">
                <a:solidFill>
                  <a:srgbClr val="8C1515"/>
                </a:solidFill>
                <a:latin typeface="Calibri" pitchFamily="34" charset="0"/>
                <a:ea typeface="Calibri" pitchFamily="34" charset="-122"/>
                <a:cs typeface="Calibri" pitchFamily="34" charset="-120"/>
              </a:rPr>
              <a:t>You will need</a:t>
            </a:r>
            <a:endParaRPr lang="en-US" sz="1200" dirty="0"/>
          </a:p>
        </p:txBody>
      </p:sp>
      <p:sp>
        <p:nvSpPr>
          <p:cNvPr id="10" name="Text 8"/>
          <p:cNvSpPr/>
          <p:nvPr/>
        </p:nvSpPr>
        <p:spPr>
          <a:xfrm>
            <a:off x="685800" y="4169664"/>
            <a:ext cx="10881360" cy="1280160"/>
          </a:xfrm>
          <a:prstGeom prst="rect">
            <a:avLst/>
          </a:prstGeom>
          <a:noFill/>
          <a:ln/>
        </p:spPr>
        <p:txBody>
          <a:bodyPr wrap="square" rtlCol="0" anchor="t"/>
          <a:lstStyle/>
          <a:p>
            <a:pPr marL="342900" indent="-342900">
              <a:lnSpc>
                <a:spcPct val="122000"/>
              </a:lnSpc>
              <a:buSzPct val="100000"/>
              <a:buChar char="•"/>
            </a:pPr>
            <a:r>
              <a:rPr lang="en-US" sz="1350" dirty="0">
                <a:solidFill>
                  <a:srgbClr val="26221F"/>
                </a:solidFill>
                <a:latin typeface="Calibri" pitchFamily="34" charset="0"/>
                <a:ea typeface="Calibri" pitchFamily="34" charset="-122"/>
                <a:cs typeface="Calibri" pitchFamily="34" charset="-120"/>
              </a:rPr>
              <a:t>Live incident with an inbox that develops as the response proceeds</a:t>
            </a:r>
            <a:endParaRPr lang="en-US" sz="1350" dirty="0"/>
          </a:p>
          <a:p>
            <a:pPr marL="342900" indent="-342900">
              <a:lnSpc>
                <a:spcPct val="122000"/>
              </a:lnSpc>
              <a:buSzPct val="100000"/>
              <a:buChar char="•"/>
            </a:pPr>
            <a:r>
              <a:rPr lang="en-US" sz="1350" dirty="0">
                <a:solidFill>
                  <a:srgbClr val="26221F"/>
                </a:solidFill>
                <a:latin typeface="Calibri" pitchFamily="34" charset="0"/>
                <a:ea typeface="Calibri" pitchFamily="34" charset="-122"/>
                <a:cs typeface="Calibri" pitchFamily="34" charset="-120"/>
              </a:rPr>
              <a:t>Scope data — number of Data Principals and categories of personal data involved</a:t>
            </a:r>
            <a:endParaRPr lang="en-US" sz="1350" dirty="0"/>
          </a:p>
          <a:p>
            <a:pPr marL="342900" indent="-342900">
              <a:lnSpc>
                <a:spcPct val="122000"/>
              </a:lnSpc>
              <a:buSzPct val="100000"/>
              <a:buChar char="•"/>
            </a:pPr>
            <a:r>
              <a:rPr lang="en-US" sz="1350" dirty="0">
                <a:solidFill>
                  <a:srgbClr val="26221F"/>
                </a:solidFill>
                <a:latin typeface="Calibri" pitchFamily="34" charset="0"/>
                <a:ea typeface="Calibri" pitchFamily="34" charset="-122"/>
                <a:cs typeface="Calibri" pitchFamily="34" charset="-120"/>
              </a:rPr>
              <a:t>Containment action set requiring correct sequencing</a:t>
            </a:r>
            <a:endParaRPr lang="en-US" sz="1350" dirty="0"/>
          </a:p>
          <a:p>
            <a:pPr marL="342900" indent="-342900">
              <a:lnSpc>
                <a:spcPct val="122000"/>
              </a:lnSpc>
              <a:buSzPct val="100000"/>
              <a:buChar char="•"/>
            </a:pPr>
            <a:r>
              <a:rPr lang="en-US" sz="1350" dirty="0">
                <a:solidFill>
                  <a:srgbClr val="26221F"/>
                </a:solidFill>
                <a:latin typeface="Calibri" pitchFamily="34" charset="0"/>
                <a:ea typeface="Calibri" pitchFamily="34" charset="-122"/>
                <a:cs typeface="Calibri" pitchFamily="34" charset="-120"/>
              </a:rPr>
              <a:t>DPDP Act 2023 notification framework</a:t>
            </a:r>
            <a:endParaRPr lang="en-US" sz="1350" dirty="0"/>
          </a:p>
          <a:p>
            <a:pPr marL="342900" indent="-342900">
              <a:lnSpc>
                <a:spcPct val="122000"/>
              </a:lnSpc>
              <a:buSzPct val="100000"/>
              <a:buChar char="•"/>
            </a:pPr>
            <a:r>
              <a:rPr lang="en-US" sz="1350" dirty="0">
                <a:solidFill>
                  <a:srgbClr val="26221F"/>
                </a:solidFill>
                <a:latin typeface="Calibri" pitchFamily="34" charset="0"/>
                <a:ea typeface="Calibri" pitchFamily="34" charset="-122"/>
                <a:cs typeface="Calibri" pitchFamily="34" charset="-120"/>
              </a:rPr>
              <a:t>A subject access request from an affected individual</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8F6"/>
        </a:solidFill>
      </p:bgPr>
    </p:bg>
    <p:spTree>
      <p:nvGrpSpPr>
        <p:cNvPr id="1" name=""/>
        <p:cNvGrpSpPr/>
        <p:nvPr/>
      </p:nvGrpSpPr>
      <p:grpSpPr>
        <a:xfrm>
          <a:off x="0" y="0"/>
          <a:ext cx="0" cy="0"/>
          <a:chOff x="0" y="0"/>
          <a:chExt cx="0" cy="0"/>
        </a:xfrm>
      </p:grpSpPr>
      <p:sp>
        <p:nvSpPr>
          <p:cNvPr id="2" name="Shape 0"/>
          <p:cNvSpPr/>
          <p:nvPr/>
        </p:nvSpPr>
        <p:spPr>
          <a:xfrm>
            <a:off x="0" y="0"/>
            <a:ext cx="12191695" cy="1133856"/>
          </a:xfrm>
          <a:prstGeom prst="rect">
            <a:avLst/>
          </a:prstGeom>
          <a:solidFill>
            <a:srgbClr val="FFFFFF"/>
          </a:solidFill>
          <a:ln w="12700">
            <a:solidFill>
              <a:srgbClr val="FFFFFF"/>
            </a:solidFill>
            <a:prstDash val="solid"/>
          </a:ln>
        </p:spPr>
      </p:sp>
      <p:sp>
        <p:nvSpPr>
          <p:cNvPr id="3" name="Shape 1"/>
          <p:cNvSpPr/>
          <p:nvPr/>
        </p:nvSpPr>
        <p:spPr>
          <a:xfrm>
            <a:off x="0" y="1133856"/>
            <a:ext cx="12191695" cy="32004"/>
          </a:xfrm>
          <a:prstGeom prst="rect">
            <a:avLst/>
          </a:prstGeom>
          <a:solidFill>
            <a:srgbClr val="8C1515"/>
          </a:solidFill>
          <a:ln w="12700">
            <a:solidFill>
              <a:srgbClr val="8C1515"/>
            </a:solidFill>
            <a:prstDash val="solid"/>
          </a:ln>
        </p:spPr>
      </p:sp>
      <p:sp>
        <p:nvSpPr>
          <p:cNvPr id="4" name="Text 2"/>
          <p:cNvSpPr/>
          <p:nvPr/>
        </p:nvSpPr>
        <p:spPr>
          <a:xfrm>
            <a:off x="566928" y="201168"/>
            <a:ext cx="10972800" cy="274320"/>
          </a:xfrm>
          <a:prstGeom prst="rect">
            <a:avLst/>
          </a:prstGeom>
          <a:noFill/>
          <a:ln/>
        </p:spPr>
        <p:txBody>
          <a:bodyPr wrap="square" rtlCol="0" anchor="ctr"/>
          <a:lstStyle/>
          <a:p>
            <a:pPr indent="0" marL="0">
              <a:buNone/>
            </a:pPr>
            <a:r>
              <a:rPr lang="en-US" sz="1100" b="1" spc="140" kern="0" dirty="0">
                <a:solidFill>
                  <a:srgbClr val="8C1515"/>
                </a:solidFill>
                <a:latin typeface="Calibri" pitchFamily="34" charset="0"/>
                <a:ea typeface="Calibri" pitchFamily="34" charset="-122"/>
                <a:cs typeface="Calibri" pitchFamily="34" charset="-120"/>
              </a:rPr>
              <a:t>Practical 2 · why it works</a:t>
            </a:r>
            <a:endParaRPr lang="en-US" sz="1100" dirty="0"/>
          </a:p>
        </p:txBody>
      </p:sp>
      <p:sp>
        <p:nvSpPr>
          <p:cNvPr id="5" name="Text 3"/>
          <p:cNvSpPr/>
          <p:nvPr/>
        </p:nvSpPr>
        <p:spPr>
          <a:xfrm>
            <a:off x="566928" y="475488"/>
            <a:ext cx="11064240" cy="566928"/>
          </a:xfrm>
          <a:prstGeom prst="rect">
            <a:avLst/>
          </a:prstGeom>
          <a:noFill/>
          <a:ln/>
        </p:spPr>
        <p:txBody>
          <a:bodyPr wrap="square" rtlCol="0" anchor="ctr"/>
          <a:lstStyle/>
          <a:p>
            <a:pPr indent="0" marL="0">
              <a:buNone/>
            </a:pPr>
            <a:r>
              <a:rPr lang="en-US" sz="2600" b="1" dirty="0">
                <a:solidFill>
                  <a:srgbClr val="26221F"/>
                </a:solidFill>
                <a:latin typeface="Cambria" pitchFamily="34" charset="0"/>
                <a:ea typeface="Cambria" pitchFamily="34" charset="-122"/>
                <a:cs typeface="Cambria" pitchFamily="34" charset="-120"/>
              </a:rPr>
              <a:t>Principle</a:t>
            </a:r>
            <a:endParaRPr lang="en-US" sz="2600" dirty="0"/>
          </a:p>
        </p:txBody>
      </p:sp>
      <p:sp>
        <p:nvSpPr>
          <p:cNvPr id="6" name="Shape 4"/>
          <p:cNvSpPr/>
          <p:nvPr/>
        </p:nvSpPr>
        <p:spPr>
          <a:xfrm>
            <a:off x="0" y="6473952"/>
            <a:ext cx="12191695" cy="384048"/>
          </a:xfrm>
          <a:prstGeom prst="rect">
            <a:avLst/>
          </a:prstGeom>
          <a:solidFill>
            <a:srgbClr val="FAF8F6"/>
          </a:solidFill>
          <a:ln w="12700">
            <a:solidFill>
              <a:srgbClr val="FAF8F6"/>
            </a:solidFill>
            <a:prstDash val="solid"/>
          </a:ln>
        </p:spPr>
      </p:sp>
      <p:sp>
        <p:nvSpPr>
          <p:cNvPr id="7" name="Text 5"/>
          <p:cNvSpPr/>
          <p:nvPr/>
        </p:nvSpPr>
        <p:spPr>
          <a:xfrm>
            <a:off x="457200" y="6492240"/>
            <a:ext cx="8229600" cy="310896"/>
          </a:xfrm>
          <a:prstGeom prst="rect">
            <a:avLst/>
          </a:prstGeom>
          <a:noFill/>
          <a:ln/>
        </p:spPr>
        <p:txBody>
          <a:bodyPr wrap="square" rtlCol="0" anchor="ctr"/>
          <a:lstStyle/>
          <a:p>
            <a:pPr indent="0" marL="0">
              <a:buNone/>
            </a:pPr>
            <a:r>
              <a:rPr lang="en-US" sz="1000" dirty="0">
                <a:solidFill>
                  <a:srgbClr val="6E6A63"/>
                </a:solidFill>
                <a:latin typeface="Calibri" pitchFamily="34" charset="0"/>
                <a:ea typeface="Calibri" pitchFamily="34" charset="-122"/>
                <a:cs typeface="Calibri" pitchFamily="34" charset="-120"/>
              </a:rPr>
              <a:t>ALIZON OS · Pharmacy AI · Module 1 — AI Foundations &amp; Digital Systems</a:t>
            </a:r>
            <a:endParaRPr lang="en-US" sz="1000" dirty="0"/>
          </a:p>
        </p:txBody>
      </p:sp>
      <p:sp>
        <p:nvSpPr>
          <p:cNvPr id="8" name="Text 6"/>
          <p:cNvSpPr/>
          <p:nvPr/>
        </p:nvSpPr>
        <p:spPr>
          <a:xfrm>
            <a:off x="685800" y="1600200"/>
            <a:ext cx="10881360" cy="2194560"/>
          </a:xfrm>
          <a:prstGeom prst="rect">
            <a:avLst/>
          </a:prstGeom>
          <a:noFill/>
          <a:ln/>
        </p:spPr>
        <p:txBody>
          <a:bodyPr wrap="square" rtlCol="0" anchor="ctr"/>
          <a:lstStyle/>
          <a:p>
            <a:pPr indent="0" marL="0">
              <a:lnSpc>
                <a:spcPct val="130000"/>
              </a:lnSpc>
              <a:buNone/>
            </a:pPr>
            <a:r>
              <a:rPr lang="en-US" sz="1650" dirty="0">
                <a:solidFill>
                  <a:srgbClr val="26221F"/>
                </a:solidFill>
                <a:latin typeface="Calibri" pitchFamily="34" charset="0"/>
                <a:ea typeface="Calibri" pitchFamily="34" charset="-122"/>
                <a:cs typeface="Calibri" pitchFamily="34" charset="-120"/>
              </a:rPr>
              <a:t>A personal data breach is any event leading to unauthorised access to, or disclosure, loss or alteration of, personal data. In healthcare the data is sensitive by nature, and the harm is rarely financial: it is stigma, discrimination, loss of employment, damaged relationships and the erosion of the trust on which clinical disclosure depends. Response follows a fixed sequence. Contain first, working outward from what you still control to what you do not.</a:t>
            </a:r>
            <a:endParaRPr lang="en-US" sz="1650" dirty="0"/>
          </a:p>
        </p:txBody>
      </p:sp>
      <p:sp>
        <p:nvSpPr>
          <p:cNvPr id="9" name="Shape 7"/>
          <p:cNvSpPr/>
          <p:nvPr/>
        </p:nvSpPr>
        <p:spPr>
          <a:xfrm>
            <a:off x="685800" y="3977640"/>
            <a:ext cx="10881360" cy="749808"/>
          </a:xfrm>
          <a:prstGeom prst="rect">
            <a:avLst/>
          </a:prstGeom>
          <a:solidFill>
            <a:srgbClr val="F7EFEF"/>
          </a:solidFill>
          <a:ln w="12700">
            <a:solidFill>
              <a:srgbClr val="E7CFCF"/>
            </a:solidFill>
            <a:prstDash val="solid"/>
          </a:ln>
        </p:spPr>
      </p:sp>
      <p:sp>
        <p:nvSpPr>
          <p:cNvPr id="10" name="Shape 8"/>
          <p:cNvSpPr/>
          <p:nvPr/>
        </p:nvSpPr>
        <p:spPr>
          <a:xfrm>
            <a:off x="685800" y="3977640"/>
            <a:ext cx="50292" cy="749808"/>
          </a:xfrm>
          <a:prstGeom prst="rect">
            <a:avLst/>
          </a:prstGeom>
          <a:solidFill>
            <a:srgbClr val="8C1515"/>
          </a:solidFill>
          <a:ln w="12700">
            <a:solidFill>
              <a:srgbClr val="8C1515"/>
            </a:solidFill>
            <a:prstDash val="solid"/>
          </a:ln>
        </p:spPr>
      </p:sp>
      <p:sp>
        <p:nvSpPr>
          <p:cNvPr id="11" name="Text 9"/>
          <p:cNvSpPr/>
          <p:nvPr/>
        </p:nvSpPr>
        <p:spPr>
          <a:xfrm>
            <a:off x="868680" y="4032504"/>
            <a:ext cx="10515600" cy="640080"/>
          </a:xfrm>
          <a:prstGeom prst="rect">
            <a:avLst/>
          </a:prstGeom>
          <a:noFill/>
          <a:ln/>
        </p:spPr>
        <p:txBody>
          <a:bodyPr wrap="square" rtlCol="0" anchor="ctr"/>
          <a:lstStyle/>
          <a:p>
            <a:pPr indent="0" marL="0">
              <a:buNone/>
            </a:pPr>
            <a:r>
              <a:rPr lang="en-US" sz="1250" dirty="0">
                <a:solidFill>
                  <a:srgbClr val="26221F"/>
                </a:solidFill>
                <a:latin typeface="Calibri" pitchFamily="34" charset="0"/>
                <a:ea typeface="Calibri" pitchFamily="34" charset="-122"/>
                <a:cs typeface="Calibri" pitchFamily="34" charset="-120"/>
              </a:rPr>
              <a:t>Remember: containment comes before investigation. Every hour the exposure continues the breach grows, and the instinct to establish the facts first is the instinct that lets a leak keep leaking.</a:t>
            </a:r>
            <a:endParaRPr lang="en-US" sz="1250" dirty="0"/>
          </a:p>
        </p:txBody>
      </p:sp>
      <p:sp>
        <p:nvSpPr>
          <p:cNvPr id="12" name="Text 10"/>
          <p:cNvSpPr/>
          <p:nvPr/>
        </p:nvSpPr>
        <p:spPr>
          <a:xfrm>
            <a:off x="685800" y="4892040"/>
            <a:ext cx="10881360" cy="1188720"/>
          </a:xfrm>
          <a:prstGeom prst="rect">
            <a:avLst/>
          </a:prstGeom>
          <a:noFill/>
          <a:ln/>
        </p:spPr>
        <p:txBody>
          <a:bodyPr wrap="square" rtlCol="0" anchor="ctr"/>
          <a:lstStyle/>
          <a:p>
            <a:pPr indent="0" marL="0">
              <a:lnSpc>
                <a:spcPct val="118000"/>
              </a:lnSpc>
              <a:buNone/>
            </a:pPr>
            <a:r>
              <a:rPr lang="en-US" sz="1250" dirty="0">
                <a:solidFill>
                  <a:srgbClr val="6E6A63"/>
                </a:solidFill>
                <a:latin typeface="Calibri" pitchFamily="34" charset="0"/>
                <a:ea typeface="Calibri" pitchFamily="34" charset="-122"/>
                <a:cs typeface="Calibri" pitchFamily="34" charset="-120"/>
              </a:rPr>
              <a:t>Two pressures arrive predictably during a breach response and both must be refused. The first is the request to disclose aggregate figures to the press on the argument that counts are not personal data. In a defined cohort this is false: small cell counts within a known group at a known institution over a known period are a recognised disclosure risk, which is precisely why statistical disclosure control suppresses them…</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8F6"/>
        </a:solidFill>
      </p:bgPr>
    </p:bg>
    <p:spTree>
      <p:nvGrpSpPr>
        <p:cNvPr id="1" name=""/>
        <p:cNvGrpSpPr/>
        <p:nvPr/>
      </p:nvGrpSpPr>
      <p:grpSpPr>
        <a:xfrm>
          <a:off x="0" y="0"/>
          <a:ext cx="0" cy="0"/>
          <a:chOff x="0" y="0"/>
          <a:chExt cx="0" cy="0"/>
        </a:xfrm>
      </p:grpSpPr>
      <p:sp>
        <p:nvSpPr>
          <p:cNvPr id="2" name="Shape 0"/>
          <p:cNvSpPr/>
          <p:nvPr/>
        </p:nvSpPr>
        <p:spPr>
          <a:xfrm>
            <a:off x="0" y="0"/>
            <a:ext cx="12191695" cy="1133856"/>
          </a:xfrm>
          <a:prstGeom prst="rect">
            <a:avLst/>
          </a:prstGeom>
          <a:solidFill>
            <a:srgbClr val="FFFFFF"/>
          </a:solidFill>
          <a:ln w="12700">
            <a:solidFill>
              <a:srgbClr val="FFFFFF"/>
            </a:solidFill>
            <a:prstDash val="solid"/>
          </a:ln>
        </p:spPr>
      </p:sp>
      <p:sp>
        <p:nvSpPr>
          <p:cNvPr id="3" name="Shape 1"/>
          <p:cNvSpPr/>
          <p:nvPr/>
        </p:nvSpPr>
        <p:spPr>
          <a:xfrm>
            <a:off x="0" y="1133856"/>
            <a:ext cx="12191695" cy="32004"/>
          </a:xfrm>
          <a:prstGeom prst="rect">
            <a:avLst/>
          </a:prstGeom>
          <a:solidFill>
            <a:srgbClr val="8C1515"/>
          </a:solidFill>
          <a:ln w="12700">
            <a:solidFill>
              <a:srgbClr val="8C1515"/>
            </a:solidFill>
            <a:prstDash val="solid"/>
          </a:ln>
        </p:spPr>
      </p:sp>
      <p:sp>
        <p:nvSpPr>
          <p:cNvPr id="4" name="Text 2"/>
          <p:cNvSpPr/>
          <p:nvPr/>
        </p:nvSpPr>
        <p:spPr>
          <a:xfrm>
            <a:off x="566928" y="201168"/>
            <a:ext cx="10972800" cy="274320"/>
          </a:xfrm>
          <a:prstGeom prst="rect">
            <a:avLst/>
          </a:prstGeom>
          <a:noFill/>
          <a:ln/>
        </p:spPr>
        <p:txBody>
          <a:bodyPr wrap="square" rtlCol="0" anchor="ctr"/>
          <a:lstStyle/>
          <a:p>
            <a:pPr indent="0" marL="0">
              <a:buNone/>
            </a:pPr>
            <a:r>
              <a:rPr lang="en-US" sz="1100" b="1" spc="140" kern="0" dirty="0">
                <a:solidFill>
                  <a:srgbClr val="8C1515"/>
                </a:solidFill>
                <a:latin typeface="Calibri" pitchFamily="34" charset="0"/>
                <a:ea typeface="Calibri" pitchFamily="34" charset="-122"/>
                <a:cs typeface="Calibri" pitchFamily="34" charset="-120"/>
              </a:rPr>
              <a:t>Practical 2 · the incident</a:t>
            </a:r>
            <a:endParaRPr lang="en-US" sz="1100" dirty="0"/>
          </a:p>
        </p:txBody>
      </p:sp>
      <p:sp>
        <p:nvSpPr>
          <p:cNvPr id="5" name="Text 3"/>
          <p:cNvSpPr/>
          <p:nvPr/>
        </p:nvSpPr>
        <p:spPr>
          <a:xfrm>
            <a:off x="566928" y="475488"/>
            <a:ext cx="11064240" cy="566928"/>
          </a:xfrm>
          <a:prstGeom prst="rect">
            <a:avLst/>
          </a:prstGeom>
          <a:noFill/>
          <a:ln/>
        </p:spPr>
        <p:txBody>
          <a:bodyPr wrap="square" rtlCol="0" anchor="ctr"/>
          <a:lstStyle/>
          <a:p>
            <a:pPr indent="0" marL="0">
              <a:buNone/>
            </a:pPr>
            <a:r>
              <a:rPr lang="en-US" sz="2600" b="1" dirty="0">
                <a:solidFill>
                  <a:srgbClr val="26221F"/>
                </a:solidFill>
                <a:latin typeface="Cambria" pitchFamily="34" charset="0"/>
                <a:ea typeface="Cambria" pitchFamily="34" charset="-122"/>
                <a:cs typeface="Cambria" pitchFamily="34" charset="-120"/>
              </a:rPr>
              <a:t>What arrives, and when</a:t>
            </a:r>
            <a:endParaRPr lang="en-US" sz="2600" dirty="0"/>
          </a:p>
        </p:txBody>
      </p:sp>
      <p:sp>
        <p:nvSpPr>
          <p:cNvPr id="6" name="Shape 4"/>
          <p:cNvSpPr/>
          <p:nvPr/>
        </p:nvSpPr>
        <p:spPr>
          <a:xfrm>
            <a:off x="0" y="6473952"/>
            <a:ext cx="12191695" cy="384048"/>
          </a:xfrm>
          <a:prstGeom prst="rect">
            <a:avLst/>
          </a:prstGeom>
          <a:solidFill>
            <a:srgbClr val="FAF8F6"/>
          </a:solidFill>
          <a:ln w="12700">
            <a:solidFill>
              <a:srgbClr val="FAF8F6"/>
            </a:solidFill>
            <a:prstDash val="solid"/>
          </a:ln>
        </p:spPr>
      </p:sp>
      <p:sp>
        <p:nvSpPr>
          <p:cNvPr id="7" name="Text 5"/>
          <p:cNvSpPr/>
          <p:nvPr/>
        </p:nvSpPr>
        <p:spPr>
          <a:xfrm>
            <a:off x="457200" y="6492240"/>
            <a:ext cx="8229600" cy="310896"/>
          </a:xfrm>
          <a:prstGeom prst="rect">
            <a:avLst/>
          </a:prstGeom>
          <a:noFill/>
          <a:ln/>
        </p:spPr>
        <p:txBody>
          <a:bodyPr wrap="square" rtlCol="0" anchor="ctr"/>
          <a:lstStyle/>
          <a:p>
            <a:pPr indent="0" marL="0">
              <a:buNone/>
            </a:pPr>
            <a:r>
              <a:rPr lang="en-US" sz="1000" dirty="0">
                <a:solidFill>
                  <a:srgbClr val="6E6A63"/>
                </a:solidFill>
                <a:latin typeface="Calibri" pitchFamily="34" charset="0"/>
                <a:ea typeface="Calibri" pitchFamily="34" charset="-122"/>
                <a:cs typeface="Calibri" pitchFamily="34" charset="-120"/>
              </a:rPr>
              <a:t>ALIZON OS · Pharmacy AI · Module 1 — AI Foundations &amp; Digital Systems</a:t>
            </a:r>
            <a:endParaRPr lang="en-US" sz="1000" dirty="0"/>
          </a:p>
        </p:txBody>
      </p:sp>
      <p:sp>
        <p:nvSpPr>
          <p:cNvPr id="8" name="Text 6"/>
          <p:cNvSpPr/>
          <p:nvPr/>
        </p:nvSpPr>
        <p:spPr>
          <a:xfrm>
            <a:off x="822960" y="1554480"/>
            <a:ext cx="10515600" cy="365760"/>
          </a:xfrm>
          <a:prstGeom prst="rect">
            <a:avLst/>
          </a:prstGeom>
          <a:noFill/>
          <a:ln/>
        </p:spPr>
        <p:txBody>
          <a:bodyPr wrap="square" rtlCol="0" anchor="ctr"/>
          <a:lstStyle/>
          <a:p>
            <a:pPr indent="0" marL="0">
              <a:buNone/>
            </a:pPr>
            <a:r>
              <a:rPr lang="en-US" sz="1500" b="1" dirty="0">
                <a:solidFill>
                  <a:srgbClr val="8C1515"/>
                </a:solidFill>
                <a:latin typeface="Calibri" pitchFamily="34" charset="0"/>
                <a:ea typeface="Calibri" pitchFamily="34" charset="-122"/>
                <a:cs typeface="Calibri" pitchFamily="34" charset="-120"/>
              </a:rPr>
              <a:t>INC-2026-0803 · Data Breach Response</a:t>
            </a:r>
            <a:endParaRPr lang="en-US" sz="1500" dirty="0"/>
          </a:p>
        </p:txBody>
      </p:sp>
      <p:sp>
        <p:nvSpPr>
          <p:cNvPr id="9" name="Text 7"/>
          <p:cNvSpPr/>
          <p:nvPr/>
        </p:nvSpPr>
        <p:spPr>
          <a:xfrm>
            <a:off x="685800" y="2057400"/>
            <a:ext cx="10881360" cy="2103120"/>
          </a:xfrm>
          <a:prstGeom prst="rect">
            <a:avLst/>
          </a:prstGeom>
          <a:noFill/>
          <a:ln/>
        </p:spPr>
        <p:txBody>
          <a:bodyPr wrap="square" rtlCol="0" anchor="t"/>
          <a:lstStyle/>
          <a:p>
            <a:pPr marL="342900" indent="-342900">
              <a:lnSpc>
                <a:spcPct val="122000"/>
              </a:lnSpc>
              <a:buSzPct val="100000"/>
              <a:buChar char="•"/>
            </a:pPr>
            <a:r>
              <a:rPr lang="en-US" sz="1600" dirty="0">
                <a:solidFill>
                  <a:srgbClr val="26221F"/>
                </a:solidFill>
                <a:latin typeface="Calibri" pitchFamily="34" charset="0"/>
                <a:ea typeface="Calibri" pitchFamily="34" charset="-122"/>
                <a:cs typeface="Calibri" pitchFamily="34" charset="-120"/>
              </a:rPr>
              <a:t>Mon 08:12 — the exposure is discovered</a:t>
            </a:r>
            <a:endParaRPr lang="en-US" sz="1600" dirty="0"/>
          </a:p>
          <a:p>
            <a:pPr marL="342900" indent="-342900">
              <a:lnSpc>
                <a:spcPct val="122000"/>
              </a:lnSpc>
              <a:buSzPct val="100000"/>
              <a:buChar char="•"/>
            </a:pPr>
            <a:r>
              <a:rPr lang="en-US" sz="1600" dirty="0">
                <a:solidFill>
                  <a:srgbClr val="26221F"/>
                </a:solidFill>
                <a:latin typeface="Calibri" pitchFamily="34" charset="0"/>
                <a:ea typeface="Calibri" pitchFamily="34" charset="-122"/>
                <a:cs typeface="Calibri" pitchFamily="34" charset="-120"/>
              </a:rPr>
              <a:t>Mon 08:40 — pressure to keep producing the discharge lists</a:t>
            </a:r>
            <a:endParaRPr lang="en-US" sz="1600" dirty="0"/>
          </a:p>
          <a:p>
            <a:pPr marL="342900" indent="-342900">
              <a:lnSpc>
                <a:spcPct val="122000"/>
              </a:lnSpc>
              <a:buSzPct val="100000"/>
              <a:buChar char="•"/>
            </a:pPr>
            <a:r>
              <a:rPr lang="en-US" sz="1600" dirty="0">
                <a:solidFill>
                  <a:srgbClr val="26221F"/>
                </a:solidFill>
                <a:latin typeface="Calibri" pitchFamily="34" charset="0"/>
                <a:ea typeface="Calibri" pitchFamily="34" charset="-122"/>
                <a:cs typeface="Calibri" pitchFamily="34" charset="-120"/>
              </a:rPr>
              <a:t>Mon 11:05 — a subject access request arrives</a:t>
            </a:r>
            <a:endParaRPr lang="en-US" sz="1600" dirty="0"/>
          </a:p>
          <a:p>
            <a:pPr marL="342900" indent="-342900">
              <a:lnSpc>
                <a:spcPct val="122000"/>
              </a:lnSpc>
              <a:buSzPct val="100000"/>
              <a:buChar char="•"/>
            </a:pPr>
            <a:r>
              <a:rPr lang="en-US" sz="1600" dirty="0">
                <a:solidFill>
                  <a:srgbClr val="26221F"/>
                </a:solidFill>
                <a:latin typeface="Calibri" pitchFamily="34" charset="0"/>
                <a:ea typeface="Calibri" pitchFamily="34" charset="-122"/>
                <a:cs typeface="Calibri" pitchFamily="34" charset="-120"/>
              </a:rPr>
              <a:t>Mon 14:20 — a request for an improper disclosure</a:t>
            </a:r>
            <a:endParaRPr lang="en-US" sz="1600" dirty="0"/>
          </a:p>
        </p:txBody>
      </p:sp>
      <p:sp>
        <p:nvSpPr>
          <p:cNvPr id="10" name="Shape 8"/>
          <p:cNvSpPr/>
          <p:nvPr/>
        </p:nvSpPr>
        <p:spPr>
          <a:xfrm>
            <a:off x="685800" y="4343400"/>
            <a:ext cx="10881360" cy="749808"/>
          </a:xfrm>
          <a:prstGeom prst="rect">
            <a:avLst/>
          </a:prstGeom>
          <a:solidFill>
            <a:srgbClr val="F7EFEF"/>
          </a:solidFill>
          <a:ln w="12700">
            <a:solidFill>
              <a:srgbClr val="E7CFCF"/>
            </a:solidFill>
            <a:prstDash val="solid"/>
          </a:ln>
        </p:spPr>
      </p:sp>
      <p:sp>
        <p:nvSpPr>
          <p:cNvPr id="11" name="Shape 9"/>
          <p:cNvSpPr/>
          <p:nvPr/>
        </p:nvSpPr>
        <p:spPr>
          <a:xfrm>
            <a:off x="685800" y="4343400"/>
            <a:ext cx="50292" cy="749808"/>
          </a:xfrm>
          <a:prstGeom prst="rect">
            <a:avLst/>
          </a:prstGeom>
          <a:solidFill>
            <a:srgbClr val="8C1515"/>
          </a:solidFill>
          <a:ln w="12700">
            <a:solidFill>
              <a:srgbClr val="8C1515"/>
            </a:solidFill>
            <a:prstDash val="solid"/>
          </a:ln>
        </p:spPr>
      </p:sp>
      <p:sp>
        <p:nvSpPr>
          <p:cNvPr id="12" name="Text 10"/>
          <p:cNvSpPr/>
          <p:nvPr/>
        </p:nvSpPr>
        <p:spPr>
          <a:xfrm>
            <a:off x="868680" y="4398264"/>
            <a:ext cx="10515600" cy="640080"/>
          </a:xfrm>
          <a:prstGeom prst="rect">
            <a:avLst/>
          </a:prstGeom>
          <a:noFill/>
          <a:ln/>
        </p:spPr>
        <p:txBody>
          <a:bodyPr wrap="square" rtlCol="0" anchor="ctr"/>
          <a:lstStyle/>
          <a:p>
            <a:pPr indent="0" marL="0">
              <a:buNone/>
            </a:pPr>
            <a:r>
              <a:rPr lang="en-US" sz="1250" dirty="0">
                <a:solidFill>
                  <a:srgbClr val="26221F"/>
                </a:solidFill>
                <a:latin typeface="Calibri" pitchFamily="34" charset="0"/>
                <a:ea typeface="Calibri" pitchFamily="34" charset="-122"/>
                <a:cs typeface="Calibri" pitchFamily="34" charset="-120"/>
              </a:rPr>
              <a:t>The events arrive while you are still dealing with the first one. That is deliberate — the practical assesses what you do under pressure, not what you would do with unlimited time.</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8F6"/>
        </a:solidFill>
      </p:bgPr>
    </p:bg>
    <p:spTree>
      <p:nvGrpSpPr>
        <p:cNvPr id="1" name=""/>
        <p:cNvGrpSpPr/>
        <p:nvPr/>
      </p:nvGrpSpPr>
      <p:grpSpPr>
        <a:xfrm>
          <a:off x="0" y="0"/>
          <a:ext cx="0" cy="0"/>
          <a:chOff x="0" y="0"/>
          <a:chExt cx="0" cy="0"/>
        </a:xfrm>
      </p:grpSpPr>
      <p:sp>
        <p:nvSpPr>
          <p:cNvPr id="2" name="Shape 0"/>
          <p:cNvSpPr/>
          <p:nvPr/>
        </p:nvSpPr>
        <p:spPr>
          <a:xfrm>
            <a:off x="0" y="0"/>
            <a:ext cx="12191695" cy="1133856"/>
          </a:xfrm>
          <a:prstGeom prst="rect">
            <a:avLst/>
          </a:prstGeom>
          <a:solidFill>
            <a:srgbClr val="FFFFFF"/>
          </a:solidFill>
          <a:ln w="12700">
            <a:solidFill>
              <a:srgbClr val="FFFFFF"/>
            </a:solidFill>
            <a:prstDash val="solid"/>
          </a:ln>
        </p:spPr>
      </p:sp>
      <p:sp>
        <p:nvSpPr>
          <p:cNvPr id="3" name="Shape 1"/>
          <p:cNvSpPr/>
          <p:nvPr/>
        </p:nvSpPr>
        <p:spPr>
          <a:xfrm>
            <a:off x="0" y="1133856"/>
            <a:ext cx="12191695" cy="32004"/>
          </a:xfrm>
          <a:prstGeom prst="rect">
            <a:avLst/>
          </a:prstGeom>
          <a:solidFill>
            <a:srgbClr val="8C1515"/>
          </a:solidFill>
          <a:ln w="12700">
            <a:solidFill>
              <a:srgbClr val="8C1515"/>
            </a:solidFill>
            <a:prstDash val="solid"/>
          </a:ln>
        </p:spPr>
      </p:sp>
      <p:sp>
        <p:nvSpPr>
          <p:cNvPr id="4" name="Text 2"/>
          <p:cNvSpPr/>
          <p:nvPr/>
        </p:nvSpPr>
        <p:spPr>
          <a:xfrm>
            <a:off x="566928" y="201168"/>
            <a:ext cx="10972800" cy="274320"/>
          </a:xfrm>
          <a:prstGeom prst="rect">
            <a:avLst/>
          </a:prstGeom>
          <a:noFill/>
          <a:ln/>
        </p:spPr>
        <p:txBody>
          <a:bodyPr wrap="square" rtlCol="0" anchor="ctr"/>
          <a:lstStyle/>
          <a:p>
            <a:pPr indent="0" marL="0">
              <a:buNone/>
            </a:pPr>
            <a:r>
              <a:rPr lang="en-US" sz="1100" b="1" spc="140" kern="0" dirty="0">
                <a:solidFill>
                  <a:srgbClr val="8C1515"/>
                </a:solidFill>
                <a:latin typeface="Calibri" pitchFamily="34" charset="0"/>
                <a:ea typeface="Calibri" pitchFamily="34" charset="-122"/>
                <a:cs typeface="Calibri" pitchFamily="34" charset="-120"/>
              </a:rPr>
              <a:t>Practical 2 · screen tour</a:t>
            </a:r>
            <a:endParaRPr lang="en-US" sz="1100" dirty="0"/>
          </a:p>
        </p:txBody>
      </p:sp>
      <p:sp>
        <p:nvSpPr>
          <p:cNvPr id="5" name="Text 3"/>
          <p:cNvSpPr/>
          <p:nvPr/>
        </p:nvSpPr>
        <p:spPr>
          <a:xfrm>
            <a:off x="566928" y="475488"/>
            <a:ext cx="11064240" cy="566928"/>
          </a:xfrm>
          <a:prstGeom prst="rect">
            <a:avLst/>
          </a:prstGeom>
          <a:noFill/>
          <a:ln/>
        </p:spPr>
        <p:txBody>
          <a:bodyPr wrap="square" rtlCol="0" anchor="ctr"/>
          <a:lstStyle/>
          <a:p>
            <a:pPr indent="0" marL="0">
              <a:buNone/>
            </a:pPr>
            <a:r>
              <a:rPr lang="en-US" sz="2600" b="1" dirty="0">
                <a:solidFill>
                  <a:srgbClr val="26221F"/>
                </a:solidFill>
                <a:latin typeface="Cambria" pitchFamily="34" charset="0"/>
                <a:ea typeface="Cambria" pitchFamily="34" charset="-122"/>
                <a:cs typeface="Cambria" pitchFamily="34" charset="-120"/>
              </a:rPr>
              <a:t>What is in the incident room</a:t>
            </a:r>
            <a:endParaRPr lang="en-US" sz="2600" dirty="0"/>
          </a:p>
        </p:txBody>
      </p:sp>
      <p:sp>
        <p:nvSpPr>
          <p:cNvPr id="6" name="Shape 4"/>
          <p:cNvSpPr/>
          <p:nvPr/>
        </p:nvSpPr>
        <p:spPr>
          <a:xfrm>
            <a:off x="0" y="6473952"/>
            <a:ext cx="12191695" cy="384048"/>
          </a:xfrm>
          <a:prstGeom prst="rect">
            <a:avLst/>
          </a:prstGeom>
          <a:solidFill>
            <a:srgbClr val="FAF8F6"/>
          </a:solidFill>
          <a:ln w="12700">
            <a:solidFill>
              <a:srgbClr val="FAF8F6"/>
            </a:solidFill>
            <a:prstDash val="solid"/>
          </a:ln>
        </p:spPr>
      </p:sp>
      <p:sp>
        <p:nvSpPr>
          <p:cNvPr id="7" name="Text 5"/>
          <p:cNvSpPr/>
          <p:nvPr/>
        </p:nvSpPr>
        <p:spPr>
          <a:xfrm>
            <a:off x="457200" y="6492240"/>
            <a:ext cx="8229600" cy="310896"/>
          </a:xfrm>
          <a:prstGeom prst="rect">
            <a:avLst/>
          </a:prstGeom>
          <a:noFill/>
          <a:ln/>
        </p:spPr>
        <p:txBody>
          <a:bodyPr wrap="square" rtlCol="0" anchor="ctr"/>
          <a:lstStyle/>
          <a:p>
            <a:pPr indent="0" marL="0">
              <a:buNone/>
            </a:pPr>
            <a:r>
              <a:rPr lang="en-US" sz="1000" dirty="0">
                <a:solidFill>
                  <a:srgbClr val="6E6A63"/>
                </a:solidFill>
                <a:latin typeface="Calibri" pitchFamily="34" charset="0"/>
                <a:ea typeface="Calibri" pitchFamily="34" charset="-122"/>
                <a:cs typeface="Calibri" pitchFamily="34" charset="-120"/>
              </a:rPr>
              <a:t>ALIZON OS · Pharmacy AI · Module 1 — AI Foundations &amp; Digital Systems</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1554480"/>
          <a:ext cx="5029200" cy="914400"/>
        </p:xfrm>
        <a:graphic>
          <a:graphicData uri="http://schemas.openxmlformats.org/drawingml/2006/table">
            <a:tbl>
              <a:tblPr/>
              <a:tblGrid>
                <a:gridCol w="502920"/>
                <a:gridCol w="4526280"/>
              </a:tblGrid>
              <a:tr h="0">
                <a:tc>
                  <a:txBody>
                    <a:bodyPr/>
                    <a:lstStyle/>
                    <a:p>
                      <a:pP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solidFill>
                      <a:srgbClr val="EFE7E1"/>
                    </a:solidFill>
                  </a:tcPr>
                </a:tc>
                <a:tc>
                  <a:txBody>
                    <a:bodyPr/>
                    <a:lstStyle/>
                    <a:p>
                      <a:pPr indent="0" marL="0">
                        <a:buNone/>
                      </a:pPr>
                      <a:r>
                        <a:rPr lang="en-US" sz="1150" b="1" dirty="0">
                          <a:solidFill>
                            <a:srgbClr val="26221F"/>
                          </a:solidFill>
                          <a:latin typeface="Calibri" pitchFamily="34" charset="0"/>
                          <a:ea typeface="Calibri" pitchFamily="34" charset="-122"/>
                          <a:cs typeface="Calibri" pitchFamily="34" charset="-120"/>
                        </a:rPr>
                        <a:t>Panel</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solidFill>
                      <a:srgbClr val="EFE7E1"/>
                    </a:solidFill>
                  </a:tcPr>
                </a:tc>
              </a:tr>
              <a:tr h="0">
                <a:tc>
                  <a:txBody>
                    <a:bodyPr/>
                    <a:lstStyle/>
                    <a:p>
                      <a:pPr algn="ctr" indent="0" marL="0">
                        <a:buNone/>
                      </a:pPr>
                      <a:r>
                        <a:rPr lang="en-US" sz="1150" b="1" dirty="0">
                          <a:solidFill>
                            <a:srgbClr val="8C1515"/>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150" dirty="0">
                          <a:solidFill>
                            <a:srgbClr val="26221F"/>
                          </a:solidFill>
                          <a:latin typeface="Calibri" pitchFamily="34" charset="0"/>
                          <a:ea typeface="Calibri" pitchFamily="34" charset="-122"/>
                          <a:cs typeface="Calibri" pitchFamily="34" charset="-120"/>
                        </a:rPr>
                        <a:t>Incident inbox — events arrive on a clock</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r h="0">
                <a:tc>
                  <a:txBody>
                    <a:bodyPr/>
                    <a:lstStyle/>
                    <a:p>
                      <a:pPr algn="ctr" indent="0" marL="0">
                        <a:buNone/>
                      </a:pPr>
                      <a:r>
                        <a:rPr lang="en-US" sz="1150" b="1" dirty="0">
                          <a:solidFill>
                            <a:srgbClr val="8C151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150" dirty="0">
                          <a:solidFill>
                            <a:srgbClr val="26221F"/>
                          </a:solidFill>
                          <a:latin typeface="Calibri" pitchFamily="34" charset="0"/>
                          <a:ea typeface="Calibri" pitchFamily="34" charset="-122"/>
                          <a:cs typeface="Calibri" pitchFamily="34" charset="-120"/>
                        </a:rPr>
                        <a:t>The incident — what is known so far</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r h="0">
                <a:tc>
                  <a:txBody>
                    <a:bodyPr/>
                    <a:lstStyle/>
                    <a:p>
                      <a:pPr algn="ctr" indent="0" marL="0">
                        <a:buNone/>
                      </a:pPr>
                      <a:r>
                        <a:rPr lang="en-US" sz="1150" b="1" dirty="0">
                          <a:solidFill>
                            <a:srgbClr val="8C151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150" dirty="0">
                          <a:solidFill>
                            <a:srgbClr val="26221F"/>
                          </a:solidFill>
                          <a:latin typeface="Calibri" pitchFamily="34" charset="0"/>
                          <a:ea typeface="Calibri" pitchFamily="34" charset="-122"/>
                          <a:cs typeface="Calibri" pitchFamily="34" charset="-120"/>
                        </a:rPr>
                        <a:t>Stage-by-stage decisions</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r h="0">
                <a:tc>
                  <a:txBody>
                    <a:bodyPr/>
                    <a:lstStyle/>
                    <a:p>
                      <a:pPr algn="ctr" indent="0" marL="0">
                        <a:buNone/>
                      </a:pPr>
                      <a:r>
                        <a:rPr lang="en-US" sz="1150" b="1" dirty="0">
                          <a:solidFill>
                            <a:srgbClr val="8C1515"/>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150" dirty="0">
                          <a:solidFill>
                            <a:srgbClr val="26221F"/>
                          </a:solidFill>
                          <a:latin typeface="Calibri" pitchFamily="34" charset="0"/>
                          <a:ea typeface="Calibri" pitchFamily="34" charset="-122"/>
                          <a:cs typeface="Calibri" pitchFamily="34" charset="-120"/>
                        </a:rPr>
                        <a:t>Assessment rubric — visible while you work</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r h="0">
                <a:tc>
                  <a:txBody>
                    <a:bodyPr/>
                    <a:lstStyle/>
                    <a:p>
                      <a:pPr algn="ctr" indent="0" marL="0">
                        <a:buNone/>
                      </a:pPr>
                      <a:r>
                        <a:rPr lang="en-US" sz="1150" b="1" dirty="0">
                          <a:solidFill>
                            <a:srgbClr val="8C151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150" dirty="0">
                          <a:solidFill>
                            <a:srgbClr val="26221F"/>
                          </a:solidFill>
                          <a:latin typeface="Calibri" pitchFamily="34" charset="0"/>
                          <a:ea typeface="Calibri" pitchFamily="34" charset="-122"/>
                          <a:cs typeface="Calibri" pitchFamily="34" charset="-120"/>
                        </a:rPr>
                        <a:t>Achievement badges</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r h="0">
                <a:tc>
                  <a:txBody>
                    <a:bodyPr/>
                    <a:lstStyle/>
                    <a:p>
                      <a:pPr algn="ctr" indent="0" marL="0">
                        <a:buNone/>
                      </a:pPr>
                      <a:r>
                        <a:rPr lang="en-US" sz="1150" b="1" dirty="0">
                          <a:solidFill>
                            <a:srgbClr val="8C1515"/>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150" dirty="0">
                          <a:solidFill>
                            <a:srgbClr val="26221F"/>
                          </a:solidFill>
                          <a:latin typeface="Calibri" pitchFamily="34" charset="0"/>
                          <a:ea typeface="Calibri" pitchFamily="34" charset="-122"/>
                          <a:cs typeface="Calibri" pitchFamily="34" charset="-120"/>
                        </a:rPr>
                        <a:t>Incident report &amp; regulatory outcome</a:t>
                      </a:r>
                      <a:endParaRPr lang="en-US" sz="11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bl>
          </a:graphicData>
        </a:graphic>
      </p:graphicFrame>
      <p:sp>
        <p:nvSpPr>
          <p:cNvPr id="9" name="Shape 6"/>
          <p:cNvSpPr/>
          <p:nvPr/>
        </p:nvSpPr>
        <p:spPr>
          <a:xfrm>
            <a:off x="5902452" y="1490015"/>
            <a:ext cx="5751576" cy="4646066"/>
          </a:xfrm>
          <a:prstGeom prst="rect">
            <a:avLst/>
          </a:prstGeom>
          <a:solidFill>
            <a:srgbClr val="FFFFFF"/>
          </a:solidFill>
          <a:ln w="9525">
            <a:solidFill>
              <a:srgbClr val="DDD5CE"/>
            </a:solidFill>
            <a:prstDash val="solid"/>
          </a:ln>
        </p:spPr>
      </p:sp>
      <p:pic>
        <p:nvPicPr>
          <p:cNvPr id="10" name="Image 0" descr="/Users/kukku/Desktop/junk/alizon-os-deploy/resources/slides/img/p2_brief.png">    </p:cNvPr>
          <p:cNvPicPr>
            <a:picLocks noChangeAspect="1"/>
          </p:cNvPicPr>
          <p:nvPr/>
        </p:nvPicPr>
        <p:blipFill>
          <a:blip r:embed="rId1"/>
          <a:stretch>
            <a:fillRect/>
          </a:stretch>
        </p:blipFill>
        <p:spPr>
          <a:xfrm>
            <a:off x="5943600" y="1531163"/>
            <a:ext cx="5669280" cy="4563770"/>
          </a:xfrm>
          <a:prstGeom prst="rect">
            <a:avLst/>
          </a:prstGeom>
        </p:spPr>
      </p:pic>
      <p:sp>
        <p:nvSpPr>
          <p:cNvPr id="11" name="Text 7"/>
          <p:cNvSpPr/>
          <p:nvPr/>
        </p:nvSpPr>
        <p:spPr>
          <a:xfrm>
            <a:off x="5943600" y="6168085"/>
            <a:ext cx="5669280" cy="256032"/>
          </a:xfrm>
          <a:prstGeom prst="rect">
            <a:avLst/>
          </a:prstGeom>
          <a:noFill/>
          <a:ln/>
        </p:spPr>
        <p:txBody>
          <a:bodyPr wrap="square" rtlCol="0" anchor="ctr"/>
          <a:lstStyle/>
          <a:p>
            <a:pPr algn="ctr" indent="0" marL="0">
              <a:buNone/>
            </a:pPr>
            <a:r>
              <a:rPr lang="en-US" sz="1050" i="1" dirty="0">
                <a:solidFill>
                  <a:srgbClr val="6E6A63"/>
                </a:solidFill>
                <a:latin typeface="Calibri" pitchFamily="34" charset="0"/>
                <a:ea typeface="Calibri" pitchFamily="34" charset="-122"/>
                <a:cs typeface="Calibri" pitchFamily="34" charset="-120"/>
              </a:rPr>
              <a:t>The briefing — read before the clock starts</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8F6"/>
        </a:solidFill>
      </p:bgPr>
    </p:bg>
    <p:spTree>
      <p:nvGrpSpPr>
        <p:cNvPr id="1" name=""/>
        <p:cNvGrpSpPr/>
        <p:nvPr/>
      </p:nvGrpSpPr>
      <p:grpSpPr>
        <a:xfrm>
          <a:off x="0" y="0"/>
          <a:ext cx="0" cy="0"/>
          <a:chOff x="0" y="0"/>
          <a:chExt cx="0" cy="0"/>
        </a:xfrm>
      </p:grpSpPr>
      <p:sp>
        <p:nvSpPr>
          <p:cNvPr id="2" name="Shape 0"/>
          <p:cNvSpPr/>
          <p:nvPr/>
        </p:nvSpPr>
        <p:spPr>
          <a:xfrm>
            <a:off x="0" y="0"/>
            <a:ext cx="12191695" cy="1133856"/>
          </a:xfrm>
          <a:prstGeom prst="rect">
            <a:avLst/>
          </a:prstGeom>
          <a:solidFill>
            <a:srgbClr val="FFFFFF"/>
          </a:solidFill>
          <a:ln w="12700">
            <a:solidFill>
              <a:srgbClr val="FFFFFF"/>
            </a:solidFill>
            <a:prstDash val="solid"/>
          </a:ln>
        </p:spPr>
      </p:sp>
      <p:sp>
        <p:nvSpPr>
          <p:cNvPr id="3" name="Shape 1"/>
          <p:cNvSpPr/>
          <p:nvPr/>
        </p:nvSpPr>
        <p:spPr>
          <a:xfrm>
            <a:off x="0" y="1133856"/>
            <a:ext cx="12191695" cy="32004"/>
          </a:xfrm>
          <a:prstGeom prst="rect">
            <a:avLst/>
          </a:prstGeom>
          <a:solidFill>
            <a:srgbClr val="8C1515"/>
          </a:solidFill>
          <a:ln w="12700">
            <a:solidFill>
              <a:srgbClr val="8C1515"/>
            </a:solidFill>
            <a:prstDash val="solid"/>
          </a:ln>
        </p:spPr>
      </p:sp>
      <p:sp>
        <p:nvSpPr>
          <p:cNvPr id="4" name="Text 2"/>
          <p:cNvSpPr/>
          <p:nvPr/>
        </p:nvSpPr>
        <p:spPr>
          <a:xfrm>
            <a:off x="566928" y="201168"/>
            <a:ext cx="10972800" cy="274320"/>
          </a:xfrm>
          <a:prstGeom prst="rect">
            <a:avLst/>
          </a:prstGeom>
          <a:noFill/>
          <a:ln/>
        </p:spPr>
        <p:txBody>
          <a:bodyPr wrap="square" rtlCol="0" anchor="ctr"/>
          <a:lstStyle/>
          <a:p>
            <a:pPr indent="0" marL="0">
              <a:buNone/>
            </a:pPr>
            <a:r>
              <a:rPr lang="en-US" sz="1100" b="1" spc="140" kern="0" dirty="0">
                <a:solidFill>
                  <a:srgbClr val="8C1515"/>
                </a:solidFill>
                <a:latin typeface="Calibri" pitchFamily="34" charset="0"/>
                <a:ea typeface="Calibri" pitchFamily="34" charset="-122"/>
                <a:cs typeface="Calibri" pitchFamily="34" charset="-120"/>
              </a:rPr>
              <a:t>Practical 2 · how to do it</a:t>
            </a:r>
            <a:endParaRPr lang="en-US" sz="1100" dirty="0"/>
          </a:p>
        </p:txBody>
      </p:sp>
      <p:sp>
        <p:nvSpPr>
          <p:cNvPr id="5" name="Text 3"/>
          <p:cNvSpPr/>
          <p:nvPr/>
        </p:nvSpPr>
        <p:spPr>
          <a:xfrm>
            <a:off x="566928" y="475488"/>
            <a:ext cx="11064240" cy="566928"/>
          </a:xfrm>
          <a:prstGeom prst="rect">
            <a:avLst/>
          </a:prstGeom>
          <a:noFill/>
          <a:ln/>
        </p:spPr>
        <p:txBody>
          <a:bodyPr wrap="square" rtlCol="0" anchor="ctr"/>
          <a:lstStyle/>
          <a:p>
            <a:pPr indent="0" marL="0">
              <a:buNone/>
            </a:pPr>
            <a:r>
              <a:rPr lang="en-US" sz="2600" b="1" dirty="0">
                <a:solidFill>
                  <a:srgbClr val="26221F"/>
                </a:solidFill>
                <a:latin typeface="Cambria" pitchFamily="34" charset="0"/>
                <a:ea typeface="Cambria" pitchFamily="34" charset="-122"/>
                <a:cs typeface="Cambria" pitchFamily="34" charset="-120"/>
              </a:rPr>
              <a:t>Procedure, in order</a:t>
            </a:r>
            <a:endParaRPr lang="en-US" sz="2600" dirty="0"/>
          </a:p>
        </p:txBody>
      </p:sp>
      <p:sp>
        <p:nvSpPr>
          <p:cNvPr id="6" name="Shape 4"/>
          <p:cNvSpPr/>
          <p:nvPr/>
        </p:nvSpPr>
        <p:spPr>
          <a:xfrm>
            <a:off x="0" y="6473952"/>
            <a:ext cx="12191695" cy="384048"/>
          </a:xfrm>
          <a:prstGeom prst="rect">
            <a:avLst/>
          </a:prstGeom>
          <a:solidFill>
            <a:srgbClr val="FAF8F6"/>
          </a:solidFill>
          <a:ln w="12700">
            <a:solidFill>
              <a:srgbClr val="FAF8F6"/>
            </a:solidFill>
            <a:prstDash val="solid"/>
          </a:ln>
        </p:spPr>
      </p:sp>
      <p:sp>
        <p:nvSpPr>
          <p:cNvPr id="7" name="Text 5"/>
          <p:cNvSpPr/>
          <p:nvPr/>
        </p:nvSpPr>
        <p:spPr>
          <a:xfrm>
            <a:off x="457200" y="6492240"/>
            <a:ext cx="8229600" cy="310896"/>
          </a:xfrm>
          <a:prstGeom prst="rect">
            <a:avLst/>
          </a:prstGeom>
          <a:noFill/>
          <a:ln/>
        </p:spPr>
        <p:txBody>
          <a:bodyPr wrap="square" rtlCol="0" anchor="ctr"/>
          <a:lstStyle/>
          <a:p>
            <a:pPr indent="0" marL="0">
              <a:buNone/>
            </a:pPr>
            <a:r>
              <a:rPr lang="en-US" sz="1000" dirty="0">
                <a:solidFill>
                  <a:srgbClr val="6E6A63"/>
                </a:solidFill>
                <a:latin typeface="Calibri" pitchFamily="34" charset="0"/>
                <a:ea typeface="Calibri" pitchFamily="34" charset="-122"/>
                <a:cs typeface="Calibri" pitchFamily="34" charset="-120"/>
              </a:rPr>
              <a:t>ALIZON OS · Pharmacy AI · Module 1 — AI Foundations &amp; Digital Systems</a:t>
            </a:r>
            <a:endParaRPr lang="en-US" sz="1000" dirty="0"/>
          </a:p>
        </p:txBody>
      </p:sp>
      <p:sp>
        <p:nvSpPr>
          <p:cNvPr id="8" name="Text 6"/>
          <p:cNvSpPr/>
          <p:nvPr/>
        </p:nvSpPr>
        <p:spPr>
          <a:xfrm>
            <a:off x="640080" y="1517904"/>
            <a:ext cx="5212080" cy="4572000"/>
          </a:xfrm>
          <a:prstGeom prst="rect">
            <a:avLst/>
          </a:prstGeom>
          <a:noFill/>
          <a:ln/>
        </p:spPr>
        <p:txBody>
          <a:bodyPr wrap="square" rtlCol="0" anchor="t"/>
          <a:lstStyle/>
          <a:p>
            <a:pPr marL="342900" indent="-342900">
              <a:lnSpc>
                <a:spcPct val="122000"/>
              </a:lnSpc>
              <a:buSzPct val="100000"/>
              <a:buChar char="•"/>
            </a:pPr>
            <a:r>
              <a:rPr lang="en-US" sz="1300" dirty="0">
                <a:solidFill>
                  <a:srgbClr val="26221F"/>
                </a:solidFill>
                <a:latin typeface="Calibri" pitchFamily="34" charset="0"/>
                <a:ea typeface="Calibri" pitchFamily="34" charset="-122"/>
                <a:cs typeface="Calibri" pitchFamily="34" charset="-120"/>
              </a:rPr>
              <a:t>Contain the exposure in the correct order, securing what you control before pursuing what you do not.</a:t>
            </a:r>
            <a:endParaRPr lang="en-US" sz="1300" dirty="0"/>
          </a:p>
          <a:p>
            <a:pPr marL="342900" indent="-342900">
              <a:lnSpc>
                <a:spcPct val="122000"/>
              </a:lnSpc>
              <a:buSzPct val="100000"/>
              <a:buChar char="•"/>
            </a:pPr>
            <a:r>
              <a:rPr lang="en-US" sz="1300" dirty="0">
                <a:solidFill>
                  <a:srgbClr val="26221F"/>
                </a:solidFill>
                <a:latin typeface="Calibri" pitchFamily="34" charset="0"/>
                <a:ea typeface="Calibri" pitchFamily="34" charset="-122"/>
                <a:cs typeface="Calibri" pitchFamily="34" charset="-120"/>
              </a:rPr>
              <a:t>Assess the risk by consequence to the individuals, not by the format of the record.</a:t>
            </a:r>
            <a:endParaRPr lang="en-US" sz="1300" dirty="0"/>
          </a:p>
          <a:p>
            <a:pPr marL="342900" indent="-342900">
              <a:lnSpc>
                <a:spcPct val="122000"/>
              </a:lnSpc>
              <a:buSzPct val="100000"/>
              <a:buChar char="•"/>
            </a:pPr>
            <a:r>
              <a:rPr lang="en-US" sz="1300" dirty="0">
                <a:solidFill>
                  <a:srgbClr val="26221F"/>
                </a:solidFill>
                <a:latin typeface="Calibri" pitchFamily="34" charset="0"/>
                <a:ea typeface="Calibri" pitchFamily="34" charset="-122"/>
                <a:cs typeface="Calibri" pitchFamily="34" charset="-120"/>
              </a:rPr>
              <a:t>Decide notifiability and notify both the Board and every affected Data Principal.</a:t>
            </a:r>
            <a:endParaRPr lang="en-US" sz="1300" dirty="0"/>
          </a:p>
          <a:p>
            <a:pPr marL="342900" indent="-342900">
              <a:lnSpc>
                <a:spcPct val="122000"/>
              </a:lnSpc>
              <a:buSzPct val="100000"/>
              <a:buChar char="•"/>
            </a:pPr>
            <a:r>
              <a:rPr lang="en-US" sz="1300" dirty="0">
                <a:solidFill>
                  <a:srgbClr val="26221F"/>
                </a:solidFill>
                <a:latin typeface="Calibri" pitchFamily="34" charset="0"/>
                <a:ea typeface="Calibri" pitchFamily="34" charset="-122"/>
                <a:cs typeface="Calibri" pitchFamily="34" charset="-120"/>
              </a:rPr>
              <a:t>Handle the subject access request — verify identity, inform, and disclose their own data within the statutory period.</a:t>
            </a:r>
            <a:endParaRPr lang="en-US" sz="1300" dirty="0"/>
          </a:p>
          <a:p>
            <a:pPr marL="342900" indent="-342900">
              <a:lnSpc>
                <a:spcPct val="122000"/>
              </a:lnSpc>
              <a:buSzPct val="100000"/>
              <a:buChar char="•"/>
            </a:pPr>
            <a:r>
              <a:rPr lang="en-US" sz="1300" dirty="0">
                <a:solidFill>
                  <a:srgbClr val="26221F"/>
                </a:solidFill>
                <a:latin typeface="Calibri" pitchFamily="34" charset="0"/>
                <a:ea typeface="Calibri" pitchFamily="34" charset="-122"/>
                <a:cs typeface="Calibri" pitchFamily="34" charset="-120"/>
              </a:rPr>
              <a:t>Refuse the improper disclosure, refer it to the proper channel and document the approach.</a:t>
            </a:r>
            <a:endParaRPr lang="en-US" sz="1300" dirty="0"/>
          </a:p>
          <a:p>
            <a:pPr marL="342900" indent="-342900">
              <a:lnSpc>
                <a:spcPct val="122000"/>
              </a:lnSpc>
              <a:buSzPct val="100000"/>
              <a:buChar char="•"/>
            </a:pPr>
            <a:r>
              <a:rPr lang="en-US" sz="1300" dirty="0">
                <a:solidFill>
                  <a:srgbClr val="26221F"/>
                </a:solidFill>
                <a:latin typeface="Calibri" pitchFamily="34" charset="0"/>
                <a:ea typeface="Calibri" pitchFamily="34" charset="-122"/>
                <a:cs typeface="Calibri" pitchFamily="34" charset="-120"/>
              </a:rPr>
              <a:t>Propose preventive action that removes the conditions that made the breach possible.</a:t>
            </a:r>
            <a:endParaRPr lang="en-US" sz="1300" dirty="0"/>
          </a:p>
        </p:txBody>
      </p:sp>
      <p:sp>
        <p:nvSpPr>
          <p:cNvPr id="9" name="Shape 7"/>
          <p:cNvSpPr/>
          <p:nvPr/>
        </p:nvSpPr>
        <p:spPr>
          <a:xfrm>
            <a:off x="6085332" y="2398994"/>
            <a:ext cx="5568696" cy="2700093"/>
          </a:xfrm>
          <a:prstGeom prst="rect">
            <a:avLst/>
          </a:prstGeom>
          <a:solidFill>
            <a:srgbClr val="FFFFFF"/>
          </a:solidFill>
          <a:ln w="9525">
            <a:solidFill>
              <a:srgbClr val="DDD5CE"/>
            </a:solidFill>
            <a:prstDash val="solid"/>
          </a:ln>
        </p:spPr>
      </p:sp>
      <p:pic>
        <p:nvPicPr>
          <p:cNvPr id="10" name="Image 0" descr="/Users/kukku/Desktop/junk/alizon-os-deploy/resources/slides/img/p2_incident.png">    </p:cNvPr>
          <p:cNvPicPr>
            <a:picLocks noChangeAspect="1"/>
          </p:cNvPicPr>
          <p:nvPr/>
        </p:nvPicPr>
        <p:blipFill>
          <a:blip r:embed="rId1"/>
          <a:stretch>
            <a:fillRect/>
          </a:stretch>
        </p:blipFill>
        <p:spPr>
          <a:xfrm>
            <a:off x="6126480" y="2440142"/>
            <a:ext cx="5486400" cy="2617797"/>
          </a:xfrm>
          <a:prstGeom prst="rect">
            <a:avLst/>
          </a:prstGeom>
        </p:spPr>
      </p:pic>
      <p:sp>
        <p:nvSpPr>
          <p:cNvPr id="11" name="Text 8"/>
          <p:cNvSpPr/>
          <p:nvPr/>
        </p:nvSpPr>
        <p:spPr>
          <a:xfrm>
            <a:off x="6126480" y="5131090"/>
            <a:ext cx="5486400" cy="256032"/>
          </a:xfrm>
          <a:prstGeom prst="rect">
            <a:avLst/>
          </a:prstGeom>
          <a:noFill/>
          <a:ln/>
        </p:spPr>
        <p:txBody>
          <a:bodyPr wrap="square" rtlCol="0" anchor="ctr"/>
          <a:lstStyle/>
          <a:p>
            <a:pPr algn="ctr" indent="0" marL="0">
              <a:buNone/>
            </a:pPr>
            <a:r>
              <a:rPr lang="en-US" sz="1050" i="1" dirty="0">
                <a:solidFill>
                  <a:srgbClr val="6E6A63"/>
                </a:solidFill>
                <a:latin typeface="Calibri" pitchFamily="34" charset="0"/>
                <a:ea typeface="Calibri" pitchFamily="34" charset="-122"/>
                <a:cs typeface="Calibri" pitchFamily="34" charset="-120"/>
              </a:rPr>
              <a:t>Stage 1 of 6 · Immediate containment · 25 marks — order the five actions against the clock</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8F6"/>
        </a:solidFill>
      </p:bgPr>
    </p:bg>
    <p:spTree>
      <p:nvGrpSpPr>
        <p:cNvPr id="1" name=""/>
        <p:cNvGrpSpPr/>
        <p:nvPr/>
      </p:nvGrpSpPr>
      <p:grpSpPr>
        <a:xfrm>
          <a:off x="0" y="0"/>
          <a:ext cx="0" cy="0"/>
          <a:chOff x="0" y="0"/>
          <a:chExt cx="0" cy="0"/>
        </a:xfrm>
      </p:grpSpPr>
      <p:sp>
        <p:nvSpPr>
          <p:cNvPr id="2" name="Shape 0"/>
          <p:cNvSpPr/>
          <p:nvPr/>
        </p:nvSpPr>
        <p:spPr>
          <a:xfrm>
            <a:off x="0" y="0"/>
            <a:ext cx="12191695" cy="1133856"/>
          </a:xfrm>
          <a:prstGeom prst="rect">
            <a:avLst/>
          </a:prstGeom>
          <a:solidFill>
            <a:srgbClr val="FFFFFF"/>
          </a:solidFill>
          <a:ln w="12700">
            <a:solidFill>
              <a:srgbClr val="FFFFFF"/>
            </a:solidFill>
            <a:prstDash val="solid"/>
          </a:ln>
        </p:spPr>
      </p:sp>
      <p:sp>
        <p:nvSpPr>
          <p:cNvPr id="3" name="Shape 1"/>
          <p:cNvSpPr/>
          <p:nvPr/>
        </p:nvSpPr>
        <p:spPr>
          <a:xfrm>
            <a:off x="0" y="1133856"/>
            <a:ext cx="12191695" cy="32004"/>
          </a:xfrm>
          <a:prstGeom prst="rect">
            <a:avLst/>
          </a:prstGeom>
          <a:solidFill>
            <a:srgbClr val="8C1515"/>
          </a:solidFill>
          <a:ln w="12700">
            <a:solidFill>
              <a:srgbClr val="8C1515"/>
            </a:solidFill>
            <a:prstDash val="solid"/>
          </a:ln>
        </p:spPr>
      </p:sp>
      <p:sp>
        <p:nvSpPr>
          <p:cNvPr id="4" name="Text 2"/>
          <p:cNvSpPr/>
          <p:nvPr/>
        </p:nvSpPr>
        <p:spPr>
          <a:xfrm>
            <a:off x="566928" y="201168"/>
            <a:ext cx="10972800" cy="274320"/>
          </a:xfrm>
          <a:prstGeom prst="rect">
            <a:avLst/>
          </a:prstGeom>
          <a:noFill/>
          <a:ln/>
        </p:spPr>
        <p:txBody>
          <a:bodyPr wrap="square" rtlCol="0" anchor="ctr"/>
          <a:lstStyle/>
          <a:p>
            <a:pPr indent="0" marL="0">
              <a:buNone/>
            </a:pPr>
            <a:r>
              <a:rPr lang="en-US" sz="1100" b="1" spc="140" kern="0" dirty="0">
                <a:solidFill>
                  <a:srgbClr val="8C1515"/>
                </a:solidFill>
                <a:latin typeface="Calibri" pitchFamily="34" charset="0"/>
                <a:ea typeface="Calibri" pitchFamily="34" charset="-122"/>
                <a:cs typeface="Calibri" pitchFamily="34" charset="-120"/>
              </a:rPr>
              <a:t>Practical 2 · the rules</a:t>
            </a:r>
            <a:endParaRPr lang="en-US" sz="1100" dirty="0"/>
          </a:p>
        </p:txBody>
      </p:sp>
      <p:sp>
        <p:nvSpPr>
          <p:cNvPr id="5" name="Text 3"/>
          <p:cNvSpPr/>
          <p:nvPr/>
        </p:nvSpPr>
        <p:spPr>
          <a:xfrm>
            <a:off x="566928" y="475488"/>
            <a:ext cx="11064240" cy="566928"/>
          </a:xfrm>
          <a:prstGeom prst="rect">
            <a:avLst/>
          </a:prstGeom>
          <a:noFill/>
          <a:ln/>
        </p:spPr>
        <p:txBody>
          <a:bodyPr wrap="square" rtlCol="0" anchor="ctr"/>
          <a:lstStyle/>
          <a:p>
            <a:pPr indent="0" marL="0">
              <a:buNone/>
            </a:pPr>
            <a:r>
              <a:rPr lang="en-US" sz="2600" b="1" dirty="0">
                <a:solidFill>
                  <a:srgbClr val="26221F"/>
                </a:solidFill>
                <a:latin typeface="Cambria" pitchFamily="34" charset="0"/>
                <a:ea typeface="Cambria" pitchFamily="34" charset="-122"/>
                <a:cs typeface="Cambria" pitchFamily="34" charset="-120"/>
              </a:rPr>
              <a:t>Guided method</a:t>
            </a:r>
            <a:endParaRPr lang="en-US" sz="2600" dirty="0"/>
          </a:p>
        </p:txBody>
      </p:sp>
      <p:sp>
        <p:nvSpPr>
          <p:cNvPr id="6" name="Shape 4"/>
          <p:cNvSpPr/>
          <p:nvPr/>
        </p:nvSpPr>
        <p:spPr>
          <a:xfrm>
            <a:off x="0" y="6473952"/>
            <a:ext cx="12191695" cy="384048"/>
          </a:xfrm>
          <a:prstGeom prst="rect">
            <a:avLst/>
          </a:prstGeom>
          <a:solidFill>
            <a:srgbClr val="FAF8F6"/>
          </a:solidFill>
          <a:ln w="12700">
            <a:solidFill>
              <a:srgbClr val="FAF8F6"/>
            </a:solidFill>
            <a:prstDash val="solid"/>
          </a:ln>
        </p:spPr>
      </p:sp>
      <p:sp>
        <p:nvSpPr>
          <p:cNvPr id="7" name="Text 5"/>
          <p:cNvSpPr/>
          <p:nvPr/>
        </p:nvSpPr>
        <p:spPr>
          <a:xfrm>
            <a:off x="457200" y="6492240"/>
            <a:ext cx="8229600" cy="310896"/>
          </a:xfrm>
          <a:prstGeom prst="rect">
            <a:avLst/>
          </a:prstGeom>
          <a:noFill/>
          <a:ln/>
        </p:spPr>
        <p:txBody>
          <a:bodyPr wrap="square" rtlCol="0" anchor="ctr"/>
          <a:lstStyle/>
          <a:p>
            <a:pPr indent="0" marL="0">
              <a:buNone/>
            </a:pPr>
            <a:r>
              <a:rPr lang="en-US" sz="1000" dirty="0">
                <a:solidFill>
                  <a:srgbClr val="6E6A63"/>
                </a:solidFill>
                <a:latin typeface="Calibri" pitchFamily="34" charset="0"/>
                <a:ea typeface="Calibri" pitchFamily="34" charset="-122"/>
                <a:cs typeface="Calibri" pitchFamily="34" charset="-120"/>
              </a:rPr>
              <a:t>ALIZON OS · Pharmacy AI · Module 1 — AI Foundations &amp; Digital Systems</a:t>
            </a:r>
            <a:endParaRPr lang="en-US" sz="1000" dirty="0"/>
          </a:p>
        </p:txBody>
      </p:sp>
      <p:sp>
        <p:nvSpPr>
          <p:cNvPr id="8" name="Text 6"/>
          <p:cNvSpPr/>
          <p:nvPr/>
        </p:nvSpPr>
        <p:spPr>
          <a:xfrm>
            <a:off x="685800" y="1517904"/>
            <a:ext cx="10881360" cy="4572000"/>
          </a:xfrm>
          <a:prstGeom prst="rect">
            <a:avLst/>
          </a:prstGeom>
          <a:noFill/>
          <a:ln/>
        </p:spPr>
        <p:txBody>
          <a:bodyPr wrap="square" rtlCol="0" anchor="t"/>
          <a:lstStyle/>
          <a:p>
            <a:pPr marL="342900" indent="-342900">
              <a:lnSpc>
                <a:spcPct val="122000"/>
              </a:lnSpc>
              <a:buSzPct val="100000"/>
              <a:buChar char="•"/>
            </a:pPr>
            <a:r>
              <a:rPr lang="en-US" sz="1400" dirty="0">
                <a:solidFill>
                  <a:srgbClr val="26221F"/>
                </a:solidFill>
                <a:latin typeface="Calibri" pitchFamily="34" charset="0"/>
                <a:ea typeface="Calibri" pitchFamily="34" charset="-122"/>
                <a:cs typeface="Calibri" pitchFamily="34" charset="-120"/>
              </a:rPr>
              <a:t>Secure the paper and the print queue before chasing the photograph — you cannot unshare a message, but you can stop the next one.</a:t>
            </a:r>
            <a:endParaRPr lang="en-US" sz="1400" dirty="0"/>
          </a:p>
          <a:p>
            <a:pPr marL="342900" indent="-342900">
              <a:lnSpc>
                <a:spcPct val="122000"/>
              </a:lnSpc>
              <a:buSzPct val="100000"/>
              <a:buChar char="•"/>
            </a:pPr>
            <a:r>
              <a:rPr lang="en-US" sz="1400" dirty="0">
                <a:solidFill>
                  <a:srgbClr val="26221F"/>
                </a:solidFill>
                <a:latin typeface="Calibri" pitchFamily="34" charset="0"/>
                <a:ea typeface="Calibri" pitchFamily="34" charset="-122"/>
                <a:cs typeface="Calibri" pitchFamily="34" charset="-120"/>
              </a:rPr>
              <a:t>Write down the discovery time immediately; every clock in the response starts there.</a:t>
            </a:r>
            <a:endParaRPr lang="en-US" sz="1400" dirty="0"/>
          </a:p>
          <a:p>
            <a:pPr marL="342900" indent="-342900">
              <a:lnSpc>
                <a:spcPct val="122000"/>
              </a:lnSpc>
              <a:buSzPct val="100000"/>
              <a:buChar char="•"/>
            </a:pPr>
            <a:r>
              <a:rPr lang="en-US" sz="1400" dirty="0">
                <a:solidFill>
                  <a:srgbClr val="26221F"/>
                </a:solidFill>
                <a:latin typeface="Calibri" pitchFamily="34" charset="0"/>
                <a:ea typeface="Calibri" pitchFamily="34" charset="-122"/>
                <a:cs typeface="Calibri" pitchFamily="34" charset="-120"/>
              </a:rPr>
              <a:t>Assess risk by asking what the worst realistic consequence is for the most vulnerable person on the list.</a:t>
            </a:r>
            <a:endParaRPr lang="en-US" sz="1400" dirty="0"/>
          </a:p>
          <a:p>
            <a:pPr marL="342900" indent="-342900">
              <a:lnSpc>
                <a:spcPct val="122000"/>
              </a:lnSpc>
              <a:buSzPct val="100000"/>
              <a:buChar char="•"/>
            </a:pPr>
            <a:r>
              <a:rPr lang="en-US" sz="1400" dirty="0">
                <a:solidFill>
                  <a:srgbClr val="26221F"/>
                </a:solidFill>
                <a:latin typeface="Calibri" pitchFamily="34" charset="0"/>
                <a:ea typeface="Calibri" pitchFamily="34" charset="-122"/>
                <a:cs typeface="Calibri" pitchFamily="34" charset="-120"/>
              </a:rPr>
              <a:t>Treat no financial data was involved as irrelevant when the data is clinical.</a:t>
            </a:r>
            <a:endParaRPr lang="en-US" sz="1400" dirty="0"/>
          </a:p>
          <a:p>
            <a:pPr marL="342900" indent="-342900">
              <a:lnSpc>
                <a:spcPct val="122000"/>
              </a:lnSpc>
              <a:buSzPct val="100000"/>
              <a:buChar char="•"/>
            </a:pPr>
            <a:r>
              <a:rPr lang="en-US" sz="1400" dirty="0">
                <a:solidFill>
                  <a:srgbClr val="26221F"/>
                </a:solidFill>
                <a:latin typeface="Calibri" pitchFamily="34" charset="0"/>
                <a:ea typeface="Calibri" pitchFamily="34" charset="-122"/>
                <a:cs typeface="Calibri" pitchFamily="34" charset="-120"/>
              </a:rPr>
              <a:t>When someone tells you a number is not personal data, ask how small the group is.</a:t>
            </a:r>
            <a:endParaRPr lang="en-US" sz="1400" dirty="0"/>
          </a:p>
          <a:p>
            <a:pPr marL="342900" indent="-342900">
              <a:lnSpc>
                <a:spcPct val="122000"/>
              </a:lnSpc>
              <a:buSzPct val="100000"/>
              <a:buChar char="•"/>
            </a:pPr>
            <a:r>
              <a:rPr lang="en-US" sz="1400" dirty="0">
                <a:solidFill>
                  <a:srgbClr val="26221F"/>
                </a:solidFill>
                <a:latin typeface="Calibri" pitchFamily="34" charset="0"/>
                <a:ea typeface="Calibri" pitchFamily="34" charset="-122"/>
                <a:cs typeface="Calibri" pitchFamily="34" charset="-120"/>
              </a:rPr>
              <a:t>Never delete, reset or tidy anything during an incident — preserve first, explain later.</a:t>
            </a:r>
            <a:endParaRPr lang="en-US" sz="1400" dirty="0"/>
          </a:p>
          <a:p>
            <a:pPr marL="342900" indent="-342900">
              <a:lnSpc>
                <a:spcPct val="122000"/>
              </a:lnSpc>
              <a:buSzPct val="100000"/>
              <a:buChar char="•"/>
            </a:pPr>
            <a:r>
              <a:rPr lang="en-US" sz="1400" dirty="0">
                <a:solidFill>
                  <a:srgbClr val="26221F"/>
                </a:solidFill>
                <a:latin typeface="Calibri" pitchFamily="34" charset="0"/>
                <a:ea typeface="Calibri" pitchFamily="34" charset="-122"/>
                <a:cs typeface="Calibri" pitchFamily="34" charset="-120"/>
              </a:rPr>
              <a:t>Choose preventive actions that would have stopped this specific breach without anyone having to remember anything.</a:t>
            </a:r>
            <a:endParaRPr lang="en-US" sz="1400" dirty="0"/>
          </a:p>
        </p:txBody>
      </p:sp>
      <p:sp>
        <p:nvSpPr>
          <p:cNvPr id="9" name="Shape 7"/>
          <p:cNvSpPr/>
          <p:nvPr/>
        </p:nvSpPr>
        <p:spPr>
          <a:xfrm>
            <a:off x="685800" y="5669280"/>
            <a:ext cx="10881360" cy="749808"/>
          </a:xfrm>
          <a:prstGeom prst="rect">
            <a:avLst/>
          </a:prstGeom>
          <a:solidFill>
            <a:srgbClr val="F7EFEF"/>
          </a:solidFill>
          <a:ln w="12700">
            <a:solidFill>
              <a:srgbClr val="E7CFCF"/>
            </a:solidFill>
            <a:prstDash val="solid"/>
          </a:ln>
        </p:spPr>
      </p:sp>
      <p:sp>
        <p:nvSpPr>
          <p:cNvPr id="10" name="Shape 8"/>
          <p:cNvSpPr/>
          <p:nvPr/>
        </p:nvSpPr>
        <p:spPr>
          <a:xfrm>
            <a:off x="685800" y="5669280"/>
            <a:ext cx="50292" cy="749808"/>
          </a:xfrm>
          <a:prstGeom prst="rect">
            <a:avLst/>
          </a:prstGeom>
          <a:solidFill>
            <a:srgbClr val="8C1515"/>
          </a:solidFill>
          <a:ln w="12700">
            <a:solidFill>
              <a:srgbClr val="8C1515"/>
            </a:solidFill>
            <a:prstDash val="solid"/>
          </a:ln>
        </p:spPr>
      </p:sp>
      <p:sp>
        <p:nvSpPr>
          <p:cNvPr id="11" name="Text 9"/>
          <p:cNvSpPr/>
          <p:nvPr/>
        </p:nvSpPr>
        <p:spPr>
          <a:xfrm>
            <a:off x="868680" y="5724144"/>
            <a:ext cx="10515600" cy="640080"/>
          </a:xfrm>
          <a:prstGeom prst="rect">
            <a:avLst/>
          </a:prstGeom>
          <a:noFill/>
          <a:ln/>
        </p:spPr>
        <p:txBody>
          <a:bodyPr wrap="square" rtlCol="0" anchor="ctr"/>
          <a:lstStyle/>
          <a:p>
            <a:pPr indent="0" marL="0">
              <a:buNone/>
            </a:pPr>
            <a:r>
              <a:rPr lang="en-US" sz="1250" dirty="0">
                <a:solidFill>
                  <a:srgbClr val="26221F"/>
                </a:solidFill>
                <a:latin typeface="Calibri" pitchFamily="34" charset="0"/>
                <a:ea typeface="Calibri" pitchFamily="34" charset="-122"/>
                <a:cs typeface="Calibri" pitchFamily="34" charset="-120"/>
              </a:rPr>
              <a:t>Golden rule: notifiability is decided by risk to the individuals, not by how inconvenient notification would be. And small counts within a defined clinical cohort — nine patients from the addiction service — are close to identifying, whatever anyone tells you about aggregate figures.</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8F6"/>
        </a:solidFill>
      </p:bgPr>
    </p:bg>
    <p:spTree>
      <p:nvGrpSpPr>
        <p:cNvPr id="1" name=""/>
        <p:cNvGrpSpPr/>
        <p:nvPr/>
      </p:nvGrpSpPr>
      <p:grpSpPr>
        <a:xfrm>
          <a:off x="0" y="0"/>
          <a:ext cx="0" cy="0"/>
          <a:chOff x="0" y="0"/>
          <a:chExt cx="0" cy="0"/>
        </a:xfrm>
      </p:grpSpPr>
      <p:sp>
        <p:nvSpPr>
          <p:cNvPr id="2" name="Shape 0"/>
          <p:cNvSpPr/>
          <p:nvPr/>
        </p:nvSpPr>
        <p:spPr>
          <a:xfrm>
            <a:off x="0" y="0"/>
            <a:ext cx="12191695" cy="1133856"/>
          </a:xfrm>
          <a:prstGeom prst="rect">
            <a:avLst/>
          </a:prstGeom>
          <a:solidFill>
            <a:srgbClr val="FFFFFF"/>
          </a:solidFill>
          <a:ln w="12700">
            <a:solidFill>
              <a:srgbClr val="FFFFFF"/>
            </a:solidFill>
            <a:prstDash val="solid"/>
          </a:ln>
        </p:spPr>
      </p:sp>
      <p:sp>
        <p:nvSpPr>
          <p:cNvPr id="3" name="Shape 1"/>
          <p:cNvSpPr/>
          <p:nvPr/>
        </p:nvSpPr>
        <p:spPr>
          <a:xfrm>
            <a:off x="0" y="1133856"/>
            <a:ext cx="12191695" cy="32004"/>
          </a:xfrm>
          <a:prstGeom prst="rect">
            <a:avLst/>
          </a:prstGeom>
          <a:solidFill>
            <a:srgbClr val="8C1515"/>
          </a:solidFill>
          <a:ln w="12700">
            <a:solidFill>
              <a:srgbClr val="8C1515"/>
            </a:solidFill>
            <a:prstDash val="solid"/>
          </a:ln>
        </p:spPr>
      </p:sp>
      <p:sp>
        <p:nvSpPr>
          <p:cNvPr id="4" name="Text 2"/>
          <p:cNvSpPr/>
          <p:nvPr/>
        </p:nvSpPr>
        <p:spPr>
          <a:xfrm>
            <a:off x="566928" y="201168"/>
            <a:ext cx="10972800" cy="274320"/>
          </a:xfrm>
          <a:prstGeom prst="rect">
            <a:avLst/>
          </a:prstGeom>
          <a:noFill/>
          <a:ln/>
        </p:spPr>
        <p:txBody>
          <a:bodyPr wrap="square" rtlCol="0" anchor="ctr"/>
          <a:lstStyle/>
          <a:p>
            <a:pPr indent="0" marL="0">
              <a:buNone/>
            </a:pPr>
            <a:r>
              <a:rPr lang="en-US" sz="1100" b="1" spc="140" kern="0" dirty="0">
                <a:solidFill>
                  <a:srgbClr val="8C1515"/>
                </a:solidFill>
                <a:latin typeface="Calibri" pitchFamily="34" charset="0"/>
                <a:ea typeface="Calibri" pitchFamily="34" charset="-122"/>
                <a:cs typeface="Calibri" pitchFamily="34" charset="-120"/>
              </a:rPr>
              <a:t>Practical 2 · assessment</a:t>
            </a:r>
            <a:endParaRPr lang="en-US" sz="1100" dirty="0"/>
          </a:p>
        </p:txBody>
      </p:sp>
      <p:sp>
        <p:nvSpPr>
          <p:cNvPr id="5" name="Text 3"/>
          <p:cNvSpPr/>
          <p:nvPr/>
        </p:nvSpPr>
        <p:spPr>
          <a:xfrm>
            <a:off x="566928" y="475488"/>
            <a:ext cx="11064240" cy="566928"/>
          </a:xfrm>
          <a:prstGeom prst="rect">
            <a:avLst/>
          </a:prstGeom>
          <a:noFill/>
          <a:ln/>
        </p:spPr>
        <p:txBody>
          <a:bodyPr wrap="square" rtlCol="0" anchor="ctr"/>
          <a:lstStyle/>
          <a:p>
            <a:pPr indent="0" marL="0">
              <a:buNone/>
            </a:pPr>
            <a:r>
              <a:rPr lang="en-US" sz="2600" b="1" dirty="0">
                <a:solidFill>
                  <a:srgbClr val="26221F"/>
                </a:solidFill>
                <a:latin typeface="Cambria" pitchFamily="34" charset="0"/>
                <a:ea typeface="Cambria" pitchFamily="34" charset="-122"/>
                <a:cs typeface="Cambria" pitchFamily="34" charset="-120"/>
              </a:rPr>
              <a:t>How the 100 marks are awarded</a:t>
            </a:r>
            <a:endParaRPr lang="en-US" sz="2600" dirty="0"/>
          </a:p>
        </p:txBody>
      </p:sp>
      <p:sp>
        <p:nvSpPr>
          <p:cNvPr id="6" name="Shape 4"/>
          <p:cNvSpPr/>
          <p:nvPr/>
        </p:nvSpPr>
        <p:spPr>
          <a:xfrm>
            <a:off x="0" y="6473952"/>
            <a:ext cx="12191695" cy="384048"/>
          </a:xfrm>
          <a:prstGeom prst="rect">
            <a:avLst/>
          </a:prstGeom>
          <a:solidFill>
            <a:srgbClr val="FAF8F6"/>
          </a:solidFill>
          <a:ln w="12700">
            <a:solidFill>
              <a:srgbClr val="FAF8F6"/>
            </a:solidFill>
            <a:prstDash val="solid"/>
          </a:ln>
        </p:spPr>
      </p:sp>
      <p:sp>
        <p:nvSpPr>
          <p:cNvPr id="7" name="Text 5"/>
          <p:cNvSpPr/>
          <p:nvPr/>
        </p:nvSpPr>
        <p:spPr>
          <a:xfrm>
            <a:off x="457200" y="6492240"/>
            <a:ext cx="8229600" cy="310896"/>
          </a:xfrm>
          <a:prstGeom prst="rect">
            <a:avLst/>
          </a:prstGeom>
          <a:noFill/>
          <a:ln/>
        </p:spPr>
        <p:txBody>
          <a:bodyPr wrap="square" rtlCol="0" anchor="ctr"/>
          <a:lstStyle/>
          <a:p>
            <a:pPr indent="0" marL="0">
              <a:buNone/>
            </a:pPr>
            <a:r>
              <a:rPr lang="en-US" sz="1000" dirty="0">
                <a:solidFill>
                  <a:srgbClr val="6E6A63"/>
                </a:solidFill>
                <a:latin typeface="Calibri" pitchFamily="34" charset="0"/>
                <a:ea typeface="Calibri" pitchFamily="34" charset="-122"/>
                <a:cs typeface="Calibri" pitchFamily="34" charset="-120"/>
              </a:rPr>
              <a:t>ALIZON OS · Pharmacy AI · Module 1 — AI Foundations &amp; Digital Systems</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822960" y="1600200"/>
          <a:ext cx="10515600" cy="914400"/>
        </p:xfrm>
        <a:graphic>
          <a:graphicData uri="http://schemas.openxmlformats.org/drawingml/2006/table">
            <a:tbl>
              <a:tblPr/>
              <a:tblGrid>
                <a:gridCol w="8412480"/>
                <a:gridCol w="2103120"/>
              </a:tblGrid>
              <a:tr h="0">
                <a:tc>
                  <a:txBody>
                    <a:bodyPr/>
                    <a:lstStyle/>
                    <a:p>
                      <a:pPr indent="0" marL="0">
                        <a:buNone/>
                      </a:pPr>
                      <a:r>
                        <a:rPr lang="en-US" sz="1450" b="1" dirty="0">
                          <a:solidFill>
                            <a:srgbClr val="26221F"/>
                          </a:solidFill>
                          <a:latin typeface="Calibri" pitchFamily="34" charset="0"/>
                          <a:ea typeface="Calibri" pitchFamily="34" charset="-122"/>
                          <a:cs typeface="Calibri" pitchFamily="34" charset="-120"/>
                        </a:rPr>
                        <a:t>Assessment criterion</a:t>
                      </a:r>
                      <a:endParaRPr lang="en-US" sz="14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solidFill>
                      <a:srgbClr val="EFE7E1"/>
                    </a:solidFill>
                  </a:tcPr>
                </a:tc>
                <a:tc>
                  <a:txBody>
                    <a:bodyPr/>
                    <a:lstStyle/>
                    <a:p>
                      <a:pPr algn="r" indent="0" marL="0">
                        <a:buNone/>
                      </a:pPr>
                      <a:r>
                        <a:rPr lang="en-US" sz="1450" b="1" dirty="0">
                          <a:solidFill>
                            <a:srgbClr val="26221F"/>
                          </a:solidFill>
                          <a:latin typeface="Calibri" pitchFamily="34" charset="0"/>
                          <a:ea typeface="Calibri" pitchFamily="34" charset="-122"/>
                          <a:cs typeface="Calibri" pitchFamily="34" charset="-120"/>
                        </a:rPr>
                        <a:t>Marks</a:t>
                      </a:r>
                      <a:endParaRPr lang="en-US" sz="14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solidFill>
                      <a:srgbClr val="EFE7E1"/>
                    </a:solidFill>
                  </a:tcPr>
                </a:tc>
              </a:tr>
              <a:tr h="0">
                <a:tc>
                  <a:txBody>
                    <a:bodyPr/>
                    <a:lstStyle/>
                    <a:p>
                      <a:pPr indent="0" marL="0">
                        <a:buNone/>
                      </a:pPr>
                      <a:r>
                        <a:rPr lang="en-US" sz="1450" dirty="0">
                          <a:solidFill>
                            <a:srgbClr val="26221F"/>
                          </a:solidFill>
                          <a:latin typeface="Calibri" pitchFamily="34" charset="0"/>
                          <a:ea typeface="Calibri" pitchFamily="34" charset="-122"/>
                          <a:cs typeface="Calibri" pitchFamily="34" charset="-120"/>
                        </a:rPr>
                        <a:t>Immediate containment</a:t>
                      </a:r>
                      <a:endParaRPr lang="en-US" sz="14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algn="r" indent="0" marL="0">
                        <a:buNone/>
                      </a:pPr>
                      <a:r>
                        <a:rPr lang="en-US" sz="1450" dirty="0">
                          <a:solidFill>
                            <a:srgbClr val="26221F"/>
                          </a:solidFill>
                          <a:latin typeface="Calibri" pitchFamily="34" charset="0"/>
                          <a:ea typeface="Calibri" pitchFamily="34" charset="-122"/>
                          <a:cs typeface="Calibri" pitchFamily="34" charset="-120"/>
                        </a:rPr>
                        <a:t>25</a:t>
                      </a:r>
                      <a:endParaRPr lang="en-US" sz="14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r h="0">
                <a:tc>
                  <a:txBody>
                    <a:bodyPr/>
                    <a:lstStyle/>
                    <a:p>
                      <a:pPr indent="0" marL="0">
                        <a:buNone/>
                      </a:pPr>
                      <a:r>
                        <a:rPr lang="en-US" sz="1450" dirty="0">
                          <a:solidFill>
                            <a:srgbClr val="26221F"/>
                          </a:solidFill>
                          <a:latin typeface="Calibri" pitchFamily="34" charset="0"/>
                          <a:ea typeface="Calibri" pitchFamily="34" charset="-122"/>
                          <a:cs typeface="Calibri" pitchFamily="34" charset="-120"/>
                        </a:rPr>
                        <a:t>Scope and risk assessment</a:t>
                      </a:r>
                      <a:endParaRPr lang="en-US" sz="14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algn="r" indent="0" marL="0">
                        <a:buNone/>
                      </a:pPr>
                      <a:r>
                        <a:rPr lang="en-US" sz="1450" dirty="0">
                          <a:solidFill>
                            <a:srgbClr val="26221F"/>
                          </a:solidFill>
                          <a:latin typeface="Calibri" pitchFamily="34" charset="0"/>
                          <a:ea typeface="Calibri" pitchFamily="34" charset="-122"/>
                          <a:cs typeface="Calibri" pitchFamily="34" charset="-120"/>
                        </a:rPr>
                        <a:t>15</a:t>
                      </a:r>
                      <a:endParaRPr lang="en-US" sz="14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r h="0">
                <a:tc>
                  <a:txBody>
                    <a:bodyPr/>
                    <a:lstStyle/>
                    <a:p>
                      <a:pPr indent="0" marL="0">
                        <a:buNone/>
                      </a:pPr>
                      <a:r>
                        <a:rPr lang="en-US" sz="1450" dirty="0">
                          <a:solidFill>
                            <a:srgbClr val="26221F"/>
                          </a:solidFill>
                          <a:latin typeface="Calibri" pitchFamily="34" charset="0"/>
                          <a:ea typeface="Calibri" pitchFamily="34" charset="-122"/>
                          <a:cs typeface="Calibri" pitchFamily="34" charset="-120"/>
                        </a:rPr>
                        <a:t>Notifiability decision</a:t>
                      </a:r>
                      <a:endParaRPr lang="en-US" sz="14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algn="r" indent="0" marL="0">
                        <a:buNone/>
                      </a:pPr>
                      <a:r>
                        <a:rPr lang="en-US" sz="1450" dirty="0">
                          <a:solidFill>
                            <a:srgbClr val="26221F"/>
                          </a:solidFill>
                          <a:latin typeface="Calibri" pitchFamily="34" charset="0"/>
                          <a:ea typeface="Calibri" pitchFamily="34" charset="-122"/>
                          <a:cs typeface="Calibri" pitchFamily="34" charset="-120"/>
                        </a:rPr>
                        <a:t>20</a:t>
                      </a:r>
                      <a:endParaRPr lang="en-US" sz="14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r h="0">
                <a:tc>
                  <a:txBody>
                    <a:bodyPr/>
                    <a:lstStyle/>
                    <a:p>
                      <a:pPr indent="0" marL="0">
                        <a:buNone/>
                      </a:pPr>
                      <a:r>
                        <a:rPr lang="en-US" sz="1450" dirty="0">
                          <a:solidFill>
                            <a:srgbClr val="26221F"/>
                          </a:solidFill>
                          <a:latin typeface="Calibri" pitchFamily="34" charset="0"/>
                          <a:ea typeface="Calibri" pitchFamily="34" charset="-122"/>
                          <a:cs typeface="Calibri" pitchFamily="34" charset="-120"/>
                        </a:rPr>
                        <a:t>Handling the subject access request</a:t>
                      </a:r>
                      <a:endParaRPr lang="en-US" sz="14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algn="r" indent="0" marL="0">
                        <a:buNone/>
                      </a:pPr>
                      <a:r>
                        <a:rPr lang="en-US" sz="1450" dirty="0">
                          <a:solidFill>
                            <a:srgbClr val="26221F"/>
                          </a:solidFill>
                          <a:latin typeface="Calibri" pitchFamily="34" charset="0"/>
                          <a:ea typeface="Calibri" pitchFamily="34" charset="-122"/>
                          <a:cs typeface="Calibri" pitchFamily="34" charset="-120"/>
                        </a:rPr>
                        <a:t>15</a:t>
                      </a:r>
                      <a:endParaRPr lang="en-US" sz="14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r h="0">
                <a:tc>
                  <a:txBody>
                    <a:bodyPr/>
                    <a:lstStyle/>
                    <a:p>
                      <a:pPr indent="0" marL="0">
                        <a:buNone/>
                      </a:pPr>
                      <a:r>
                        <a:rPr lang="en-US" sz="1450" dirty="0">
                          <a:solidFill>
                            <a:srgbClr val="26221F"/>
                          </a:solidFill>
                          <a:latin typeface="Calibri" pitchFamily="34" charset="0"/>
                          <a:ea typeface="Calibri" pitchFamily="34" charset="-122"/>
                          <a:cs typeface="Calibri" pitchFamily="34" charset="-120"/>
                        </a:rPr>
                        <a:t>Refusing improper disclosure</a:t>
                      </a:r>
                      <a:endParaRPr lang="en-US" sz="14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algn="r" indent="0" marL="0">
                        <a:buNone/>
                      </a:pPr>
                      <a:r>
                        <a:rPr lang="en-US" sz="1450" dirty="0">
                          <a:solidFill>
                            <a:srgbClr val="26221F"/>
                          </a:solidFill>
                          <a:latin typeface="Calibri" pitchFamily="34" charset="0"/>
                          <a:ea typeface="Calibri" pitchFamily="34" charset="-122"/>
                          <a:cs typeface="Calibri" pitchFamily="34" charset="-120"/>
                        </a:rPr>
                        <a:t>15</a:t>
                      </a:r>
                      <a:endParaRPr lang="en-US" sz="14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r h="0">
                <a:tc>
                  <a:txBody>
                    <a:bodyPr/>
                    <a:lstStyle/>
                    <a:p>
                      <a:pPr indent="0" marL="0">
                        <a:buNone/>
                      </a:pPr>
                      <a:r>
                        <a:rPr lang="en-US" sz="1450" dirty="0">
                          <a:solidFill>
                            <a:srgbClr val="26221F"/>
                          </a:solidFill>
                          <a:latin typeface="Calibri" pitchFamily="34" charset="0"/>
                          <a:ea typeface="Calibri" pitchFamily="34" charset="-122"/>
                          <a:cs typeface="Calibri" pitchFamily="34" charset="-120"/>
                        </a:rPr>
                        <a:t>Preventive action</a:t>
                      </a:r>
                      <a:endParaRPr lang="en-US" sz="14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algn="r" indent="0" marL="0">
                        <a:buNone/>
                      </a:pPr>
                      <a:r>
                        <a:rPr lang="en-US" sz="1450" dirty="0">
                          <a:solidFill>
                            <a:srgbClr val="26221F"/>
                          </a:solidFill>
                          <a:latin typeface="Calibri" pitchFamily="34" charset="0"/>
                          <a:ea typeface="Calibri" pitchFamily="34" charset="-122"/>
                          <a:cs typeface="Calibri" pitchFamily="34" charset="-120"/>
                        </a:rPr>
                        <a:t>10</a:t>
                      </a:r>
                      <a:endParaRPr lang="en-US" sz="14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r h="0">
                <a:tc>
                  <a:txBody>
                    <a:bodyPr/>
                    <a:lstStyle/>
                    <a:p>
                      <a:pPr indent="0" marL="0">
                        <a:buNone/>
                      </a:pPr>
                      <a:r>
                        <a:rPr lang="en-US" sz="1450" b="1" dirty="0">
                          <a:solidFill>
                            <a:srgbClr val="26221F"/>
                          </a:solidFill>
                          <a:latin typeface="Calibri" pitchFamily="34" charset="0"/>
                          <a:ea typeface="Calibri" pitchFamily="34" charset="-122"/>
                          <a:cs typeface="Calibri" pitchFamily="34" charset="-120"/>
                        </a:rPr>
                        <a:t>Total</a:t>
                      </a:r>
                      <a:endParaRPr lang="en-US" sz="14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algn="r" indent="0" marL="0">
                        <a:buNone/>
                      </a:pPr>
                      <a:r>
                        <a:rPr lang="en-US" sz="1450" b="1" dirty="0">
                          <a:solidFill>
                            <a:srgbClr val="26221F"/>
                          </a:solidFill>
                          <a:latin typeface="Calibri" pitchFamily="34" charset="0"/>
                          <a:ea typeface="Calibri" pitchFamily="34" charset="-122"/>
                          <a:cs typeface="Calibri" pitchFamily="34" charset="-120"/>
                        </a:rPr>
                        <a:t>100</a:t>
                      </a:r>
                      <a:endParaRPr lang="en-US" sz="14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bl>
          </a:graphicData>
        </a:graphic>
      </p:graphicFrame>
      <p:sp>
        <p:nvSpPr>
          <p:cNvPr id="9" name="Shape 6"/>
          <p:cNvSpPr/>
          <p:nvPr/>
        </p:nvSpPr>
        <p:spPr>
          <a:xfrm>
            <a:off x="685800" y="5532120"/>
            <a:ext cx="10881360" cy="749808"/>
          </a:xfrm>
          <a:prstGeom prst="rect">
            <a:avLst/>
          </a:prstGeom>
          <a:solidFill>
            <a:srgbClr val="F7EFEF"/>
          </a:solidFill>
          <a:ln w="12700">
            <a:solidFill>
              <a:srgbClr val="E7CFCF"/>
            </a:solidFill>
            <a:prstDash val="solid"/>
          </a:ln>
        </p:spPr>
      </p:sp>
      <p:sp>
        <p:nvSpPr>
          <p:cNvPr id="10" name="Shape 7"/>
          <p:cNvSpPr/>
          <p:nvPr/>
        </p:nvSpPr>
        <p:spPr>
          <a:xfrm>
            <a:off x="685800" y="5532120"/>
            <a:ext cx="50292" cy="749808"/>
          </a:xfrm>
          <a:prstGeom prst="rect">
            <a:avLst/>
          </a:prstGeom>
          <a:solidFill>
            <a:srgbClr val="8C1515"/>
          </a:solidFill>
          <a:ln w="12700">
            <a:solidFill>
              <a:srgbClr val="8C1515"/>
            </a:solidFill>
            <a:prstDash val="solid"/>
          </a:ln>
        </p:spPr>
      </p:sp>
      <p:sp>
        <p:nvSpPr>
          <p:cNvPr id="11" name="Text 8"/>
          <p:cNvSpPr/>
          <p:nvPr/>
        </p:nvSpPr>
        <p:spPr>
          <a:xfrm>
            <a:off x="868680" y="5586984"/>
            <a:ext cx="10515600" cy="640080"/>
          </a:xfrm>
          <a:prstGeom prst="rect">
            <a:avLst/>
          </a:prstGeom>
          <a:noFill/>
          <a:ln/>
        </p:spPr>
        <p:txBody>
          <a:bodyPr wrap="square" rtlCol="0" anchor="ctr"/>
          <a:lstStyle/>
          <a:p>
            <a:pPr indent="0" marL="0">
              <a:buNone/>
            </a:pPr>
            <a:r>
              <a:rPr lang="en-US" sz="1250" dirty="0">
                <a:solidFill>
                  <a:srgbClr val="26221F"/>
                </a:solidFill>
                <a:latin typeface="Calibri" pitchFamily="34" charset="0"/>
                <a:ea typeface="Calibri" pitchFamily="34" charset="-122"/>
                <a:cs typeface="Calibri" pitchFamily="34" charset="-120"/>
              </a:rPr>
              <a:t>The rubric is on screen while you work. Containment carries the most marks, and preventive action — the smallest — is the only one that stops it recurring.</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8F6"/>
        </a:solidFill>
      </p:bgPr>
    </p:bg>
    <p:spTree>
      <p:nvGrpSpPr>
        <p:cNvPr id="1" name=""/>
        <p:cNvGrpSpPr/>
        <p:nvPr/>
      </p:nvGrpSpPr>
      <p:grpSpPr>
        <a:xfrm>
          <a:off x="0" y="0"/>
          <a:ext cx="0" cy="0"/>
          <a:chOff x="0" y="0"/>
          <a:chExt cx="0" cy="0"/>
        </a:xfrm>
      </p:grpSpPr>
      <p:sp>
        <p:nvSpPr>
          <p:cNvPr id="2" name="Shape 0"/>
          <p:cNvSpPr/>
          <p:nvPr/>
        </p:nvSpPr>
        <p:spPr>
          <a:xfrm>
            <a:off x="0" y="0"/>
            <a:ext cx="12191695" cy="1133856"/>
          </a:xfrm>
          <a:prstGeom prst="rect">
            <a:avLst/>
          </a:prstGeom>
          <a:solidFill>
            <a:srgbClr val="FFFFFF"/>
          </a:solidFill>
          <a:ln w="12700">
            <a:solidFill>
              <a:srgbClr val="FFFFFF"/>
            </a:solidFill>
            <a:prstDash val="solid"/>
          </a:ln>
        </p:spPr>
      </p:sp>
      <p:sp>
        <p:nvSpPr>
          <p:cNvPr id="3" name="Shape 1"/>
          <p:cNvSpPr/>
          <p:nvPr/>
        </p:nvSpPr>
        <p:spPr>
          <a:xfrm>
            <a:off x="0" y="1133856"/>
            <a:ext cx="12191695" cy="32004"/>
          </a:xfrm>
          <a:prstGeom prst="rect">
            <a:avLst/>
          </a:prstGeom>
          <a:solidFill>
            <a:srgbClr val="8C1515"/>
          </a:solidFill>
          <a:ln w="12700">
            <a:solidFill>
              <a:srgbClr val="8C1515"/>
            </a:solidFill>
            <a:prstDash val="solid"/>
          </a:ln>
        </p:spPr>
      </p:sp>
      <p:sp>
        <p:nvSpPr>
          <p:cNvPr id="4" name="Text 2"/>
          <p:cNvSpPr/>
          <p:nvPr/>
        </p:nvSpPr>
        <p:spPr>
          <a:xfrm>
            <a:off x="566928" y="201168"/>
            <a:ext cx="10972800" cy="274320"/>
          </a:xfrm>
          <a:prstGeom prst="rect">
            <a:avLst/>
          </a:prstGeom>
          <a:noFill/>
          <a:ln/>
        </p:spPr>
        <p:txBody>
          <a:bodyPr wrap="square" rtlCol="0" anchor="ctr"/>
          <a:lstStyle/>
          <a:p>
            <a:pPr indent="0" marL="0">
              <a:buNone/>
            </a:pPr>
            <a:r>
              <a:rPr lang="en-US" sz="1100" b="1" spc="140" kern="0" dirty="0">
                <a:solidFill>
                  <a:srgbClr val="8C1515"/>
                </a:solidFill>
                <a:latin typeface="Calibri" pitchFamily="34" charset="0"/>
                <a:ea typeface="Calibri" pitchFamily="34" charset="-122"/>
                <a:cs typeface="Calibri" pitchFamily="34" charset="-120"/>
              </a:rPr>
              <a:t>Practical 2 · teaching notes</a:t>
            </a:r>
            <a:endParaRPr lang="en-US" sz="1100" dirty="0"/>
          </a:p>
        </p:txBody>
      </p:sp>
      <p:sp>
        <p:nvSpPr>
          <p:cNvPr id="5" name="Text 3"/>
          <p:cNvSpPr/>
          <p:nvPr/>
        </p:nvSpPr>
        <p:spPr>
          <a:xfrm>
            <a:off x="566928" y="475488"/>
            <a:ext cx="11064240" cy="566928"/>
          </a:xfrm>
          <a:prstGeom prst="rect">
            <a:avLst/>
          </a:prstGeom>
          <a:noFill/>
          <a:ln/>
        </p:spPr>
        <p:txBody>
          <a:bodyPr wrap="square" rtlCol="0" anchor="ctr"/>
          <a:lstStyle/>
          <a:p>
            <a:pPr indent="0" marL="0">
              <a:buNone/>
            </a:pPr>
            <a:r>
              <a:rPr lang="en-US" sz="2600" b="1" dirty="0">
                <a:solidFill>
                  <a:srgbClr val="26221F"/>
                </a:solidFill>
                <a:latin typeface="Cambria" pitchFamily="34" charset="0"/>
                <a:ea typeface="Cambria" pitchFamily="34" charset="-122"/>
                <a:cs typeface="Cambria" pitchFamily="34" charset="-120"/>
              </a:rPr>
              <a:t>What to draw out in class</a:t>
            </a:r>
            <a:endParaRPr lang="en-US" sz="2600" dirty="0"/>
          </a:p>
        </p:txBody>
      </p:sp>
      <p:sp>
        <p:nvSpPr>
          <p:cNvPr id="6" name="Shape 4"/>
          <p:cNvSpPr/>
          <p:nvPr/>
        </p:nvSpPr>
        <p:spPr>
          <a:xfrm>
            <a:off x="0" y="6473952"/>
            <a:ext cx="12191695" cy="384048"/>
          </a:xfrm>
          <a:prstGeom prst="rect">
            <a:avLst/>
          </a:prstGeom>
          <a:solidFill>
            <a:srgbClr val="FAF8F6"/>
          </a:solidFill>
          <a:ln w="12700">
            <a:solidFill>
              <a:srgbClr val="FAF8F6"/>
            </a:solidFill>
            <a:prstDash val="solid"/>
          </a:ln>
        </p:spPr>
      </p:sp>
      <p:sp>
        <p:nvSpPr>
          <p:cNvPr id="7" name="Text 5"/>
          <p:cNvSpPr/>
          <p:nvPr/>
        </p:nvSpPr>
        <p:spPr>
          <a:xfrm>
            <a:off x="457200" y="6492240"/>
            <a:ext cx="8229600" cy="310896"/>
          </a:xfrm>
          <a:prstGeom prst="rect">
            <a:avLst/>
          </a:prstGeom>
          <a:noFill/>
          <a:ln/>
        </p:spPr>
        <p:txBody>
          <a:bodyPr wrap="square" rtlCol="0" anchor="ctr"/>
          <a:lstStyle/>
          <a:p>
            <a:pPr indent="0" marL="0">
              <a:buNone/>
            </a:pPr>
            <a:r>
              <a:rPr lang="en-US" sz="1000" dirty="0">
                <a:solidFill>
                  <a:srgbClr val="6E6A63"/>
                </a:solidFill>
                <a:latin typeface="Calibri" pitchFamily="34" charset="0"/>
                <a:ea typeface="Calibri" pitchFamily="34" charset="-122"/>
                <a:cs typeface="Calibri" pitchFamily="34" charset="-120"/>
              </a:rPr>
              <a:t>ALIZON OS · Pharmacy AI · Module 1 — AI Foundations &amp; Digital Systems</a:t>
            </a:r>
            <a:endParaRPr lang="en-US" sz="1000" dirty="0"/>
          </a:p>
        </p:txBody>
      </p:sp>
      <p:sp>
        <p:nvSpPr>
          <p:cNvPr id="8" name="Text 6"/>
          <p:cNvSpPr/>
          <p:nvPr/>
        </p:nvSpPr>
        <p:spPr>
          <a:xfrm>
            <a:off x="685800" y="1517904"/>
            <a:ext cx="10881360" cy="4572000"/>
          </a:xfrm>
          <a:prstGeom prst="rect">
            <a:avLst/>
          </a:prstGeom>
          <a:noFill/>
          <a:ln/>
        </p:spPr>
        <p:txBody>
          <a:bodyPr wrap="square" rtlCol="0" anchor="t"/>
          <a:lstStyle/>
          <a:p>
            <a:pPr marL="342900" indent="-342900">
              <a:lnSpc>
                <a:spcPct val="122000"/>
              </a:lnSpc>
              <a:buSzPct val="100000"/>
              <a:buChar char="•"/>
            </a:pPr>
            <a:r>
              <a:rPr lang="en-US" sz="1450" dirty="0">
                <a:solidFill>
                  <a:srgbClr val="26221F"/>
                </a:solidFill>
                <a:latin typeface="Calibri" pitchFamily="34" charset="0"/>
                <a:ea typeface="Calibri" pitchFamily="34" charset="-122"/>
                <a:cs typeface="Calibri" pitchFamily="34" charset="-120"/>
              </a:rPr>
              <a:t>Containment carries the most marks (25) and it is an ordered task: secure what you control before chasing what you do not.</a:t>
            </a:r>
            <a:endParaRPr lang="en-US" sz="1450" dirty="0"/>
          </a:p>
          <a:p>
            <a:pPr marL="342900" indent="-342900">
              <a:lnSpc>
                <a:spcPct val="122000"/>
              </a:lnSpc>
              <a:buSzPct val="100000"/>
              <a:buChar char="•"/>
            </a:pPr>
            <a:r>
              <a:rPr lang="en-US" sz="1450" dirty="0">
                <a:solidFill>
                  <a:srgbClr val="26221F"/>
                </a:solidFill>
                <a:latin typeface="Calibri" pitchFamily="34" charset="0"/>
                <a:ea typeface="Calibri" pitchFamily="34" charset="-122"/>
                <a:cs typeface="Calibri" pitchFamily="34" charset="-120"/>
              </a:rPr>
              <a:t>Notifiability is a threshold decision, not a reflex. Students must say what made it notifiable — or defensibly why it was not.</a:t>
            </a:r>
            <a:endParaRPr lang="en-US" sz="1450" dirty="0"/>
          </a:p>
          <a:p>
            <a:pPr marL="342900" indent="-342900">
              <a:lnSpc>
                <a:spcPct val="122000"/>
              </a:lnSpc>
              <a:buSzPct val="100000"/>
              <a:buChar char="•"/>
            </a:pPr>
            <a:r>
              <a:rPr lang="en-US" sz="1450" dirty="0">
                <a:solidFill>
                  <a:srgbClr val="26221F"/>
                </a:solidFill>
                <a:latin typeface="Calibri" pitchFamily="34" charset="0"/>
                <a:ea typeface="Calibri" pitchFamily="34" charset="-122"/>
                <a:cs typeface="Calibri" pitchFamily="34" charset="-120"/>
              </a:rPr>
              <a:t>The access request and the improper-disclosure pressure arrive WHILE the incident is live. Handling pressure under time is the skill being assessed.</a:t>
            </a:r>
            <a:endParaRPr lang="en-US" sz="1450" dirty="0"/>
          </a:p>
          <a:p>
            <a:pPr marL="342900" indent="-342900">
              <a:lnSpc>
                <a:spcPct val="122000"/>
              </a:lnSpc>
              <a:buSzPct val="100000"/>
              <a:buChar char="•"/>
            </a:pPr>
            <a:r>
              <a:rPr lang="en-US" sz="1450" dirty="0">
                <a:solidFill>
                  <a:srgbClr val="26221F"/>
                </a:solidFill>
                <a:latin typeface="Calibri" pitchFamily="34" charset="0"/>
                <a:ea typeface="Calibri" pitchFamily="34" charset="-122"/>
                <a:cs typeface="Calibri" pitchFamily="34" charset="-120"/>
              </a:rPr>
              <a:t>Preventive action is the smallest weight and the only one that stops it happening again. Do not let them skip it because the clock is running.</a:t>
            </a:r>
            <a:endParaRPr lang="en-US" sz="14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8F6"/>
        </a:solidFill>
      </p:bgPr>
    </p:bg>
    <p:spTree>
      <p:nvGrpSpPr>
        <p:cNvPr id="1" name=""/>
        <p:cNvGrpSpPr/>
        <p:nvPr/>
      </p:nvGrpSpPr>
      <p:grpSpPr>
        <a:xfrm>
          <a:off x="0" y="0"/>
          <a:ext cx="0" cy="0"/>
          <a:chOff x="0" y="0"/>
          <a:chExt cx="0" cy="0"/>
        </a:xfrm>
      </p:grpSpPr>
      <p:sp>
        <p:nvSpPr>
          <p:cNvPr id="2" name="Shape 0"/>
          <p:cNvSpPr/>
          <p:nvPr/>
        </p:nvSpPr>
        <p:spPr>
          <a:xfrm>
            <a:off x="0" y="0"/>
            <a:ext cx="12191695" cy="1133856"/>
          </a:xfrm>
          <a:prstGeom prst="rect">
            <a:avLst/>
          </a:prstGeom>
          <a:solidFill>
            <a:srgbClr val="FFFFFF"/>
          </a:solidFill>
          <a:ln w="12700">
            <a:solidFill>
              <a:srgbClr val="FFFFFF"/>
            </a:solidFill>
            <a:prstDash val="solid"/>
          </a:ln>
        </p:spPr>
      </p:sp>
      <p:sp>
        <p:nvSpPr>
          <p:cNvPr id="3" name="Shape 1"/>
          <p:cNvSpPr/>
          <p:nvPr/>
        </p:nvSpPr>
        <p:spPr>
          <a:xfrm>
            <a:off x="0" y="1133856"/>
            <a:ext cx="12191695" cy="32004"/>
          </a:xfrm>
          <a:prstGeom prst="rect">
            <a:avLst/>
          </a:prstGeom>
          <a:solidFill>
            <a:srgbClr val="8C1515"/>
          </a:solidFill>
          <a:ln w="12700">
            <a:solidFill>
              <a:srgbClr val="8C1515"/>
            </a:solidFill>
            <a:prstDash val="solid"/>
          </a:ln>
        </p:spPr>
      </p:sp>
      <p:sp>
        <p:nvSpPr>
          <p:cNvPr id="4" name="Text 2"/>
          <p:cNvSpPr/>
          <p:nvPr/>
        </p:nvSpPr>
        <p:spPr>
          <a:xfrm>
            <a:off x="566928" y="201168"/>
            <a:ext cx="10972800" cy="274320"/>
          </a:xfrm>
          <a:prstGeom prst="rect">
            <a:avLst/>
          </a:prstGeom>
          <a:noFill/>
          <a:ln/>
        </p:spPr>
        <p:txBody>
          <a:bodyPr wrap="square" rtlCol="0" anchor="ctr"/>
          <a:lstStyle/>
          <a:p>
            <a:pPr indent="0" marL="0">
              <a:buNone/>
            </a:pPr>
            <a:r>
              <a:rPr lang="en-US" sz="1100" b="1" spc="140" kern="0" dirty="0">
                <a:solidFill>
                  <a:srgbClr val="8C1515"/>
                </a:solidFill>
                <a:latin typeface="Calibri" pitchFamily="34" charset="0"/>
                <a:ea typeface="Calibri" pitchFamily="34" charset="-122"/>
                <a:cs typeface="Calibri" pitchFamily="34" charset="-120"/>
              </a:rPr>
              <a:t>Delivery</a:t>
            </a:r>
            <a:endParaRPr lang="en-US" sz="1100" dirty="0"/>
          </a:p>
        </p:txBody>
      </p:sp>
      <p:sp>
        <p:nvSpPr>
          <p:cNvPr id="5" name="Text 3"/>
          <p:cNvSpPr/>
          <p:nvPr/>
        </p:nvSpPr>
        <p:spPr>
          <a:xfrm>
            <a:off x="566928" y="475488"/>
            <a:ext cx="11064240" cy="566928"/>
          </a:xfrm>
          <a:prstGeom prst="rect">
            <a:avLst/>
          </a:prstGeom>
          <a:noFill/>
          <a:ln/>
        </p:spPr>
        <p:txBody>
          <a:bodyPr wrap="square" rtlCol="0" anchor="ctr"/>
          <a:lstStyle/>
          <a:p>
            <a:pPr indent="0" marL="0">
              <a:buNone/>
            </a:pPr>
            <a:r>
              <a:rPr lang="en-US" sz="2600" b="1" dirty="0">
                <a:solidFill>
                  <a:srgbClr val="26221F"/>
                </a:solidFill>
                <a:latin typeface="Cambria" pitchFamily="34" charset="0"/>
                <a:ea typeface="Cambria" pitchFamily="34" charset="-122"/>
                <a:cs typeface="Cambria" pitchFamily="34" charset="-120"/>
              </a:rPr>
              <a:t>Running the session</a:t>
            </a:r>
            <a:endParaRPr lang="en-US" sz="2600" dirty="0"/>
          </a:p>
        </p:txBody>
      </p:sp>
      <p:sp>
        <p:nvSpPr>
          <p:cNvPr id="6" name="Shape 4"/>
          <p:cNvSpPr/>
          <p:nvPr/>
        </p:nvSpPr>
        <p:spPr>
          <a:xfrm>
            <a:off x="0" y="6473952"/>
            <a:ext cx="12191695" cy="384048"/>
          </a:xfrm>
          <a:prstGeom prst="rect">
            <a:avLst/>
          </a:prstGeom>
          <a:solidFill>
            <a:srgbClr val="FAF8F6"/>
          </a:solidFill>
          <a:ln w="12700">
            <a:solidFill>
              <a:srgbClr val="FAF8F6"/>
            </a:solidFill>
            <a:prstDash val="solid"/>
          </a:ln>
        </p:spPr>
      </p:sp>
      <p:sp>
        <p:nvSpPr>
          <p:cNvPr id="7" name="Text 5"/>
          <p:cNvSpPr/>
          <p:nvPr/>
        </p:nvSpPr>
        <p:spPr>
          <a:xfrm>
            <a:off x="457200" y="6492240"/>
            <a:ext cx="8229600" cy="310896"/>
          </a:xfrm>
          <a:prstGeom prst="rect">
            <a:avLst/>
          </a:prstGeom>
          <a:noFill/>
          <a:ln/>
        </p:spPr>
        <p:txBody>
          <a:bodyPr wrap="square" rtlCol="0" anchor="ctr"/>
          <a:lstStyle/>
          <a:p>
            <a:pPr indent="0" marL="0">
              <a:buNone/>
            </a:pPr>
            <a:r>
              <a:rPr lang="en-US" sz="1000" dirty="0">
                <a:solidFill>
                  <a:srgbClr val="6E6A63"/>
                </a:solidFill>
                <a:latin typeface="Calibri" pitchFamily="34" charset="0"/>
                <a:ea typeface="Calibri" pitchFamily="34" charset="-122"/>
                <a:cs typeface="Calibri" pitchFamily="34" charset="-120"/>
              </a:rPr>
              <a:t>ALIZON OS · Pharmacy AI · Module 1 — AI Foundations &amp; Digital Systems</a:t>
            </a:r>
            <a:endParaRPr lang="en-US" sz="1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822960" y="1600200"/>
          <a:ext cx="10515600" cy="914400"/>
        </p:xfrm>
        <a:graphic>
          <a:graphicData uri="http://schemas.openxmlformats.org/drawingml/2006/table">
            <a:tbl>
              <a:tblPr/>
              <a:tblGrid>
                <a:gridCol w="2377440"/>
                <a:gridCol w="6766560"/>
                <a:gridCol w="1371600"/>
              </a:tblGrid>
              <a:tr h="0">
                <a:tc>
                  <a:txBody>
                    <a:bodyPr/>
                    <a:lstStyle/>
                    <a:p>
                      <a:pPr indent="0" marL="0">
                        <a:buNone/>
                      </a:pPr>
                      <a:r>
                        <a:rPr lang="en-US" sz="1350" b="1" dirty="0">
                          <a:solidFill>
                            <a:srgbClr val="26221F"/>
                          </a:solidFill>
                          <a:latin typeface="Calibri" pitchFamily="34" charset="0"/>
                          <a:ea typeface="Calibri" pitchFamily="34" charset="-122"/>
                          <a:cs typeface="Calibri" pitchFamily="34" charset="-120"/>
                        </a:rPr>
                        <a:t>Stage</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solidFill>
                      <a:srgbClr val="EFE7E1"/>
                    </a:solidFill>
                  </a:tcPr>
                </a:tc>
                <a:tc>
                  <a:txBody>
                    <a:bodyPr/>
                    <a:lstStyle/>
                    <a:p>
                      <a:pPr indent="0" marL="0">
                        <a:buNone/>
                      </a:pPr>
                      <a:r>
                        <a:rPr lang="en-US" sz="1350" b="1" dirty="0">
                          <a:solidFill>
                            <a:srgbClr val="26221F"/>
                          </a:solidFill>
                          <a:latin typeface="Calibri" pitchFamily="34" charset="0"/>
                          <a:ea typeface="Calibri" pitchFamily="34" charset="-122"/>
                          <a:cs typeface="Calibri" pitchFamily="34" charset="-120"/>
                        </a:rPr>
                        <a:t>What the tutor does</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solidFill>
                      <a:srgbClr val="EFE7E1"/>
                    </a:solidFill>
                  </a:tcPr>
                </a:tc>
                <a:tc>
                  <a:txBody>
                    <a:bodyPr/>
                    <a:lstStyle/>
                    <a:p>
                      <a:pPr algn="r" indent="0" marL="0">
                        <a:buNone/>
                      </a:pPr>
                      <a:r>
                        <a:rPr lang="en-US" sz="1350" b="1" dirty="0">
                          <a:solidFill>
                            <a:srgbClr val="26221F"/>
                          </a:solidFill>
                          <a:latin typeface="Calibri" pitchFamily="34" charset="0"/>
                          <a:ea typeface="Calibri" pitchFamily="34" charset="-122"/>
                          <a:cs typeface="Calibri" pitchFamily="34" charset="-120"/>
                        </a:rPr>
                        <a:t>Time</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solidFill>
                      <a:srgbClr val="EFE7E1"/>
                    </a:solidFill>
                  </a:tcPr>
                </a:tc>
              </a:tr>
              <a:tr h="0">
                <a:tc>
                  <a:txBody>
                    <a:bodyPr/>
                    <a:lstStyle/>
                    <a:p>
                      <a:pPr indent="0" marL="0">
                        <a:buNone/>
                      </a:pPr>
                      <a:r>
                        <a:rPr lang="en-US" sz="1350" dirty="0">
                          <a:solidFill>
                            <a:srgbClr val="26221F"/>
                          </a:solidFill>
                          <a:latin typeface="Calibri" pitchFamily="34" charset="0"/>
                          <a:ea typeface="Calibri" pitchFamily="34" charset="-122"/>
                          <a:cs typeface="Calibri" pitchFamily="34" charset="-120"/>
                        </a:rPr>
                        <a:t>Briefing</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350" dirty="0">
                          <a:solidFill>
                            <a:srgbClr val="26221F"/>
                          </a:solidFill>
                          <a:latin typeface="Calibri" pitchFamily="34" charset="0"/>
                          <a:ea typeface="Calibri" pitchFamily="34" charset="-122"/>
                          <a:cs typeface="Calibri" pitchFamily="34" charset="-120"/>
                        </a:rPr>
                        <a:t>Read the aim and principle together.</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algn="r" indent="0" marL="0">
                        <a:buNone/>
                      </a:pPr>
                      <a:r>
                        <a:rPr lang="en-US" sz="1350" dirty="0">
                          <a:solidFill>
                            <a:srgbClr val="26221F"/>
                          </a:solidFill>
                          <a:latin typeface="Calibri" pitchFamily="34" charset="0"/>
                          <a:ea typeface="Calibri" pitchFamily="34" charset="-122"/>
                          <a:cs typeface="Calibri" pitchFamily="34" charset="-120"/>
                        </a:rPr>
                        <a:t>10 min</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r h="0">
                <a:tc>
                  <a:txBody>
                    <a:bodyPr/>
                    <a:lstStyle/>
                    <a:p>
                      <a:pPr indent="0" marL="0">
                        <a:buNone/>
                      </a:pPr>
                      <a:r>
                        <a:rPr lang="en-US" sz="1350" dirty="0">
                          <a:solidFill>
                            <a:srgbClr val="26221F"/>
                          </a:solidFill>
                          <a:latin typeface="Calibri" pitchFamily="34" charset="0"/>
                          <a:ea typeface="Calibri" pitchFamily="34" charset="-122"/>
                          <a:cs typeface="Calibri" pitchFamily="34" charset="-120"/>
                        </a:rPr>
                        <a:t>Demonstration</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350" dirty="0">
                          <a:solidFill>
                            <a:srgbClr val="26221F"/>
                          </a:solidFill>
                          <a:latin typeface="Calibri" pitchFamily="34" charset="0"/>
                          <a:ea typeface="Calibri" pitchFamily="34" charset="-122"/>
                          <a:cs typeface="Calibri" pitchFamily="34" charset="-120"/>
                        </a:rPr>
                        <a:t>Build one molecule, or open one incident event — then stop.</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algn="r" indent="0" marL="0">
                        <a:buNone/>
                      </a:pPr>
                      <a:r>
                        <a:rPr lang="en-US" sz="1350" dirty="0">
                          <a:solidFill>
                            <a:srgbClr val="26221F"/>
                          </a:solidFill>
                          <a:latin typeface="Calibri" pitchFamily="34" charset="0"/>
                          <a:ea typeface="Calibri" pitchFamily="34" charset="-122"/>
                          <a:cs typeface="Calibri" pitchFamily="34" charset="-120"/>
                        </a:rPr>
                        <a:t>10 min</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r h="0">
                <a:tc>
                  <a:txBody>
                    <a:bodyPr/>
                    <a:lstStyle/>
                    <a:p>
                      <a:pPr indent="0" marL="0">
                        <a:buNone/>
                      </a:pPr>
                      <a:r>
                        <a:rPr lang="en-US" sz="1350" dirty="0">
                          <a:solidFill>
                            <a:srgbClr val="26221F"/>
                          </a:solidFill>
                          <a:latin typeface="Calibri" pitchFamily="34" charset="0"/>
                          <a:ea typeface="Calibri" pitchFamily="34" charset="-122"/>
                          <a:cs typeface="Calibri" pitchFamily="34" charset="-120"/>
                        </a:rPr>
                        <a:t>Independent work</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350" dirty="0">
                          <a:solidFill>
                            <a:srgbClr val="26221F"/>
                          </a:solidFill>
                          <a:latin typeface="Calibri" pitchFamily="34" charset="0"/>
                          <a:ea typeface="Calibri" pitchFamily="34" charset="-122"/>
                          <a:cs typeface="Calibri" pitchFamily="34" charset="-120"/>
                        </a:rPr>
                        <a:t>Students work alone. Let them break a rule and see the gauge move.</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algn="r" indent="0" marL="0">
                        <a:buNone/>
                      </a:pPr>
                      <a:r>
                        <a:rPr lang="en-US" sz="1350" dirty="0">
                          <a:solidFill>
                            <a:srgbClr val="26221F"/>
                          </a:solidFill>
                          <a:latin typeface="Calibri" pitchFamily="34" charset="0"/>
                          <a:ea typeface="Calibri" pitchFamily="34" charset="-122"/>
                          <a:cs typeface="Calibri" pitchFamily="34" charset="-120"/>
                        </a:rPr>
                        <a:t>45 min</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r h="0">
                <a:tc>
                  <a:txBody>
                    <a:bodyPr/>
                    <a:lstStyle/>
                    <a:p>
                      <a:pPr indent="0" marL="0">
                        <a:buNone/>
                      </a:pPr>
                      <a:r>
                        <a:rPr lang="en-US" sz="1350" dirty="0">
                          <a:solidFill>
                            <a:srgbClr val="26221F"/>
                          </a:solidFill>
                          <a:latin typeface="Calibri" pitchFamily="34" charset="0"/>
                          <a:ea typeface="Calibri" pitchFamily="34" charset="-122"/>
                          <a:cs typeface="Calibri" pitchFamily="34" charset="-120"/>
                        </a:rPr>
                        <a:t>Report</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350" dirty="0">
                          <a:solidFill>
                            <a:srgbClr val="26221F"/>
                          </a:solidFill>
                          <a:latin typeface="Calibri" pitchFamily="34" charset="0"/>
                          <a:ea typeface="Calibri" pitchFamily="34" charset="-122"/>
                          <a:cs typeface="Calibri" pitchFamily="34" charset="-120"/>
                        </a:rPr>
                        <a:t>Write, attach PDFs, submit to faculty.</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algn="r" indent="0" marL="0">
                        <a:buNone/>
                      </a:pPr>
                      <a:r>
                        <a:rPr lang="en-US" sz="1350" dirty="0">
                          <a:solidFill>
                            <a:srgbClr val="26221F"/>
                          </a:solidFill>
                          <a:latin typeface="Calibri" pitchFamily="34" charset="0"/>
                          <a:ea typeface="Calibri" pitchFamily="34" charset="-122"/>
                          <a:cs typeface="Calibri" pitchFamily="34" charset="-120"/>
                        </a:rPr>
                        <a:t>20 min</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r h="0">
                <a:tc>
                  <a:txBody>
                    <a:bodyPr/>
                    <a:lstStyle/>
                    <a:p>
                      <a:pPr indent="0" marL="0">
                        <a:buNone/>
                      </a:pPr>
                      <a:r>
                        <a:rPr lang="en-US" sz="1350" dirty="0">
                          <a:solidFill>
                            <a:srgbClr val="26221F"/>
                          </a:solidFill>
                          <a:latin typeface="Calibri" pitchFamily="34" charset="0"/>
                          <a:ea typeface="Calibri" pitchFamily="34" charset="-122"/>
                          <a:cs typeface="Calibri" pitchFamily="34" charset="-120"/>
                        </a:rPr>
                        <a:t>Debrief</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indent="0" marL="0">
                        <a:buNone/>
                      </a:pPr>
                      <a:r>
                        <a:rPr lang="en-US" sz="1350" dirty="0">
                          <a:solidFill>
                            <a:srgbClr val="26221F"/>
                          </a:solidFill>
                          <a:latin typeface="Calibri" pitchFamily="34" charset="0"/>
                          <a:ea typeface="Calibri" pitchFamily="34" charset="-122"/>
                          <a:cs typeface="Calibri" pitchFamily="34" charset="-120"/>
                        </a:rPr>
                        <a:t>Compare two students who fixed the same case differently.</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c>
                  <a:txBody>
                    <a:bodyPr/>
                    <a:lstStyle/>
                    <a:p>
                      <a:pPr algn="r" indent="0" marL="0">
                        <a:buNone/>
                      </a:pPr>
                      <a:r>
                        <a:rPr lang="en-US" sz="1350" dirty="0">
                          <a:solidFill>
                            <a:srgbClr val="26221F"/>
                          </a:solidFill>
                          <a:latin typeface="Calibri" pitchFamily="34" charset="0"/>
                          <a:ea typeface="Calibri" pitchFamily="34" charset="-122"/>
                          <a:cs typeface="Calibri" pitchFamily="34" charset="-120"/>
                        </a:rPr>
                        <a:t>15 min</a:t>
                      </a:r>
                      <a:endParaRPr lang="en-US" sz="1350" dirty="0">
                        <a:latin typeface="Calibri" charset="0"/>
                        <a:ea typeface="Calibri" charset="0"/>
                        <a:cs typeface="Calibri" charset="0"/>
                      </a:endParaRPr>
                    </a:p>
                  </a:txBody>
                  <a:tcPr marL="91440" marR="91440" marT="45720" marB="45720" anchor="ctr">
                    <a:lnL w="9525" cap="flat" cmpd="sng" algn="ctr">
                      <a:solidFill>
                        <a:srgbClr val="DDD5CE"/>
                      </a:solidFill>
                      <a:prstDash val="solid"/>
                      <a:round/>
                      <a:headEnd type="none" w="med" len="med"/>
                      <a:tailEnd type="none" w="med" len="med"/>
                    </a:lnL>
                    <a:lnR w="9525" cap="flat" cmpd="sng" algn="ctr">
                      <a:solidFill>
                        <a:srgbClr val="DDD5CE"/>
                      </a:solidFill>
                      <a:prstDash val="solid"/>
                      <a:round/>
                      <a:headEnd type="none" w="med" len="med"/>
                      <a:tailEnd type="none" w="med" len="med"/>
                    </a:lnR>
                    <a:lnT w="9525" cap="flat" cmpd="sng" algn="ctr">
                      <a:solidFill>
                        <a:srgbClr val="DDD5CE"/>
                      </a:solidFill>
                      <a:prstDash val="solid"/>
                      <a:round/>
                      <a:headEnd type="none" w="med" len="med"/>
                      <a:tailEnd type="none" w="med" len="med"/>
                    </a:lnT>
                    <a:lnB w="9525" cap="flat" cmpd="sng" algn="ctr">
                      <a:solidFill>
                        <a:srgbClr val="DDD5CE"/>
                      </a:solidFill>
                      <a:prstDash val="solid"/>
                      <a:round/>
                      <a:headEnd type="none" w="med" len="med"/>
                      <a:tailEnd type="none" w="med" len="med"/>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8F6"/>
        </a:solidFill>
      </p:bgPr>
    </p:bg>
    <p:spTree>
      <p:nvGrpSpPr>
        <p:cNvPr id="1" name=""/>
        <p:cNvGrpSpPr/>
        <p:nvPr/>
      </p:nvGrpSpPr>
      <p:grpSpPr>
        <a:xfrm>
          <a:off x="0" y="0"/>
          <a:ext cx="0" cy="0"/>
          <a:chOff x="0" y="0"/>
          <a:chExt cx="0" cy="0"/>
        </a:xfrm>
      </p:grpSpPr>
      <p:sp>
        <p:nvSpPr>
          <p:cNvPr id="2" name="Shape 0"/>
          <p:cNvSpPr/>
          <p:nvPr/>
        </p:nvSpPr>
        <p:spPr>
          <a:xfrm>
            <a:off x="0" y="0"/>
            <a:ext cx="12191695" cy="1133856"/>
          </a:xfrm>
          <a:prstGeom prst="rect">
            <a:avLst/>
          </a:prstGeom>
          <a:solidFill>
            <a:srgbClr val="FFFFFF"/>
          </a:solidFill>
          <a:ln w="12700">
            <a:solidFill>
              <a:srgbClr val="FFFFFF"/>
            </a:solidFill>
            <a:prstDash val="solid"/>
          </a:ln>
        </p:spPr>
      </p:sp>
      <p:sp>
        <p:nvSpPr>
          <p:cNvPr id="3" name="Shape 1"/>
          <p:cNvSpPr/>
          <p:nvPr/>
        </p:nvSpPr>
        <p:spPr>
          <a:xfrm>
            <a:off x="0" y="1133856"/>
            <a:ext cx="12191695" cy="32004"/>
          </a:xfrm>
          <a:prstGeom prst="rect">
            <a:avLst/>
          </a:prstGeom>
          <a:solidFill>
            <a:srgbClr val="8C1515"/>
          </a:solidFill>
          <a:ln w="12700">
            <a:solidFill>
              <a:srgbClr val="8C1515"/>
            </a:solidFill>
            <a:prstDash val="solid"/>
          </a:ln>
        </p:spPr>
      </p:sp>
      <p:sp>
        <p:nvSpPr>
          <p:cNvPr id="4" name="Text 2"/>
          <p:cNvSpPr/>
          <p:nvPr/>
        </p:nvSpPr>
        <p:spPr>
          <a:xfrm>
            <a:off x="566928" y="201168"/>
            <a:ext cx="10972800" cy="274320"/>
          </a:xfrm>
          <a:prstGeom prst="rect">
            <a:avLst/>
          </a:prstGeom>
          <a:noFill/>
          <a:ln/>
        </p:spPr>
        <p:txBody>
          <a:bodyPr wrap="square" rtlCol="0" anchor="ctr"/>
          <a:lstStyle/>
          <a:p>
            <a:pPr indent="0" marL="0">
              <a:buNone/>
            </a:pPr>
            <a:r>
              <a:rPr lang="en-US" sz="1100" b="1" spc="140" kern="0" dirty="0">
                <a:solidFill>
                  <a:srgbClr val="8C1515"/>
                </a:solidFill>
                <a:latin typeface="Calibri" pitchFamily="34" charset="0"/>
                <a:ea typeface="Calibri" pitchFamily="34" charset="-122"/>
                <a:cs typeface="Calibri" pitchFamily="34" charset="-120"/>
              </a:rPr>
              <a:t>Submission</a:t>
            </a:r>
            <a:endParaRPr lang="en-US" sz="1100" dirty="0"/>
          </a:p>
        </p:txBody>
      </p:sp>
      <p:sp>
        <p:nvSpPr>
          <p:cNvPr id="5" name="Text 3"/>
          <p:cNvSpPr/>
          <p:nvPr/>
        </p:nvSpPr>
        <p:spPr>
          <a:xfrm>
            <a:off x="566928" y="475488"/>
            <a:ext cx="11064240" cy="566928"/>
          </a:xfrm>
          <a:prstGeom prst="rect">
            <a:avLst/>
          </a:prstGeom>
          <a:noFill/>
          <a:ln/>
        </p:spPr>
        <p:txBody>
          <a:bodyPr wrap="square" rtlCol="0" anchor="ctr"/>
          <a:lstStyle/>
          <a:p>
            <a:pPr indent="0" marL="0">
              <a:buNone/>
            </a:pPr>
            <a:r>
              <a:rPr lang="en-US" sz="2600" b="1" dirty="0">
                <a:solidFill>
                  <a:srgbClr val="26221F"/>
                </a:solidFill>
                <a:latin typeface="Cambria" pitchFamily="34" charset="0"/>
                <a:ea typeface="Cambria" pitchFamily="34" charset="-122"/>
                <a:cs typeface="Cambria" pitchFamily="34" charset="-120"/>
              </a:rPr>
              <a:t>What you hand in</a:t>
            </a:r>
            <a:endParaRPr lang="en-US" sz="2600" dirty="0"/>
          </a:p>
        </p:txBody>
      </p:sp>
      <p:sp>
        <p:nvSpPr>
          <p:cNvPr id="6" name="Shape 4"/>
          <p:cNvSpPr/>
          <p:nvPr/>
        </p:nvSpPr>
        <p:spPr>
          <a:xfrm>
            <a:off x="0" y="6473952"/>
            <a:ext cx="12191695" cy="384048"/>
          </a:xfrm>
          <a:prstGeom prst="rect">
            <a:avLst/>
          </a:prstGeom>
          <a:solidFill>
            <a:srgbClr val="FAF8F6"/>
          </a:solidFill>
          <a:ln w="12700">
            <a:solidFill>
              <a:srgbClr val="FAF8F6"/>
            </a:solidFill>
            <a:prstDash val="solid"/>
          </a:ln>
        </p:spPr>
      </p:sp>
      <p:sp>
        <p:nvSpPr>
          <p:cNvPr id="7" name="Text 5"/>
          <p:cNvSpPr/>
          <p:nvPr/>
        </p:nvSpPr>
        <p:spPr>
          <a:xfrm>
            <a:off x="457200" y="6492240"/>
            <a:ext cx="8229600" cy="310896"/>
          </a:xfrm>
          <a:prstGeom prst="rect">
            <a:avLst/>
          </a:prstGeom>
          <a:noFill/>
          <a:ln/>
        </p:spPr>
        <p:txBody>
          <a:bodyPr wrap="square" rtlCol="0" anchor="ctr"/>
          <a:lstStyle/>
          <a:p>
            <a:pPr indent="0" marL="0">
              <a:buNone/>
            </a:pPr>
            <a:r>
              <a:rPr lang="en-US" sz="1000" dirty="0">
                <a:solidFill>
                  <a:srgbClr val="6E6A63"/>
                </a:solidFill>
                <a:latin typeface="Calibri" pitchFamily="34" charset="0"/>
                <a:ea typeface="Calibri" pitchFamily="34" charset="-122"/>
                <a:cs typeface="Calibri" pitchFamily="34" charset="-120"/>
              </a:rPr>
              <a:t>ALIZON OS · Pharmacy AI · Module 1 — AI Foundations &amp; Digital Systems</a:t>
            </a:r>
            <a:endParaRPr lang="en-US" sz="1000" dirty="0"/>
          </a:p>
        </p:txBody>
      </p:sp>
      <p:sp>
        <p:nvSpPr>
          <p:cNvPr id="8" name="Text 6"/>
          <p:cNvSpPr/>
          <p:nvPr/>
        </p:nvSpPr>
        <p:spPr>
          <a:xfrm>
            <a:off x="685800" y="1517904"/>
            <a:ext cx="10881360" cy="4572000"/>
          </a:xfrm>
          <a:prstGeom prst="rect">
            <a:avLst/>
          </a:prstGeom>
          <a:noFill/>
          <a:ln/>
        </p:spPr>
        <p:txBody>
          <a:bodyPr wrap="square" rtlCol="0" anchor="t"/>
          <a:lstStyle/>
          <a:p>
            <a:pPr marL="342900" indent="-342900">
              <a:lnSpc>
                <a:spcPct val="122000"/>
              </a:lnSpc>
              <a:buSzPct val="100000"/>
              <a:buChar char="•"/>
            </a:pPr>
            <a:r>
              <a:rPr lang="en-US" sz="1550" dirty="0">
                <a:solidFill>
                  <a:srgbClr val="26221F"/>
                </a:solidFill>
                <a:latin typeface="Calibri" pitchFamily="34" charset="0"/>
                <a:ea typeface="Calibri" pitchFamily="34" charset="-122"/>
                <a:cs typeface="Calibri" pitchFamily="34" charset="-120"/>
              </a:rPr>
              <a:t>The practical generates your result automatically on the Result &amp; Record tab.</a:t>
            </a:r>
            <a:endParaRPr lang="en-US" sz="1550" dirty="0"/>
          </a:p>
          <a:p>
            <a:pPr marL="342900" indent="-342900">
              <a:lnSpc>
                <a:spcPct val="122000"/>
              </a:lnSpc>
              <a:buSzPct val="100000"/>
              <a:buChar char="•"/>
            </a:pPr>
            <a:r>
              <a:rPr lang="en-US" sz="1550" dirty="0">
                <a:solidFill>
                  <a:srgbClr val="26221F"/>
                </a:solidFill>
                <a:latin typeface="Calibri" pitchFamily="34" charset="0"/>
                <a:ea typeface="Calibri" pitchFamily="34" charset="-122"/>
                <a:cs typeface="Calibri" pitchFamily="34" charset="-120"/>
              </a:rPr>
              <a:t>You then write your own report — a minimum word count is enforced before it can be generated.</a:t>
            </a:r>
            <a:endParaRPr lang="en-US" sz="1550" dirty="0"/>
          </a:p>
          <a:p>
            <a:pPr marL="342900" indent="-342900">
              <a:lnSpc>
                <a:spcPct val="122000"/>
              </a:lnSpc>
              <a:buSzPct val="100000"/>
              <a:buChar char="•"/>
            </a:pPr>
            <a:r>
              <a:rPr lang="en-US" sz="1550" dirty="0">
                <a:solidFill>
                  <a:srgbClr val="26221F"/>
                </a:solidFill>
                <a:latin typeface="Calibri" pitchFamily="34" charset="0"/>
                <a:ea typeface="Calibri" pitchFamily="34" charset="-122"/>
                <a:cs typeface="Calibri" pitchFamily="34" charset="-120"/>
              </a:rPr>
              <a:t>Download PDF produces a real PDF file of the letterheaded report. Keep it.</a:t>
            </a:r>
            <a:endParaRPr lang="en-US" sz="1550" dirty="0"/>
          </a:p>
          <a:p>
            <a:pPr marL="342900" indent="-342900">
              <a:lnSpc>
                <a:spcPct val="122000"/>
              </a:lnSpc>
              <a:buSzPct val="100000"/>
              <a:buChar char="•"/>
            </a:pPr>
            <a:r>
              <a:rPr lang="en-US" sz="1550" dirty="0">
                <a:solidFill>
                  <a:srgbClr val="26221F"/>
                </a:solidFill>
                <a:latin typeface="Calibri" pitchFamily="34" charset="0"/>
                <a:ea typeface="Calibri" pitchFamily="34" charset="-122"/>
                <a:cs typeface="Calibri" pitchFamily="34" charset="-120"/>
              </a:rPr>
              <a:t>Attach the required PDFs and submit. It goes to the faculty evaluation queue.</a:t>
            </a:r>
            <a:endParaRPr lang="en-US" sz="1550" dirty="0"/>
          </a:p>
          <a:p>
            <a:pPr marL="342900" indent="-342900">
              <a:lnSpc>
                <a:spcPct val="122000"/>
              </a:lnSpc>
              <a:buSzPct val="100000"/>
              <a:buChar char="•"/>
            </a:pPr>
            <a:r>
              <a:rPr lang="en-US" sz="1550" dirty="0">
                <a:solidFill>
                  <a:srgbClr val="26221F"/>
                </a:solidFill>
                <a:latin typeface="Calibri" pitchFamily="34" charset="0"/>
                <a:ea typeface="Calibri" pitchFamily="34" charset="-122"/>
                <a:cs typeface="Calibri" pitchFamily="34" charset="-120"/>
              </a:rPr>
              <a:t>Faculty return a mark, and it appears on your dashboard against Module 1.</a:t>
            </a:r>
            <a:endParaRPr lang="en-US" sz="15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8F6"/>
        </a:solidFill>
      </p:bgPr>
    </p:bg>
    <p:spTree>
      <p:nvGrpSpPr>
        <p:cNvPr id="1" name=""/>
        <p:cNvGrpSpPr/>
        <p:nvPr/>
      </p:nvGrpSpPr>
      <p:grpSpPr>
        <a:xfrm>
          <a:off x="0" y="0"/>
          <a:ext cx="0" cy="0"/>
          <a:chOff x="0" y="0"/>
          <a:chExt cx="0" cy="0"/>
        </a:xfrm>
      </p:grpSpPr>
      <p:sp>
        <p:nvSpPr>
          <p:cNvPr id="2" name="Shape 0"/>
          <p:cNvSpPr/>
          <p:nvPr/>
        </p:nvSpPr>
        <p:spPr>
          <a:xfrm>
            <a:off x="0" y="0"/>
            <a:ext cx="12191695" cy="1133856"/>
          </a:xfrm>
          <a:prstGeom prst="rect">
            <a:avLst/>
          </a:prstGeom>
          <a:solidFill>
            <a:srgbClr val="FFFFFF"/>
          </a:solidFill>
          <a:ln w="12700">
            <a:solidFill>
              <a:srgbClr val="FFFFFF"/>
            </a:solidFill>
            <a:prstDash val="solid"/>
          </a:ln>
        </p:spPr>
      </p:sp>
      <p:sp>
        <p:nvSpPr>
          <p:cNvPr id="3" name="Shape 1"/>
          <p:cNvSpPr/>
          <p:nvPr/>
        </p:nvSpPr>
        <p:spPr>
          <a:xfrm>
            <a:off x="0" y="1133856"/>
            <a:ext cx="12191695" cy="32004"/>
          </a:xfrm>
          <a:prstGeom prst="rect">
            <a:avLst/>
          </a:prstGeom>
          <a:solidFill>
            <a:srgbClr val="8C1515"/>
          </a:solidFill>
          <a:ln w="12700">
            <a:solidFill>
              <a:srgbClr val="8C1515"/>
            </a:solidFill>
            <a:prstDash val="solid"/>
          </a:ln>
        </p:spPr>
      </p:sp>
      <p:sp>
        <p:nvSpPr>
          <p:cNvPr id="4" name="Text 2"/>
          <p:cNvSpPr/>
          <p:nvPr/>
        </p:nvSpPr>
        <p:spPr>
          <a:xfrm>
            <a:off x="566928" y="201168"/>
            <a:ext cx="10972800" cy="274320"/>
          </a:xfrm>
          <a:prstGeom prst="rect">
            <a:avLst/>
          </a:prstGeom>
          <a:noFill/>
          <a:ln/>
        </p:spPr>
        <p:txBody>
          <a:bodyPr wrap="square" rtlCol="0" anchor="ctr"/>
          <a:lstStyle/>
          <a:p>
            <a:pPr indent="0" marL="0">
              <a:buNone/>
            </a:pPr>
            <a:r>
              <a:rPr lang="en-US" sz="1100" b="1" spc="140" kern="0" dirty="0">
                <a:solidFill>
                  <a:srgbClr val="8C1515"/>
                </a:solidFill>
                <a:latin typeface="Calibri" pitchFamily="34" charset="0"/>
                <a:ea typeface="Calibri" pitchFamily="34" charset="-122"/>
                <a:cs typeface="Calibri" pitchFamily="34" charset="-120"/>
              </a:rPr>
              <a:t>Limitations</a:t>
            </a:r>
            <a:endParaRPr lang="en-US" sz="1100" dirty="0"/>
          </a:p>
        </p:txBody>
      </p:sp>
      <p:sp>
        <p:nvSpPr>
          <p:cNvPr id="5" name="Text 3"/>
          <p:cNvSpPr/>
          <p:nvPr/>
        </p:nvSpPr>
        <p:spPr>
          <a:xfrm>
            <a:off x="566928" y="475488"/>
            <a:ext cx="11064240" cy="566928"/>
          </a:xfrm>
          <a:prstGeom prst="rect">
            <a:avLst/>
          </a:prstGeom>
          <a:noFill/>
          <a:ln/>
        </p:spPr>
        <p:txBody>
          <a:bodyPr wrap="square" rtlCol="0" anchor="ctr"/>
          <a:lstStyle/>
          <a:p>
            <a:pPr indent="0" marL="0">
              <a:buNone/>
            </a:pPr>
            <a:r>
              <a:rPr lang="en-US" sz="2600" b="1" dirty="0">
                <a:solidFill>
                  <a:srgbClr val="26221F"/>
                </a:solidFill>
                <a:latin typeface="Cambria" pitchFamily="34" charset="0"/>
                <a:ea typeface="Cambria" pitchFamily="34" charset="-122"/>
                <a:cs typeface="Cambria" pitchFamily="34" charset="-120"/>
              </a:rPr>
              <a:t>State these plainly</a:t>
            </a:r>
            <a:endParaRPr lang="en-US" sz="2600" dirty="0"/>
          </a:p>
        </p:txBody>
      </p:sp>
      <p:sp>
        <p:nvSpPr>
          <p:cNvPr id="6" name="Shape 4"/>
          <p:cNvSpPr/>
          <p:nvPr/>
        </p:nvSpPr>
        <p:spPr>
          <a:xfrm>
            <a:off x="0" y="6473952"/>
            <a:ext cx="12191695" cy="384048"/>
          </a:xfrm>
          <a:prstGeom prst="rect">
            <a:avLst/>
          </a:prstGeom>
          <a:solidFill>
            <a:srgbClr val="FAF8F6"/>
          </a:solidFill>
          <a:ln w="12700">
            <a:solidFill>
              <a:srgbClr val="FAF8F6"/>
            </a:solidFill>
            <a:prstDash val="solid"/>
          </a:ln>
        </p:spPr>
      </p:sp>
      <p:sp>
        <p:nvSpPr>
          <p:cNvPr id="7" name="Text 5"/>
          <p:cNvSpPr/>
          <p:nvPr/>
        </p:nvSpPr>
        <p:spPr>
          <a:xfrm>
            <a:off x="457200" y="6492240"/>
            <a:ext cx="8229600" cy="310896"/>
          </a:xfrm>
          <a:prstGeom prst="rect">
            <a:avLst/>
          </a:prstGeom>
          <a:noFill/>
          <a:ln/>
        </p:spPr>
        <p:txBody>
          <a:bodyPr wrap="square" rtlCol="0" anchor="ctr"/>
          <a:lstStyle/>
          <a:p>
            <a:pPr indent="0" marL="0">
              <a:buNone/>
            </a:pPr>
            <a:r>
              <a:rPr lang="en-US" sz="1000" dirty="0">
                <a:solidFill>
                  <a:srgbClr val="6E6A63"/>
                </a:solidFill>
                <a:latin typeface="Calibri" pitchFamily="34" charset="0"/>
                <a:ea typeface="Calibri" pitchFamily="34" charset="-122"/>
                <a:cs typeface="Calibri" pitchFamily="34" charset="-120"/>
              </a:rPr>
              <a:t>ALIZON OS · Pharmacy AI · Module 1 — AI Foundations &amp; Digital Systems</a:t>
            </a:r>
            <a:endParaRPr lang="en-US" sz="1000" dirty="0"/>
          </a:p>
        </p:txBody>
      </p:sp>
      <p:sp>
        <p:nvSpPr>
          <p:cNvPr id="8" name="Text 6"/>
          <p:cNvSpPr/>
          <p:nvPr/>
        </p:nvSpPr>
        <p:spPr>
          <a:xfrm>
            <a:off x="685800" y="1517904"/>
            <a:ext cx="10881360" cy="4572000"/>
          </a:xfrm>
          <a:prstGeom prst="rect">
            <a:avLst/>
          </a:prstGeom>
          <a:noFill/>
          <a:ln/>
        </p:spPr>
        <p:txBody>
          <a:bodyPr wrap="square" rtlCol="0" anchor="t"/>
          <a:lstStyle/>
          <a:p>
            <a:pPr marL="342900" indent="-342900">
              <a:lnSpc>
                <a:spcPct val="122000"/>
              </a:lnSpc>
              <a:buSzPct val="100000"/>
              <a:buChar char="•"/>
            </a:pPr>
            <a:r>
              <a:rPr lang="en-US" sz="1550" dirty="0">
                <a:solidFill>
                  <a:srgbClr val="26221F"/>
                </a:solidFill>
                <a:latin typeface="Calibri" pitchFamily="34" charset="0"/>
                <a:ea typeface="Calibri" pitchFamily="34" charset="-122"/>
                <a:cs typeface="Calibri" pitchFamily="34" charset="-120"/>
              </a:rPr>
              <a:t>Every molecule, patient, record and incident in these practicals is simulated for teaching.</a:t>
            </a:r>
            <a:endParaRPr lang="en-US" sz="1550" dirty="0"/>
          </a:p>
          <a:p>
            <a:pPr marL="342900" indent="-342900">
              <a:lnSpc>
                <a:spcPct val="122000"/>
              </a:lnSpc>
              <a:buSzPct val="100000"/>
              <a:buChar char="•"/>
            </a:pPr>
            <a:r>
              <a:rPr lang="en-US" sz="1550" dirty="0">
                <a:solidFill>
                  <a:srgbClr val="26221F"/>
                </a:solidFill>
                <a:latin typeface="Calibri" pitchFamily="34" charset="0"/>
                <a:ea typeface="Calibri" pitchFamily="34" charset="-122"/>
                <a:cs typeface="Calibri" pitchFamily="34" charset="-120"/>
              </a:rPr>
              <a:t>The predicted properties are model estimates from structure — not laboratory measurements and not clinical results.</a:t>
            </a:r>
            <a:endParaRPr lang="en-US" sz="1550" dirty="0"/>
          </a:p>
          <a:p>
            <a:pPr marL="342900" indent="-342900">
              <a:lnSpc>
                <a:spcPct val="122000"/>
              </a:lnSpc>
              <a:buSzPct val="100000"/>
              <a:buChar char="•"/>
            </a:pPr>
            <a:r>
              <a:rPr lang="en-US" sz="1550" dirty="0">
                <a:solidFill>
                  <a:srgbClr val="26221F"/>
                </a:solidFill>
                <a:latin typeface="Calibri" pitchFamily="34" charset="0"/>
                <a:ea typeface="Calibri" pitchFamily="34" charset="-122"/>
                <a:cs typeface="Calibri" pitchFamily="34" charset="-120"/>
              </a:rPr>
              <a:t>Nothing produced here may be used to make a decision about a real medicine or a real patient.</a:t>
            </a:r>
            <a:endParaRPr lang="en-US" sz="1550" dirty="0"/>
          </a:p>
          <a:p>
            <a:pPr marL="342900" indent="-342900">
              <a:lnSpc>
                <a:spcPct val="122000"/>
              </a:lnSpc>
              <a:buSzPct val="100000"/>
              <a:buChar char="•"/>
            </a:pPr>
            <a:r>
              <a:rPr lang="en-US" sz="1550" dirty="0">
                <a:solidFill>
                  <a:srgbClr val="26221F"/>
                </a:solidFill>
                <a:latin typeface="Calibri" pitchFamily="34" charset="0"/>
                <a:ea typeface="Calibri" pitchFamily="34" charset="-122"/>
                <a:cs typeface="Calibri" pitchFamily="34" charset="-120"/>
              </a:rPr>
              <a:t>The regulatory judgements are exercises in principle. Follow your institution’s actual procedure in practice.</a:t>
            </a:r>
            <a:endParaRPr lang="en-US" sz="1550" dirty="0"/>
          </a:p>
        </p:txBody>
      </p:sp>
      <p:sp>
        <p:nvSpPr>
          <p:cNvPr id="9" name="Shape 7"/>
          <p:cNvSpPr/>
          <p:nvPr/>
        </p:nvSpPr>
        <p:spPr>
          <a:xfrm>
            <a:off x="685800" y="5532120"/>
            <a:ext cx="10881360" cy="749808"/>
          </a:xfrm>
          <a:prstGeom prst="rect">
            <a:avLst/>
          </a:prstGeom>
          <a:solidFill>
            <a:srgbClr val="F7EFEF"/>
          </a:solidFill>
          <a:ln w="12700">
            <a:solidFill>
              <a:srgbClr val="E7CFCF"/>
            </a:solidFill>
            <a:prstDash val="solid"/>
          </a:ln>
        </p:spPr>
      </p:sp>
      <p:sp>
        <p:nvSpPr>
          <p:cNvPr id="10" name="Shape 8"/>
          <p:cNvSpPr/>
          <p:nvPr/>
        </p:nvSpPr>
        <p:spPr>
          <a:xfrm>
            <a:off x="685800" y="5532120"/>
            <a:ext cx="50292" cy="749808"/>
          </a:xfrm>
          <a:prstGeom prst="rect">
            <a:avLst/>
          </a:prstGeom>
          <a:solidFill>
            <a:srgbClr val="8C1515"/>
          </a:solidFill>
          <a:ln w="12700">
            <a:solidFill>
              <a:srgbClr val="8C1515"/>
            </a:solidFill>
            <a:prstDash val="solid"/>
          </a:ln>
        </p:spPr>
      </p:sp>
      <p:sp>
        <p:nvSpPr>
          <p:cNvPr id="11" name="Text 9"/>
          <p:cNvSpPr/>
          <p:nvPr/>
        </p:nvSpPr>
        <p:spPr>
          <a:xfrm>
            <a:off x="868680" y="5586984"/>
            <a:ext cx="10515600" cy="640080"/>
          </a:xfrm>
          <a:prstGeom prst="rect">
            <a:avLst/>
          </a:prstGeom>
          <a:noFill/>
          <a:ln/>
        </p:spPr>
        <p:txBody>
          <a:bodyPr wrap="square" rtlCol="0" anchor="ctr"/>
          <a:lstStyle/>
          <a:p>
            <a:pPr indent="0" marL="0">
              <a:buNone/>
            </a:pPr>
            <a:r>
              <a:rPr lang="en-US" sz="1250" dirty="0">
                <a:solidFill>
                  <a:srgbClr val="26221F"/>
                </a:solidFill>
                <a:latin typeface="Calibri" pitchFamily="34" charset="0"/>
                <a:ea typeface="Calibri" pitchFamily="34" charset="-122"/>
                <a:cs typeface="Calibri" pitchFamily="34" charset="-120"/>
              </a:rPr>
              <a:t>Students must state these limitations in their own report — it carries marks in the discussion.</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4100F"/>
        </a:solidFill>
      </p:bgPr>
    </p:bg>
    <p:spTree>
      <p:nvGrpSpPr>
        <p:cNvPr id="1" name=""/>
        <p:cNvGrpSpPr/>
        <p:nvPr/>
      </p:nvGrpSpPr>
      <p:grpSpPr>
        <a:xfrm>
          <a:off x="0" y="0"/>
          <a:ext cx="0" cy="0"/>
          <a:chOff x="0" y="0"/>
          <a:chExt cx="0" cy="0"/>
        </a:xfrm>
      </p:grpSpPr>
      <p:sp>
        <p:nvSpPr>
          <p:cNvPr id="2" name="Text 0"/>
          <p:cNvSpPr/>
          <p:nvPr/>
        </p:nvSpPr>
        <p:spPr>
          <a:xfrm>
            <a:off x="822960" y="2743200"/>
            <a:ext cx="10515600" cy="82296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Questions</a:t>
            </a:r>
            <a:endParaRPr lang="en-US" sz="3800" dirty="0"/>
          </a:p>
        </p:txBody>
      </p:sp>
      <p:sp>
        <p:nvSpPr>
          <p:cNvPr id="3" name="Text 1"/>
          <p:cNvSpPr/>
          <p:nvPr/>
        </p:nvSpPr>
        <p:spPr>
          <a:xfrm>
            <a:off x="822960" y="3657600"/>
            <a:ext cx="10515600" cy="822960"/>
          </a:xfrm>
          <a:prstGeom prst="rect">
            <a:avLst/>
          </a:prstGeom>
          <a:noFill/>
          <a:ln/>
        </p:spPr>
        <p:txBody>
          <a:bodyPr wrap="square" rtlCol="0" anchor="ctr"/>
          <a:lstStyle/>
          <a:p>
            <a:pPr indent="0" marL="0">
              <a:lnSpc>
                <a:spcPct val="140000"/>
              </a:lnSpc>
              <a:buNone/>
            </a:pPr>
            <a:r>
              <a:rPr lang="en-US" sz="1500" dirty="0">
                <a:solidFill>
                  <a:srgbClr val="9A7B3F"/>
                </a:solidFill>
                <a:latin typeface="Calibri" pitchFamily="34" charset="0"/>
                <a:ea typeface="Calibri" pitchFamily="34" charset="-122"/>
                <a:cs typeface="Calibri" pitchFamily="34" charset="-120"/>
              </a:rPr>
              <a:t>Pharmacy AI · Module 1 · Practicals 1 and 2</a:t>
            </a:r>
            <a:endParaRPr lang="en-US" sz="1500" dirty="0"/>
          </a:p>
          <a:p>
            <a:pPr indent="0" marL="0">
              <a:lnSpc>
                <a:spcPct val="140000"/>
              </a:lnSpc>
              <a:buNone/>
            </a:pPr>
            <a:r>
              <a:rPr lang="en-US" sz="1500" dirty="0">
                <a:solidFill>
                  <a:srgbClr val="9A7B3F"/>
                </a:solidFill>
                <a:latin typeface="Calibri" pitchFamily="34" charset="0"/>
                <a:ea typeface="Calibri" pitchFamily="34" charset="-122"/>
                <a:cs typeface="Calibri" pitchFamily="34" charset="-120"/>
              </a:rPr>
              <a:t>ALIZON OS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Alizon School of Medical and Digital Intelligence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Pharmacy AI · Module 1 · Practicals 1 and 2 — teaching deck</dc:title>
  <dc:subject>PptxGenJS Presentation</dc:subject>
  <dc:creator>Alizon School of Medical &amp; Digital Intelligence</dc:creator>
  <cp:lastModifiedBy>Alizon School of Medical &amp; Digital Intelligence</cp:lastModifiedBy>
  <cp:revision>1</cp:revision>
  <dcterms:created xsi:type="dcterms:W3CDTF">2026-08-11T11:32:40Z</dcterms:created>
  <dcterms:modified xsi:type="dcterms:W3CDTF">2026-08-11T11:32:40Z</dcterms:modified>
</cp:coreProperties>
</file>