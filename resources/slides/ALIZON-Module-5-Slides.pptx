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00F"/>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8C1515">
              <a:alpha val="28000"/>
            </a:srgbClr>
          </a:solidFill>
          <a:ln/>
        </p:spPr>
      </p:sp>
      <p:sp>
        <p:nvSpPr>
          <p:cNvPr id="3" name="Shape 1"/>
          <p:cNvSpPr/>
          <p:nvPr/>
        </p:nvSpPr>
        <p:spPr>
          <a:xfrm>
            <a:off x="10607040" y="4297680"/>
            <a:ext cx="2926080" cy="2926080"/>
          </a:xfrm>
          <a:prstGeom prst="ellipse">
            <a:avLst/>
          </a:prstGeom>
          <a:solidFill>
            <a:srgbClr val="9A7B3F">
              <a:alpha val="20000"/>
            </a:srgbClr>
          </a:solidFill>
          <a:ln/>
        </p:spPr>
      </p:sp>
      <p:sp>
        <p:nvSpPr>
          <p:cNvPr id="4" name="Text 2"/>
          <p:cNvSpPr/>
          <p:nvPr/>
        </p:nvSpPr>
        <p:spPr>
          <a:xfrm>
            <a:off x="777240" y="777240"/>
            <a:ext cx="9692640" cy="274320"/>
          </a:xfrm>
          <a:prstGeom prst="rect">
            <a:avLst/>
          </a:prstGeom>
          <a:noFill/>
          <a:ln/>
        </p:spPr>
        <p:txBody>
          <a:bodyPr wrap="square" lIns="0" tIns="0" rIns="0" bIns="0" rtlCol="0" anchor="ctr"/>
          <a:lstStyle/>
          <a:p>
            <a:pPr indent="0" marL="0">
              <a:buNone/>
            </a:pPr>
            <a:r>
              <a:rPr lang="en-US" sz="1100" b="1" spc="220" kern="0" dirty="0">
                <a:solidFill>
                  <a:srgbClr val="E8B4B4"/>
                </a:solidFill>
                <a:latin typeface="Calibri" pitchFamily="34" charset="0"/>
                <a:ea typeface="Calibri" pitchFamily="34" charset="-122"/>
                <a:cs typeface="Calibri" pitchFamily="34" charset="-120"/>
              </a:rPr>
              <a:t>ALIZON SCHOOL OF MEDICAL &amp; DIGITAL INTELLIGENCE</a:t>
            </a:r>
            <a:endParaRPr lang="en-US" sz="1100" dirty="0"/>
          </a:p>
        </p:txBody>
      </p:sp>
      <p:sp>
        <p:nvSpPr>
          <p:cNvPr id="5" name="Text 3"/>
          <p:cNvSpPr/>
          <p:nvPr/>
        </p:nvSpPr>
        <p:spPr>
          <a:xfrm>
            <a:off x="777240" y="1444752"/>
            <a:ext cx="8229600" cy="548640"/>
          </a:xfrm>
          <a:prstGeom prst="rect">
            <a:avLst/>
          </a:prstGeom>
          <a:noFill/>
          <a:ln/>
        </p:spPr>
        <p:txBody>
          <a:bodyPr wrap="square" lIns="0" tIns="0" rIns="0" bIns="0" rtlCol="0" anchor="ctr"/>
          <a:lstStyle/>
          <a:p>
            <a:pPr indent="0" marL="0">
              <a:buNone/>
            </a:pPr>
            <a:r>
              <a:rPr lang="en-US" sz="2000" dirty="0">
                <a:solidFill>
                  <a:srgbClr val="9A7B3F"/>
                </a:solidFill>
                <a:latin typeface="Calibri" pitchFamily="34" charset="0"/>
                <a:ea typeface="Calibri" pitchFamily="34" charset="-122"/>
                <a:cs typeface="Calibri" pitchFamily="34" charset="-120"/>
              </a:rPr>
              <a:t>Module 5</a:t>
            </a:r>
            <a:endParaRPr lang="en-US" sz="2000" dirty="0"/>
          </a:p>
        </p:txBody>
      </p:sp>
      <p:sp>
        <p:nvSpPr>
          <p:cNvPr id="6" name="Text 4"/>
          <p:cNvSpPr/>
          <p:nvPr/>
        </p:nvSpPr>
        <p:spPr>
          <a:xfrm>
            <a:off x="777240" y="1993392"/>
            <a:ext cx="9692640" cy="1920240"/>
          </a:xfrm>
          <a:prstGeom prst="rect">
            <a:avLst/>
          </a:prstGeom>
          <a:noFill/>
          <a:ln/>
        </p:spPr>
        <p:txBody>
          <a:bodyPr wrap="square" lIns="0" tIns="0" rIns="0" bIns="0" rtlCol="0" anchor="ctr"/>
          <a:lstStyle/>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Clinical Trials, Pharmacovigilance &amp; Evidence-Based Pharmacy</a:t>
            </a:r>
            <a:endParaRPr lang="en-US" sz="3400" dirty="0"/>
          </a:p>
        </p:txBody>
      </p:sp>
      <p:sp>
        <p:nvSpPr>
          <p:cNvPr id="7" name="Text 5"/>
          <p:cNvSpPr/>
          <p:nvPr/>
        </p:nvSpPr>
        <p:spPr>
          <a:xfrm>
            <a:off x="777240" y="4023360"/>
            <a:ext cx="8961120" cy="384048"/>
          </a:xfrm>
          <a:prstGeom prst="rect">
            <a:avLst/>
          </a:prstGeom>
          <a:noFill/>
          <a:ln/>
        </p:spPr>
        <p:txBody>
          <a:bodyPr wrap="square" lIns="0" tIns="0" rIns="0" bIns="0" rtlCol="0" anchor="ctr"/>
          <a:lstStyle/>
          <a:p>
            <a:pPr indent="0" marL="0">
              <a:buNone/>
            </a:pPr>
            <a:r>
              <a:rPr lang="en-US" sz="1600" i="1" dirty="0">
                <a:solidFill>
                  <a:srgbClr val="C9C2BA"/>
                </a:solidFill>
                <a:latin typeface="Calibri" pitchFamily="34" charset="0"/>
                <a:ea typeface="Calibri" pitchFamily="34" charset="-122"/>
                <a:cs typeface="Calibri" pitchFamily="34" charset="-120"/>
              </a:rPr>
              <a:t>Evidence, Ethics and Safety</a:t>
            </a:r>
            <a:endParaRPr lang="en-US" sz="1600" dirty="0"/>
          </a:p>
        </p:txBody>
      </p:sp>
      <p:sp>
        <p:nvSpPr>
          <p:cNvPr id="8" name="Text 6"/>
          <p:cNvSpPr/>
          <p:nvPr/>
        </p:nvSpPr>
        <p:spPr>
          <a:xfrm>
            <a:off x="777240" y="4846320"/>
            <a:ext cx="9509760" cy="868680"/>
          </a:xfrm>
          <a:prstGeom prst="rect">
            <a:avLst/>
          </a:prstGeom>
          <a:noFill/>
          <a:ln/>
        </p:spPr>
        <p:txBody>
          <a:bodyPr wrap="square" lIns="0" tIns="0" rIns="0" bIns="0" rtlCol="0" anchor="ctr"/>
          <a:lstStyle/>
          <a:p>
            <a:pPr indent="0" marL="0">
              <a:lnSpc>
                <a:spcPts val="2100"/>
              </a:lnSpc>
              <a:buNone/>
            </a:pPr>
            <a:r>
              <a:rPr lang="en-US" sz="1300" dirty="0">
                <a:solidFill>
                  <a:srgbClr val="9A938C"/>
                </a:solidFill>
                <a:latin typeface="Calibri" pitchFamily="34" charset="0"/>
                <a:ea typeface="Calibri" pitchFamily="34" charset="-122"/>
                <a:cs typeface="Calibri" pitchFamily="34" charset="-120"/>
              </a:rPr>
              <a:t>Certificate Course in Digital Health &amp; Artificial Intelligence for Pharmacy</a:t>
            </a:r>
            <a:endParaRPr lang="en-US" sz="1300" dirty="0"/>
          </a:p>
          <a:p>
            <a:pPr indent="0" marL="0">
              <a:lnSpc>
                <a:spcPts val="2100"/>
              </a:lnSpc>
              <a:buNone/>
            </a:pPr>
            <a:r>
              <a:rPr lang="en-US" sz="1300" dirty="0">
                <a:solidFill>
                  <a:srgbClr val="9A938C"/>
                </a:solidFill>
                <a:latin typeface="Calibri" pitchFamily="34" charset="0"/>
                <a:ea typeface="Calibri" pitchFamily="34" charset="-122"/>
                <a:cs typeface="Calibri" pitchFamily="34" charset="-120"/>
              </a:rPr>
              <a:t>4 units  ·  5 assessed practicals  ·  100 examination questions</a:t>
            </a:r>
            <a:endParaRPr lang="en-US" sz="1300" dirty="0"/>
          </a:p>
        </p:txBody>
      </p:sp>
      <p:sp>
        <p:nvSpPr>
          <p:cNvPr id="9" name="Text 7"/>
          <p:cNvSpPr/>
          <p:nvPr/>
        </p:nvSpPr>
        <p:spPr>
          <a:xfrm>
            <a:off x="777240" y="6291072"/>
            <a:ext cx="7315200" cy="274320"/>
          </a:xfrm>
          <a:prstGeom prst="rect">
            <a:avLst/>
          </a:prstGeom>
          <a:noFill/>
          <a:ln/>
        </p:spPr>
        <p:txBody>
          <a:bodyPr wrap="square" lIns="0" tIns="0" rIns="0" bIns="0" rtlCol="0" anchor="ctr"/>
          <a:lstStyle/>
          <a:p>
            <a:pPr indent="0" marL="0">
              <a:buNone/>
            </a:pPr>
            <a:r>
              <a:rPr lang="en-US" sz="1000" dirty="0">
                <a:solidFill>
                  <a:srgbClr val="6E6058"/>
                </a:solidFill>
                <a:latin typeface="Calibri" pitchFamily="34" charset="0"/>
                <a:ea typeface="Calibri" pitchFamily="34" charset="-122"/>
                <a:cs typeface="Calibri" pitchFamily="34" charset="-120"/>
              </a:rPr>
              <a:t>ASAP Kerala  ·  www.alizongov.com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MAP</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What this module covers</a:t>
            </a:r>
            <a:endParaRPr lang="en-US" sz="2900" dirty="0"/>
          </a:p>
        </p:txBody>
      </p:sp>
      <p:sp>
        <p:nvSpPr>
          <p:cNvPr id="6" name="Shape 4"/>
          <p:cNvSpPr/>
          <p:nvPr/>
        </p:nvSpPr>
        <p:spPr>
          <a:xfrm>
            <a:off x="502920" y="1481328"/>
            <a:ext cx="5440680" cy="1371600"/>
          </a:xfrm>
          <a:prstGeom prst="roundRect">
            <a:avLst>
              <a:gd name="adj" fmla="val 4000"/>
            </a:avLst>
          </a:prstGeom>
          <a:solidFill>
            <a:srgbClr val="FAF8F6"/>
          </a:solidFill>
          <a:ln w="9525">
            <a:solidFill>
              <a:srgbClr val="DDD5CE"/>
            </a:solidFill>
            <a:prstDash val="solid"/>
          </a:ln>
        </p:spPr>
      </p:sp>
      <p:sp>
        <p:nvSpPr>
          <p:cNvPr id="7" name="Shape 5"/>
          <p:cNvSpPr/>
          <p:nvPr/>
        </p:nvSpPr>
        <p:spPr>
          <a:xfrm>
            <a:off x="740664" y="1755648"/>
            <a:ext cx="384048" cy="384048"/>
          </a:xfrm>
          <a:prstGeom prst="ellipse">
            <a:avLst/>
          </a:prstGeom>
          <a:solidFill>
            <a:srgbClr val="8C1515"/>
          </a:solidFill>
          <a:ln/>
        </p:spPr>
      </p:sp>
      <p:sp>
        <p:nvSpPr>
          <p:cNvPr id="8" name="Text 6"/>
          <p:cNvSpPr/>
          <p:nvPr/>
        </p:nvSpPr>
        <p:spPr>
          <a:xfrm>
            <a:off x="740664" y="17556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1252728" y="1664208"/>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AI in Patient Care &amp; Personalized Medicine</a:t>
            </a:r>
            <a:endParaRPr lang="en-US" sz="1350" dirty="0"/>
          </a:p>
        </p:txBody>
      </p:sp>
      <p:sp>
        <p:nvSpPr>
          <p:cNvPr id="10" name="Text 8"/>
          <p:cNvSpPr/>
          <p:nvPr/>
        </p:nvSpPr>
        <p:spPr>
          <a:xfrm>
            <a:off x="1252728" y="2157984"/>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AI in Diagnosis and Clinical Decision-Making · AI in Personalized Treatment Planning · AI in Patient Monitoring and Remote…</a:t>
            </a:r>
            <a:endParaRPr lang="en-US" sz="1050" dirty="0"/>
          </a:p>
        </p:txBody>
      </p:sp>
      <p:sp>
        <p:nvSpPr>
          <p:cNvPr id="11" name="Shape 9"/>
          <p:cNvSpPr/>
          <p:nvPr/>
        </p:nvSpPr>
        <p:spPr>
          <a:xfrm>
            <a:off x="6263640" y="1481328"/>
            <a:ext cx="5440680" cy="1371600"/>
          </a:xfrm>
          <a:prstGeom prst="roundRect">
            <a:avLst>
              <a:gd name="adj" fmla="val 4000"/>
            </a:avLst>
          </a:prstGeom>
          <a:solidFill>
            <a:srgbClr val="FAF8F6"/>
          </a:solidFill>
          <a:ln w="9525">
            <a:solidFill>
              <a:srgbClr val="DDD5CE"/>
            </a:solidFill>
            <a:prstDash val="solid"/>
          </a:ln>
        </p:spPr>
      </p:sp>
      <p:sp>
        <p:nvSpPr>
          <p:cNvPr id="12" name="Shape 10"/>
          <p:cNvSpPr/>
          <p:nvPr/>
        </p:nvSpPr>
        <p:spPr>
          <a:xfrm>
            <a:off x="6501384" y="1755648"/>
            <a:ext cx="384048" cy="384048"/>
          </a:xfrm>
          <a:prstGeom prst="ellipse">
            <a:avLst/>
          </a:prstGeom>
          <a:solidFill>
            <a:srgbClr val="8C1515"/>
          </a:solidFill>
          <a:ln/>
        </p:spPr>
      </p:sp>
      <p:sp>
        <p:nvSpPr>
          <p:cNvPr id="13" name="Text 11"/>
          <p:cNvSpPr/>
          <p:nvPr/>
        </p:nvSpPr>
        <p:spPr>
          <a:xfrm>
            <a:off x="6501384" y="17556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4" name="Text 12"/>
          <p:cNvSpPr/>
          <p:nvPr/>
        </p:nvSpPr>
        <p:spPr>
          <a:xfrm>
            <a:off x="7013448" y="1664208"/>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Good Clinical Practice (GCP) &amp; Ethics</a:t>
            </a:r>
            <a:endParaRPr lang="en-US" sz="1350" dirty="0"/>
          </a:p>
        </p:txBody>
      </p:sp>
      <p:sp>
        <p:nvSpPr>
          <p:cNvPr id="15" name="Text 13"/>
          <p:cNvSpPr/>
          <p:nvPr/>
        </p:nvSpPr>
        <p:spPr>
          <a:xfrm>
            <a:off x="7013448" y="2157984"/>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Principles of GCP · Patient Safety and Trial Integrity · Ethics Committees and Regulatory Oversight · Data Quality and Audit…</a:t>
            </a:r>
            <a:endParaRPr lang="en-US" sz="1050" dirty="0"/>
          </a:p>
        </p:txBody>
      </p:sp>
      <p:sp>
        <p:nvSpPr>
          <p:cNvPr id="16" name="Shape 14"/>
          <p:cNvSpPr/>
          <p:nvPr/>
        </p:nvSpPr>
        <p:spPr>
          <a:xfrm>
            <a:off x="502920" y="3054096"/>
            <a:ext cx="5440680" cy="1371600"/>
          </a:xfrm>
          <a:prstGeom prst="roundRect">
            <a:avLst>
              <a:gd name="adj" fmla="val 4000"/>
            </a:avLst>
          </a:prstGeom>
          <a:solidFill>
            <a:srgbClr val="FAF8F6"/>
          </a:solidFill>
          <a:ln w="9525">
            <a:solidFill>
              <a:srgbClr val="DDD5CE"/>
            </a:solidFill>
            <a:prstDash val="solid"/>
          </a:ln>
        </p:spPr>
      </p:sp>
      <p:sp>
        <p:nvSpPr>
          <p:cNvPr id="17" name="Shape 15"/>
          <p:cNvSpPr/>
          <p:nvPr/>
        </p:nvSpPr>
        <p:spPr>
          <a:xfrm>
            <a:off x="740664" y="3328416"/>
            <a:ext cx="384048" cy="384048"/>
          </a:xfrm>
          <a:prstGeom prst="ellipse">
            <a:avLst/>
          </a:prstGeom>
          <a:solidFill>
            <a:srgbClr val="8C1515"/>
          </a:solidFill>
          <a:ln/>
        </p:spPr>
      </p:sp>
      <p:sp>
        <p:nvSpPr>
          <p:cNvPr id="18" name="Text 16"/>
          <p:cNvSpPr/>
          <p:nvPr/>
        </p:nvSpPr>
        <p:spPr>
          <a:xfrm>
            <a:off x="740664" y="33284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9" name="Text 17"/>
          <p:cNvSpPr/>
          <p:nvPr/>
        </p:nvSpPr>
        <p:spPr>
          <a:xfrm>
            <a:off x="1252728" y="3236976"/>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Pharmacovigilance &amp; ADR Reporting</a:t>
            </a:r>
            <a:endParaRPr lang="en-US" sz="1350" dirty="0"/>
          </a:p>
        </p:txBody>
      </p:sp>
      <p:sp>
        <p:nvSpPr>
          <p:cNvPr id="20" name="Text 18"/>
          <p:cNvSpPr/>
          <p:nvPr/>
        </p:nvSpPr>
        <p:spPr>
          <a:xfrm>
            <a:off x="1252728" y="3730752"/>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Types of Adverse Drug Reactions · National and International Pharmacovigilance Systems · Digital ADR Reporting Tools · Risk…</a:t>
            </a:r>
            <a:endParaRPr lang="en-US" sz="1050" dirty="0"/>
          </a:p>
        </p:txBody>
      </p:sp>
      <p:sp>
        <p:nvSpPr>
          <p:cNvPr id="21" name="Shape 19"/>
          <p:cNvSpPr/>
          <p:nvPr/>
        </p:nvSpPr>
        <p:spPr>
          <a:xfrm>
            <a:off x="6263640" y="3054096"/>
            <a:ext cx="5440680" cy="1371600"/>
          </a:xfrm>
          <a:prstGeom prst="roundRect">
            <a:avLst>
              <a:gd name="adj" fmla="val 4000"/>
            </a:avLst>
          </a:prstGeom>
          <a:solidFill>
            <a:srgbClr val="FAF8F6"/>
          </a:solidFill>
          <a:ln w="9525">
            <a:solidFill>
              <a:srgbClr val="DDD5CE"/>
            </a:solidFill>
            <a:prstDash val="solid"/>
          </a:ln>
        </p:spPr>
      </p:sp>
      <p:sp>
        <p:nvSpPr>
          <p:cNvPr id="22" name="Shape 20"/>
          <p:cNvSpPr/>
          <p:nvPr/>
        </p:nvSpPr>
        <p:spPr>
          <a:xfrm>
            <a:off x="6501384" y="3328416"/>
            <a:ext cx="384048" cy="384048"/>
          </a:xfrm>
          <a:prstGeom prst="ellipse">
            <a:avLst/>
          </a:prstGeom>
          <a:solidFill>
            <a:srgbClr val="8C1515"/>
          </a:solidFill>
          <a:ln/>
        </p:spPr>
      </p:sp>
      <p:sp>
        <p:nvSpPr>
          <p:cNvPr id="23" name="Text 21"/>
          <p:cNvSpPr/>
          <p:nvPr/>
        </p:nvSpPr>
        <p:spPr>
          <a:xfrm>
            <a:off x="6501384" y="33284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4" name="Text 22"/>
          <p:cNvSpPr/>
          <p:nvPr/>
        </p:nvSpPr>
        <p:spPr>
          <a:xfrm>
            <a:off x="7013448" y="3236976"/>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Evidence-Based Pharmacy &amp; AI-Driven Literature Analysis</a:t>
            </a:r>
            <a:endParaRPr lang="en-US" sz="1350" dirty="0"/>
          </a:p>
        </p:txBody>
      </p:sp>
      <p:sp>
        <p:nvSpPr>
          <p:cNvPr id="25" name="Text 23"/>
          <p:cNvSpPr/>
          <p:nvPr/>
        </p:nvSpPr>
        <p:spPr>
          <a:xfrm>
            <a:off x="7013448" y="3730752"/>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Evidence-Based Medicine Principles · Clinical Guidelines and Treatment Protocols · AI-Based Literature Review and…</a:t>
            </a:r>
            <a:endParaRPr lang="en-US" sz="1050" dirty="0"/>
          </a:p>
        </p:txBody>
      </p:sp>
      <p:sp>
        <p:nvSpPr>
          <p:cNvPr id="26" name="Shape 24"/>
          <p:cNvSpPr/>
          <p:nvPr/>
        </p:nvSpPr>
        <p:spPr>
          <a:xfrm>
            <a:off x="502920" y="4681728"/>
            <a:ext cx="11183112" cy="987552"/>
          </a:xfrm>
          <a:prstGeom prst="roundRect">
            <a:avLst>
              <a:gd name="adj" fmla="val 5556"/>
            </a:avLst>
          </a:prstGeom>
          <a:solidFill>
            <a:srgbClr val="2E1010"/>
          </a:solidFill>
          <a:ln w="9525">
            <a:solidFill>
              <a:srgbClr val="46201F"/>
            </a:solidFill>
            <a:prstDash val="solid"/>
          </a:ln>
        </p:spPr>
      </p:sp>
      <p:sp>
        <p:nvSpPr>
          <p:cNvPr id="27" name="Text 25"/>
          <p:cNvSpPr/>
          <p:nvPr/>
        </p:nvSpPr>
        <p:spPr>
          <a:xfrm>
            <a:off x="868680" y="4846320"/>
            <a:ext cx="3291840" cy="292608"/>
          </a:xfrm>
          <a:prstGeom prst="rect">
            <a:avLst/>
          </a:prstGeom>
          <a:noFill/>
          <a:ln/>
        </p:spPr>
        <p:txBody>
          <a:bodyPr wrap="square" lIns="0" tIns="0" rIns="0" bIns="0" rtlCol="0" anchor="ctr"/>
          <a:lstStyle/>
          <a:p>
            <a:pPr indent="0" marL="0">
              <a:buNone/>
            </a:pPr>
            <a:r>
              <a:rPr lang="en-US" sz="1350" b="1" dirty="0">
                <a:solidFill>
                  <a:srgbClr val="F0C9C9"/>
                </a:solidFill>
                <a:latin typeface="Calibri" pitchFamily="34" charset="0"/>
                <a:ea typeface="Calibri" pitchFamily="34" charset="-122"/>
                <a:cs typeface="Calibri" pitchFamily="34" charset="-120"/>
              </a:rPr>
              <a:t>5 assessed practicals</a:t>
            </a:r>
            <a:endParaRPr lang="en-US" sz="1350" dirty="0"/>
          </a:p>
        </p:txBody>
      </p:sp>
      <p:sp>
        <p:nvSpPr>
          <p:cNvPr id="28" name="Text 26"/>
          <p:cNvSpPr/>
          <p:nvPr/>
        </p:nvSpPr>
        <p:spPr>
          <a:xfrm>
            <a:off x="868680" y="5157216"/>
            <a:ext cx="10515600" cy="384048"/>
          </a:xfrm>
          <a:prstGeom prst="rect">
            <a:avLst/>
          </a:prstGeom>
          <a:noFill/>
          <a:ln/>
        </p:spPr>
        <p:txBody>
          <a:bodyPr wrap="square" lIns="0" tIns="0" rIns="0" bIns="0" rtlCol="0" anchor="ctr"/>
          <a:lstStyle/>
          <a:p>
            <a:pPr indent="0" marL="0">
              <a:buNone/>
            </a:pPr>
            <a:r>
              <a:rPr lang="en-US" sz="1150" dirty="0">
                <a:solidFill>
                  <a:srgbClr val="E7DCD8"/>
                </a:solidFill>
                <a:latin typeface="Calibri" pitchFamily="34" charset="0"/>
                <a:ea typeface="Calibri" pitchFamily="34" charset="-122"/>
                <a:cs typeface="Calibri" pitchFamily="34" charset="-120"/>
              </a:rPr>
              <a:t>Ethics Committee (IEC/IRB) Approval Simulation · Clinical Trial Audit Readiness Challenge · Become the Clinical Trial Manager · Evidence-Based Therapy…</a:t>
            </a:r>
            <a:endParaRPr lang="en-US" sz="1150" dirty="0"/>
          </a:p>
        </p:txBody>
      </p:sp>
      <p:sp>
        <p:nvSpPr>
          <p:cNvPr id="29" name="Text 2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5 · Clinical Trials, Pharmacovigilance &amp; Evidence-Based Pharmacy</a:t>
            </a:r>
            <a:endParaRPr lang="en-US" sz="950" dirty="0"/>
          </a:p>
        </p:txBody>
      </p:sp>
      <p:sp>
        <p:nvSpPr>
          <p:cNvPr id="30" name="Text 2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LEARNING OUTCOMES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What you will be able to do</a:t>
            </a:r>
            <a:endParaRPr lang="en-US" sz="2900" dirty="0"/>
          </a:p>
        </p:txBody>
      </p:sp>
      <p:sp>
        <p:nvSpPr>
          <p:cNvPr id="6" name="Shape 4"/>
          <p:cNvSpPr/>
          <p:nvPr/>
        </p:nvSpPr>
        <p:spPr>
          <a:xfrm>
            <a:off x="502920" y="1591056"/>
            <a:ext cx="310896" cy="310896"/>
          </a:xfrm>
          <a:prstGeom prst="ellipse">
            <a:avLst/>
          </a:prstGeom>
          <a:solidFill>
            <a:srgbClr val="F2E4E4"/>
          </a:solidFill>
          <a:ln/>
        </p:spPr>
      </p:sp>
      <p:sp>
        <p:nvSpPr>
          <p:cNvPr id="7" name="Text 5"/>
          <p:cNvSpPr/>
          <p:nvPr/>
        </p:nvSpPr>
        <p:spPr>
          <a:xfrm>
            <a:off x="502920" y="15910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8" name="Text 6"/>
          <p:cNvSpPr/>
          <p:nvPr/>
        </p:nvSpPr>
        <p:spPr>
          <a:xfrm>
            <a:off x="960120" y="15727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Explain</a:t>
            </a:r>
            <a:endParaRPr lang="en-US" sz="1400" dirty="0"/>
          </a:p>
        </p:txBody>
      </p:sp>
      <p:sp>
        <p:nvSpPr>
          <p:cNvPr id="9" name="Text 7"/>
          <p:cNvSpPr/>
          <p:nvPr/>
        </p:nvSpPr>
        <p:spPr>
          <a:xfrm>
            <a:off x="960120" y="19019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AI in Patient Care &amp; Personalized Medicine</a:t>
            </a:r>
            <a:endParaRPr lang="en-US" sz="1250" dirty="0"/>
          </a:p>
        </p:txBody>
      </p:sp>
      <p:sp>
        <p:nvSpPr>
          <p:cNvPr id="10" name="Shape 8"/>
          <p:cNvSpPr/>
          <p:nvPr/>
        </p:nvSpPr>
        <p:spPr>
          <a:xfrm>
            <a:off x="6263640" y="1591056"/>
            <a:ext cx="310896" cy="310896"/>
          </a:xfrm>
          <a:prstGeom prst="ellipse">
            <a:avLst/>
          </a:prstGeom>
          <a:solidFill>
            <a:srgbClr val="F2E4E4"/>
          </a:solidFill>
          <a:ln/>
        </p:spPr>
      </p:sp>
      <p:sp>
        <p:nvSpPr>
          <p:cNvPr id="11" name="Text 9"/>
          <p:cNvSpPr/>
          <p:nvPr/>
        </p:nvSpPr>
        <p:spPr>
          <a:xfrm>
            <a:off x="6263640" y="15910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12" name="Text 10"/>
          <p:cNvSpPr/>
          <p:nvPr/>
        </p:nvSpPr>
        <p:spPr>
          <a:xfrm>
            <a:off x="6720840" y="15727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Operate</a:t>
            </a:r>
            <a:endParaRPr lang="en-US" sz="1400" dirty="0"/>
          </a:p>
        </p:txBody>
      </p:sp>
      <p:sp>
        <p:nvSpPr>
          <p:cNvPr id="13" name="Text 11"/>
          <p:cNvSpPr/>
          <p:nvPr/>
        </p:nvSpPr>
        <p:spPr>
          <a:xfrm>
            <a:off x="6720840" y="19019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AI in Diagnosis and Clinical Decision-Making</a:t>
            </a:r>
            <a:endParaRPr lang="en-US" sz="1250" dirty="0"/>
          </a:p>
        </p:txBody>
      </p:sp>
      <p:sp>
        <p:nvSpPr>
          <p:cNvPr id="14" name="Shape 12"/>
          <p:cNvSpPr/>
          <p:nvPr/>
        </p:nvSpPr>
        <p:spPr>
          <a:xfrm>
            <a:off x="502920" y="2962656"/>
            <a:ext cx="310896" cy="310896"/>
          </a:xfrm>
          <a:prstGeom prst="ellipse">
            <a:avLst/>
          </a:prstGeom>
          <a:solidFill>
            <a:srgbClr val="F2E4E4"/>
          </a:solidFill>
          <a:ln/>
        </p:spPr>
      </p:sp>
      <p:sp>
        <p:nvSpPr>
          <p:cNvPr id="15" name="Text 13"/>
          <p:cNvSpPr/>
          <p:nvPr/>
        </p:nvSpPr>
        <p:spPr>
          <a:xfrm>
            <a:off x="502920" y="29626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16" name="Text 14"/>
          <p:cNvSpPr/>
          <p:nvPr/>
        </p:nvSpPr>
        <p:spPr>
          <a:xfrm>
            <a:off x="960120" y="29443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Apply</a:t>
            </a:r>
            <a:endParaRPr lang="en-US" sz="1400" dirty="0"/>
          </a:p>
        </p:txBody>
      </p:sp>
      <p:sp>
        <p:nvSpPr>
          <p:cNvPr id="17" name="Text 15"/>
          <p:cNvSpPr/>
          <p:nvPr/>
        </p:nvSpPr>
        <p:spPr>
          <a:xfrm>
            <a:off x="960120" y="32735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Good Clinical Practice (GCP) &amp; Ethics</a:t>
            </a:r>
            <a:endParaRPr lang="en-US" sz="1250" dirty="0"/>
          </a:p>
        </p:txBody>
      </p:sp>
      <p:sp>
        <p:nvSpPr>
          <p:cNvPr id="18" name="Shape 16"/>
          <p:cNvSpPr/>
          <p:nvPr/>
        </p:nvSpPr>
        <p:spPr>
          <a:xfrm>
            <a:off x="6263640" y="2962656"/>
            <a:ext cx="310896" cy="310896"/>
          </a:xfrm>
          <a:prstGeom prst="ellipse">
            <a:avLst/>
          </a:prstGeom>
          <a:solidFill>
            <a:srgbClr val="F2E4E4"/>
          </a:solidFill>
          <a:ln/>
        </p:spPr>
      </p:sp>
      <p:sp>
        <p:nvSpPr>
          <p:cNvPr id="19" name="Text 17"/>
          <p:cNvSpPr/>
          <p:nvPr/>
        </p:nvSpPr>
        <p:spPr>
          <a:xfrm>
            <a:off x="6263640" y="29626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20" name="Text 18"/>
          <p:cNvSpPr/>
          <p:nvPr/>
        </p:nvSpPr>
        <p:spPr>
          <a:xfrm>
            <a:off x="6720840" y="29443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Evaluate</a:t>
            </a:r>
            <a:endParaRPr lang="en-US" sz="1400" dirty="0"/>
          </a:p>
        </p:txBody>
      </p:sp>
      <p:sp>
        <p:nvSpPr>
          <p:cNvPr id="21" name="Text 19"/>
          <p:cNvSpPr/>
          <p:nvPr/>
        </p:nvSpPr>
        <p:spPr>
          <a:xfrm>
            <a:off x="6720840" y="32735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Principles of GCP</a:t>
            </a:r>
            <a:endParaRPr lang="en-US" sz="1250" dirty="0"/>
          </a:p>
        </p:txBody>
      </p:sp>
      <p:sp>
        <p:nvSpPr>
          <p:cNvPr id="22" name="Shape 20"/>
          <p:cNvSpPr/>
          <p:nvPr/>
        </p:nvSpPr>
        <p:spPr>
          <a:xfrm>
            <a:off x="502920" y="4334256"/>
            <a:ext cx="310896" cy="310896"/>
          </a:xfrm>
          <a:prstGeom prst="ellipse">
            <a:avLst/>
          </a:prstGeom>
          <a:solidFill>
            <a:srgbClr val="F2E4E4"/>
          </a:solidFill>
          <a:ln/>
        </p:spPr>
      </p:sp>
      <p:sp>
        <p:nvSpPr>
          <p:cNvPr id="23" name="Text 21"/>
          <p:cNvSpPr/>
          <p:nvPr/>
        </p:nvSpPr>
        <p:spPr>
          <a:xfrm>
            <a:off x="502920" y="43342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24" name="Text 22"/>
          <p:cNvSpPr/>
          <p:nvPr/>
        </p:nvSpPr>
        <p:spPr>
          <a:xfrm>
            <a:off x="960120" y="43159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Describe</a:t>
            </a:r>
            <a:endParaRPr lang="en-US" sz="1400" dirty="0"/>
          </a:p>
        </p:txBody>
      </p:sp>
      <p:sp>
        <p:nvSpPr>
          <p:cNvPr id="25" name="Text 23"/>
          <p:cNvSpPr/>
          <p:nvPr/>
        </p:nvSpPr>
        <p:spPr>
          <a:xfrm>
            <a:off x="960120" y="46451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Pharmacovigilance &amp; ADR Reporting</a:t>
            </a:r>
            <a:endParaRPr lang="en-US" sz="1250" dirty="0"/>
          </a:p>
        </p:txBody>
      </p:sp>
      <p:sp>
        <p:nvSpPr>
          <p:cNvPr id="26" name="Shape 24"/>
          <p:cNvSpPr/>
          <p:nvPr/>
        </p:nvSpPr>
        <p:spPr>
          <a:xfrm>
            <a:off x="6263640" y="4334256"/>
            <a:ext cx="310896" cy="310896"/>
          </a:xfrm>
          <a:prstGeom prst="ellipse">
            <a:avLst/>
          </a:prstGeom>
          <a:solidFill>
            <a:srgbClr val="F2E4E4"/>
          </a:solidFill>
          <a:ln/>
        </p:spPr>
      </p:sp>
      <p:sp>
        <p:nvSpPr>
          <p:cNvPr id="27" name="Text 25"/>
          <p:cNvSpPr/>
          <p:nvPr/>
        </p:nvSpPr>
        <p:spPr>
          <a:xfrm>
            <a:off x="6263640" y="43342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28" name="Text 26"/>
          <p:cNvSpPr/>
          <p:nvPr/>
        </p:nvSpPr>
        <p:spPr>
          <a:xfrm>
            <a:off x="6720840" y="43159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Document</a:t>
            </a:r>
            <a:endParaRPr lang="en-US" sz="1400" dirty="0"/>
          </a:p>
        </p:txBody>
      </p:sp>
      <p:sp>
        <p:nvSpPr>
          <p:cNvPr id="29" name="Text 27"/>
          <p:cNvSpPr/>
          <p:nvPr/>
        </p:nvSpPr>
        <p:spPr>
          <a:xfrm>
            <a:off x="6720840" y="46451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Types of Adverse Drug Reactions</a:t>
            </a:r>
            <a:endParaRPr lang="en-US" sz="1250" dirty="0"/>
          </a:p>
        </p:txBody>
      </p:sp>
      <p:sp>
        <p:nvSpPr>
          <p:cNvPr id="30" name="Shape 28"/>
          <p:cNvSpPr/>
          <p:nvPr/>
        </p:nvSpPr>
        <p:spPr>
          <a:xfrm>
            <a:off x="502920" y="5504688"/>
            <a:ext cx="11183112" cy="585216"/>
          </a:xfrm>
          <a:prstGeom prst="roundRect">
            <a:avLst>
              <a:gd name="adj" fmla="val 9375"/>
            </a:avLst>
          </a:prstGeom>
          <a:solidFill>
            <a:srgbClr val="FAF8F6"/>
          </a:solidFill>
          <a:ln w="9525">
            <a:solidFill>
              <a:srgbClr val="DDD5CE"/>
            </a:solidFill>
            <a:prstDash val="solid"/>
          </a:ln>
        </p:spPr>
      </p:sp>
      <p:sp>
        <p:nvSpPr>
          <p:cNvPr id="31" name="Text 29"/>
          <p:cNvSpPr/>
          <p:nvPr/>
        </p:nvSpPr>
        <p:spPr>
          <a:xfrm>
            <a:off x="868680" y="5504688"/>
            <a:ext cx="10515600" cy="585216"/>
          </a:xfrm>
          <a:prstGeom prst="rect">
            <a:avLst/>
          </a:prstGeom>
          <a:noFill/>
          <a:ln/>
        </p:spPr>
        <p:txBody>
          <a:bodyPr wrap="square" lIns="0" tIns="0" rIns="0" bIns="0" rtlCol="0" anchor="ctr"/>
          <a:lstStyle/>
          <a:p>
            <a:pPr indent="0" marL="0">
              <a:buNone/>
            </a:pPr>
            <a:r>
              <a:rPr lang="en-US" sz="1200" dirty="0">
                <a:solidFill>
                  <a:srgbClr val="26221F"/>
                </a:solidFill>
                <a:latin typeface="Calibri" pitchFamily="34" charset="0"/>
                <a:ea typeface="Calibri" pitchFamily="34" charset="-122"/>
                <a:cs typeface="Calibri" pitchFamily="34" charset="-120"/>
              </a:rPr>
              <a:t>Assessment · 5 faculty-evaluated practicals  +  100-question internal examination (4 units × 25)</a:t>
            </a:r>
            <a:endParaRPr lang="en-US" sz="1200" dirty="0"/>
          </a:p>
        </p:txBody>
      </p:sp>
      <p:sp>
        <p:nvSpPr>
          <p:cNvPr id="32" name="Text 30"/>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5 · Clinical Trials, Pharmacovigilance &amp; Evidence-Based Pharmacy</a:t>
            </a:r>
            <a:endParaRPr lang="en-US" sz="950" dirty="0"/>
          </a:p>
        </p:txBody>
      </p:sp>
      <p:sp>
        <p:nvSpPr>
          <p:cNvPr id="33" name="Text 31"/>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AI IN PATIENT CARE &amp; PERSONALIZED MEDICINE</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Artificial Intelligence (AI)</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Artificial Intelligence (AI) is transforming patient care and advancing the concept of personalized medicine in modern healthcare. Traditional treatment approaches often follow a generalized model, where similar treatments are provided to all patients with the same condition. However, individual variations in genetics, lifestyle, environment, and disease progression can significantly affect treatment outcomes.</a:t>
            </a:r>
            <a:endParaRPr lang="en-US" sz="1550" dirty="0"/>
          </a:p>
        </p:txBody>
      </p:sp>
      <p:sp>
        <p:nvSpPr>
          <p:cNvPr id="7" name="Shape 5"/>
          <p:cNvSpPr/>
          <p:nvPr/>
        </p:nvSpPr>
        <p:spPr>
          <a:xfrm>
            <a:off x="7680960" y="1536192"/>
            <a:ext cx="4005072" cy="2020824"/>
          </a:xfrm>
          <a:prstGeom prst="roundRect">
            <a:avLst>
              <a:gd name="adj" fmla="val 2715"/>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161288"/>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AI enables healthcare professionals to move from a "one-size-fits-all" approach to a personalized, patient-centered model of care.</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5 · Clinical Trials, Pharmacovigilance &amp; Evidence-Based Pharmacy</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AI IN PATIENT CARE &amp; PERSONALIZED MEDICINE</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AI in Patient Monitoring and Remote Care</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Type</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Real-Time Monitoring</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Tracks current health</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Predictive Monitoring</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Forecasts risks</a:t>
            </a:r>
            <a:endParaRPr lang="en-US" sz="1150" dirty="0"/>
          </a:p>
        </p:txBody>
      </p:sp>
      <p:sp>
        <p:nvSpPr>
          <p:cNvPr id="15" name="Text 13"/>
          <p:cNvSpPr/>
          <p:nvPr/>
        </p:nvSpPr>
        <p:spPr>
          <a:xfrm>
            <a:off x="502920" y="3584448"/>
            <a:ext cx="11183112" cy="2679192"/>
          </a:xfrm>
          <a:prstGeom prst="rect">
            <a:avLst/>
          </a:prstGeom>
          <a:noFill/>
          <a:ln/>
        </p:spPr>
        <p:txBody>
          <a:bodyPr wrap="square" lIns="0" tIns="0" rIns="0" bIns="0" rtlCol="0" anchor="ctr"/>
          <a:lstStyle/>
          <a:p>
            <a:pPr indent="0" marL="0">
              <a:lnSpc>
                <a:spcPts val="1600"/>
              </a:lnSpc>
              <a:buNone/>
            </a:pPr>
            <a:r>
              <a:rPr lang="en-US" sz="1200" i="1" dirty="0">
                <a:solidFill>
                  <a:srgbClr val="6E6A63"/>
                </a:solidFill>
                <a:latin typeface="Calibri" pitchFamily="34" charset="0"/>
                <a:ea typeface="Calibri" pitchFamily="34" charset="-122"/>
                <a:cs typeface="Calibri" pitchFamily="34" charset="-120"/>
              </a:rPr>
              <a:t>AI enables telemedicine and remote patient care, improving access to healthcare services. A key point is that AI supports continuous patient monitoring and early intervention.</a:t>
            </a:r>
            <a:endParaRPr lang="en-US" sz="1200" dirty="0"/>
          </a:p>
        </p:txBody>
      </p:sp>
      <p:sp>
        <p:nvSpPr>
          <p:cNvPr id="16" name="Text 14"/>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5 · Clinical Trials, Pharmacovigilance &amp; Evidence-Based Pharmacy</a:t>
            </a:r>
            <a:endParaRPr lang="en-US" sz="950" dirty="0"/>
          </a:p>
        </p:txBody>
      </p:sp>
      <p:sp>
        <p:nvSpPr>
          <p:cNvPr id="17" name="Text 15"/>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AI IN PATIENT CARE &amp; PERSONALIZED MEDICINE</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Unit 1 summary</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600"/>
              </a:lnSpc>
              <a:buNone/>
            </a:pPr>
            <a:r>
              <a:rPr lang="en-US" sz="1750" dirty="0">
                <a:solidFill>
                  <a:srgbClr val="26221F"/>
                </a:solidFill>
                <a:latin typeface="Calibri" pitchFamily="34" charset="0"/>
                <a:ea typeface="Calibri" pitchFamily="34" charset="-122"/>
                <a:cs typeface="Calibri" pitchFamily="34" charset="-120"/>
              </a:rPr>
              <a:t>AI is revolutionizing patient care and personalized medicine by enabling data-driven, patient-centered healthcare. From diagnosis to treatment and monitoring, AI enhances every stage of care delivery.</a:t>
            </a:r>
            <a:endParaRPr lang="en-US" sz="1750" dirty="0"/>
          </a:p>
        </p:txBody>
      </p:sp>
      <p:sp>
        <p:nvSpPr>
          <p:cNvPr id="7" name="Shape 5"/>
          <p:cNvSpPr/>
          <p:nvPr/>
        </p:nvSpPr>
        <p:spPr>
          <a:xfrm>
            <a:off x="7680960" y="1536192"/>
            <a:ext cx="4005072" cy="2020824"/>
          </a:xfrm>
          <a:prstGeom prst="roundRect">
            <a:avLst>
              <a:gd name="adj" fmla="val 2715"/>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161288"/>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Understanding these applications is essential for pharmacy students, as it prepares them for future roles in digital and precision healthcare system</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5 · Clinical Trials, Pharmacovigilance &amp; Evidence-Based Pharmacy</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GOOD CLINICAL PRACTICE (GCP) &amp; ETHICS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Good Clinical Practice (GCP) and ethics</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Good Clinical Practice (GCP) and ethics are fundamental principles that ensure the safety, rights, and well-being of participants in clinical trials while maintaining the integrity and reliability of research data. In modern healthcare, the integration of Artificial Intelligence (AI) and digital systems has enhanced compliance with GCP standards by improving monitoring, documentation, and data quality.</a:t>
            </a:r>
            <a:endParaRPr lang="en-US" sz="1550" dirty="0"/>
          </a:p>
        </p:txBody>
      </p:sp>
      <p:sp>
        <p:nvSpPr>
          <p:cNvPr id="7" name="Shape 5"/>
          <p:cNvSpPr/>
          <p:nvPr/>
        </p:nvSpPr>
        <p:spPr>
          <a:xfrm>
            <a:off x="7680960" y="1536192"/>
            <a:ext cx="4005072" cy="2020824"/>
          </a:xfrm>
          <a:prstGeom prst="roundRect">
            <a:avLst>
              <a:gd name="adj" fmla="val 2715"/>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161288"/>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GCP provides a global standard for designing, conducting, recording, and reporting clinical trials, ensuring that research is conducted ethically and scientifically.</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5 · Clinical Trials, Pharmacovigilance &amp; Evidence-Based Pharmacy</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GOOD CLINICAL PRACTICE (GCP) &amp; ETHICS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Patient Safety and Trial Integrity</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Aspect</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Data Integrity</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Accuracy and completeness of data</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Protocol Integrity</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Adherence to study design</a:t>
            </a:r>
            <a:endParaRPr lang="en-US" sz="1150" dirty="0"/>
          </a:p>
        </p:txBody>
      </p:sp>
      <p:sp>
        <p:nvSpPr>
          <p:cNvPr id="15" name="Shape 13"/>
          <p:cNvSpPr/>
          <p:nvPr/>
        </p:nvSpPr>
        <p:spPr>
          <a:xfrm>
            <a:off x="502920" y="3383280"/>
            <a:ext cx="11183112" cy="658368"/>
          </a:xfrm>
          <a:prstGeom prst="rect">
            <a:avLst/>
          </a:prstGeom>
          <a:solidFill>
            <a:srgbClr val="FFFFFF"/>
          </a:solidFill>
          <a:ln w="9525">
            <a:solidFill>
              <a:srgbClr val="DDD5CE"/>
            </a:solidFill>
            <a:prstDash val="solid"/>
          </a:ln>
        </p:spPr>
      </p:sp>
      <p:sp>
        <p:nvSpPr>
          <p:cNvPr id="16" name="Text 14"/>
          <p:cNvSpPr/>
          <p:nvPr/>
        </p:nvSpPr>
        <p:spPr>
          <a:xfrm>
            <a:off x="685800" y="3383280"/>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Operational Integrity</a:t>
            </a:r>
            <a:endParaRPr lang="en-US" sz="1150" dirty="0"/>
          </a:p>
        </p:txBody>
      </p:sp>
      <p:sp>
        <p:nvSpPr>
          <p:cNvPr id="17" name="Text 15"/>
          <p:cNvSpPr/>
          <p:nvPr/>
        </p:nvSpPr>
        <p:spPr>
          <a:xfrm>
            <a:off x="5166360" y="3383280"/>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Proper execution of procedures</a:t>
            </a:r>
            <a:endParaRPr lang="en-US" sz="1150" dirty="0"/>
          </a:p>
        </p:txBody>
      </p:sp>
      <p:sp>
        <p:nvSpPr>
          <p:cNvPr id="18" name="Text 16"/>
          <p:cNvSpPr/>
          <p:nvPr/>
        </p:nvSpPr>
        <p:spPr>
          <a:xfrm>
            <a:off x="502920" y="4242816"/>
            <a:ext cx="11183112" cy="2020824"/>
          </a:xfrm>
          <a:prstGeom prst="rect">
            <a:avLst/>
          </a:prstGeom>
          <a:noFill/>
          <a:ln/>
        </p:spPr>
        <p:txBody>
          <a:bodyPr wrap="square" lIns="0" tIns="0" rIns="0" bIns="0" rtlCol="0" anchor="ctr"/>
          <a:lstStyle/>
          <a:p>
            <a:pPr indent="0" marL="0">
              <a:lnSpc>
                <a:spcPts val="1600"/>
              </a:lnSpc>
              <a:buNone/>
            </a:pPr>
            <a:r>
              <a:rPr lang="en-US" sz="1200" i="1" dirty="0">
                <a:solidFill>
                  <a:srgbClr val="6E6A63"/>
                </a:solidFill>
                <a:latin typeface="Calibri" pitchFamily="34" charset="0"/>
                <a:ea typeface="Calibri" pitchFamily="34" charset="-122"/>
                <a:cs typeface="Calibri" pitchFamily="34" charset="-120"/>
              </a:rPr>
              <a:t>AI plays a critical role in maintaining trial integrity by detecting anomalies, monitoring compliance, and ensuring accurate data recording. A key point is that AI enhances both patient safety and data reliability.</a:t>
            </a:r>
            <a:endParaRPr lang="en-US" sz="1200" dirty="0"/>
          </a:p>
        </p:txBody>
      </p:sp>
      <p:sp>
        <p:nvSpPr>
          <p:cNvPr id="19" name="Text 1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5 · Clinical Trials, Pharmacovigilance &amp; Evidence-Based Pharmacy</a:t>
            </a:r>
            <a:endParaRPr lang="en-US" sz="950" dirty="0"/>
          </a:p>
        </p:txBody>
      </p:sp>
      <p:sp>
        <p:nvSpPr>
          <p:cNvPr id="20" name="Text 1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GOOD CLINICAL PRACTICE (GCP) &amp; ETHICS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Ethics Committees and Regulatory Oversight</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Body</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Role</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Ethics Committees (IEC/IRB)</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Review and approve protocols</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National Authorities</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Monitor and regulate trials</a:t>
            </a:r>
            <a:endParaRPr lang="en-US" sz="1150" dirty="0"/>
          </a:p>
        </p:txBody>
      </p:sp>
      <p:sp>
        <p:nvSpPr>
          <p:cNvPr id="15" name="Shape 13"/>
          <p:cNvSpPr/>
          <p:nvPr/>
        </p:nvSpPr>
        <p:spPr>
          <a:xfrm>
            <a:off x="502920" y="3383280"/>
            <a:ext cx="11183112" cy="658368"/>
          </a:xfrm>
          <a:prstGeom prst="rect">
            <a:avLst/>
          </a:prstGeom>
          <a:solidFill>
            <a:srgbClr val="FFFFFF"/>
          </a:solidFill>
          <a:ln w="9525">
            <a:solidFill>
              <a:srgbClr val="DDD5CE"/>
            </a:solidFill>
            <a:prstDash val="solid"/>
          </a:ln>
        </p:spPr>
      </p:sp>
      <p:sp>
        <p:nvSpPr>
          <p:cNvPr id="16" name="Text 14"/>
          <p:cNvSpPr/>
          <p:nvPr/>
        </p:nvSpPr>
        <p:spPr>
          <a:xfrm>
            <a:off x="685800" y="3383280"/>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International Bodies</a:t>
            </a:r>
            <a:endParaRPr lang="en-US" sz="1150" dirty="0"/>
          </a:p>
        </p:txBody>
      </p:sp>
      <p:sp>
        <p:nvSpPr>
          <p:cNvPr id="17" name="Text 15"/>
          <p:cNvSpPr/>
          <p:nvPr/>
        </p:nvSpPr>
        <p:spPr>
          <a:xfrm>
            <a:off x="5166360" y="3383280"/>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Provide global standards</a:t>
            </a:r>
            <a:endParaRPr lang="en-US" sz="1150" dirty="0"/>
          </a:p>
        </p:txBody>
      </p:sp>
      <p:sp>
        <p:nvSpPr>
          <p:cNvPr id="18" name="Text 16"/>
          <p:cNvSpPr/>
          <p:nvPr/>
        </p:nvSpPr>
        <p:spPr>
          <a:xfrm>
            <a:off x="502920" y="4242816"/>
            <a:ext cx="11183112" cy="2020824"/>
          </a:xfrm>
          <a:prstGeom prst="rect">
            <a:avLst/>
          </a:prstGeom>
          <a:noFill/>
          <a:ln/>
        </p:spPr>
        <p:txBody>
          <a:bodyPr wrap="square" lIns="0" tIns="0" rIns="0" bIns="0" rtlCol="0" anchor="ctr"/>
          <a:lstStyle/>
          <a:p>
            <a:pPr indent="0" marL="0">
              <a:lnSpc>
                <a:spcPts val="1600"/>
              </a:lnSpc>
              <a:buNone/>
            </a:pPr>
            <a:r>
              <a:rPr lang="en-US" sz="1200" i="1" dirty="0">
                <a:solidFill>
                  <a:srgbClr val="6E6A63"/>
                </a:solidFill>
                <a:latin typeface="Calibri" pitchFamily="34" charset="0"/>
                <a:ea typeface="Calibri" pitchFamily="34" charset="-122"/>
                <a:cs typeface="Calibri" pitchFamily="34" charset="-120"/>
              </a:rPr>
              <a:t>AI supports ethics and regulatory oversight by automating document review, monitoring compliance, and maintaining audit trails. A key point is that ethical oversight ensures protection of participants and compliance…</a:t>
            </a:r>
            <a:endParaRPr lang="en-US" sz="1200" dirty="0"/>
          </a:p>
        </p:txBody>
      </p:sp>
      <p:sp>
        <p:nvSpPr>
          <p:cNvPr id="19" name="Text 1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5 · Clinical Trials, Pharmacovigilance &amp; Evidence-Based Pharmacy</a:t>
            </a:r>
            <a:endParaRPr lang="en-US" sz="950" dirty="0"/>
          </a:p>
        </p:txBody>
      </p:sp>
      <p:sp>
        <p:nvSpPr>
          <p:cNvPr id="20" name="Text 1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GOOD CLINICAL PRACTICE (GCP) &amp; ETHICS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Unit 2 summary</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600"/>
              </a:lnSpc>
              <a:buNone/>
            </a:pPr>
            <a:r>
              <a:rPr lang="en-US" sz="1750" dirty="0">
                <a:solidFill>
                  <a:srgbClr val="26221F"/>
                </a:solidFill>
                <a:latin typeface="Calibri" pitchFamily="34" charset="0"/>
                <a:ea typeface="Calibri" pitchFamily="34" charset="-122"/>
                <a:cs typeface="Calibri" pitchFamily="34" charset="-120"/>
              </a:rPr>
              <a:t>Good Clinical Practice and ethics are essential for conducting safe, ethical, and scientifically valid clinical trials. The integration of AI has enhanced these processes by improving monitoring, data quality, and compliance.</a:t>
            </a:r>
            <a:endParaRPr lang="en-US" sz="1750" dirty="0"/>
          </a:p>
        </p:txBody>
      </p:sp>
      <p:sp>
        <p:nvSpPr>
          <p:cNvPr id="7" name="Shape 5"/>
          <p:cNvSpPr/>
          <p:nvPr/>
        </p:nvSpPr>
        <p:spPr>
          <a:xfrm>
            <a:off x="7680960" y="1536192"/>
            <a:ext cx="4005072" cy="2263140"/>
          </a:xfrm>
          <a:prstGeom prst="roundRect">
            <a:avLst>
              <a:gd name="adj" fmla="val 2424"/>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40360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Understanding GCP principles, ethical considerations, and regulatory requirements is crucial for pharmacy students, as it prepares them for responsible roles in clinical research and healthcare.</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5 · Clinical Trials, Pharmacovigilance &amp; Evidence-Based Pharmacy</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PHARMACOVIGILANCE &amp; ADR REPORTING</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Pharmacovigilance</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Pharmacovigilance is a critical component of modern healthcare systems, focusing on the detection, assessment, understanding, and prevention of adverse drug reactions (ADRs) and other drug-related problems. As medicines become more complex and widely used, ensuring their safety after market approval is essential. Pharmacovigilance bridges the gap between clinical trials and real-world drug use by continuously monitoring drug safety.</a:t>
            </a:r>
            <a:endParaRPr lang="en-US" sz="1550" dirty="0"/>
          </a:p>
        </p:txBody>
      </p:sp>
      <p:sp>
        <p:nvSpPr>
          <p:cNvPr id="7" name="Shape 5"/>
          <p:cNvSpPr/>
          <p:nvPr/>
        </p:nvSpPr>
        <p:spPr>
          <a:xfrm>
            <a:off x="7680960" y="1536192"/>
            <a:ext cx="4005072" cy="2020824"/>
          </a:xfrm>
          <a:prstGeom prst="roundRect">
            <a:avLst>
              <a:gd name="adj" fmla="val 2715"/>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161288"/>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With the integration of Artificial Intelligence (AI) and digital technologies, pharmacovigilance systems have become more efficient, proactive, and data-driven.</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5 · Clinical Trials, Pharmacovigilance &amp; Evidence-Based Pharmacy</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PHARMACOVIGILANCE &amp; ADR REPORTING</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Types of Adverse Drug Reactions</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Type</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p>
        </p:txBody>
      </p:sp>
      <p:sp>
        <p:nvSpPr>
          <p:cNvPr id="9" name="Shape 7"/>
          <p:cNvSpPr/>
          <p:nvPr/>
        </p:nvSpPr>
        <p:spPr>
          <a:xfrm>
            <a:off x="502920" y="2066544"/>
            <a:ext cx="11183112" cy="566928"/>
          </a:xfrm>
          <a:prstGeom prst="rect">
            <a:avLst/>
          </a:prstGeom>
          <a:solidFill>
            <a:srgbClr val="FFFFFF"/>
          </a:solidFill>
          <a:ln w="9525">
            <a:solidFill>
              <a:srgbClr val="DDD5CE"/>
            </a:solidFill>
            <a:prstDash val="solid"/>
          </a:ln>
        </p:spPr>
      </p:sp>
      <p:sp>
        <p:nvSpPr>
          <p:cNvPr id="10" name="Text 8"/>
          <p:cNvSpPr/>
          <p:nvPr/>
        </p:nvSpPr>
        <p:spPr>
          <a:xfrm>
            <a:off x="685800" y="2066544"/>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Type A</a:t>
            </a:r>
            <a:endParaRPr lang="en-US" sz="1150" dirty="0"/>
          </a:p>
        </p:txBody>
      </p:sp>
      <p:sp>
        <p:nvSpPr>
          <p:cNvPr id="11" name="Text 9"/>
          <p:cNvSpPr/>
          <p:nvPr/>
        </p:nvSpPr>
        <p:spPr>
          <a:xfrm>
            <a:off x="5166360" y="2066544"/>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Dose-dependent and predictable</a:t>
            </a:r>
            <a:endParaRPr lang="en-US" sz="1150" dirty="0"/>
          </a:p>
        </p:txBody>
      </p:sp>
      <p:sp>
        <p:nvSpPr>
          <p:cNvPr id="12" name="Shape 10"/>
          <p:cNvSpPr/>
          <p:nvPr/>
        </p:nvSpPr>
        <p:spPr>
          <a:xfrm>
            <a:off x="502920" y="2633472"/>
            <a:ext cx="11183112" cy="566928"/>
          </a:xfrm>
          <a:prstGeom prst="rect">
            <a:avLst/>
          </a:prstGeom>
          <a:solidFill>
            <a:srgbClr val="FAF8F6"/>
          </a:solidFill>
          <a:ln w="9525">
            <a:solidFill>
              <a:srgbClr val="DDD5CE"/>
            </a:solidFill>
            <a:prstDash val="solid"/>
          </a:ln>
        </p:spPr>
      </p:sp>
      <p:sp>
        <p:nvSpPr>
          <p:cNvPr id="13" name="Text 11"/>
          <p:cNvSpPr/>
          <p:nvPr/>
        </p:nvSpPr>
        <p:spPr>
          <a:xfrm>
            <a:off x="685800" y="2633472"/>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Type B</a:t>
            </a:r>
            <a:endParaRPr lang="en-US" sz="1150" dirty="0"/>
          </a:p>
        </p:txBody>
      </p:sp>
      <p:sp>
        <p:nvSpPr>
          <p:cNvPr id="14" name="Text 12"/>
          <p:cNvSpPr/>
          <p:nvPr/>
        </p:nvSpPr>
        <p:spPr>
          <a:xfrm>
            <a:off x="5166360" y="2633472"/>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Unpredictable and rare</a:t>
            </a:r>
            <a:endParaRPr lang="en-US" sz="1150" dirty="0"/>
          </a:p>
        </p:txBody>
      </p:sp>
      <p:sp>
        <p:nvSpPr>
          <p:cNvPr id="15" name="Shape 13"/>
          <p:cNvSpPr/>
          <p:nvPr/>
        </p:nvSpPr>
        <p:spPr>
          <a:xfrm>
            <a:off x="502920" y="3200400"/>
            <a:ext cx="11183112" cy="566928"/>
          </a:xfrm>
          <a:prstGeom prst="rect">
            <a:avLst/>
          </a:prstGeom>
          <a:solidFill>
            <a:srgbClr val="FFFFFF"/>
          </a:solidFill>
          <a:ln w="9525">
            <a:solidFill>
              <a:srgbClr val="DDD5CE"/>
            </a:solidFill>
            <a:prstDash val="solid"/>
          </a:ln>
        </p:spPr>
      </p:sp>
      <p:sp>
        <p:nvSpPr>
          <p:cNvPr id="16" name="Text 14"/>
          <p:cNvSpPr/>
          <p:nvPr/>
        </p:nvSpPr>
        <p:spPr>
          <a:xfrm>
            <a:off x="685800" y="3200400"/>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Type C</a:t>
            </a:r>
            <a:endParaRPr lang="en-US" sz="1150" dirty="0"/>
          </a:p>
        </p:txBody>
      </p:sp>
      <p:sp>
        <p:nvSpPr>
          <p:cNvPr id="17" name="Text 15"/>
          <p:cNvSpPr/>
          <p:nvPr/>
        </p:nvSpPr>
        <p:spPr>
          <a:xfrm>
            <a:off x="5166360" y="3200400"/>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Chronic effects</a:t>
            </a:r>
            <a:endParaRPr lang="en-US" sz="1150" dirty="0"/>
          </a:p>
        </p:txBody>
      </p:sp>
      <p:sp>
        <p:nvSpPr>
          <p:cNvPr id="18" name="Shape 16"/>
          <p:cNvSpPr/>
          <p:nvPr/>
        </p:nvSpPr>
        <p:spPr>
          <a:xfrm>
            <a:off x="502920" y="3767328"/>
            <a:ext cx="11183112" cy="566928"/>
          </a:xfrm>
          <a:prstGeom prst="rect">
            <a:avLst/>
          </a:prstGeom>
          <a:solidFill>
            <a:srgbClr val="FAF8F6"/>
          </a:solidFill>
          <a:ln w="9525">
            <a:solidFill>
              <a:srgbClr val="DDD5CE"/>
            </a:solidFill>
            <a:prstDash val="solid"/>
          </a:ln>
        </p:spPr>
      </p:sp>
      <p:sp>
        <p:nvSpPr>
          <p:cNvPr id="19" name="Text 17"/>
          <p:cNvSpPr/>
          <p:nvPr/>
        </p:nvSpPr>
        <p:spPr>
          <a:xfrm>
            <a:off x="685800" y="3767328"/>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Type D</a:t>
            </a:r>
            <a:endParaRPr lang="en-US" sz="1150" dirty="0"/>
          </a:p>
        </p:txBody>
      </p:sp>
      <p:sp>
        <p:nvSpPr>
          <p:cNvPr id="20" name="Text 18"/>
          <p:cNvSpPr/>
          <p:nvPr/>
        </p:nvSpPr>
        <p:spPr>
          <a:xfrm>
            <a:off x="5166360" y="3767328"/>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Delayed reactions</a:t>
            </a:r>
            <a:endParaRPr lang="en-US" sz="1150" dirty="0"/>
          </a:p>
        </p:txBody>
      </p:sp>
      <p:sp>
        <p:nvSpPr>
          <p:cNvPr id="21" name="Shape 19"/>
          <p:cNvSpPr/>
          <p:nvPr/>
        </p:nvSpPr>
        <p:spPr>
          <a:xfrm>
            <a:off x="502920" y="4334256"/>
            <a:ext cx="11183112" cy="566928"/>
          </a:xfrm>
          <a:prstGeom prst="rect">
            <a:avLst/>
          </a:prstGeom>
          <a:solidFill>
            <a:srgbClr val="FFFFFF"/>
          </a:solidFill>
          <a:ln w="9525">
            <a:solidFill>
              <a:srgbClr val="DDD5CE"/>
            </a:solidFill>
            <a:prstDash val="solid"/>
          </a:ln>
        </p:spPr>
      </p:sp>
      <p:sp>
        <p:nvSpPr>
          <p:cNvPr id="22" name="Text 20"/>
          <p:cNvSpPr/>
          <p:nvPr/>
        </p:nvSpPr>
        <p:spPr>
          <a:xfrm>
            <a:off x="685800" y="4334256"/>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Type E</a:t>
            </a:r>
            <a:endParaRPr lang="en-US" sz="1150" dirty="0"/>
          </a:p>
        </p:txBody>
      </p:sp>
      <p:sp>
        <p:nvSpPr>
          <p:cNvPr id="23" name="Text 21"/>
          <p:cNvSpPr/>
          <p:nvPr/>
        </p:nvSpPr>
        <p:spPr>
          <a:xfrm>
            <a:off x="5166360" y="4334256"/>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Withdrawal effects</a:t>
            </a:r>
            <a:endParaRPr lang="en-US" sz="1150" dirty="0"/>
          </a:p>
        </p:txBody>
      </p:sp>
      <p:sp>
        <p:nvSpPr>
          <p:cNvPr id="24" name="Shape 22"/>
          <p:cNvSpPr/>
          <p:nvPr/>
        </p:nvSpPr>
        <p:spPr>
          <a:xfrm>
            <a:off x="502920" y="4901184"/>
            <a:ext cx="11183112" cy="566928"/>
          </a:xfrm>
          <a:prstGeom prst="rect">
            <a:avLst/>
          </a:prstGeom>
          <a:solidFill>
            <a:srgbClr val="FAF8F6"/>
          </a:solidFill>
          <a:ln w="9525">
            <a:solidFill>
              <a:srgbClr val="DDD5CE"/>
            </a:solidFill>
            <a:prstDash val="solid"/>
          </a:ln>
        </p:spPr>
      </p:sp>
      <p:sp>
        <p:nvSpPr>
          <p:cNvPr id="25" name="Text 23"/>
          <p:cNvSpPr/>
          <p:nvPr/>
        </p:nvSpPr>
        <p:spPr>
          <a:xfrm>
            <a:off x="685800" y="4901184"/>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Type F</a:t>
            </a:r>
            <a:endParaRPr lang="en-US" sz="1150" dirty="0"/>
          </a:p>
        </p:txBody>
      </p:sp>
      <p:sp>
        <p:nvSpPr>
          <p:cNvPr id="26" name="Text 24"/>
          <p:cNvSpPr/>
          <p:nvPr/>
        </p:nvSpPr>
        <p:spPr>
          <a:xfrm>
            <a:off x="5166360" y="4901184"/>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Treatment failure</a:t>
            </a:r>
            <a:endParaRPr lang="en-US" sz="1150" dirty="0"/>
          </a:p>
        </p:txBody>
      </p:sp>
      <p:sp>
        <p:nvSpPr>
          <p:cNvPr id="27" name="Text 25"/>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5 · Clinical Trials, Pharmacovigilance &amp; Evidence-Based Pharmacy</a:t>
            </a:r>
            <a:endParaRPr lang="en-US" sz="950" dirty="0"/>
          </a:p>
        </p:txBody>
      </p:sp>
      <p:sp>
        <p:nvSpPr>
          <p:cNvPr id="28" name="Text 26"/>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PHARMACOVIGILANCE &amp; ADR REPORTING</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Digital ADR Reporting Tools</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Tool Type</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Web-Based Systems</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Online reporting platforms</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Mobile Applications</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Real-time reporting</a:t>
            </a:r>
            <a:endParaRPr lang="en-US" sz="1150" dirty="0"/>
          </a:p>
        </p:txBody>
      </p:sp>
      <p:sp>
        <p:nvSpPr>
          <p:cNvPr id="15" name="Shape 13"/>
          <p:cNvSpPr/>
          <p:nvPr/>
        </p:nvSpPr>
        <p:spPr>
          <a:xfrm>
            <a:off x="502920" y="3383280"/>
            <a:ext cx="11183112" cy="658368"/>
          </a:xfrm>
          <a:prstGeom prst="rect">
            <a:avLst/>
          </a:prstGeom>
          <a:solidFill>
            <a:srgbClr val="FFFFFF"/>
          </a:solidFill>
          <a:ln w="9525">
            <a:solidFill>
              <a:srgbClr val="DDD5CE"/>
            </a:solidFill>
            <a:prstDash val="solid"/>
          </a:ln>
        </p:spPr>
      </p:sp>
      <p:sp>
        <p:nvSpPr>
          <p:cNvPr id="16" name="Text 14"/>
          <p:cNvSpPr/>
          <p:nvPr/>
        </p:nvSpPr>
        <p:spPr>
          <a:xfrm>
            <a:off x="685800" y="3383280"/>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Integrated Systems</a:t>
            </a:r>
            <a:endParaRPr lang="en-US" sz="1150" dirty="0"/>
          </a:p>
        </p:txBody>
      </p:sp>
      <p:sp>
        <p:nvSpPr>
          <p:cNvPr id="17" name="Text 15"/>
          <p:cNvSpPr/>
          <p:nvPr/>
        </p:nvSpPr>
        <p:spPr>
          <a:xfrm>
            <a:off x="5166360" y="3383280"/>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Linked with EHR</a:t>
            </a:r>
            <a:endParaRPr lang="en-US" sz="1150" dirty="0"/>
          </a:p>
        </p:txBody>
      </p:sp>
      <p:sp>
        <p:nvSpPr>
          <p:cNvPr id="18" name="Text 16"/>
          <p:cNvSpPr/>
          <p:nvPr/>
        </p:nvSpPr>
        <p:spPr>
          <a:xfrm>
            <a:off x="502920" y="4242816"/>
            <a:ext cx="11183112" cy="2020824"/>
          </a:xfrm>
          <a:prstGeom prst="rect">
            <a:avLst/>
          </a:prstGeom>
          <a:noFill/>
          <a:ln/>
        </p:spPr>
        <p:txBody>
          <a:bodyPr wrap="square" lIns="0" tIns="0" rIns="0" bIns="0" rtlCol="0" anchor="ctr"/>
          <a:lstStyle/>
          <a:p>
            <a:pPr indent="0" marL="0">
              <a:lnSpc>
                <a:spcPts val="1600"/>
              </a:lnSpc>
              <a:buNone/>
            </a:pPr>
            <a:r>
              <a:rPr lang="en-US" sz="1200" i="1" dirty="0">
                <a:solidFill>
                  <a:srgbClr val="6E6A63"/>
                </a:solidFill>
                <a:latin typeface="Calibri" pitchFamily="34" charset="0"/>
                <a:ea typeface="Calibri" pitchFamily="34" charset="-122"/>
                <a:cs typeface="Calibri" pitchFamily="34" charset="-120"/>
              </a:rPr>
              <a:t>AI-based tools automatically analyze reported data, identify patterns, and generate alerts. Natural language processing (NLP) can extract information from clinical notes and reports, improving data collection. A key…</a:t>
            </a:r>
            <a:endParaRPr lang="en-US" sz="1200" dirty="0"/>
          </a:p>
        </p:txBody>
      </p:sp>
      <p:sp>
        <p:nvSpPr>
          <p:cNvPr id="19" name="Text 1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5 · Clinical Trials, Pharmacovigilance &amp; Evidence-Based Pharmacy</a:t>
            </a:r>
            <a:endParaRPr lang="en-US" sz="950" dirty="0"/>
          </a:p>
        </p:txBody>
      </p:sp>
      <p:sp>
        <p:nvSpPr>
          <p:cNvPr id="20" name="Text 1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PHARMACOVIGILANCE &amp; ADR REPORTING</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Unit 3 summary</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600"/>
              </a:lnSpc>
              <a:buNone/>
            </a:pPr>
            <a:r>
              <a:rPr lang="en-US" sz="1750" dirty="0">
                <a:solidFill>
                  <a:srgbClr val="26221F"/>
                </a:solidFill>
                <a:latin typeface="Calibri" pitchFamily="34" charset="0"/>
                <a:ea typeface="Calibri" pitchFamily="34" charset="-122"/>
                <a:cs typeface="Calibri" pitchFamily="34" charset="-120"/>
              </a:rPr>
              <a:t>Pharmacovigilance and ADR reporting are essential for ensuring drug safety and protecting public health. The integration of AI has transformed pharmacovigilance by enabling real-time monitoring, predictive analysis, and improved decision-making.</a:t>
            </a:r>
            <a:endParaRPr lang="en-US" sz="1750" dirty="0"/>
          </a:p>
        </p:txBody>
      </p:sp>
      <p:sp>
        <p:nvSpPr>
          <p:cNvPr id="7" name="Shape 5"/>
          <p:cNvSpPr/>
          <p:nvPr/>
        </p:nvSpPr>
        <p:spPr>
          <a:xfrm>
            <a:off x="7680960" y="1536192"/>
            <a:ext cx="4005072" cy="2263140"/>
          </a:xfrm>
          <a:prstGeom prst="roundRect">
            <a:avLst>
              <a:gd name="adj" fmla="val 2424"/>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40360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Understanding ADR types, reporting systems, and risk management strategies is crucial for pharmacy students, as it prepares them for responsible roles in healthcare and drug safety management.</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5 · Clinical Trials, Pharmacovigilance &amp; Evidence-Based Pharmacy</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EVIDENCE-BASED PHARMACY &amp; AI-DRIVEN LITERATURE ANALYSIS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Evidence-Based Pharmacy (EBP)</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Evidence-Based Pharmacy (EBP) is a systematic approach to clinical decision-making that integrates the best available scientific evidence, clinical expertise, and patient preferences. In modern healthcare, the rapid growth of scientific literature has made it challenging for healthcare professionals to stay updated. Artificial Intelligence (AI) has emerged as a powerful tool to support evidence-based practice by enabling efficient literature analysis, data synthesis, and decision-making.</a:t>
            </a:r>
            <a:endParaRPr lang="en-US" sz="155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AI-driven systems enhance the ability of pharmacists to interpret research findings and apply them in clinical practice.</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5 · Clinical Trials, Pharmacovigilance &amp; Evidence-Based Pharmacy</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EVIDENCE-BASED PHARMACY &amp; AI-DRIVEN LITERATURE ANALYSIS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Evidence-Based Medicine Principles</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Step</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Question Formulation</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Define clinical problem</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Evidence Retrieval</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Search for relevant data</a:t>
            </a:r>
            <a:endParaRPr lang="en-US" sz="1150" dirty="0"/>
          </a:p>
        </p:txBody>
      </p:sp>
      <p:sp>
        <p:nvSpPr>
          <p:cNvPr id="15" name="Shape 13"/>
          <p:cNvSpPr/>
          <p:nvPr/>
        </p:nvSpPr>
        <p:spPr>
          <a:xfrm>
            <a:off x="502920" y="3383280"/>
            <a:ext cx="11183112" cy="658368"/>
          </a:xfrm>
          <a:prstGeom prst="rect">
            <a:avLst/>
          </a:prstGeom>
          <a:solidFill>
            <a:srgbClr val="FFFFFF"/>
          </a:solidFill>
          <a:ln w="9525">
            <a:solidFill>
              <a:srgbClr val="DDD5CE"/>
            </a:solidFill>
            <a:prstDash val="solid"/>
          </a:ln>
        </p:spPr>
      </p:sp>
      <p:sp>
        <p:nvSpPr>
          <p:cNvPr id="16" name="Text 14"/>
          <p:cNvSpPr/>
          <p:nvPr/>
        </p:nvSpPr>
        <p:spPr>
          <a:xfrm>
            <a:off x="685800" y="3383280"/>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Critical Appraisal</a:t>
            </a:r>
            <a:endParaRPr lang="en-US" sz="1150" dirty="0"/>
          </a:p>
        </p:txBody>
      </p:sp>
      <p:sp>
        <p:nvSpPr>
          <p:cNvPr id="17" name="Text 15"/>
          <p:cNvSpPr/>
          <p:nvPr/>
        </p:nvSpPr>
        <p:spPr>
          <a:xfrm>
            <a:off x="5166360" y="3383280"/>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Evaluate quality of evidence</a:t>
            </a:r>
            <a:endParaRPr lang="en-US" sz="1150" dirty="0"/>
          </a:p>
        </p:txBody>
      </p:sp>
      <p:sp>
        <p:nvSpPr>
          <p:cNvPr id="18" name="Shape 16"/>
          <p:cNvSpPr/>
          <p:nvPr/>
        </p:nvSpPr>
        <p:spPr>
          <a:xfrm>
            <a:off x="502920" y="4041648"/>
            <a:ext cx="11183112" cy="658368"/>
          </a:xfrm>
          <a:prstGeom prst="rect">
            <a:avLst/>
          </a:prstGeom>
          <a:solidFill>
            <a:srgbClr val="FAF8F6"/>
          </a:solidFill>
          <a:ln w="9525">
            <a:solidFill>
              <a:srgbClr val="DDD5CE"/>
            </a:solidFill>
            <a:prstDash val="solid"/>
          </a:ln>
        </p:spPr>
      </p:sp>
      <p:sp>
        <p:nvSpPr>
          <p:cNvPr id="19" name="Text 17"/>
          <p:cNvSpPr/>
          <p:nvPr/>
        </p:nvSpPr>
        <p:spPr>
          <a:xfrm>
            <a:off x="685800" y="4041648"/>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Application</a:t>
            </a:r>
            <a:endParaRPr lang="en-US" sz="1150" dirty="0"/>
          </a:p>
        </p:txBody>
      </p:sp>
      <p:sp>
        <p:nvSpPr>
          <p:cNvPr id="20" name="Text 18"/>
          <p:cNvSpPr/>
          <p:nvPr/>
        </p:nvSpPr>
        <p:spPr>
          <a:xfrm>
            <a:off x="5166360" y="4041648"/>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Apply findings to practice</a:t>
            </a:r>
            <a:endParaRPr lang="en-US" sz="1150" dirty="0"/>
          </a:p>
        </p:txBody>
      </p:sp>
      <p:sp>
        <p:nvSpPr>
          <p:cNvPr id="21" name="Shape 19"/>
          <p:cNvSpPr/>
          <p:nvPr/>
        </p:nvSpPr>
        <p:spPr>
          <a:xfrm>
            <a:off x="502920" y="4700016"/>
            <a:ext cx="11183112" cy="658368"/>
          </a:xfrm>
          <a:prstGeom prst="rect">
            <a:avLst/>
          </a:prstGeom>
          <a:solidFill>
            <a:srgbClr val="FFFFFF"/>
          </a:solidFill>
          <a:ln w="9525">
            <a:solidFill>
              <a:srgbClr val="DDD5CE"/>
            </a:solidFill>
            <a:prstDash val="solid"/>
          </a:ln>
        </p:spPr>
      </p:sp>
      <p:sp>
        <p:nvSpPr>
          <p:cNvPr id="22" name="Text 20"/>
          <p:cNvSpPr/>
          <p:nvPr/>
        </p:nvSpPr>
        <p:spPr>
          <a:xfrm>
            <a:off x="685800" y="4700016"/>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Evaluation</a:t>
            </a:r>
            <a:endParaRPr lang="en-US" sz="1150" dirty="0"/>
          </a:p>
        </p:txBody>
      </p:sp>
      <p:sp>
        <p:nvSpPr>
          <p:cNvPr id="23" name="Text 21"/>
          <p:cNvSpPr/>
          <p:nvPr/>
        </p:nvSpPr>
        <p:spPr>
          <a:xfrm>
            <a:off x="5166360" y="4700016"/>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Assess outcomes</a:t>
            </a:r>
            <a:endParaRPr lang="en-US" sz="1150" dirty="0"/>
          </a:p>
        </p:txBody>
      </p:sp>
      <p:sp>
        <p:nvSpPr>
          <p:cNvPr id="24" name="Text 22"/>
          <p:cNvSpPr/>
          <p:nvPr/>
        </p:nvSpPr>
        <p:spPr>
          <a:xfrm>
            <a:off x="502920" y="5559552"/>
            <a:ext cx="11183112" cy="704088"/>
          </a:xfrm>
          <a:prstGeom prst="rect">
            <a:avLst/>
          </a:prstGeom>
          <a:noFill/>
          <a:ln/>
        </p:spPr>
        <p:txBody>
          <a:bodyPr wrap="square" lIns="0" tIns="0" rIns="0" bIns="0" rtlCol="0" anchor="ctr"/>
          <a:lstStyle/>
          <a:p>
            <a:pPr indent="0" marL="0">
              <a:lnSpc>
                <a:spcPts val="1600"/>
              </a:lnSpc>
              <a:buNone/>
            </a:pPr>
            <a:r>
              <a:rPr lang="en-US" sz="1200" i="1" dirty="0">
                <a:solidFill>
                  <a:srgbClr val="6E6A63"/>
                </a:solidFill>
                <a:latin typeface="Calibri" pitchFamily="34" charset="0"/>
                <a:ea typeface="Calibri" pitchFamily="34" charset="-122"/>
                <a:cs typeface="Calibri" pitchFamily="34" charset="-120"/>
              </a:rPr>
              <a:t>AI tools support each step by automating literature search, summarizing research, and providing decision support. A key point is that AI streamlines the ebm process and improves efficiency.</a:t>
            </a:r>
            <a:endParaRPr lang="en-US" sz="1200" dirty="0"/>
          </a:p>
        </p:txBody>
      </p:sp>
      <p:sp>
        <p:nvSpPr>
          <p:cNvPr id="25" name="Text 23"/>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5 · Clinical Trials, Pharmacovigilance &amp; Evidence-Based Pharmacy</a:t>
            </a:r>
            <a:endParaRPr lang="en-US" sz="950" dirty="0"/>
          </a:p>
        </p:txBody>
      </p:sp>
      <p:sp>
        <p:nvSpPr>
          <p:cNvPr id="26" name="Text 24"/>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EVIDENCE-BASED PHARMACY &amp; AI-DRIVEN LITERATURE ANALYSIS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Translation of evidence</a:t>
            </a:r>
            <a:endParaRPr lang="en-US" sz="2900" dirty="0"/>
          </a:p>
        </p:txBody>
      </p:sp>
      <p:sp>
        <p:nvSpPr>
          <p:cNvPr id="6" name="Text 4"/>
          <p:cNvSpPr/>
          <p:nvPr/>
        </p:nvSpPr>
        <p:spPr>
          <a:xfrm>
            <a:off x="502920" y="1536192"/>
            <a:ext cx="11183112" cy="4297680"/>
          </a:xfrm>
          <a:prstGeom prst="rect">
            <a:avLst/>
          </a:prstGeom>
          <a:noFill/>
          <a:ln/>
        </p:spPr>
        <p:txBody>
          <a:bodyPr wrap="square" lIns="0" tIns="0" rIns="0" bIns="0" rtlCol="0" anchor="t"/>
          <a:lstStyle/>
          <a:p>
            <a:pPr indent="0" marL="0">
              <a:lnSpc>
                <a:spcPts val="2800"/>
              </a:lnSpc>
              <a:buNone/>
            </a:pPr>
            <a:r>
              <a:rPr lang="en-US" sz="1750" dirty="0">
                <a:solidFill>
                  <a:srgbClr val="26221F"/>
                </a:solidFill>
                <a:latin typeface="Calibri" pitchFamily="34" charset="0"/>
                <a:ea typeface="Calibri" pitchFamily="34" charset="-122"/>
                <a:cs typeface="Calibri" pitchFamily="34" charset="-120"/>
              </a:rPr>
              <a:t>Translation of evidence can be classified into clinical application, policy development, and patient education. Clinical application involves using evidence in treatment decisions, policy development involves creating guidelines, and patient education involves informing patients about treatment options.</a:t>
            </a:r>
            <a:endParaRPr lang="en-US" sz="1750" dirty="0"/>
          </a:p>
        </p:txBody>
      </p:sp>
      <p:sp>
        <p:nvSpPr>
          <p:cNvPr id="7" name="Text 5"/>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5 · Clinical Trials, Pharmacovigilance &amp; Evidence-Based Pharmacy</a:t>
            </a:r>
            <a:endParaRPr lang="en-US" sz="950" dirty="0"/>
          </a:p>
        </p:txBody>
      </p:sp>
      <p:sp>
        <p:nvSpPr>
          <p:cNvPr id="8" name="Text 6"/>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EVIDENCE-BASED PHARMACY &amp; AI-DRIVEN LITERATURE ANALYSIS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Unit 4 summary</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600"/>
              </a:lnSpc>
              <a:buNone/>
            </a:pPr>
            <a:r>
              <a:rPr lang="en-US" sz="1750" dirty="0">
                <a:solidFill>
                  <a:srgbClr val="26221F"/>
                </a:solidFill>
                <a:latin typeface="Calibri" pitchFamily="34" charset="0"/>
                <a:ea typeface="Calibri" pitchFamily="34" charset="-122"/>
                <a:cs typeface="Calibri" pitchFamily="34" charset="-120"/>
              </a:rPr>
              <a:t>Evidence-Based Pharmacy and AI-driven literature analysis are essential for modern healthcare practice. AI enhances the ability of pharmacists to access, analyze, and apply scientific evidence, improving patient outcomes and healthcare quality.</a:t>
            </a:r>
            <a:endParaRPr lang="en-US" sz="1750" dirty="0"/>
          </a:p>
        </p:txBody>
      </p:sp>
      <p:sp>
        <p:nvSpPr>
          <p:cNvPr id="7" name="Shape 5"/>
          <p:cNvSpPr/>
          <p:nvPr/>
        </p:nvSpPr>
        <p:spPr>
          <a:xfrm>
            <a:off x="7680960" y="1536192"/>
            <a:ext cx="4005072" cy="2020824"/>
          </a:xfrm>
          <a:prstGeom prst="roundRect">
            <a:avLst>
              <a:gd name="adj" fmla="val 2715"/>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161288"/>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Understanding these concepts is crucial for pharmacy students, as it prepares them for advanced roles in research and clinical practice.</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5 · Clinical Trials, Pharmacovigilance &amp; Evidence-Based Pharmacy</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00F"/>
        </a:solidFill>
      </p:bgPr>
    </p:bg>
    <p:spTree>
      <p:nvGrpSpPr>
        <p:cNvPr id="1" name=""/>
        <p:cNvGrpSpPr/>
        <p:nvPr/>
      </p:nvGrpSpPr>
      <p:grpSpPr>
        <a:xfrm>
          <a:off x="0" y="0"/>
          <a:ext cx="0" cy="0"/>
          <a:chOff x="0" y="0"/>
          <a:chExt cx="0" cy="0"/>
        </a:xfrm>
      </p:grpSpPr>
      <p:sp>
        <p:nvSpPr>
          <p:cNvPr id="2" name="Shape 0"/>
          <p:cNvSpPr/>
          <p:nvPr/>
        </p:nvSpPr>
        <p:spPr>
          <a:xfrm>
            <a:off x="10058400" y="-1097280"/>
            <a:ext cx="4023360" cy="4023360"/>
          </a:xfrm>
          <a:prstGeom prst="ellipse">
            <a:avLst/>
          </a:prstGeom>
          <a:solidFill>
            <a:srgbClr val="8C1515">
              <a:alpha val="28000"/>
            </a:srgbClr>
          </a:solidFill>
          <a:ln/>
        </p:spPr>
      </p:sp>
      <p:sp>
        <p:nvSpPr>
          <p:cNvPr id="3" name="Text 1"/>
          <p:cNvSpPr/>
          <p:nvPr/>
        </p:nvSpPr>
        <p:spPr>
          <a:xfrm>
            <a:off x="777240" y="749808"/>
            <a:ext cx="8229600" cy="274320"/>
          </a:xfrm>
          <a:prstGeom prst="rect">
            <a:avLst/>
          </a:prstGeom>
          <a:noFill/>
          <a:ln/>
        </p:spPr>
        <p:txBody>
          <a:bodyPr wrap="square" lIns="0" tIns="0" rIns="0" bIns="0" rtlCol="0" anchor="ctr"/>
          <a:lstStyle/>
          <a:p>
            <a:pPr indent="0" marL="0">
              <a:buNone/>
            </a:pPr>
            <a:r>
              <a:rPr lang="en-US" sz="1100" b="1" spc="220" kern="0" dirty="0">
                <a:solidFill>
                  <a:srgbClr val="9A7B3F"/>
                </a:solidFill>
                <a:latin typeface="Calibri" pitchFamily="34" charset="0"/>
                <a:ea typeface="Calibri" pitchFamily="34" charset="-122"/>
                <a:cs typeface="Calibri" pitchFamily="34" charset="-120"/>
              </a:rPr>
              <a:t>THE PRACTICALS</a:t>
            </a:r>
            <a:endParaRPr lang="en-US" sz="1100" dirty="0"/>
          </a:p>
        </p:txBody>
      </p:sp>
      <p:sp>
        <p:nvSpPr>
          <p:cNvPr id="4" name="Text 2"/>
          <p:cNvSpPr/>
          <p:nvPr/>
        </p:nvSpPr>
        <p:spPr>
          <a:xfrm>
            <a:off x="777240" y="1097280"/>
            <a:ext cx="100584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5 assessed practicals</a:t>
            </a:r>
            <a:endParaRPr lang="en-US" sz="3400" dirty="0"/>
          </a:p>
        </p:txBody>
      </p:sp>
      <p:sp>
        <p:nvSpPr>
          <p:cNvPr id="5" name="Text 3"/>
          <p:cNvSpPr/>
          <p:nvPr/>
        </p:nvSpPr>
        <p:spPr>
          <a:xfrm>
            <a:off x="777240" y="1847088"/>
            <a:ext cx="10241280" cy="749808"/>
          </a:xfrm>
          <a:prstGeom prst="rect">
            <a:avLst/>
          </a:prstGeom>
          <a:noFill/>
          <a:ln/>
        </p:spPr>
        <p:txBody>
          <a:bodyPr wrap="square" lIns="0" tIns="0" rIns="0" bIns="0" rtlCol="0" anchor="ctr"/>
          <a:lstStyle/>
          <a:p>
            <a:pPr indent="0" marL="0">
              <a:lnSpc>
                <a:spcPts val="1900"/>
              </a:lnSpc>
              <a:buNone/>
            </a:pPr>
            <a:r>
              <a:rPr lang="en-US" sz="1300" dirty="0">
                <a:solidFill>
                  <a:srgbClr val="C9C2BA"/>
                </a:solidFill>
                <a:latin typeface="Calibri" pitchFamily="34" charset="0"/>
                <a:ea typeface="Calibri" pitchFamily="34" charset="-122"/>
                <a:cs typeface="Calibri" pitchFamily="34" charset="-120"/>
              </a:rPr>
              <a:t>Every practical follows the institutional standard — Aim, Principle, Theory, Requirements, Procedure and Guided Method — and is submitted to faculty for evaluation. Verified practicals count towards the hands-on experience certificate.</a:t>
            </a:r>
            <a:endParaRPr lang="en-US" sz="1300" dirty="0"/>
          </a:p>
        </p:txBody>
      </p:sp>
      <p:sp>
        <p:nvSpPr>
          <p:cNvPr id="6" name="Shape 4"/>
          <p:cNvSpPr/>
          <p:nvPr/>
        </p:nvSpPr>
        <p:spPr>
          <a:xfrm>
            <a:off x="777240" y="2761488"/>
            <a:ext cx="10607040" cy="658368"/>
          </a:xfrm>
          <a:prstGeom prst="roundRect">
            <a:avLst>
              <a:gd name="adj" fmla="val 8333"/>
            </a:avLst>
          </a:prstGeom>
          <a:solidFill>
            <a:srgbClr val="241A19"/>
          </a:solidFill>
          <a:ln w="9525">
            <a:solidFill>
              <a:srgbClr val="3E2A28"/>
            </a:solidFill>
            <a:prstDash val="solid"/>
          </a:ln>
        </p:spPr>
      </p:sp>
      <p:sp>
        <p:nvSpPr>
          <p:cNvPr id="7" name="Shape 5"/>
          <p:cNvSpPr/>
          <p:nvPr/>
        </p:nvSpPr>
        <p:spPr>
          <a:xfrm>
            <a:off x="1097280" y="2898648"/>
            <a:ext cx="384048" cy="384048"/>
          </a:xfrm>
          <a:prstGeom prst="ellipse">
            <a:avLst/>
          </a:prstGeom>
          <a:solidFill>
            <a:srgbClr val="8C1515"/>
          </a:solidFill>
          <a:ln/>
        </p:spPr>
      </p:sp>
      <p:sp>
        <p:nvSpPr>
          <p:cNvPr id="8" name="Text 6"/>
          <p:cNvSpPr/>
          <p:nvPr/>
        </p:nvSpPr>
        <p:spPr>
          <a:xfrm>
            <a:off x="1097280"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664208" y="2834640"/>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5 · Unit 1 · Practical 2</a:t>
            </a:r>
            <a:endParaRPr lang="en-US" sz="1000" dirty="0"/>
          </a:p>
        </p:txBody>
      </p:sp>
      <p:sp>
        <p:nvSpPr>
          <p:cNvPr id="10" name="Text 8"/>
          <p:cNvSpPr/>
          <p:nvPr/>
        </p:nvSpPr>
        <p:spPr>
          <a:xfrm>
            <a:off x="1664208" y="3054096"/>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Ethics Committee (IEC/IRB) Approval Simulation</a:t>
            </a:r>
            <a:endParaRPr lang="en-US" sz="1350" dirty="0"/>
          </a:p>
        </p:txBody>
      </p:sp>
      <p:sp>
        <p:nvSpPr>
          <p:cNvPr id="11" name="Shape 9"/>
          <p:cNvSpPr/>
          <p:nvPr/>
        </p:nvSpPr>
        <p:spPr>
          <a:xfrm>
            <a:off x="777240" y="3520440"/>
            <a:ext cx="10607040" cy="658368"/>
          </a:xfrm>
          <a:prstGeom prst="roundRect">
            <a:avLst>
              <a:gd name="adj" fmla="val 8333"/>
            </a:avLst>
          </a:prstGeom>
          <a:solidFill>
            <a:srgbClr val="241A19"/>
          </a:solidFill>
          <a:ln w="9525">
            <a:solidFill>
              <a:srgbClr val="3E2A28"/>
            </a:solidFill>
            <a:prstDash val="solid"/>
          </a:ln>
        </p:spPr>
      </p:sp>
      <p:sp>
        <p:nvSpPr>
          <p:cNvPr id="12" name="Shape 10"/>
          <p:cNvSpPr/>
          <p:nvPr/>
        </p:nvSpPr>
        <p:spPr>
          <a:xfrm>
            <a:off x="1097280" y="3657600"/>
            <a:ext cx="384048" cy="384048"/>
          </a:xfrm>
          <a:prstGeom prst="ellipse">
            <a:avLst/>
          </a:prstGeom>
          <a:solidFill>
            <a:srgbClr val="8C1515"/>
          </a:solidFill>
          <a:ln/>
        </p:spPr>
      </p:sp>
      <p:sp>
        <p:nvSpPr>
          <p:cNvPr id="13" name="Text 11"/>
          <p:cNvSpPr/>
          <p:nvPr/>
        </p:nvSpPr>
        <p:spPr>
          <a:xfrm>
            <a:off x="1097280" y="3657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1664208" y="3593592"/>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5 · Unit 1 · Practical 3</a:t>
            </a:r>
            <a:endParaRPr lang="en-US" sz="1000" dirty="0"/>
          </a:p>
        </p:txBody>
      </p:sp>
      <p:sp>
        <p:nvSpPr>
          <p:cNvPr id="15" name="Text 13"/>
          <p:cNvSpPr/>
          <p:nvPr/>
        </p:nvSpPr>
        <p:spPr>
          <a:xfrm>
            <a:off x="1664208" y="3813048"/>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Clinical Trial Audit Readiness Challenge</a:t>
            </a:r>
            <a:endParaRPr lang="en-US" sz="1350" dirty="0"/>
          </a:p>
        </p:txBody>
      </p:sp>
      <p:sp>
        <p:nvSpPr>
          <p:cNvPr id="16" name="Shape 14"/>
          <p:cNvSpPr/>
          <p:nvPr/>
        </p:nvSpPr>
        <p:spPr>
          <a:xfrm>
            <a:off x="777240" y="4279392"/>
            <a:ext cx="10607040" cy="658368"/>
          </a:xfrm>
          <a:prstGeom prst="roundRect">
            <a:avLst>
              <a:gd name="adj" fmla="val 8333"/>
            </a:avLst>
          </a:prstGeom>
          <a:solidFill>
            <a:srgbClr val="241A19"/>
          </a:solidFill>
          <a:ln w="9525">
            <a:solidFill>
              <a:srgbClr val="3E2A28"/>
            </a:solidFill>
            <a:prstDash val="solid"/>
          </a:ln>
        </p:spPr>
      </p:sp>
      <p:sp>
        <p:nvSpPr>
          <p:cNvPr id="17" name="Shape 15"/>
          <p:cNvSpPr/>
          <p:nvPr/>
        </p:nvSpPr>
        <p:spPr>
          <a:xfrm>
            <a:off x="1097280" y="4416552"/>
            <a:ext cx="384048" cy="384048"/>
          </a:xfrm>
          <a:prstGeom prst="ellipse">
            <a:avLst/>
          </a:prstGeom>
          <a:solidFill>
            <a:srgbClr val="8C1515"/>
          </a:solidFill>
          <a:ln/>
        </p:spPr>
      </p:sp>
      <p:sp>
        <p:nvSpPr>
          <p:cNvPr id="18" name="Text 16"/>
          <p:cNvSpPr/>
          <p:nvPr/>
        </p:nvSpPr>
        <p:spPr>
          <a:xfrm>
            <a:off x="1097280" y="44165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664208" y="4352544"/>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5 · Unit 1 · Practical 6 · Capstone…</a:t>
            </a:r>
            <a:endParaRPr lang="en-US" sz="1000" dirty="0"/>
          </a:p>
        </p:txBody>
      </p:sp>
      <p:sp>
        <p:nvSpPr>
          <p:cNvPr id="20" name="Text 18"/>
          <p:cNvSpPr/>
          <p:nvPr/>
        </p:nvSpPr>
        <p:spPr>
          <a:xfrm>
            <a:off x="1664208" y="4572000"/>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Become the Clinical Trial Manager</a:t>
            </a:r>
            <a:endParaRPr lang="en-US" sz="1350" dirty="0"/>
          </a:p>
        </p:txBody>
      </p:sp>
      <p:sp>
        <p:nvSpPr>
          <p:cNvPr id="21" name="Shape 19"/>
          <p:cNvSpPr/>
          <p:nvPr/>
        </p:nvSpPr>
        <p:spPr>
          <a:xfrm>
            <a:off x="777240" y="5038344"/>
            <a:ext cx="10607040" cy="658368"/>
          </a:xfrm>
          <a:prstGeom prst="roundRect">
            <a:avLst>
              <a:gd name="adj" fmla="val 8333"/>
            </a:avLst>
          </a:prstGeom>
          <a:solidFill>
            <a:srgbClr val="241A19"/>
          </a:solidFill>
          <a:ln w="9525">
            <a:solidFill>
              <a:srgbClr val="3E2A28"/>
            </a:solidFill>
            <a:prstDash val="solid"/>
          </a:ln>
        </p:spPr>
      </p:sp>
      <p:sp>
        <p:nvSpPr>
          <p:cNvPr id="22" name="Shape 20"/>
          <p:cNvSpPr/>
          <p:nvPr/>
        </p:nvSpPr>
        <p:spPr>
          <a:xfrm>
            <a:off x="1097280" y="5175504"/>
            <a:ext cx="384048" cy="384048"/>
          </a:xfrm>
          <a:prstGeom prst="ellipse">
            <a:avLst/>
          </a:prstGeom>
          <a:solidFill>
            <a:srgbClr val="8C1515"/>
          </a:solidFill>
          <a:ln/>
        </p:spPr>
      </p:sp>
      <p:sp>
        <p:nvSpPr>
          <p:cNvPr id="23" name="Text 21"/>
          <p:cNvSpPr/>
          <p:nvPr/>
        </p:nvSpPr>
        <p:spPr>
          <a:xfrm>
            <a:off x="1097280" y="51755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1664208" y="5111496"/>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5 · Unit 4 · Practical 4</a:t>
            </a:r>
            <a:endParaRPr lang="en-US" sz="1000" dirty="0"/>
          </a:p>
        </p:txBody>
      </p:sp>
      <p:sp>
        <p:nvSpPr>
          <p:cNvPr id="25" name="Text 23"/>
          <p:cNvSpPr/>
          <p:nvPr/>
        </p:nvSpPr>
        <p:spPr>
          <a:xfrm>
            <a:off x="1664208" y="5330952"/>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Evidence-Based Therapy Escape Room — "The Right Prescription"</a:t>
            </a:r>
            <a:endParaRPr lang="en-US" sz="1350" dirty="0"/>
          </a:p>
        </p:txBody>
      </p:sp>
      <p:sp>
        <p:nvSpPr>
          <p:cNvPr id="26" name="Shape 24"/>
          <p:cNvSpPr/>
          <p:nvPr/>
        </p:nvSpPr>
        <p:spPr>
          <a:xfrm>
            <a:off x="777240" y="5797296"/>
            <a:ext cx="10607040" cy="658368"/>
          </a:xfrm>
          <a:prstGeom prst="roundRect">
            <a:avLst>
              <a:gd name="adj" fmla="val 8333"/>
            </a:avLst>
          </a:prstGeom>
          <a:solidFill>
            <a:srgbClr val="241A19"/>
          </a:solidFill>
          <a:ln w="9525">
            <a:solidFill>
              <a:srgbClr val="3E2A28"/>
            </a:solidFill>
            <a:prstDash val="solid"/>
          </a:ln>
        </p:spPr>
      </p:sp>
      <p:sp>
        <p:nvSpPr>
          <p:cNvPr id="27" name="Shape 25"/>
          <p:cNvSpPr/>
          <p:nvPr/>
        </p:nvSpPr>
        <p:spPr>
          <a:xfrm>
            <a:off x="1097280" y="5934456"/>
            <a:ext cx="384048" cy="384048"/>
          </a:xfrm>
          <a:prstGeom prst="ellipse">
            <a:avLst/>
          </a:prstGeom>
          <a:solidFill>
            <a:srgbClr val="8C1515"/>
          </a:solidFill>
          <a:ln/>
        </p:spPr>
      </p:sp>
      <p:sp>
        <p:nvSpPr>
          <p:cNvPr id="28" name="Text 26"/>
          <p:cNvSpPr/>
          <p:nvPr/>
        </p:nvSpPr>
        <p:spPr>
          <a:xfrm>
            <a:off x="1097280" y="5934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p:nvPr/>
        </p:nvSpPr>
        <p:spPr>
          <a:xfrm>
            <a:off x="1664208" y="5870448"/>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5 · Unit 4 · Practical 5</a:t>
            </a:r>
            <a:endParaRPr lang="en-US" sz="1000" dirty="0"/>
          </a:p>
        </p:txBody>
      </p:sp>
      <p:sp>
        <p:nvSpPr>
          <p:cNvPr id="30" name="Text 28"/>
          <p:cNvSpPr/>
          <p:nvPr/>
        </p:nvSpPr>
        <p:spPr>
          <a:xfrm>
            <a:off x="1664208" y="6089904"/>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AI-Driven Literature Analysis — "The Systematic Review Sprint"</a:t>
            </a:r>
            <a:endParaRPr lang="en-US" sz="1350" dirty="0"/>
          </a:p>
        </p:txBody>
      </p:sp>
      <p:sp>
        <p:nvSpPr>
          <p:cNvPr id="31" name="Text 29"/>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058"/>
                </a:solidFill>
                <a:latin typeface="Calibri" pitchFamily="34" charset="0"/>
                <a:ea typeface="Calibri" pitchFamily="34" charset="-122"/>
                <a:cs typeface="Calibri" pitchFamily="34" charset="-120"/>
              </a:rPr>
              <a:t>Module 5 · Clinical Trials, Pharmacovigilance &amp; Evidence-Based Pharmacy</a:t>
            </a:r>
            <a:endParaRPr lang="en-US" sz="950" dirty="0"/>
          </a:p>
        </p:txBody>
      </p:sp>
      <p:sp>
        <p:nvSpPr>
          <p:cNvPr id="32" name="Text 30"/>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9A7B3F"/>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5 · UNIT 1 · PRACTICAL 2</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Ethics Committee (IEC/IRB) Approval Simulation</a:t>
            </a:r>
            <a:endParaRPr lang="en-US" sz="29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understand the ethics review process and to evaluate whether a clinical trial protocol meets ethical and regulatory requirements, recommending approval, modification or rejection.</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No clinical trial may begin until an Institutional Ethics Committee (IEC) or Institutional Review Board (IRB) has independently reviewed and approved it. The committee exists to protect the rights, safety and well-being of participants — never to serve the sponsor or the investigator. The committee reviews a defined dossier: the protocol, the Investigator Brochure, the Informed Consent Form (ICF) and Patient Information Sheet, the investigator’s qualifications, and the insurance and compensation arrangements.</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Constitute the committee — Chairperson, Clinical Pharmacist, Physician, Legal Expert, Community Representative and the…</a:t>
            </a:r>
            <a:endParaRPr lang="en-US" sz="1150" dirty="0"/>
          </a:p>
        </p:txBody>
      </p:sp>
      <p:sp>
        <p:nvSpPr>
          <p:cNvPr id="16" name="Shape 14"/>
          <p:cNvSpPr/>
          <p:nvPr/>
        </p:nvSpPr>
        <p:spPr>
          <a:xfrm>
            <a:off x="6263640" y="2578608"/>
            <a:ext cx="292608" cy="292608"/>
          </a:xfrm>
          <a:prstGeom prst="ellipse">
            <a:avLst/>
          </a:prstGeom>
          <a:solidFill>
            <a:srgbClr val="F2E4E4"/>
          </a:solidFill>
          <a:ln/>
        </p:spPr>
      </p:sp>
      <p:sp>
        <p:nvSpPr>
          <p:cNvPr id="17" name="Text 15"/>
          <p:cNvSpPr/>
          <p:nvPr/>
        </p:nvSpPr>
        <p:spPr>
          <a:xfrm>
            <a:off x="6263640" y="257860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6032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Read the full protocol dossier and the accompanying consent documents.</a:t>
            </a:r>
            <a:endParaRPr lang="en-US" sz="1150" dirty="0"/>
          </a:p>
        </p:txBody>
      </p:sp>
      <p:sp>
        <p:nvSpPr>
          <p:cNvPr id="19" name="Shape 17"/>
          <p:cNvSpPr/>
          <p:nvPr/>
        </p:nvSpPr>
        <p:spPr>
          <a:xfrm>
            <a:off x="6263640" y="3218688"/>
            <a:ext cx="292608" cy="292608"/>
          </a:xfrm>
          <a:prstGeom prst="ellipse">
            <a:avLst/>
          </a:prstGeom>
          <a:solidFill>
            <a:srgbClr val="F2E4E4"/>
          </a:solidFill>
          <a:ln/>
        </p:spPr>
      </p:sp>
      <p:sp>
        <p:nvSpPr>
          <p:cNvPr id="20" name="Text 18"/>
          <p:cNvSpPr/>
          <p:nvPr/>
        </p:nvSpPr>
        <p:spPr>
          <a:xfrm>
            <a:off x="6263640" y="321868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0040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Complete the Ethics Review Checklist, marking each domain Adequate or Deficient.</a:t>
            </a:r>
            <a:endParaRPr lang="en-US" sz="1150" dirty="0"/>
          </a:p>
        </p:txBody>
      </p:sp>
      <p:sp>
        <p:nvSpPr>
          <p:cNvPr id="22" name="Shape 20"/>
          <p:cNvSpPr/>
          <p:nvPr/>
        </p:nvSpPr>
        <p:spPr>
          <a:xfrm>
            <a:off x="6263640" y="3858768"/>
            <a:ext cx="292608" cy="292608"/>
          </a:xfrm>
          <a:prstGeom prst="ellipse">
            <a:avLst/>
          </a:prstGeom>
          <a:solidFill>
            <a:srgbClr val="F2E4E4"/>
          </a:solidFill>
          <a:ln/>
        </p:spPr>
      </p:sp>
      <p:sp>
        <p:nvSpPr>
          <p:cNvPr id="23" name="Text 21"/>
          <p:cNvSpPr/>
          <p:nvPr/>
        </p:nvSpPr>
        <p:spPr>
          <a:xfrm>
            <a:off x="6263640" y="385876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84048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Assess the scientific rationale, inclusion and exclusion criteria and the risk–benefit ratio.</a:t>
            </a:r>
            <a:endParaRPr lang="en-US" sz="1150" dirty="0"/>
          </a:p>
        </p:txBody>
      </p:sp>
      <p:sp>
        <p:nvSpPr>
          <p:cNvPr id="25" name="Shape 23"/>
          <p:cNvSpPr/>
          <p:nvPr/>
        </p:nvSpPr>
        <p:spPr>
          <a:xfrm>
            <a:off x="6263640" y="4498848"/>
            <a:ext cx="292608" cy="292608"/>
          </a:xfrm>
          <a:prstGeom prst="ellipse">
            <a:avLst/>
          </a:prstGeom>
          <a:solidFill>
            <a:srgbClr val="F2E4E4"/>
          </a:solidFill>
          <a:ln/>
        </p:spPr>
      </p:sp>
      <p:sp>
        <p:nvSpPr>
          <p:cNvPr id="26" name="Text 24"/>
          <p:cNvSpPr/>
          <p:nvPr/>
        </p:nvSpPr>
        <p:spPr>
          <a:xfrm>
            <a:off x="6263640" y="449884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48056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Examine patient confidentiality, compensation for trial-related injury and insurance cover.</a:t>
            </a:r>
            <a:endParaRPr lang="en-US" sz="1150" dirty="0"/>
          </a:p>
        </p:txBody>
      </p:sp>
      <p:sp>
        <p:nvSpPr>
          <p:cNvPr id="28" name="Shape 26"/>
          <p:cNvSpPr/>
          <p:nvPr/>
        </p:nvSpPr>
        <p:spPr>
          <a:xfrm>
            <a:off x="6263640" y="5138928"/>
            <a:ext cx="292608" cy="292608"/>
          </a:xfrm>
          <a:prstGeom prst="ellipse">
            <a:avLst/>
          </a:prstGeom>
          <a:solidFill>
            <a:srgbClr val="F2E4E4"/>
          </a:solidFill>
          <a:ln/>
        </p:spPr>
      </p:sp>
      <p:sp>
        <p:nvSpPr>
          <p:cNvPr id="29" name="Text 27"/>
          <p:cNvSpPr/>
          <p:nvPr/>
        </p:nvSpPr>
        <p:spPr>
          <a:xfrm>
            <a:off x="6263640" y="51389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675120" y="512064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Check the safeguards for any vulnerable population and the voluntariness of the consent process.</a:t>
            </a:r>
            <a:endParaRPr lang="en-US" sz="1150" dirty="0"/>
          </a:p>
        </p:txBody>
      </p:sp>
      <p:sp>
        <p:nvSpPr>
          <p:cNvPr id="31" name="Text 29"/>
          <p:cNvSpPr/>
          <p:nvPr/>
        </p:nvSpPr>
        <p:spPr>
          <a:xfrm>
            <a:off x="6675120" y="5815584"/>
            <a:ext cx="5010912" cy="274320"/>
          </a:xfrm>
          <a:prstGeom prst="rect">
            <a:avLst/>
          </a:prstGeom>
          <a:noFill/>
          <a:ln/>
        </p:spPr>
        <p:txBody>
          <a:bodyPr wrap="square" lIns="0" tIns="0" rIns="0" bIns="0" rtlCol="0" anchor="ctr"/>
          <a:lstStyle/>
          <a:p>
            <a:pPr indent="0" marL="0">
              <a:buNone/>
            </a:pPr>
            <a:r>
              <a:rPr lang="en-US" sz="1050" i="1" dirty="0">
                <a:solidFill>
                  <a:srgbClr val="6E6A63"/>
                </a:solidFill>
                <a:latin typeface="Calibri" pitchFamily="34" charset="0"/>
                <a:ea typeface="Calibri" pitchFamily="34" charset="-122"/>
                <a:cs typeface="Calibri" pitchFamily="34" charset="-120"/>
              </a:rPr>
              <a:t>+ 3 further steps — see the practical brief on ALIZON OS</a:t>
            </a:r>
            <a:endParaRPr lang="en-US" sz="1050" dirty="0"/>
          </a:p>
        </p:txBody>
      </p:sp>
      <p:sp>
        <p:nvSpPr>
          <p:cNvPr id="32" name="Text 30"/>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5 · Clinical Trials, Pharmacovigilance &amp; Evidence-Based Pharmacy</a:t>
            </a:r>
            <a:endParaRPr lang="en-US" sz="950" dirty="0"/>
          </a:p>
        </p:txBody>
      </p:sp>
      <p:sp>
        <p:nvSpPr>
          <p:cNvPr id="33" name="Text 31"/>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5 · UNIT 1 · PRACTICAL 3</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Clinical Trial Audit Readiness Challenge</a:t>
            </a:r>
            <a:endParaRPr lang="en-US" sz="29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prepare a clinical trial site for sponsor and regulatory inspection by identifying documentation errors, classifying their severity and ensuring GCP compliance before the auditors arrive.</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A regulatory inspection does not test what the site did — it tests what the site can prove it did. The trial master file and source records are the only evidence that participants were protected and that the data are trustworthy. Inspections by CDSCO, the US FDA or the EMA examine a defined record set: Case Report Forms against source documents (source data verification — every CRF entry must be traceable to an original record), the drug accountability log (received, dispensed, returned and destroyed must reconcile exactly)…</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Enter the virtual research site and select a department to inspect.</a:t>
            </a:r>
            <a:endParaRPr lang="en-US" sz="1150" dirty="0"/>
          </a:p>
        </p:txBody>
      </p:sp>
      <p:sp>
        <p:nvSpPr>
          <p:cNvPr id="16" name="Shape 14"/>
          <p:cNvSpPr/>
          <p:nvPr/>
        </p:nvSpPr>
        <p:spPr>
          <a:xfrm>
            <a:off x="6263640" y="2578608"/>
            <a:ext cx="292608" cy="292608"/>
          </a:xfrm>
          <a:prstGeom prst="ellipse">
            <a:avLst/>
          </a:prstGeom>
          <a:solidFill>
            <a:srgbClr val="F2E4E4"/>
          </a:solidFill>
          <a:ln/>
        </p:spPr>
      </p:sp>
      <p:sp>
        <p:nvSpPr>
          <p:cNvPr id="17" name="Text 15"/>
          <p:cNvSpPr/>
          <p:nvPr/>
        </p:nvSpPr>
        <p:spPr>
          <a:xfrm>
            <a:off x="6263640" y="257860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6032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Open each document or item of equipment in that room.</a:t>
            </a:r>
            <a:endParaRPr lang="en-US" sz="1150" dirty="0"/>
          </a:p>
        </p:txBody>
      </p:sp>
      <p:sp>
        <p:nvSpPr>
          <p:cNvPr id="19" name="Shape 17"/>
          <p:cNvSpPr/>
          <p:nvPr/>
        </p:nvSpPr>
        <p:spPr>
          <a:xfrm>
            <a:off x="6263640" y="3218688"/>
            <a:ext cx="292608" cy="292608"/>
          </a:xfrm>
          <a:prstGeom prst="ellipse">
            <a:avLst/>
          </a:prstGeom>
          <a:solidFill>
            <a:srgbClr val="F2E4E4"/>
          </a:solidFill>
          <a:ln/>
        </p:spPr>
      </p:sp>
      <p:sp>
        <p:nvSpPr>
          <p:cNvPr id="20" name="Text 18"/>
          <p:cNvSpPr/>
          <p:nvPr/>
        </p:nvSpPr>
        <p:spPr>
          <a:xfrm>
            <a:off x="6263640" y="321868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0040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Judge each one Compliant or a Finding against GCP and the protocol.</a:t>
            </a:r>
            <a:endParaRPr lang="en-US" sz="1150" dirty="0"/>
          </a:p>
        </p:txBody>
      </p:sp>
      <p:sp>
        <p:nvSpPr>
          <p:cNvPr id="22" name="Shape 20"/>
          <p:cNvSpPr/>
          <p:nvPr/>
        </p:nvSpPr>
        <p:spPr>
          <a:xfrm>
            <a:off x="6263640" y="3858768"/>
            <a:ext cx="292608" cy="292608"/>
          </a:xfrm>
          <a:prstGeom prst="ellipse">
            <a:avLst/>
          </a:prstGeom>
          <a:solidFill>
            <a:srgbClr val="F2E4E4"/>
          </a:solidFill>
          <a:ln/>
        </p:spPr>
      </p:sp>
      <p:sp>
        <p:nvSpPr>
          <p:cNvPr id="23" name="Text 21"/>
          <p:cNvSpPr/>
          <p:nvPr/>
        </p:nvSpPr>
        <p:spPr>
          <a:xfrm>
            <a:off x="6263640" y="385876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84048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For every finding, describe the error precisely.</a:t>
            </a:r>
            <a:endParaRPr lang="en-US" sz="1150" dirty="0"/>
          </a:p>
        </p:txBody>
      </p:sp>
      <p:sp>
        <p:nvSpPr>
          <p:cNvPr id="25" name="Shape 23"/>
          <p:cNvSpPr/>
          <p:nvPr/>
        </p:nvSpPr>
        <p:spPr>
          <a:xfrm>
            <a:off x="6263640" y="4498848"/>
            <a:ext cx="292608" cy="292608"/>
          </a:xfrm>
          <a:prstGeom prst="ellipse">
            <a:avLst/>
          </a:prstGeom>
          <a:solidFill>
            <a:srgbClr val="F2E4E4"/>
          </a:solidFill>
          <a:ln/>
        </p:spPr>
      </p:sp>
      <p:sp>
        <p:nvSpPr>
          <p:cNvPr id="26" name="Text 24"/>
          <p:cNvSpPr/>
          <p:nvPr/>
        </p:nvSpPr>
        <p:spPr>
          <a:xfrm>
            <a:off x="6263640" y="449884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48056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State the GCP principle or regulatory requirement it breaches.</a:t>
            </a:r>
            <a:endParaRPr lang="en-US" sz="1150" dirty="0"/>
          </a:p>
        </p:txBody>
      </p:sp>
      <p:sp>
        <p:nvSpPr>
          <p:cNvPr id="28" name="Shape 26"/>
          <p:cNvSpPr/>
          <p:nvPr/>
        </p:nvSpPr>
        <p:spPr>
          <a:xfrm>
            <a:off x="6263640" y="5138928"/>
            <a:ext cx="292608" cy="292608"/>
          </a:xfrm>
          <a:prstGeom prst="ellipse">
            <a:avLst/>
          </a:prstGeom>
          <a:solidFill>
            <a:srgbClr val="F2E4E4"/>
          </a:solidFill>
          <a:ln/>
        </p:spPr>
      </p:sp>
      <p:sp>
        <p:nvSpPr>
          <p:cNvPr id="29" name="Text 27"/>
          <p:cNvSpPr/>
          <p:nvPr/>
        </p:nvSpPr>
        <p:spPr>
          <a:xfrm>
            <a:off x="6263640" y="51389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675120" y="512064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Recommend the specific corrective action the site must take.</a:t>
            </a:r>
            <a:endParaRPr lang="en-US" sz="1150" dirty="0"/>
          </a:p>
        </p:txBody>
      </p:sp>
      <p:sp>
        <p:nvSpPr>
          <p:cNvPr id="31" name="Text 29"/>
          <p:cNvSpPr/>
          <p:nvPr/>
        </p:nvSpPr>
        <p:spPr>
          <a:xfrm>
            <a:off x="6675120" y="5815584"/>
            <a:ext cx="5010912" cy="274320"/>
          </a:xfrm>
          <a:prstGeom prst="rect">
            <a:avLst/>
          </a:prstGeom>
          <a:noFill/>
          <a:ln/>
        </p:spPr>
        <p:txBody>
          <a:bodyPr wrap="square" lIns="0" tIns="0" rIns="0" bIns="0" rtlCol="0" anchor="ctr"/>
          <a:lstStyle/>
          <a:p>
            <a:pPr indent="0" marL="0">
              <a:buNone/>
            </a:pPr>
            <a:r>
              <a:rPr lang="en-US" sz="1050" i="1" dirty="0">
                <a:solidFill>
                  <a:srgbClr val="6E6A63"/>
                </a:solidFill>
                <a:latin typeface="Calibri" pitchFamily="34" charset="0"/>
                <a:ea typeface="Calibri" pitchFamily="34" charset="-122"/>
                <a:cs typeface="Calibri" pitchFamily="34" charset="-120"/>
              </a:rPr>
              <a:t>+ 3 further steps — see the practical brief on ALIZON OS</a:t>
            </a:r>
            <a:endParaRPr lang="en-US" sz="1050" dirty="0"/>
          </a:p>
        </p:txBody>
      </p:sp>
      <p:sp>
        <p:nvSpPr>
          <p:cNvPr id="32" name="Text 30"/>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5 · Clinical Trials, Pharmacovigilance &amp; Evidence-Based Pharmacy</a:t>
            </a:r>
            <a:endParaRPr lang="en-US" sz="950" dirty="0"/>
          </a:p>
        </p:txBody>
      </p:sp>
      <p:sp>
        <p:nvSpPr>
          <p:cNvPr id="33" name="Text 31"/>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21</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5 · UNIT 1 · PRACTICAL 6 · CAPSTONE SIMULATION</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Become the Clinical Trial Manager</a:t>
            </a:r>
            <a:endParaRPr lang="en-US" sz="29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integrate every element of Unit 1 into a single realistic workflow — managing a diabetes drug trial from phase selection through to the regulatory audit as the responsible Clinical Research Pharmacist.</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This capstone tests applied competence rather than recall. In real practice the pharmacist does not answer isolated questions — they make sequential decisions under time pressure, where each decision constrains the next. A compliance score models how regulators actually judge a site: it begins at 100% and every non-compliant decision erodes it, because compliance is something you lose rather than something you earn.</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Enter the simulation as the appointed Clinical Research Pharmacist for study ALZ-DM-2026-04.</a:t>
            </a:r>
            <a:endParaRPr lang="en-US" sz="1150" dirty="0"/>
          </a:p>
        </p:txBody>
      </p:sp>
      <p:sp>
        <p:nvSpPr>
          <p:cNvPr id="16" name="Shape 14"/>
          <p:cNvSpPr/>
          <p:nvPr/>
        </p:nvSpPr>
        <p:spPr>
          <a:xfrm>
            <a:off x="6263640" y="2578608"/>
            <a:ext cx="292608" cy="292608"/>
          </a:xfrm>
          <a:prstGeom prst="ellipse">
            <a:avLst/>
          </a:prstGeom>
          <a:solidFill>
            <a:srgbClr val="F2E4E4"/>
          </a:solidFill>
          <a:ln/>
        </p:spPr>
      </p:sp>
      <p:sp>
        <p:nvSpPr>
          <p:cNvPr id="17" name="Text 15"/>
          <p:cNvSpPr/>
          <p:nvPr/>
        </p:nvSpPr>
        <p:spPr>
          <a:xfrm>
            <a:off x="6263640" y="257860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6032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Level 1 — determine the correct clinical trial phase for the study objective.</a:t>
            </a:r>
            <a:endParaRPr lang="en-US" sz="1150" dirty="0"/>
          </a:p>
        </p:txBody>
      </p:sp>
      <p:sp>
        <p:nvSpPr>
          <p:cNvPr id="19" name="Shape 17"/>
          <p:cNvSpPr/>
          <p:nvPr/>
        </p:nvSpPr>
        <p:spPr>
          <a:xfrm>
            <a:off x="6263640" y="3218688"/>
            <a:ext cx="292608" cy="292608"/>
          </a:xfrm>
          <a:prstGeom prst="ellipse">
            <a:avLst/>
          </a:prstGeom>
          <a:solidFill>
            <a:srgbClr val="F2E4E4"/>
          </a:solidFill>
          <a:ln/>
        </p:spPr>
      </p:sp>
      <p:sp>
        <p:nvSpPr>
          <p:cNvPr id="20" name="Text 18"/>
          <p:cNvSpPr/>
          <p:nvPr/>
        </p:nvSpPr>
        <p:spPr>
          <a:xfrm>
            <a:off x="6263640" y="321868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0040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Level 2 — screen the candidates and select only those who meet the eligibility criteria.</a:t>
            </a:r>
            <a:endParaRPr lang="en-US" sz="1150" dirty="0"/>
          </a:p>
        </p:txBody>
      </p:sp>
      <p:sp>
        <p:nvSpPr>
          <p:cNvPr id="22" name="Shape 20"/>
          <p:cNvSpPr/>
          <p:nvPr/>
        </p:nvSpPr>
        <p:spPr>
          <a:xfrm>
            <a:off x="6263640" y="3858768"/>
            <a:ext cx="292608" cy="292608"/>
          </a:xfrm>
          <a:prstGeom prst="ellipse">
            <a:avLst/>
          </a:prstGeom>
          <a:solidFill>
            <a:srgbClr val="F2E4E4"/>
          </a:solidFill>
          <a:ln/>
        </p:spPr>
      </p:sp>
      <p:sp>
        <p:nvSpPr>
          <p:cNvPr id="23" name="Text 21"/>
          <p:cNvSpPr/>
          <p:nvPr/>
        </p:nvSpPr>
        <p:spPr>
          <a:xfrm>
            <a:off x="6263640" y="385876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84048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Level 3 — carry out the informed consent process in the correct sequence.</a:t>
            </a:r>
            <a:endParaRPr lang="en-US" sz="1150" dirty="0"/>
          </a:p>
        </p:txBody>
      </p:sp>
      <p:sp>
        <p:nvSpPr>
          <p:cNvPr id="25" name="Shape 23"/>
          <p:cNvSpPr/>
          <p:nvPr/>
        </p:nvSpPr>
        <p:spPr>
          <a:xfrm>
            <a:off x="6263640" y="4498848"/>
            <a:ext cx="292608" cy="292608"/>
          </a:xfrm>
          <a:prstGeom prst="ellipse">
            <a:avLst/>
          </a:prstGeom>
          <a:solidFill>
            <a:srgbClr val="F2E4E4"/>
          </a:solidFill>
          <a:ln/>
        </p:spPr>
      </p:sp>
      <p:sp>
        <p:nvSpPr>
          <p:cNvPr id="26" name="Text 24"/>
          <p:cNvSpPr/>
          <p:nvPr/>
        </p:nvSpPr>
        <p:spPr>
          <a:xfrm>
            <a:off x="6263640" y="449884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48056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Level 4 — store the investigational product under the correct conditions and respond to a temperature excursion.</a:t>
            </a:r>
            <a:endParaRPr lang="en-US" sz="1150" dirty="0"/>
          </a:p>
        </p:txBody>
      </p:sp>
      <p:sp>
        <p:nvSpPr>
          <p:cNvPr id="28" name="Shape 26"/>
          <p:cNvSpPr/>
          <p:nvPr/>
        </p:nvSpPr>
        <p:spPr>
          <a:xfrm>
            <a:off x="6263640" y="5138928"/>
            <a:ext cx="292608" cy="292608"/>
          </a:xfrm>
          <a:prstGeom prst="ellipse">
            <a:avLst/>
          </a:prstGeom>
          <a:solidFill>
            <a:srgbClr val="F2E4E4"/>
          </a:solidFill>
          <a:ln/>
        </p:spPr>
      </p:sp>
      <p:sp>
        <p:nvSpPr>
          <p:cNvPr id="29" name="Text 27"/>
          <p:cNvSpPr/>
          <p:nvPr/>
        </p:nvSpPr>
        <p:spPr>
          <a:xfrm>
            <a:off x="6263640" y="51389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675120" y="512064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Level 5 — scan the product labels and dispense the correct pack to the correct participant.</a:t>
            </a:r>
            <a:endParaRPr lang="en-US" sz="1150" dirty="0"/>
          </a:p>
        </p:txBody>
      </p:sp>
      <p:sp>
        <p:nvSpPr>
          <p:cNvPr id="31" name="Text 29"/>
          <p:cNvSpPr/>
          <p:nvPr/>
        </p:nvSpPr>
        <p:spPr>
          <a:xfrm>
            <a:off x="6675120" y="5815584"/>
            <a:ext cx="5010912" cy="274320"/>
          </a:xfrm>
          <a:prstGeom prst="rect">
            <a:avLst/>
          </a:prstGeom>
          <a:noFill/>
          <a:ln/>
        </p:spPr>
        <p:txBody>
          <a:bodyPr wrap="square" lIns="0" tIns="0" rIns="0" bIns="0" rtlCol="0" anchor="ctr"/>
          <a:lstStyle/>
          <a:p>
            <a:pPr indent="0" marL="0">
              <a:buNone/>
            </a:pPr>
            <a:r>
              <a:rPr lang="en-US" sz="1050" i="1" dirty="0">
                <a:solidFill>
                  <a:srgbClr val="6E6A63"/>
                </a:solidFill>
                <a:latin typeface="Calibri" pitchFamily="34" charset="0"/>
                <a:ea typeface="Calibri" pitchFamily="34" charset="-122"/>
                <a:cs typeface="Calibri" pitchFamily="34" charset="-120"/>
              </a:rPr>
              <a:t>+ 4 further steps — see the practical brief on ALIZON OS</a:t>
            </a:r>
            <a:endParaRPr lang="en-US" sz="1050" dirty="0"/>
          </a:p>
        </p:txBody>
      </p:sp>
      <p:sp>
        <p:nvSpPr>
          <p:cNvPr id="32" name="Text 30"/>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5 · Clinical Trials, Pharmacovigilance &amp; Evidence-Based Pharmacy</a:t>
            </a:r>
            <a:endParaRPr lang="en-US" sz="950" dirty="0"/>
          </a:p>
        </p:txBody>
      </p:sp>
      <p:sp>
        <p:nvSpPr>
          <p:cNvPr id="33" name="Text 31"/>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22</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5 · UNIT 4 · PRACTICAL 4</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Evidence-Based Therapy Escape Room — "The Right Prescription"</a:t>
            </a:r>
            <a:endParaRPr lang="en-US" sz="24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critically evaluate scientific evidence, interpret clinical guidelines, assess patient-specific factors and recommend the most appropriate, safest evidence-based pharmacotherapy for a multimorbid elderly patient — working as the Clinical Pharmacist in a tertiary care hospital.</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Evidence-based medicine replaces authority with a reproducible reasoning sequence. A clinical need is first converted into an answerable question using the PICO structure, because an unstructured question cannot be searched or answered. This case brings four conditions into a single medication list.</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Stage 1 — Build the clinical question. Convert the physician’s request into a PICO question, choosing a population that…</a:t>
            </a:r>
            <a:endParaRPr lang="en-US" sz="1150" dirty="0"/>
          </a:p>
        </p:txBody>
      </p:sp>
      <p:sp>
        <p:nvSpPr>
          <p:cNvPr id="16" name="Shape 14"/>
          <p:cNvSpPr/>
          <p:nvPr/>
        </p:nvSpPr>
        <p:spPr>
          <a:xfrm>
            <a:off x="6263640" y="2578608"/>
            <a:ext cx="292608" cy="292608"/>
          </a:xfrm>
          <a:prstGeom prst="ellipse">
            <a:avLst/>
          </a:prstGeom>
          <a:solidFill>
            <a:srgbClr val="F2E4E4"/>
          </a:solidFill>
          <a:ln/>
        </p:spPr>
      </p:sp>
      <p:sp>
        <p:nvSpPr>
          <p:cNvPr id="17" name="Text 15"/>
          <p:cNvSpPr/>
          <p:nvPr/>
        </p:nvSpPr>
        <p:spPr>
          <a:xfrm>
            <a:off x="6263640" y="257860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6032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Stage 2 — Rank the evidence. Place the eight source types in order of strength; each misplacement reduces the evidence…</a:t>
            </a:r>
            <a:endParaRPr lang="en-US" sz="1150" dirty="0"/>
          </a:p>
        </p:txBody>
      </p:sp>
      <p:sp>
        <p:nvSpPr>
          <p:cNvPr id="19" name="Shape 17"/>
          <p:cNvSpPr/>
          <p:nvPr/>
        </p:nvSpPr>
        <p:spPr>
          <a:xfrm>
            <a:off x="6263640" y="3218688"/>
            <a:ext cx="292608" cy="292608"/>
          </a:xfrm>
          <a:prstGeom prst="ellipse">
            <a:avLst/>
          </a:prstGeom>
          <a:solidFill>
            <a:srgbClr val="F2E4E4"/>
          </a:solidFill>
          <a:ln/>
        </p:spPr>
      </p:sp>
      <p:sp>
        <p:nvSpPr>
          <p:cNvPr id="20" name="Text 18"/>
          <p:cNvSpPr/>
          <p:nvPr/>
        </p:nvSpPr>
        <p:spPr>
          <a:xfrm>
            <a:off x="6263640" y="321868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0040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Stage 3 — Appraise the literature. Assign a level of evidence to each of the three papers, identify the principal threat to…</a:t>
            </a:r>
            <a:endParaRPr lang="en-US" sz="1150" dirty="0"/>
          </a:p>
        </p:txBody>
      </p:sp>
      <p:sp>
        <p:nvSpPr>
          <p:cNvPr id="22" name="Shape 20"/>
          <p:cNvSpPr/>
          <p:nvPr/>
        </p:nvSpPr>
        <p:spPr>
          <a:xfrm>
            <a:off x="6263640" y="3858768"/>
            <a:ext cx="292608" cy="292608"/>
          </a:xfrm>
          <a:prstGeom prst="ellipse">
            <a:avLst/>
          </a:prstGeom>
          <a:solidFill>
            <a:srgbClr val="F2E4E4"/>
          </a:solidFill>
          <a:ln/>
        </p:spPr>
      </p:sp>
      <p:sp>
        <p:nvSpPr>
          <p:cNvPr id="23" name="Text 21"/>
          <p:cNvSpPr/>
          <p:nvPr/>
        </p:nvSpPr>
        <p:spPr>
          <a:xfrm>
            <a:off x="6263640" y="385876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84048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Stage 4 — Compare the guidelines. Identify where ADA and KDIGO agree, what ESC requires for the atrial fibrillation, the…</a:t>
            </a:r>
            <a:endParaRPr lang="en-US" sz="1150" dirty="0"/>
          </a:p>
        </p:txBody>
      </p:sp>
      <p:sp>
        <p:nvSpPr>
          <p:cNvPr id="25" name="Shape 23"/>
          <p:cNvSpPr/>
          <p:nvPr/>
        </p:nvSpPr>
        <p:spPr>
          <a:xfrm>
            <a:off x="6263640" y="4498848"/>
            <a:ext cx="292608" cy="292608"/>
          </a:xfrm>
          <a:prstGeom prst="ellipse">
            <a:avLst/>
          </a:prstGeom>
          <a:solidFill>
            <a:srgbClr val="F2E4E4"/>
          </a:solidFill>
          <a:ln/>
        </p:spPr>
      </p:sp>
      <p:sp>
        <p:nvSpPr>
          <p:cNvPr id="26" name="Text 24"/>
          <p:cNvSpPr/>
          <p:nvPr/>
        </p:nvSpPr>
        <p:spPr>
          <a:xfrm>
            <a:off x="6263640" y="449884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48056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Stage 5 — Decide. Choose the glycaemic, antithrombotic and antihypertensive plans; the portal checks each against renal…</a:t>
            </a:r>
            <a:endParaRPr lang="en-US" sz="1150" dirty="0"/>
          </a:p>
        </p:txBody>
      </p:sp>
      <p:sp>
        <p:nvSpPr>
          <p:cNvPr id="28" name="Shape 26"/>
          <p:cNvSpPr/>
          <p:nvPr/>
        </p:nvSpPr>
        <p:spPr>
          <a:xfrm>
            <a:off x="6263640" y="5138928"/>
            <a:ext cx="292608" cy="292608"/>
          </a:xfrm>
          <a:prstGeom prst="ellipse">
            <a:avLst/>
          </a:prstGeom>
          <a:solidFill>
            <a:srgbClr val="F2E4E4"/>
          </a:solidFill>
          <a:ln/>
        </p:spPr>
      </p:sp>
      <p:sp>
        <p:nvSpPr>
          <p:cNvPr id="29" name="Text 27"/>
          <p:cNvSpPr/>
          <p:nvPr/>
        </p:nvSpPr>
        <p:spPr>
          <a:xfrm>
            <a:off x="6263640" y="51389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675120" y="512064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Stage 6 — Manage the safety emergency. With potassium 6.1 mmol/L, eGFR fallen to 31 and dehydration, decide what to hold…</a:t>
            </a:r>
            <a:endParaRPr lang="en-US" sz="1150" dirty="0"/>
          </a:p>
        </p:txBody>
      </p:sp>
      <p:sp>
        <p:nvSpPr>
          <p:cNvPr id="31" name="Text 29"/>
          <p:cNvSpPr/>
          <p:nvPr/>
        </p:nvSpPr>
        <p:spPr>
          <a:xfrm>
            <a:off x="6675120" y="5815584"/>
            <a:ext cx="5010912" cy="274320"/>
          </a:xfrm>
          <a:prstGeom prst="rect">
            <a:avLst/>
          </a:prstGeom>
          <a:noFill/>
          <a:ln/>
        </p:spPr>
        <p:txBody>
          <a:bodyPr wrap="square" lIns="0" tIns="0" rIns="0" bIns="0" rtlCol="0" anchor="ctr"/>
          <a:lstStyle/>
          <a:p>
            <a:pPr indent="0" marL="0">
              <a:buNone/>
            </a:pPr>
            <a:r>
              <a:rPr lang="en-US" sz="1050" i="1" dirty="0">
                <a:solidFill>
                  <a:srgbClr val="6E6A63"/>
                </a:solidFill>
                <a:latin typeface="Calibri" pitchFamily="34" charset="0"/>
                <a:ea typeface="Calibri" pitchFamily="34" charset="-122"/>
                <a:cs typeface="Calibri" pitchFamily="34" charset="-120"/>
              </a:rPr>
              <a:t>+ 2 further steps — see the practical brief on ALIZON OS</a:t>
            </a:r>
            <a:endParaRPr lang="en-US" sz="1050" dirty="0"/>
          </a:p>
        </p:txBody>
      </p:sp>
      <p:sp>
        <p:nvSpPr>
          <p:cNvPr id="32" name="Text 30"/>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5 · Clinical Trials, Pharmacovigilance &amp; Evidence-Based Pharmacy</a:t>
            </a:r>
            <a:endParaRPr lang="en-US" sz="950" dirty="0"/>
          </a:p>
        </p:txBody>
      </p:sp>
      <p:sp>
        <p:nvSpPr>
          <p:cNvPr id="33" name="Text 31"/>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23</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5 · UNIT 4 · PRACTICAL 5</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AI-Driven Literature Analysis — "The Systematic Review Sprint"</a:t>
            </a:r>
            <a:endParaRPr lang="en-US" sz="24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construct a reproducible literature search, screen and appraise the retrieved evidence, extract and synthesise the findings, and critically verify the output of an AI literature assistant — working as the Evidence Analyst in a hospital drug information centre.</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Evidence synthesis converts a clinical question into a defensible answer through a fixed, auditable sequence. The question is first structured as PICO, which dictates the search strategy: every concept becomes a block of synonyms joined by OR, the blocks joined by AND, using controlled vocabulary (MeSH) and free text together because indexing lags publication and authors’ wording varies. Several ideas in this practical are routinely confused and are worth stating exactly.</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Stage 1 — Build the search strategy. Convert the PICO question into a Boolean string combining MeSH and free text, and…</a:t>
            </a:r>
            <a:endParaRPr lang="en-US" sz="1150" dirty="0"/>
          </a:p>
        </p:txBody>
      </p:sp>
      <p:sp>
        <p:nvSpPr>
          <p:cNvPr id="16" name="Shape 14"/>
          <p:cNvSpPr/>
          <p:nvPr/>
        </p:nvSpPr>
        <p:spPr>
          <a:xfrm>
            <a:off x="6263640" y="2578608"/>
            <a:ext cx="292608" cy="292608"/>
          </a:xfrm>
          <a:prstGeom prst="ellipse">
            <a:avLst/>
          </a:prstGeom>
          <a:solidFill>
            <a:srgbClr val="F2E4E4"/>
          </a:solidFill>
          <a:ln/>
        </p:spPr>
      </p:sp>
      <p:sp>
        <p:nvSpPr>
          <p:cNvPr id="17" name="Text 15"/>
          <p:cNvSpPr/>
          <p:nvPr/>
        </p:nvSpPr>
        <p:spPr>
          <a:xfrm>
            <a:off x="6263640" y="257860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6032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Stage 2 — Choose the sources. Select the databases and registries that make the search reproducible, and state why grey…</a:t>
            </a:r>
            <a:endParaRPr lang="en-US" sz="1150" dirty="0"/>
          </a:p>
        </p:txBody>
      </p:sp>
      <p:sp>
        <p:nvSpPr>
          <p:cNvPr id="19" name="Shape 17"/>
          <p:cNvSpPr/>
          <p:nvPr/>
        </p:nvSpPr>
        <p:spPr>
          <a:xfrm>
            <a:off x="6263640" y="3218688"/>
            <a:ext cx="292608" cy="292608"/>
          </a:xfrm>
          <a:prstGeom prst="ellipse">
            <a:avLst/>
          </a:prstGeom>
          <a:solidFill>
            <a:srgbClr val="F2E4E4"/>
          </a:solidFill>
          <a:ln/>
        </p:spPr>
      </p:sp>
      <p:sp>
        <p:nvSpPr>
          <p:cNvPr id="20" name="Text 18"/>
          <p:cNvSpPr/>
          <p:nvPr/>
        </p:nvSpPr>
        <p:spPr>
          <a:xfrm>
            <a:off x="6263640" y="321868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0040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Stage 3 — Screen titles and abstracts. Include or exclude each of ten records; read the metadata as carefully as the title…</a:t>
            </a:r>
            <a:endParaRPr lang="en-US" sz="1150" dirty="0"/>
          </a:p>
        </p:txBody>
      </p:sp>
      <p:sp>
        <p:nvSpPr>
          <p:cNvPr id="22" name="Shape 20"/>
          <p:cNvSpPr/>
          <p:nvPr/>
        </p:nvSpPr>
        <p:spPr>
          <a:xfrm>
            <a:off x="6263640" y="3858768"/>
            <a:ext cx="292608" cy="292608"/>
          </a:xfrm>
          <a:prstGeom prst="ellipse">
            <a:avLst/>
          </a:prstGeom>
          <a:solidFill>
            <a:srgbClr val="F2E4E4"/>
          </a:solidFill>
          <a:ln/>
        </p:spPr>
      </p:sp>
      <p:sp>
        <p:nvSpPr>
          <p:cNvPr id="23" name="Text 21"/>
          <p:cNvSpPr/>
          <p:nvPr/>
        </p:nvSpPr>
        <p:spPr>
          <a:xfrm>
            <a:off x="6263640" y="385876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84048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Stage 4 — Assess full texts and complete PRISMA. Apply the criteria to each retrieved full text, record a reason for every…</a:t>
            </a:r>
            <a:endParaRPr lang="en-US" sz="1150" dirty="0"/>
          </a:p>
        </p:txBody>
      </p:sp>
      <p:sp>
        <p:nvSpPr>
          <p:cNvPr id="25" name="Shape 23"/>
          <p:cNvSpPr/>
          <p:nvPr/>
        </p:nvSpPr>
        <p:spPr>
          <a:xfrm>
            <a:off x="6263640" y="4498848"/>
            <a:ext cx="292608" cy="292608"/>
          </a:xfrm>
          <a:prstGeom prst="ellipse">
            <a:avLst/>
          </a:prstGeom>
          <a:solidFill>
            <a:srgbClr val="F2E4E4"/>
          </a:solidFill>
          <a:ln/>
        </p:spPr>
      </p:sp>
      <p:sp>
        <p:nvSpPr>
          <p:cNvPr id="26" name="Text 24"/>
          <p:cNvSpPr/>
          <p:nvPr/>
        </p:nvSpPr>
        <p:spPr>
          <a:xfrm>
            <a:off x="6263640" y="449884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48056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Stage 5 — Assess risk of bias. Judge each RoB 2 domain on its own evidence, then give the overall judgement.</a:t>
            </a:r>
            <a:endParaRPr lang="en-US" sz="1150" dirty="0"/>
          </a:p>
        </p:txBody>
      </p:sp>
      <p:sp>
        <p:nvSpPr>
          <p:cNvPr id="28" name="Shape 26"/>
          <p:cNvSpPr/>
          <p:nvPr/>
        </p:nvSpPr>
        <p:spPr>
          <a:xfrm>
            <a:off x="6263640" y="5138928"/>
            <a:ext cx="292608" cy="292608"/>
          </a:xfrm>
          <a:prstGeom prst="ellipse">
            <a:avLst/>
          </a:prstGeom>
          <a:solidFill>
            <a:srgbClr val="F2E4E4"/>
          </a:solidFill>
          <a:ln/>
        </p:spPr>
      </p:sp>
      <p:sp>
        <p:nvSpPr>
          <p:cNvPr id="29" name="Text 27"/>
          <p:cNvSpPr/>
          <p:nvPr/>
        </p:nvSpPr>
        <p:spPr>
          <a:xfrm>
            <a:off x="6263640" y="51389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675120" y="512064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Stage 6 — Extract the data. Transcribe the sample size, event counts, hazard ratio and confidence interval exactly as…</a:t>
            </a:r>
            <a:endParaRPr lang="en-US" sz="1150" dirty="0"/>
          </a:p>
        </p:txBody>
      </p:sp>
      <p:sp>
        <p:nvSpPr>
          <p:cNvPr id="31" name="Text 29"/>
          <p:cNvSpPr/>
          <p:nvPr/>
        </p:nvSpPr>
        <p:spPr>
          <a:xfrm>
            <a:off x="6675120" y="5815584"/>
            <a:ext cx="5010912" cy="274320"/>
          </a:xfrm>
          <a:prstGeom prst="rect">
            <a:avLst/>
          </a:prstGeom>
          <a:noFill/>
          <a:ln/>
        </p:spPr>
        <p:txBody>
          <a:bodyPr wrap="square" lIns="0" tIns="0" rIns="0" bIns="0" rtlCol="0" anchor="ctr"/>
          <a:lstStyle/>
          <a:p>
            <a:pPr indent="0" marL="0">
              <a:buNone/>
            </a:pPr>
            <a:r>
              <a:rPr lang="en-US" sz="1050" i="1" dirty="0">
                <a:solidFill>
                  <a:srgbClr val="6E6A63"/>
                </a:solidFill>
                <a:latin typeface="Calibri" pitchFamily="34" charset="0"/>
                <a:ea typeface="Calibri" pitchFamily="34" charset="-122"/>
                <a:cs typeface="Calibri" pitchFamily="34" charset="-120"/>
              </a:rPr>
              <a:t>+ 2 further steps — see the practical brief on ALIZON OS</a:t>
            </a:r>
            <a:endParaRPr lang="en-US" sz="1050" dirty="0"/>
          </a:p>
        </p:txBody>
      </p:sp>
      <p:sp>
        <p:nvSpPr>
          <p:cNvPr id="32" name="Text 30"/>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5 · Clinical Trials, Pharmacovigilance &amp; Evidence-Based Pharmacy</a:t>
            </a:r>
            <a:endParaRPr lang="en-US" sz="950" dirty="0"/>
          </a:p>
        </p:txBody>
      </p:sp>
      <p:sp>
        <p:nvSpPr>
          <p:cNvPr id="33" name="Text 31"/>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100F"/>
        </a:solidFill>
      </p:bgPr>
    </p:bg>
    <p:spTree>
      <p:nvGrpSpPr>
        <p:cNvPr id="1" name=""/>
        <p:cNvGrpSpPr/>
        <p:nvPr/>
      </p:nvGrpSpPr>
      <p:grpSpPr>
        <a:xfrm>
          <a:off x="0" y="0"/>
          <a:ext cx="0" cy="0"/>
          <a:chOff x="0" y="0"/>
          <a:chExt cx="0" cy="0"/>
        </a:xfrm>
      </p:grpSpPr>
      <p:sp>
        <p:nvSpPr>
          <p:cNvPr id="2" name="Shape 0"/>
          <p:cNvSpPr/>
          <p:nvPr/>
        </p:nvSpPr>
        <p:spPr>
          <a:xfrm>
            <a:off x="9692640" y="3840480"/>
            <a:ext cx="4206240" cy="4206240"/>
          </a:xfrm>
          <a:prstGeom prst="ellipse">
            <a:avLst/>
          </a:prstGeom>
          <a:solidFill>
            <a:srgbClr val="8C1515">
              <a:alpha val="26000"/>
            </a:srgbClr>
          </a:solidFill>
          <a:ln/>
        </p:spPr>
      </p:sp>
      <p:sp>
        <p:nvSpPr>
          <p:cNvPr id="3" name="Text 1"/>
          <p:cNvSpPr/>
          <p:nvPr/>
        </p:nvSpPr>
        <p:spPr>
          <a:xfrm>
            <a:off x="777240" y="749808"/>
            <a:ext cx="8229600" cy="274320"/>
          </a:xfrm>
          <a:prstGeom prst="rect">
            <a:avLst/>
          </a:prstGeom>
          <a:noFill/>
          <a:ln/>
        </p:spPr>
        <p:txBody>
          <a:bodyPr wrap="square" lIns="0" tIns="0" rIns="0" bIns="0" rtlCol="0" anchor="ctr"/>
          <a:lstStyle/>
          <a:p>
            <a:pPr indent="0" marL="0">
              <a:buNone/>
            </a:pPr>
            <a:r>
              <a:rPr lang="en-US" sz="1100" b="1" spc="220" kern="0" dirty="0">
                <a:solidFill>
                  <a:srgbClr val="9A7B3F"/>
                </a:solidFill>
                <a:latin typeface="Calibri" pitchFamily="34" charset="0"/>
                <a:ea typeface="Calibri" pitchFamily="34" charset="-122"/>
                <a:cs typeface="Calibri" pitchFamily="34" charset="-120"/>
              </a:rPr>
              <a:t>HOW THIS MODULE IS ASSESSED</a:t>
            </a:r>
            <a:endParaRPr lang="en-US" sz="1100" dirty="0"/>
          </a:p>
        </p:txBody>
      </p:sp>
      <p:sp>
        <p:nvSpPr>
          <p:cNvPr id="4" name="Text 2"/>
          <p:cNvSpPr/>
          <p:nvPr/>
        </p:nvSpPr>
        <p:spPr>
          <a:xfrm>
            <a:off x="777240" y="1097280"/>
            <a:ext cx="100584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Completing Module 5</a:t>
            </a:r>
            <a:endParaRPr lang="en-US" sz="3400" dirty="0"/>
          </a:p>
        </p:txBody>
      </p:sp>
      <p:sp>
        <p:nvSpPr>
          <p:cNvPr id="5" name="Shape 3"/>
          <p:cNvSpPr/>
          <p:nvPr/>
        </p:nvSpPr>
        <p:spPr>
          <a:xfrm>
            <a:off x="777240" y="2048256"/>
            <a:ext cx="10607040" cy="822960"/>
          </a:xfrm>
          <a:prstGeom prst="roundRect">
            <a:avLst>
              <a:gd name="adj" fmla="val 6667"/>
            </a:avLst>
          </a:prstGeom>
          <a:solidFill>
            <a:srgbClr val="241A19"/>
          </a:solidFill>
          <a:ln w="9525">
            <a:solidFill>
              <a:srgbClr val="3E2A28"/>
            </a:solidFill>
            <a:prstDash val="solid"/>
          </a:ln>
        </p:spPr>
      </p:sp>
      <p:sp>
        <p:nvSpPr>
          <p:cNvPr id="6" name="Text 4"/>
          <p:cNvSpPr/>
          <p:nvPr/>
        </p:nvSpPr>
        <p:spPr>
          <a:xfrm>
            <a:off x="1143000" y="2048256"/>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Practicals</a:t>
            </a:r>
            <a:endParaRPr lang="en-US" sz="1300" dirty="0"/>
          </a:p>
        </p:txBody>
      </p:sp>
      <p:sp>
        <p:nvSpPr>
          <p:cNvPr id="7" name="Text 5"/>
          <p:cNvSpPr/>
          <p:nvPr/>
        </p:nvSpPr>
        <p:spPr>
          <a:xfrm>
            <a:off x="3200400" y="2048256"/>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Complete all 5 practicals on ALIZON OS. Every submission is evaluated by faculty.</a:t>
            </a:r>
            <a:endParaRPr lang="en-US" sz="1250" dirty="0"/>
          </a:p>
        </p:txBody>
      </p:sp>
      <p:sp>
        <p:nvSpPr>
          <p:cNvPr id="8" name="Shape 6"/>
          <p:cNvSpPr/>
          <p:nvPr/>
        </p:nvSpPr>
        <p:spPr>
          <a:xfrm>
            <a:off x="777240" y="3017520"/>
            <a:ext cx="10607040" cy="822960"/>
          </a:xfrm>
          <a:prstGeom prst="roundRect">
            <a:avLst>
              <a:gd name="adj" fmla="val 6667"/>
            </a:avLst>
          </a:prstGeom>
          <a:solidFill>
            <a:srgbClr val="241A19"/>
          </a:solidFill>
          <a:ln w="9525">
            <a:solidFill>
              <a:srgbClr val="3E2A28"/>
            </a:solidFill>
            <a:prstDash val="solid"/>
          </a:ln>
        </p:spPr>
      </p:sp>
      <p:sp>
        <p:nvSpPr>
          <p:cNvPr id="9" name="Text 7"/>
          <p:cNvSpPr/>
          <p:nvPr/>
        </p:nvSpPr>
        <p:spPr>
          <a:xfrm>
            <a:off x="1143000" y="3017520"/>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Attendance</a:t>
            </a:r>
            <a:endParaRPr lang="en-US" sz="1300" dirty="0"/>
          </a:p>
        </p:txBody>
      </p:sp>
      <p:sp>
        <p:nvSpPr>
          <p:cNvPr id="10" name="Text 8"/>
          <p:cNvSpPr/>
          <p:nvPr/>
        </p:nvSpPr>
        <p:spPr>
          <a:xfrm>
            <a:off x="3200400" y="3017520"/>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Attendance is recorded automatically from submitted work — signing in alone does not count.</a:t>
            </a:r>
            <a:endParaRPr lang="en-US" sz="1250" dirty="0"/>
          </a:p>
        </p:txBody>
      </p:sp>
      <p:sp>
        <p:nvSpPr>
          <p:cNvPr id="11" name="Shape 9"/>
          <p:cNvSpPr/>
          <p:nvPr/>
        </p:nvSpPr>
        <p:spPr>
          <a:xfrm>
            <a:off x="777240" y="3986784"/>
            <a:ext cx="10607040" cy="822960"/>
          </a:xfrm>
          <a:prstGeom prst="roundRect">
            <a:avLst>
              <a:gd name="adj" fmla="val 6667"/>
            </a:avLst>
          </a:prstGeom>
          <a:solidFill>
            <a:srgbClr val="241A19"/>
          </a:solidFill>
          <a:ln w="9525">
            <a:solidFill>
              <a:srgbClr val="3E2A28"/>
            </a:solidFill>
            <a:prstDash val="solid"/>
          </a:ln>
        </p:spPr>
      </p:sp>
      <p:sp>
        <p:nvSpPr>
          <p:cNvPr id="12" name="Text 10"/>
          <p:cNvSpPr/>
          <p:nvPr/>
        </p:nvSpPr>
        <p:spPr>
          <a:xfrm>
            <a:off x="1143000" y="3986784"/>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Examination</a:t>
            </a:r>
            <a:endParaRPr lang="en-US" sz="1300" dirty="0"/>
          </a:p>
        </p:txBody>
      </p:sp>
      <p:sp>
        <p:nvSpPr>
          <p:cNvPr id="13" name="Text 11"/>
          <p:cNvSpPr/>
          <p:nvPr/>
        </p:nvSpPr>
        <p:spPr>
          <a:xfrm>
            <a:off x="3200400" y="3986784"/>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100 multiple-choice questions across 4 units. Practise on the mock paper before the internal examination.</a:t>
            </a:r>
            <a:endParaRPr lang="en-US" sz="1250" dirty="0"/>
          </a:p>
        </p:txBody>
      </p:sp>
      <p:sp>
        <p:nvSpPr>
          <p:cNvPr id="14" name="Shape 12"/>
          <p:cNvSpPr/>
          <p:nvPr/>
        </p:nvSpPr>
        <p:spPr>
          <a:xfrm>
            <a:off x="777240" y="4956048"/>
            <a:ext cx="10607040" cy="822960"/>
          </a:xfrm>
          <a:prstGeom prst="roundRect">
            <a:avLst>
              <a:gd name="adj" fmla="val 6667"/>
            </a:avLst>
          </a:prstGeom>
          <a:solidFill>
            <a:srgbClr val="241A19"/>
          </a:solidFill>
          <a:ln w="9525">
            <a:solidFill>
              <a:srgbClr val="3E2A28"/>
            </a:solidFill>
            <a:prstDash val="solid"/>
          </a:ln>
        </p:spPr>
      </p:sp>
      <p:sp>
        <p:nvSpPr>
          <p:cNvPr id="15" name="Text 13"/>
          <p:cNvSpPr/>
          <p:nvPr/>
        </p:nvSpPr>
        <p:spPr>
          <a:xfrm>
            <a:off x="1143000" y="4956048"/>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Certificate</a:t>
            </a:r>
            <a:endParaRPr lang="en-US" sz="1300" dirty="0"/>
          </a:p>
        </p:txBody>
      </p:sp>
      <p:sp>
        <p:nvSpPr>
          <p:cNvPr id="16" name="Text 14"/>
          <p:cNvSpPr/>
          <p:nvPr/>
        </p:nvSpPr>
        <p:spPr>
          <a:xfrm>
            <a:off x="3200400" y="4956048"/>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Faculty-verified practicals earn a Certificate of Practical Experience, with the hours set by the institution.</a:t>
            </a:r>
            <a:endParaRPr lang="en-US" sz="1250" dirty="0"/>
          </a:p>
        </p:txBody>
      </p:sp>
      <p:sp>
        <p:nvSpPr>
          <p:cNvPr id="17" name="Text 15"/>
          <p:cNvSpPr/>
          <p:nvPr/>
        </p:nvSpPr>
        <p:spPr>
          <a:xfrm>
            <a:off x="777240" y="6053328"/>
            <a:ext cx="10607040" cy="310896"/>
          </a:xfrm>
          <a:prstGeom prst="rect">
            <a:avLst/>
          </a:prstGeom>
          <a:noFill/>
          <a:ln/>
        </p:spPr>
        <p:txBody>
          <a:bodyPr wrap="square" lIns="0" tIns="0" rIns="0" bIns="0" rtlCol="0" anchor="ctr"/>
          <a:lstStyle/>
          <a:p>
            <a:pPr indent="0" marL="0">
              <a:buNone/>
            </a:pPr>
            <a:r>
              <a:rPr lang="en-US" sz="1150" dirty="0">
                <a:solidFill>
                  <a:srgbClr val="9A7B3F"/>
                </a:solidFill>
                <a:latin typeface="Calibri" pitchFamily="34" charset="0"/>
                <a:ea typeface="Calibri" pitchFamily="34" charset="-122"/>
                <a:cs typeface="Calibri" pitchFamily="34" charset="-120"/>
              </a:rPr>
              <a:t>Study material, practicals, mock papers and results · alizon.in      Institution · www.alizongov.com</a:t>
            </a:r>
            <a:endParaRPr lang="en-US" sz="1150" dirty="0"/>
          </a:p>
        </p:txBody>
      </p:sp>
      <p:sp>
        <p:nvSpPr>
          <p:cNvPr id="18" name="Text 16"/>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058"/>
                </a:solidFill>
                <a:latin typeface="Calibri" pitchFamily="34" charset="0"/>
                <a:ea typeface="Calibri" pitchFamily="34" charset="-122"/>
                <a:cs typeface="Calibri" pitchFamily="34" charset="-120"/>
              </a:rPr>
              <a:t>Module 5 · Clinical Trials, Pharmacovigilance &amp; Evidence-Based Pharmacy</a:t>
            </a:r>
            <a:endParaRPr lang="en-US" sz="950" dirty="0"/>
          </a:p>
        </p:txBody>
      </p:sp>
      <p:sp>
        <p:nvSpPr>
          <p:cNvPr id="19" name="Text 17"/>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9A7B3F"/>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Alizon School of Medical and Digital Intelligence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5 — Clinical Trials, Pharmacovigilance &amp; Evidence-Based Pharmacy</dc:title>
  <dc:subject>Certificate Course in Digital Health &amp; Artificial Intelligence for Pharmacy</dc:subject>
  <dc:creator>Alizon School of Medical &amp; Digital Intelligence</dc:creator>
  <cp:lastModifiedBy>Alizon School of Medical &amp; Digital Intelligence</cp:lastModifiedBy>
  <cp:revision>1</cp:revision>
  <dcterms:created xsi:type="dcterms:W3CDTF">2026-08-10T05:52:32Z</dcterms:created>
  <dcterms:modified xsi:type="dcterms:W3CDTF">2026-08-10T05:52:32Z</dcterms:modified>
</cp:coreProperties>
</file>