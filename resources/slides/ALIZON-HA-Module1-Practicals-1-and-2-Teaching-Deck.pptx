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87168"/>
            <a:ext cx="12191695" cy="4572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SCHOOL OF MEDICAL &amp; DIGITAL INTELLIGENCE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 · Module 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Practical 1 and Practical 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A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guide to the operations desk and the administrator command centre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AI-Powered Hospital Operations, Patient Flow &amp; Resource Optimization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AI-Enabled Administrator Decision Support &amp; Performance Intelligence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practicals, one hospital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Administrator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Administrator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frame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working morning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monthly performance cycle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given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 KPI board and the patient journey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whole-hospital dataset across four domains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decide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single stage is the constraint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 finite budget goes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Optimization Report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plan to the Board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out of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53212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553212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5869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deliberately sequential: Practical 1 teaches you to find a constraint inside one morning. Practical 2 asks what you would spend on it across a month.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either practical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of every practical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tab — aim, principle, theory, requirements, procedure and guided method. Students read it before touching anything.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tab — the desk or command centre itself. Data stays closed until it is opened, and what was opened is recorded.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Record tab — the generated report, the mark, and the report writer.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writes their own report (minimum word count enforced), attaches their PDFs, and submits it to faculty.</a:t>
            </a:r>
            <a:endParaRPr lang="en-US" sz="16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live indices sit alongside the mark and are shown in the report. They are not decoration — they are how a confident wrong answer is told apart from a defensible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553212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53212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5869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without looking costs marks. That is the single behaviour both practicals are built to train.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Hospital Operations, Patient Flow &amp; Resource Optimization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aim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is asked to 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the operations desk of a 300-bed multispecialty hospital for one working morning — reading the KPI board, locating the true bottleneck in the patient journey, testing interventions in a what-if simulator before committing to any of them, and defending an administrative decision against the operational data rather than against instinct.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041648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portal access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live operations dashboard for ALIZON SmartCare Medical Centre (300 beds, 12 departments)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Patient-flow stage data, bed board and staffing table for the shift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 with adjustable registration counters, doctors, appointment interval, discharge coordinators, laboratory capacity and pharmacy counters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Monday-morning congestion case brief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the idea to teach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in a hospital is not caused by people working slowly; it is caused by demand arriving faster than a stage can serve it. As utilisation approaches capacity, the queue does not grow in a straight line — it grows sharply, so a stage running at 95% of capacity behaves far worse than one running at 80%. The administrator's job is therefore to find the single stage where demand has overtaken capacity, because adding resources anywhere else changes almost nothing.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800" y="411480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11480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6966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 busiest-looking stage is not always the bottleneck. The bottleneck is the stage where the queue is still growing — everything downstream of it merely looks quiet because the work has not reached it yet.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5029200"/>
            <a:ext cx="10881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moves through registration, consultation, investigation, pharmacy and then admission or discharge. Each stage has a service time and a number of servers, and each has its own queue. Bed occupancy links the inpatient side to the outpatient side: when occupancy passes roughly 85%, admissions begin to wait for discharges, and the emergency department absorbs the delay. Discharge is an administrative process as much as a clinical one — a patient who is…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screen tour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on the operations desk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784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KPI 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journey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bottleneck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What-if simulation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allocation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01 — Monday morning congestion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53212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553212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5869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of the patient journey stays closed until the student opens it. The count of stages opened appears on the desk and in the report.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how to work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Procedure, in order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operations desk and read the KPI board; note every indicator flagged High or Critical.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stage of the patient journey in turn. The stage figures stay closed until you open them, and what you opened is recorded.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AI bottleneck analysis and compare its finding with your own reading of the stage data.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what-if simulator to test interventions one at a time, recording the predicted effect of each before moving on.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Monday-morning case: identify the three major operational problems, rank them, choose your interventions and run the simulation.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a first action and justify it against the data.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Hospital Operations Optimization Report and submit it for faculty evaluation.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students should follow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 board before touching any lever — an intervention chosen from one KPI usually moves that KPI and nothing else.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queue that is growing from one that is merely long; only the growing one is the bottleneck.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change at a time in the simulator so you can attribute the effect. Changing three levers together tells you nothing about which worked.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delayed discharges as a bed-capacity problem, not a paperwork problem — every delayed discharge is a bed the emergency department cannot use.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staffing table before recommending redistribution; moving staff from a department already at a deficit simply moves the queue.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plainly in your report that the simulator produces operational estimates, not clinical predictions, and that no patient-level decision follows from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562356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62356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67842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the simulator gives estimated operational effects, not clinical predictions. Never present a simulated figure to a committee as a measured result, and never let an operational target override a clinical judgement about an individual patient.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assessment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100 marks are awarded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84124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identification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Interventions chosen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the simulator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action and justification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indices shown alongside the mark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193792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grip — falls when you act on the wrong bottleneck</a:t>
            </a:r>
            <a:endParaRPr lang="en-US" sz="13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discipline — falls when you commit without opening the data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1 · teaching notes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draw out in class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busiest-looking stage is not the bottleneck. The bottleneck is the stage whose queue is still growing — everything downstream only looks quiet because the work has not reached it yet.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reliably reach for more beds. Delayed discharge is a bed-capacity problem: the beds already exist and are occupied by patients who are ready to leave.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them test one lever at a time. Changing three levers together tells them nothing about which one worked.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 rewards reasoning, not the option letter — 20 of the 100 marks sit on the written justification and the first action together.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Hospital Administrator Decision Support &amp; Performance Intelligence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aim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is asked to 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act as Hospital Administrator for one monthly performance cycle — interpreting a whole-hospital dataset across performance, operations, finance and quality, apportioning the causes of the dominant problem, allocating a fixed administrative budget between competing interventions, and submitting an improvement plan to the Board that is defensible against the data and against what was deliberately left unfunded.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133088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portal access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monthly dataset for ALIZON SmartCare Medical Centre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intelligence cards for Medicine, Cardiology, Laboratory and Administration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worksheet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risk monitor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the idea to teach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reports its problems as separate numbers, but they are rarely separate problems. Bed occupancy and discharge delay are usually the same fact seen twice; waiting time and appointment no-show reinforce each other; revenue leakage is administrative and largely independent of clinical load. The administrator's task is to find the small number of underlying causes behind a long list of symptoms, and then to spend a finite budget on the causes rather than on whichever symptom is loudest.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800" y="411480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11480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6966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 budget forces a choice. What you decline to fund is part of your recommendation and the Board will ask you to justify 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5029200"/>
            <a:ext cx="10881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Whole-hospital performance is read across four domains. Performance covers throughput, occupancy, length of stay, readmission and complaints. Operations covers waiting time, discharge delay, laboratory and pharmacy turnaround, no-show and absenteeism. Financial administration covers revenue, outstanding billing, leakage, claim delay and unbilled services — leakage being revenue earned but never captured, which is an administrative failure rather than a clinical…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screen tour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 the command centre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784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performance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hospital performance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intelligence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risk monitor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allocation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53212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553212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5869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is ₹10,00,000 across six costed interventions. It is not enough for all of them — that is the exercise.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how to work 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Procedure, in order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case from the library and set your difficulty level.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monthly dashboard across all four domains before opening anything else.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each department card; the detail behind a department score stays closed until you look, and what you opened is recorded.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AI performance analysis where your level allows it, and compare it against your own reading.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root-cause apportionment for the case focus, totalling 100%, then compare it with the dataset.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risk monitor.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immediate problems, set a priority, and allocate the budget between the interventions you can justify.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plan and read the before/after position.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justification, including what you chose not to fund, and submit the plan to the Board.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students should follow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four domains before forming any view — a plan built on the operations panel alone will miss the money.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occupancy and discharge delay as one problem until the data shows otherwise.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apportionment add to 100 and be prepared to defend each weight; a round 20% in every row is an admission that you did not analyse it.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every intervention against the effect the simulator predicts, and prefer the cheaper item when two produce a similar movement.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submit an unsimulated plan. Testing it is the difference between a recommendation and a guess.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limitations in your own report: synthetic data, simulated projections, no clinical content.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562356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62356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67842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this is an administrative simulator on synthetic data. It produces simulated administrative projections only — never a diagnosis, a treatment, a medication decision, or any advice about an individual patient, and never a real-world financial forecast.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assessment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100 marks are awarded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84124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data interpretation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Root-cause analysis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 utilisation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 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allocation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justification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indices: Analytical rigour — falls when the apportionment is not defensible   ·   Evidence discipline — falls when a department card is never opened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teaching notes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draw out in class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reports its problems as separate numbers; they are rarely separate problems. Occupancy and discharge delay are usually the same fact seen twice.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round 20% in every row of the apportionment is an admission that it was not analysed. Make them defend each weight.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decline to fund is part of the recommendation. The Board will ask about it, so the report must answer it.</a:t>
            </a:r>
            <a:endParaRPr lang="en-US" sz="14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4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accept an unsimulated plan. Testing it is the difference between a recommendation and a guess.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session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tutor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aim and principle together. Do not explain the answer.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one panel and one lever on screen, then stop.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work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work the desk alone. Let them commit early and be wrong.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write and submit; PDFs attached.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Debrief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two students who chose differently and ask each to defend it.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2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5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85800" y="553212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553212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5869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demonstrating the whole desk. The practical is built so that opening the data is itself the lesson — a student shown where to look has not learned to look.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student produces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generates the report automatically on the Result &amp; Record tab, with the mark, both indices and the data as it stood at the moment of the decision.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then writes their own report in the report writer — a minimum word count is enforced before it can be generated.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 produces a real PDF file of the letterheaded report, which the student keeps.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required PDFs, then submit to faculty. It appears in the faculty evaluation queue.</a:t>
            </a:r>
            <a:endParaRPr lang="en-US" sz="15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0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evaluate and return a mark; the student sees it on their dashboard against that module.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33856"/>
            <a:ext cx="12191695" cy="3200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2011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state plainly to students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AF8F6"/>
          </a:solidFill>
          <a:ln w="12700">
            <a:solidFill>
              <a:srgbClr val="FAF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922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 · Hospital Administration · Module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517904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both practicals is synthetic and generated for teaching. No patient, ward or department described is real.</a:t>
            </a:r>
            <a:endParaRPr lang="en-US" sz="15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simulators produce operational and administrative estimates, not clinical predictions.</a:t>
            </a:r>
            <a:endParaRPr lang="en-US" sz="15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either practical outputs may be used to decide the care of any individual patient.</a:t>
            </a:r>
            <a:endParaRPr lang="en-US" sz="15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5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projections are not real-world financial forecasts, and must never be presented to a committee as measured results.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5532120"/>
            <a:ext cx="10881360" cy="749808"/>
          </a:xfrm>
          <a:prstGeom prst="rect">
            <a:avLst/>
          </a:prstGeom>
          <a:solidFill>
            <a:srgbClr val="F7EFEF"/>
          </a:solidFill>
          <a:ln w="12700">
            <a:solidFill>
              <a:srgbClr val="E7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532120"/>
            <a:ext cx="50292" cy="74980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58698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state these limitations in their own report. It is part of the mark for the justification.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Administration · Module 1 · Practicals 1 and 2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ALIZON OS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Alizon School of Medical and Digital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Administration · Module 1 · Practicals 1 and 2 — teaching deck</dc:title>
  <dc:subject>PptxGenJS Presentation</dc:subject>
  <dc:creator>Alizon School of Medical &amp; Digital Intelligence</dc:creator>
  <cp:lastModifiedBy>Alizon School of Medical &amp; Digital Intelligence</cp:lastModifiedBy>
  <cp:revision>1</cp:revision>
  <dcterms:created xsi:type="dcterms:W3CDTF">2026-08-11T11:10:42Z</dcterms:created>
  <dcterms:modified xsi:type="dcterms:W3CDTF">2026-08-11T11:10:42Z</dcterms:modified>
</cp:coreProperties>
</file>