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session walks through the full operations process at Medcity Study Abroad: what each role does, in what order, and the rules we follow so no student file is delayed.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process on one slide. Stages 1-2 are owned by the counsellor, 3-5 by the Application Team Lead and Documentation Executive, and 5-8 are continuous follow-up until the student reaches their accommodation abroad.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counsellor is responsible for collecting all of these from the student. IELTS is only needed when the university or course asks for it. The registration amount must come with payment evidence. If anything is pending, the counsellor raises it now, based on the course and university requirements, not after the file is 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collection is complete, the counsellor sends everything to the Application Team Lead through official mail with all documents attached. The mail is our official record, so personal channels are not accepted for document transfer.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ATL reviews the file and replies to the same mail thread, adding the assigned Documentation Executive in CC. That reply is the formal handover.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handover mail, create a WhatsApp group with the Documentation Executive, the counsellor, the parents and the student. Parents are included so the family always has the same information we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Documentation Executive sends the application to the university once payment and documents are confirmed. From here on, every response from the university is posted in the WhatsApp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offer and payment, we manage the visa process and coordinate with the travel department for tickets. Every update, from visa status to flight details to accommodation, goes into the WhatsApp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day before departure, the team sends a clear message with all travel details. Our responsibility continues until the student reaches their accommodation, so confirm arrival in the group as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summarises ownership. When a file is stuck, check this table to see who holds it and who they hand over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six rules sum up the session. If everyone follows them, no file gets lost and no family is left without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floor for questions. Remind the team that the process only works if every step is updated on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slideLayout" Target="../slideLayouts/slideLayout1.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slideLayout" Target="../slideLayouts/slideLayout1.xml"/><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C01F5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846320" y="502920"/>
            <a:ext cx="4114800" cy="4114800"/>
          </a:xfrm>
          <a:prstGeom prst="rect">
            <a:avLst/>
          </a:prstGeom>
        </p:spPr>
      </p:pic>
      <p:sp>
        <p:nvSpPr>
          <p:cNvPr id="3" name="Text 0"/>
          <p:cNvSpPr txBox="1"/>
          <p:nvPr/>
        </p:nvSpPr>
        <p:spPr>
          <a:xfrm>
            <a:off x="548640" y="1097280"/>
            <a:ext cx="4572000" cy="365760"/>
          </a:xfrm>
          <a:prstGeom prst="rect">
            <a:avLst/>
          </a:prstGeom>
          <a:noFill/>
          <a:ln/>
        </p:spPr>
        <p:txBody>
          <a:bodyPr wrap="square" lIns="0" tIns="0" rIns="0" bIns="0" rtlCol="0" anchor="ctr"/>
          <a:lstStyle/>
          <a:p>
            <a:pPr indent="0" marL="0">
              <a:buNone/>
            </a:pPr>
            <a:r>
              <a:rPr lang="en-US" sz="1400" b="1" spc="400" kern="0" dirty="0">
                <a:solidFill>
                  <a:srgbClr val="EDE72D"/>
                </a:solidFill>
                <a:latin typeface="Arial" pitchFamily="34" charset="0"/>
                <a:ea typeface="Arial" pitchFamily="34" charset="-122"/>
                <a:cs typeface="Arial" pitchFamily="34" charset="-120"/>
              </a:rPr>
              <a:t>OPERATIONS TRAINING</a:t>
            </a:r>
            <a:endParaRPr lang="en-US" sz="1400" dirty="0"/>
          </a:p>
        </p:txBody>
      </p:sp>
      <p:sp>
        <p:nvSpPr>
          <p:cNvPr id="4" name="Text 1"/>
          <p:cNvSpPr txBox="1"/>
          <p:nvPr/>
        </p:nvSpPr>
        <p:spPr>
          <a:xfrm>
            <a:off x="548640" y="1508760"/>
            <a:ext cx="4572000" cy="11887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From Counselling to Arrival</a:t>
            </a:r>
            <a:endParaRPr lang="en-US" sz="3600" dirty="0"/>
          </a:p>
        </p:txBody>
      </p:sp>
      <p:sp>
        <p:nvSpPr>
          <p:cNvPr id="5" name="Text 2"/>
          <p:cNvSpPr txBox="1"/>
          <p:nvPr/>
        </p:nvSpPr>
        <p:spPr>
          <a:xfrm>
            <a:off x="548640" y="2788920"/>
            <a:ext cx="4206240" cy="82296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How a student file moves through Medcity: counsellor → documentation → university → visa → travel → accommodation</a:t>
            </a:r>
            <a:endParaRPr lang="en-US" sz="1500" dirty="0"/>
          </a:p>
        </p:txBody>
      </p:sp>
      <p:sp>
        <p:nvSpPr>
          <p:cNvPr id="6" name="Text 3"/>
          <p:cNvSpPr txBox="1"/>
          <p:nvPr/>
        </p:nvSpPr>
        <p:spPr>
          <a:xfrm>
            <a:off x="548640" y="4206240"/>
            <a:ext cx="4206240" cy="320040"/>
          </a:xfrm>
          <a:prstGeom prst="rect">
            <a:avLst/>
          </a:prstGeom>
          <a:noFill/>
          <a:ln/>
        </p:spPr>
        <p:txBody>
          <a:bodyPr wrap="square" lIns="0" tIns="0" rIns="0" bIns="0" rtlCol="0" anchor="ctr"/>
          <a:lstStyle/>
          <a:p>
            <a:pPr indent="0" marL="0">
              <a:buNone/>
            </a:pPr>
            <a:r>
              <a:rPr lang="en-US" sz="1200" dirty="0">
                <a:solidFill>
                  <a:srgbClr val="F6C9D7"/>
                </a:solidFill>
                <a:latin typeface="Calibri" pitchFamily="34" charset="0"/>
                <a:ea typeface="Calibri" pitchFamily="34" charset="-122"/>
                <a:cs typeface="Calibri" pitchFamily="34" charset="-120"/>
              </a:rPr>
              <a:t>Presented by: Operations Manager</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6492240" cy="457200"/>
          </a:xfrm>
          <a:prstGeom prst="rect">
            <a:avLst/>
          </a:prstGeom>
          <a:noFill/>
          <a:ln/>
        </p:spPr>
        <p:txBody>
          <a:bodyPr wrap="square" lIns="0" tIns="0" rIns="0" bIns="0" rtlCol="0" anchor="ctr"/>
          <a:lstStyle/>
          <a:p>
            <a:pPr indent="0" marL="0">
              <a:buNone/>
            </a:pPr>
            <a:r>
              <a:rPr lang="en-US" sz="2600" b="1" dirty="0">
                <a:solidFill>
                  <a:srgbClr val="2B1A22"/>
                </a:solidFill>
                <a:latin typeface="Arial" pitchFamily="34" charset="0"/>
                <a:ea typeface="Arial" pitchFamily="34" charset="-122"/>
                <a:cs typeface="Arial" pitchFamily="34" charset="-120"/>
              </a:rPr>
              <a:t>The Student Journey at a Glance</a:t>
            </a:r>
            <a:endParaRPr lang="en-US" sz="2600" dirty="0"/>
          </a:p>
        </p:txBody>
      </p:sp>
      <p:sp>
        <p:nvSpPr>
          <p:cNvPr id="3" name="Text 1"/>
          <p:cNvSpPr txBox="1"/>
          <p:nvPr/>
        </p:nvSpPr>
        <p:spPr>
          <a:xfrm>
            <a:off x="457200" y="713232"/>
            <a:ext cx="6675120" cy="274320"/>
          </a:xfrm>
          <a:prstGeom prst="rect">
            <a:avLst/>
          </a:prstGeom>
          <a:noFill/>
          <a:ln/>
        </p:spPr>
        <p:txBody>
          <a:bodyPr wrap="square" lIns="0" tIns="0" rIns="0" bIns="0" rtlCol="0" anchor="ctr"/>
          <a:lstStyle/>
          <a:p>
            <a:pPr indent="0" marL="0">
              <a:buNone/>
            </a:pPr>
            <a:r>
              <a:rPr lang="en-US" sz="1300" i="1" dirty="0">
                <a:solidFill>
                  <a:srgbClr val="C01F53"/>
                </a:solidFill>
                <a:latin typeface="Calibri" pitchFamily="34" charset="0"/>
                <a:ea typeface="Calibri" pitchFamily="34" charset="-122"/>
                <a:cs typeface="Calibri" pitchFamily="34" charset="-120"/>
              </a:rPr>
              <a:t>8 stages — every file follows the same path</a:t>
            </a:r>
            <a:endParaRPr lang="en-US" sz="1300" dirty="0"/>
          </a:p>
        </p:txBody>
      </p:sp>
      <p:pic>
        <p:nvPicPr>
          <p:cNvPr id="4" name="Image 0" descr="preencoded.png">    </p:cNvPr>
          <p:cNvPicPr>
            <a:picLocks noChangeAspect="1"/>
          </p:cNvPicPr>
          <p:nvPr/>
        </p:nvPicPr>
        <p:blipFill>
          <a:blip r:embed="rId1"/>
          <a:stretch>
            <a:fillRect/>
          </a:stretch>
        </p:blipFill>
        <p:spPr>
          <a:xfrm>
            <a:off x="8183880" y="274320"/>
            <a:ext cx="548640" cy="548640"/>
          </a:xfrm>
          <a:prstGeom prst="rect">
            <a:avLst/>
          </a:prstGeom>
        </p:spPr>
      </p:pic>
      <p:sp>
        <p:nvSpPr>
          <p:cNvPr id="5" name="Shape 2"/>
          <p:cNvSpPr/>
          <p:nvPr/>
        </p:nvSpPr>
        <p:spPr>
          <a:xfrm>
            <a:off x="457200" y="1280160"/>
            <a:ext cx="1874520" cy="1600200"/>
          </a:xfrm>
          <a:prstGeom prst="roundRect">
            <a:avLst>
              <a:gd name="adj" fmla="val 6857"/>
            </a:avLst>
          </a:prstGeom>
          <a:solidFill>
            <a:srgbClr val="FFFFFF"/>
          </a:solidFill>
          <a:ln w="9525">
            <a:solidFill>
              <a:srgbClr val="EBD3DC"/>
            </a:solidFill>
            <a:prstDash val="solid"/>
          </a:ln>
          <a:effectLst>
            <a:outerShdw sx="100000" sy="100000" kx="0" ky="0" algn="bl" rotWithShape="0" blurRad="76200" dist="25400" dir="5400000">
              <a:srgbClr val="000000">
                <a:alpha val="12000"/>
              </a:srgbClr>
            </a:outerShdw>
          </a:effectLst>
        </p:spPr>
      </p:sp>
      <p:sp>
        <p:nvSpPr>
          <p:cNvPr id="6" name="Shape 3"/>
          <p:cNvSpPr/>
          <p:nvPr/>
        </p:nvSpPr>
        <p:spPr>
          <a:xfrm>
            <a:off x="640080" y="1463040"/>
            <a:ext cx="548640" cy="548640"/>
          </a:xfrm>
          <a:prstGeom prst="ellipse">
            <a:avLst/>
          </a:prstGeom>
          <a:solidFill>
            <a:srgbClr val="C01F53"/>
          </a:solidFill>
          <a:ln w="12700">
            <a:solidFill>
              <a:srgbClr val="C01F53"/>
            </a:solidFill>
            <a:prstDash val="solid"/>
          </a:ln>
        </p:spPr>
      </p:sp>
      <p:pic>
        <p:nvPicPr>
          <p:cNvPr id="7" name="Image 1" descr="preencoded.png">    </p:cNvPr>
          <p:cNvPicPr>
            <a:picLocks noChangeAspect="1"/>
          </p:cNvPicPr>
          <p:nvPr/>
        </p:nvPicPr>
        <p:blipFill>
          <a:blip r:embed="rId2"/>
          <a:stretch>
            <a:fillRect/>
          </a:stretch>
        </p:blipFill>
        <p:spPr>
          <a:xfrm>
            <a:off x="777240" y="1600200"/>
            <a:ext cx="274320" cy="274320"/>
          </a:xfrm>
          <a:prstGeom prst="rect">
            <a:avLst/>
          </a:prstGeom>
        </p:spPr>
      </p:pic>
      <p:sp>
        <p:nvSpPr>
          <p:cNvPr id="8" name="Text 4"/>
          <p:cNvSpPr txBox="1"/>
          <p:nvPr/>
        </p:nvSpPr>
        <p:spPr>
          <a:xfrm>
            <a:off x="1554480" y="1463040"/>
            <a:ext cx="640080" cy="411480"/>
          </a:xfrm>
          <a:prstGeom prst="rect">
            <a:avLst/>
          </a:prstGeom>
          <a:noFill/>
          <a:ln/>
        </p:spPr>
        <p:txBody>
          <a:bodyPr wrap="square" lIns="0" tIns="0" rIns="0" bIns="0" rtlCol="0" anchor="ctr"/>
          <a:lstStyle/>
          <a:p>
            <a:pPr algn="r" indent="0" marL="0">
              <a:buNone/>
            </a:pPr>
            <a:r>
              <a:rPr lang="en-US" sz="2200" b="1" dirty="0">
                <a:solidFill>
                  <a:srgbClr val="E7B3C4"/>
                </a:solidFill>
                <a:latin typeface="Arial" pitchFamily="34" charset="0"/>
                <a:ea typeface="Arial" pitchFamily="34" charset="-122"/>
                <a:cs typeface="Arial" pitchFamily="34" charset="-120"/>
              </a:rPr>
              <a:t>01</a:t>
            </a:r>
            <a:endParaRPr lang="en-US" sz="2200" dirty="0"/>
          </a:p>
        </p:txBody>
      </p:sp>
      <p:sp>
        <p:nvSpPr>
          <p:cNvPr id="9" name="Text 5"/>
          <p:cNvSpPr txBox="1"/>
          <p:nvPr/>
        </p:nvSpPr>
        <p:spPr>
          <a:xfrm>
            <a:off x="640080" y="2103120"/>
            <a:ext cx="1554480" cy="292608"/>
          </a:xfrm>
          <a:prstGeom prst="rect">
            <a:avLst/>
          </a:prstGeom>
          <a:noFill/>
          <a:ln/>
        </p:spPr>
        <p:txBody>
          <a:bodyPr wrap="square" lIns="0" tIns="0" rIns="0" bIns="0" rtlCol="0" anchor="ctr"/>
          <a:lstStyle/>
          <a:p>
            <a:pPr indent="0" marL="0">
              <a:buNone/>
            </a:pPr>
            <a:r>
              <a:rPr lang="en-US" sz="1400" b="1" dirty="0">
                <a:solidFill>
                  <a:srgbClr val="2B1A22"/>
                </a:solidFill>
                <a:latin typeface="Arial" pitchFamily="34" charset="0"/>
                <a:ea typeface="Arial" pitchFamily="34" charset="-122"/>
                <a:cs typeface="Arial" pitchFamily="34" charset="-120"/>
              </a:rPr>
              <a:t>Collect</a:t>
            </a:r>
            <a:endParaRPr lang="en-US" sz="1400" dirty="0"/>
          </a:p>
        </p:txBody>
      </p:sp>
      <p:sp>
        <p:nvSpPr>
          <p:cNvPr id="10" name="Text 6"/>
          <p:cNvSpPr txBox="1"/>
          <p:nvPr/>
        </p:nvSpPr>
        <p:spPr>
          <a:xfrm>
            <a:off x="640080" y="2395728"/>
            <a:ext cx="1554480" cy="411480"/>
          </a:xfrm>
          <a:prstGeom prst="rect">
            <a:avLst/>
          </a:prstGeom>
          <a:noFill/>
          <a:ln/>
        </p:spPr>
        <p:txBody>
          <a:bodyPr wrap="square" lIns="0" tIns="0" rIns="0" bIns="0" rtlCol="0" anchor="t"/>
          <a:lstStyle/>
          <a:p>
            <a:pPr indent="0" marL="0">
              <a:buNone/>
            </a:pPr>
            <a:r>
              <a:rPr lang="en-US" sz="1100" dirty="0">
                <a:solidFill>
                  <a:srgbClr val="6B5A62"/>
                </a:solidFill>
                <a:latin typeface="Calibri" pitchFamily="34" charset="0"/>
                <a:ea typeface="Calibri" pitchFamily="34" charset="-122"/>
                <a:cs typeface="Calibri" pitchFamily="34" charset="-120"/>
              </a:rPr>
              <a:t>Counsellor gathers documents &amp; fee</a:t>
            </a:r>
            <a:endParaRPr lang="en-US" sz="1100" dirty="0"/>
          </a:p>
        </p:txBody>
      </p:sp>
      <p:sp>
        <p:nvSpPr>
          <p:cNvPr id="11" name="Shape 7"/>
          <p:cNvSpPr/>
          <p:nvPr/>
        </p:nvSpPr>
        <p:spPr>
          <a:xfrm>
            <a:off x="2514600" y="1280160"/>
            <a:ext cx="1874520" cy="1600200"/>
          </a:xfrm>
          <a:prstGeom prst="roundRect">
            <a:avLst>
              <a:gd name="adj" fmla="val 6857"/>
            </a:avLst>
          </a:prstGeom>
          <a:solidFill>
            <a:srgbClr val="FBEFF3"/>
          </a:solidFill>
          <a:ln w="9525">
            <a:solidFill>
              <a:srgbClr val="EBD3DC"/>
            </a:solidFill>
            <a:prstDash val="solid"/>
          </a:ln>
          <a:effectLst>
            <a:outerShdw sx="100000" sy="100000" kx="0" ky="0" algn="bl" rotWithShape="0" blurRad="76200" dist="25400" dir="5400000">
              <a:srgbClr val="000000">
                <a:alpha val="12000"/>
              </a:srgbClr>
            </a:outerShdw>
          </a:effectLst>
        </p:spPr>
      </p:sp>
      <p:sp>
        <p:nvSpPr>
          <p:cNvPr id="12" name="Shape 8"/>
          <p:cNvSpPr/>
          <p:nvPr/>
        </p:nvSpPr>
        <p:spPr>
          <a:xfrm>
            <a:off x="2697480" y="1463040"/>
            <a:ext cx="548640" cy="548640"/>
          </a:xfrm>
          <a:prstGeom prst="ellipse">
            <a:avLst/>
          </a:prstGeom>
          <a:solidFill>
            <a:srgbClr val="C01F53"/>
          </a:solidFill>
          <a:ln w="12700">
            <a:solidFill>
              <a:srgbClr val="C01F53"/>
            </a:solidFill>
            <a:prstDash val="solid"/>
          </a:ln>
        </p:spPr>
      </p:sp>
      <p:pic>
        <p:nvPicPr>
          <p:cNvPr id="13" name="Image 2" descr="preencoded.png">    </p:cNvPr>
          <p:cNvPicPr>
            <a:picLocks noChangeAspect="1"/>
          </p:cNvPicPr>
          <p:nvPr/>
        </p:nvPicPr>
        <p:blipFill>
          <a:blip r:embed="rId3"/>
          <a:stretch>
            <a:fillRect/>
          </a:stretch>
        </p:blipFill>
        <p:spPr>
          <a:xfrm>
            <a:off x="2834640" y="1600200"/>
            <a:ext cx="274320" cy="274320"/>
          </a:xfrm>
          <a:prstGeom prst="rect">
            <a:avLst/>
          </a:prstGeom>
        </p:spPr>
      </p:pic>
      <p:sp>
        <p:nvSpPr>
          <p:cNvPr id="14" name="Text 9"/>
          <p:cNvSpPr txBox="1"/>
          <p:nvPr/>
        </p:nvSpPr>
        <p:spPr>
          <a:xfrm>
            <a:off x="3611880" y="1463040"/>
            <a:ext cx="640080" cy="411480"/>
          </a:xfrm>
          <a:prstGeom prst="rect">
            <a:avLst/>
          </a:prstGeom>
          <a:noFill/>
          <a:ln/>
        </p:spPr>
        <p:txBody>
          <a:bodyPr wrap="square" lIns="0" tIns="0" rIns="0" bIns="0" rtlCol="0" anchor="ctr"/>
          <a:lstStyle/>
          <a:p>
            <a:pPr algn="r" indent="0" marL="0">
              <a:buNone/>
            </a:pPr>
            <a:r>
              <a:rPr lang="en-US" sz="2200" b="1" dirty="0">
                <a:solidFill>
                  <a:srgbClr val="E7B3C4"/>
                </a:solidFill>
                <a:latin typeface="Arial" pitchFamily="34" charset="0"/>
                <a:ea typeface="Arial" pitchFamily="34" charset="-122"/>
                <a:cs typeface="Arial" pitchFamily="34" charset="-120"/>
              </a:rPr>
              <a:t>02</a:t>
            </a:r>
            <a:endParaRPr lang="en-US" sz="2200" dirty="0"/>
          </a:p>
        </p:txBody>
      </p:sp>
      <p:sp>
        <p:nvSpPr>
          <p:cNvPr id="15" name="Text 10"/>
          <p:cNvSpPr txBox="1"/>
          <p:nvPr/>
        </p:nvSpPr>
        <p:spPr>
          <a:xfrm>
            <a:off x="2697480" y="2103120"/>
            <a:ext cx="1554480" cy="292608"/>
          </a:xfrm>
          <a:prstGeom prst="rect">
            <a:avLst/>
          </a:prstGeom>
          <a:noFill/>
          <a:ln/>
        </p:spPr>
        <p:txBody>
          <a:bodyPr wrap="square" lIns="0" tIns="0" rIns="0" bIns="0" rtlCol="0" anchor="ctr"/>
          <a:lstStyle/>
          <a:p>
            <a:pPr indent="0" marL="0">
              <a:buNone/>
            </a:pPr>
            <a:r>
              <a:rPr lang="en-US" sz="1400" b="1" dirty="0">
                <a:solidFill>
                  <a:srgbClr val="2B1A22"/>
                </a:solidFill>
                <a:latin typeface="Arial" pitchFamily="34" charset="0"/>
                <a:ea typeface="Arial" pitchFamily="34" charset="-122"/>
                <a:cs typeface="Arial" pitchFamily="34" charset="-120"/>
              </a:rPr>
              <a:t>Official Mail</a:t>
            </a:r>
            <a:endParaRPr lang="en-US" sz="1400" dirty="0"/>
          </a:p>
        </p:txBody>
      </p:sp>
      <p:sp>
        <p:nvSpPr>
          <p:cNvPr id="16" name="Text 11"/>
          <p:cNvSpPr txBox="1"/>
          <p:nvPr/>
        </p:nvSpPr>
        <p:spPr>
          <a:xfrm>
            <a:off x="2697480" y="2395728"/>
            <a:ext cx="1554480" cy="411480"/>
          </a:xfrm>
          <a:prstGeom prst="rect">
            <a:avLst/>
          </a:prstGeom>
          <a:noFill/>
          <a:ln/>
        </p:spPr>
        <p:txBody>
          <a:bodyPr wrap="square" lIns="0" tIns="0" rIns="0" bIns="0" rtlCol="0" anchor="t"/>
          <a:lstStyle/>
          <a:p>
            <a:pPr indent="0" marL="0">
              <a:buNone/>
            </a:pPr>
            <a:r>
              <a:rPr lang="en-US" sz="1100" dirty="0">
                <a:solidFill>
                  <a:srgbClr val="6B5A62"/>
                </a:solidFill>
                <a:latin typeface="Calibri" pitchFamily="34" charset="0"/>
                <a:ea typeface="Calibri" pitchFamily="34" charset="-122"/>
                <a:cs typeface="Calibri" pitchFamily="34" charset="-120"/>
              </a:rPr>
              <a:t>Send file to ATL</a:t>
            </a:r>
            <a:endParaRPr lang="en-US" sz="1100" dirty="0"/>
          </a:p>
        </p:txBody>
      </p:sp>
      <p:sp>
        <p:nvSpPr>
          <p:cNvPr id="17" name="Shape 12"/>
          <p:cNvSpPr/>
          <p:nvPr/>
        </p:nvSpPr>
        <p:spPr>
          <a:xfrm>
            <a:off x="4572000" y="1280160"/>
            <a:ext cx="1874520" cy="1600200"/>
          </a:xfrm>
          <a:prstGeom prst="roundRect">
            <a:avLst>
              <a:gd name="adj" fmla="val 6857"/>
            </a:avLst>
          </a:prstGeom>
          <a:solidFill>
            <a:srgbClr val="FFFFFF"/>
          </a:solidFill>
          <a:ln w="9525">
            <a:solidFill>
              <a:srgbClr val="EBD3DC"/>
            </a:solidFill>
            <a:prstDash val="solid"/>
          </a:ln>
          <a:effectLst>
            <a:outerShdw sx="100000" sy="100000" kx="0" ky="0" algn="bl" rotWithShape="0" blurRad="76200" dist="25400" dir="5400000">
              <a:srgbClr val="000000">
                <a:alpha val="12000"/>
              </a:srgbClr>
            </a:outerShdw>
          </a:effectLst>
        </p:spPr>
      </p:sp>
      <p:sp>
        <p:nvSpPr>
          <p:cNvPr id="18" name="Shape 13"/>
          <p:cNvSpPr/>
          <p:nvPr/>
        </p:nvSpPr>
        <p:spPr>
          <a:xfrm>
            <a:off x="4754880" y="1463040"/>
            <a:ext cx="548640" cy="548640"/>
          </a:xfrm>
          <a:prstGeom prst="ellipse">
            <a:avLst/>
          </a:prstGeom>
          <a:solidFill>
            <a:srgbClr val="C01F53"/>
          </a:solidFill>
          <a:ln w="12700">
            <a:solidFill>
              <a:srgbClr val="C01F53"/>
            </a:solidFill>
            <a:prstDash val="solid"/>
          </a:ln>
        </p:spPr>
      </p:sp>
      <p:pic>
        <p:nvPicPr>
          <p:cNvPr id="19" name="Image 3" descr="preencoded.png">    </p:cNvPr>
          <p:cNvPicPr>
            <a:picLocks noChangeAspect="1"/>
          </p:cNvPicPr>
          <p:nvPr/>
        </p:nvPicPr>
        <p:blipFill>
          <a:blip r:embed="rId4"/>
          <a:stretch>
            <a:fillRect/>
          </a:stretch>
        </p:blipFill>
        <p:spPr>
          <a:xfrm>
            <a:off x="4892040" y="1600200"/>
            <a:ext cx="274320" cy="274320"/>
          </a:xfrm>
          <a:prstGeom prst="rect">
            <a:avLst/>
          </a:prstGeom>
        </p:spPr>
      </p:pic>
      <p:sp>
        <p:nvSpPr>
          <p:cNvPr id="20" name="Text 14"/>
          <p:cNvSpPr txBox="1"/>
          <p:nvPr/>
        </p:nvSpPr>
        <p:spPr>
          <a:xfrm>
            <a:off x="5669280" y="1463040"/>
            <a:ext cx="640080" cy="411480"/>
          </a:xfrm>
          <a:prstGeom prst="rect">
            <a:avLst/>
          </a:prstGeom>
          <a:noFill/>
          <a:ln/>
        </p:spPr>
        <p:txBody>
          <a:bodyPr wrap="square" lIns="0" tIns="0" rIns="0" bIns="0" rtlCol="0" anchor="ctr"/>
          <a:lstStyle/>
          <a:p>
            <a:pPr algn="r" indent="0" marL="0">
              <a:buNone/>
            </a:pPr>
            <a:r>
              <a:rPr lang="en-US" sz="2200" b="1" dirty="0">
                <a:solidFill>
                  <a:srgbClr val="E7B3C4"/>
                </a:solidFill>
                <a:latin typeface="Arial" pitchFamily="34" charset="0"/>
                <a:ea typeface="Arial" pitchFamily="34" charset="-122"/>
                <a:cs typeface="Arial" pitchFamily="34" charset="-120"/>
              </a:rPr>
              <a:t>03</a:t>
            </a:r>
            <a:endParaRPr lang="en-US" sz="2200" dirty="0"/>
          </a:p>
        </p:txBody>
      </p:sp>
      <p:sp>
        <p:nvSpPr>
          <p:cNvPr id="21" name="Text 15"/>
          <p:cNvSpPr txBox="1"/>
          <p:nvPr/>
        </p:nvSpPr>
        <p:spPr>
          <a:xfrm>
            <a:off x="4754880" y="2103120"/>
            <a:ext cx="1554480" cy="292608"/>
          </a:xfrm>
          <a:prstGeom prst="rect">
            <a:avLst/>
          </a:prstGeom>
          <a:noFill/>
          <a:ln/>
        </p:spPr>
        <p:txBody>
          <a:bodyPr wrap="square" lIns="0" tIns="0" rIns="0" bIns="0" rtlCol="0" anchor="ctr"/>
          <a:lstStyle/>
          <a:p>
            <a:pPr indent="0" marL="0">
              <a:buNone/>
            </a:pPr>
            <a:r>
              <a:rPr lang="en-US" sz="1400" b="1" dirty="0">
                <a:solidFill>
                  <a:srgbClr val="2B1A22"/>
                </a:solidFill>
                <a:latin typeface="Arial" pitchFamily="34" charset="0"/>
                <a:ea typeface="Arial" pitchFamily="34" charset="-122"/>
                <a:cs typeface="Arial" pitchFamily="34" charset="-120"/>
              </a:rPr>
              <a:t>ATL Reply</a:t>
            </a:r>
            <a:endParaRPr lang="en-US" sz="1400" dirty="0"/>
          </a:p>
        </p:txBody>
      </p:sp>
      <p:sp>
        <p:nvSpPr>
          <p:cNvPr id="22" name="Text 16"/>
          <p:cNvSpPr txBox="1"/>
          <p:nvPr/>
        </p:nvSpPr>
        <p:spPr>
          <a:xfrm>
            <a:off x="4754880" y="2395728"/>
            <a:ext cx="1554480" cy="411480"/>
          </a:xfrm>
          <a:prstGeom prst="rect">
            <a:avLst/>
          </a:prstGeom>
          <a:noFill/>
          <a:ln/>
        </p:spPr>
        <p:txBody>
          <a:bodyPr wrap="square" lIns="0" tIns="0" rIns="0" bIns="0" rtlCol="0" anchor="t"/>
          <a:lstStyle/>
          <a:p>
            <a:pPr indent="0" marL="0">
              <a:buNone/>
            </a:pPr>
            <a:r>
              <a:rPr lang="en-US" sz="1100" dirty="0">
                <a:solidFill>
                  <a:srgbClr val="6B5A62"/>
                </a:solidFill>
                <a:latin typeface="Calibri" pitchFamily="34" charset="0"/>
                <a:ea typeface="Calibri" pitchFamily="34" charset="-122"/>
                <a:cs typeface="Calibri" pitchFamily="34" charset="-120"/>
              </a:rPr>
              <a:t>Doc. Executive in CC</a:t>
            </a:r>
            <a:endParaRPr lang="en-US" sz="1100" dirty="0"/>
          </a:p>
        </p:txBody>
      </p:sp>
      <p:sp>
        <p:nvSpPr>
          <p:cNvPr id="23" name="Shape 17"/>
          <p:cNvSpPr/>
          <p:nvPr/>
        </p:nvSpPr>
        <p:spPr>
          <a:xfrm>
            <a:off x="6629400" y="1280160"/>
            <a:ext cx="1874520" cy="1600200"/>
          </a:xfrm>
          <a:prstGeom prst="roundRect">
            <a:avLst>
              <a:gd name="adj" fmla="val 6857"/>
            </a:avLst>
          </a:prstGeom>
          <a:solidFill>
            <a:srgbClr val="FBEFF3"/>
          </a:solidFill>
          <a:ln w="9525">
            <a:solidFill>
              <a:srgbClr val="EBD3DC"/>
            </a:solidFill>
            <a:prstDash val="solid"/>
          </a:ln>
          <a:effectLst>
            <a:outerShdw sx="100000" sy="100000" kx="0" ky="0" algn="bl" rotWithShape="0" blurRad="76200" dist="25400" dir="5400000">
              <a:srgbClr val="000000">
                <a:alpha val="12000"/>
              </a:srgbClr>
            </a:outerShdw>
          </a:effectLst>
        </p:spPr>
      </p:sp>
      <p:sp>
        <p:nvSpPr>
          <p:cNvPr id="24" name="Shape 18"/>
          <p:cNvSpPr/>
          <p:nvPr/>
        </p:nvSpPr>
        <p:spPr>
          <a:xfrm>
            <a:off x="6812280" y="1463040"/>
            <a:ext cx="548640" cy="548640"/>
          </a:xfrm>
          <a:prstGeom prst="ellipse">
            <a:avLst/>
          </a:prstGeom>
          <a:solidFill>
            <a:srgbClr val="C01F53"/>
          </a:solidFill>
          <a:ln w="12700">
            <a:solidFill>
              <a:srgbClr val="C01F53"/>
            </a:solidFill>
            <a:prstDash val="solid"/>
          </a:ln>
        </p:spPr>
      </p:sp>
      <p:pic>
        <p:nvPicPr>
          <p:cNvPr id="25" name="Image 4" descr="preencoded.png">    </p:cNvPr>
          <p:cNvPicPr>
            <a:picLocks noChangeAspect="1"/>
          </p:cNvPicPr>
          <p:nvPr/>
        </p:nvPicPr>
        <p:blipFill>
          <a:blip r:embed="rId5"/>
          <a:stretch>
            <a:fillRect/>
          </a:stretch>
        </p:blipFill>
        <p:spPr>
          <a:xfrm>
            <a:off x="6949440" y="1600200"/>
            <a:ext cx="274320" cy="274320"/>
          </a:xfrm>
          <a:prstGeom prst="rect">
            <a:avLst/>
          </a:prstGeom>
        </p:spPr>
      </p:pic>
      <p:sp>
        <p:nvSpPr>
          <p:cNvPr id="26" name="Text 19"/>
          <p:cNvSpPr txBox="1"/>
          <p:nvPr/>
        </p:nvSpPr>
        <p:spPr>
          <a:xfrm>
            <a:off x="7726680" y="1463040"/>
            <a:ext cx="640080" cy="411480"/>
          </a:xfrm>
          <a:prstGeom prst="rect">
            <a:avLst/>
          </a:prstGeom>
          <a:noFill/>
          <a:ln/>
        </p:spPr>
        <p:txBody>
          <a:bodyPr wrap="square" lIns="0" tIns="0" rIns="0" bIns="0" rtlCol="0" anchor="ctr"/>
          <a:lstStyle/>
          <a:p>
            <a:pPr algn="r" indent="0" marL="0">
              <a:buNone/>
            </a:pPr>
            <a:r>
              <a:rPr lang="en-US" sz="2200" b="1" dirty="0">
                <a:solidFill>
                  <a:srgbClr val="E7B3C4"/>
                </a:solidFill>
                <a:latin typeface="Arial" pitchFamily="34" charset="0"/>
                <a:ea typeface="Arial" pitchFamily="34" charset="-122"/>
                <a:cs typeface="Arial" pitchFamily="34" charset="-120"/>
              </a:rPr>
              <a:t>04</a:t>
            </a:r>
            <a:endParaRPr lang="en-US" sz="2200" dirty="0"/>
          </a:p>
        </p:txBody>
      </p:sp>
      <p:sp>
        <p:nvSpPr>
          <p:cNvPr id="27" name="Text 20"/>
          <p:cNvSpPr txBox="1"/>
          <p:nvPr/>
        </p:nvSpPr>
        <p:spPr>
          <a:xfrm>
            <a:off x="6812280" y="2103120"/>
            <a:ext cx="1554480" cy="292608"/>
          </a:xfrm>
          <a:prstGeom prst="rect">
            <a:avLst/>
          </a:prstGeom>
          <a:noFill/>
          <a:ln/>
        </p:spPr>
        <p:txBody>
          <a:bodyPr wrap="square" lIns="0" tIns="0" rIns="0" bIns="0" rtlCol="0" anchor="ctr"/>
          <a:lstStyle/>
          <a:p>
            <a:pPr indent="0" marL="0">
              <a:buNone/>
            </a:pPr>
            <a:r>
              <a:rPr lang="en-US" sz="1400" b="1" dirty="0">
                <a:solidFill>
                  <a:srgbClr val="2B1A22"/>
                </a:solidFill>
                <a:latin typeface="Arial" pitchFamily="34" charset="0"/>
                <a:ea typeface="Arial" pitchFamily="34" charset="-122"/>
                <a:cs typeface="Arial" pitchFamily="34" charset="-120"/>
              </a:rPr>
              <a:t>WhatsApp Group</a:t>
            </a:r>
            <a:endParaRPr lang="en-US" sz="1400" dirty="0"/>
          </a:p>
        </p:txBody>
      </p:sp>
      <p:sp>
        <p:nvSpPr>
          <p:cNvPr id="28" name="Text 21"/>
          <p:cNvSpPr txBox="1"/>
          <p:nvPr/>
        </p:nvSpPr>
        <p:spPr>
          <a:xfrm>
            <a:off x="6812280" y="2395728"/>
            <a:ext cx="1554480" cy="411480"/>
          </a:xfrm>
          <a:prstGeom prst="rect">
            <a:avLst/>
          </a:prstGeom>
          <a:noFill/>
          <a:ln/>
        </p:spPr>
        <p:txBody>
          <a:bodyPr wrap="square" lIns="0" tIns="0" rIns="0" bIns="0" rtlCol="0" anchor="t"/>
          <a:lstStyle/>
          <a:p>
            <a:pPr indent="0" marL="0">
              <a:buNone/>
            </a:pPr>
            <a:r>
              <a:rPr lang="en-US" sz="1100" dirty="0">
                <a:solidFill>
                  <a:srgbClr val="6B5A62"/>
                </a:solidFill>
                <a:latin typeface="Calibri" pitchFamily="34" charset="0"/>
                <a:ea typeface="Calibri" pitchFamily="34" charset="-122"/>
                <a:cs typeface="Calibri" pitchFamily="34" charset="-120"/>
              </a:rPr>
              <a:t>Student, parents &amp; team</a:t>
            </a:r>
            <a:endParaRPr lang="en-US" sz="1100" dirty="0"/>
          </a:p>
        </p:txBody>
      </p:sp>
      <p:sp>
        <p:nvSpPr>
          <p:cNvPr id="29" name="Shape 22"/>
          <p:cNvSpPr/>
          <p:nvPr/>
        </p:nvSpPr>
        <p:spPr>
          <a:xfrm>
            <a:off x="457200" y="3108960"/>
            <a:ext cx="1874520" cy="1600200"/>
          </a:xfrm>
          <a:prstGeom prst="roundRect">
            <a:avLst>
              <a:gd name="adj" fmla="val 6857"/>
            </a:avLst>
          </a:prstGeom>
          <a:solidFill>
            <a:srgbClr val="FFFFFF"/>
          </a:solidFill>
          <a:ln w="9525">
            <a:solidFill>
              <a:srgbClr val="EBD3DC"/>
            </a:solidFill>
            <a:prstDash val="solid"/>
          </a:ln>
          <a:effectLst>
            <a:outerShdw sx="100000" sy="100000" kx="0" ky="0" algn="bl" rotWithShape="0" blurRad="76200" dist="25400" dir="5400000">
              <a:srgbClr val="000000">
                <a:alpha val="12000"/>
              </a:srgbClr>
            </a:outerShdw>
          </a:effectLst>
        </p:spPr>
      </p:sp>
      <p:sp>
        <p:nvSpPr>
          <p:cNvPr id="30" name="Shape 23"/>
          <p:cNvSpPr/>
          <p:nvPr/>
        </p:nvSpPr>
        <p:spPr>
          <a:xfrm>
            <a:off x="640080" y="3291840"/>
            <a:ext cx="548640" cy="548640"/>
          </a:xfrm>
          <a:prstGeom prst="ellipse">
            <a:avLst/>
          </a:prstGeom>
          <a:solidFill>
            <a:srgbClr val="C01F53"/>
          </a:solidFill>
          <a:ln w="12700">
            <a:solidFill>
              <a:srgbClr val="C01F53"/>
            </a:solidFill>
            <a:prstDash val="solid"/>
          </a:ln>
        </p:spPr>
      </p:sp>
      <p:pic>
        <p:nvPicPr>
          <p:cNvPr id="31" name="Image 5" descr="preencoded.png">    </p:cNvPr>
          <p:cNvPicPr>
            <a:picLocks noChangeAspect="1"/>
          </p:cNvPicPr>
          <p:nvPr/>
        </p:nvPicPr>
        <p:blipFill>
          <a:blip r:embed="rId6"/>
          <a:stretch>
            <a:fillRect/>
          </a:stretch>
        </p:blipFill>
        <p:spPr>
          <a:xfrm>
            <a:off x="777240" y="3429000"/>
            <a:ext cx="274320" cy="274320"/>
          </a:xfrm>
          <a:prstGeom prst="rect">
            <a:avLst/>
          </a:prstGeom>
        </p:spPr>
      </p:pic>
      <p:sp>
        <p:nvSpPr>
          <p:cNvPr id="32" name="Text 24"/>
          <p:cNvSpPr txBox="1"/>
          <p:nvPr/>
        </p:nvSpPr>
        <p:spPr>
          <a:xfrm>
            <a:off x="1554480" y="3291840"/>
            <a:ext cx="640080" cy="411480"/>
          </a:xfrm>
          <a:prstGeom prst="rect">
            <a:avLst/>
          </a:prstGeom>
          <a:noFill/>
          <a:ln/>
        </p:spPr>
        <p:txBody>
          <a:bodyPr wrap="square" lIns="0" tIns="0" rIns="0" bIns="0" rtlCol="0" anchor="ctr"/>
          <a:lstStyle/>
          <a:p>
            <a:pPr algn="r" indent="0" marL="0">
              <a:buNone/>
            </a:pPr>
            <a:r>
              <a:rPr lang="en-US" sz="2200" b="1" dirty="0">
                <a:solidFill>
                  <a:srgbClr val="E7B3C4"/>
                </a:solidFill>
                <a:latin typeface="Arial" pitchFamily="34" charset="0"/>
                <a:ea typeface="Arial" pitchFamily="34" charset="-122"/>
                <a:cs typeface="Arial" pitchFamily="34" charset="-120"/>
              </a:rPr>
              <a:t>05</a:t>
            </a:r>
            <a:endParaRPr lang="en-US" sz="2200" dirty="0"/>
          </a:p>
        </p:txBody>
      </p:sp>
      <p:sp>
        <p:nvSpPr>
          <p:cNvPr id="33" name="Text 25"/>
          <p:cNvSpPr txBox="1"/>
          <p:nvPr/>
        </p:nvSpPr>
        <p:spPr>
          <a:xfrm>
            <a:off x="640080" y="3931920"/>
            <a:ext cx="1554480" cy="292608"/>
          </a:xfrm>
          <a:prstGeom prst="rect">
            <a:avLst/>
          </a:prstGeom>
          <a:noFill/>
          <a:ln/>
        </p:spPr>
        <p:txBody>
          <a:bodyPr wrap="square" lIns="0" tIns="0" rIns="0" bIns="0" rtlCol="0" anchor="ctr"/>
          <a:lstStyle/>
          <a:p>
            <a:pPr indent="0" marL="0">
              <a:buNone/>
            </a:pPr>
            <a:r>
              <a:rPr lang="en-US" sz="1400" b="1" dirty="0">
                <a:solidFill>
                  <a:srgbClr val="2B1A22"/>
                </a:solidFill>
                <a:latin typeface="Arial" pitchFamily="34" charset="0"/>
                <a:ea typeface="Arial" pitchFamily="34" charset="-122"/>
                <a:cs typeface="Arial" pitchFamily="34" charset="-120"/>
              </a:rPr>
              <a:t>Apply</a:t>
            </a:r>
            <a:endParaRPr lang="en-US" sz="1400" dirty="0"/>
          </a:p>
        </p:txBody>
      </p:sp>
      <p:sp>
        <p:nvSpPr>
          <p:cNvPr id="34" name="Text 26"/>
          <p:cNvSpPr txBox="1"/>
          <p:nvPr/>
        </p:nvSpPr>
        <p:spPr>
          <a:xfrm>
            <a:off x="640080" y="4224528"/>
            <a:ext cx="1554480" cy="411480"/>
          </a:xfrm>
          <a:prstGeom prst="rect">
            <a:avLst/>
          </a:prstGeom>
          <a:noFill/>
          <a:ln/>
        </p:spPr>
        <p:txBody>
          <a:bodyPr wrap="square" lIns="0" tIns="0" rIns="0" bIns="0" rtlCol="0" anchor="t"/>
          <a:lstStyle/>
          <a:p>
            <a:pPr indent="0" marL="0">
              <a:buNone/>
            </a:pPr>
            <a:r>
              <a:rPr lang="en-US" sz="1100" dirty="0">
                <a:solidFill>
                  <a:srgbClr val="6B5A62"/>
                </a:solidFill>
                <a:latin typeface="Calibri" pitchFamily="34" charset="0"/>
                <a:ea typeface="Calibri" pitchFamily="34" charset="-122"/>
                <a:cs typeface="Calibri" pitchFamily="34" charset="-120"/>
              </a:rPr>
              <a:t>Doc. Executive applies to university</a:t>
            </a:r>
            <a:endParaRPr lang="en-US" sz="1100" dirty="0"/>
          </a:p>
        </p:txBody>
      </p:sp>
      <p:sp>
        <p:nvSpPr>
          <p:cNvPr id="35" name="Shape 27"/>
          <p:cNvSpPr/>
          <p:nvPr/>
        </p:nvSpPr>
        <p:spPr>
          <a:xfrm>
            <a:off x="2514600" y="3108960"/>
            <a:ext cx="1874520" cy="1600200"/>
          </a:xfrm>
          <a:prstGeom prst="roundRect">
            <a:avLst>
              <a:gd name="adj" fmla="val 6857"/>
            </a:avLst>
          </a:prstGeom>
          <a:solidFill>
            <a:srgbClr val="FBEFF3"/>
          </a:solidFill>
          <a:ln w="9525">
            <a:solidFill>
              <a:srgbClr val="EBD3DC"/>
            </a:solidFill>
            <a:prstDash val="solid"/>
          </a:ln>
          <a:effectLst>
            <a:outerShdw sx="100000" sy="100000" kx="0" ky="0" algn="bl" rotWithShape="0" blurRad="76200" dist="25400" dir="5400000">
              <a:srgbClr val="000000">
                <a:alpha val="12000"/>
              </a:srgbClr>
            </a:outerShdw>
          </a:effectLst>
        </p:spPr>
      </p:sp>
      <p:sp>
        <p:nvSpPr>
          <p:cNvPr id="36" name="Shape 28"/>
          <p:cNvSpPr/>
          <p:nvPr/>
        </p:nvSpPr>
        <p:spPr>
          <a:xfrm>
            <a:off x="2697480" y="3291840"/>
            <a:ext cx="548640" cy="548640"/>
          </a:xfrm>
          <a:prstGeom prst="ellipse">
            <a:avLst/>
          </a:prstGeom>
          <a:solidFill>
            <a:srgbClr val="C01F53"/>
          </a:solidFill>
          <a:ln w="12700">
            <a:solidFill>
              <a:srgbClr val="C01F53"/>
            </a:solidFill>
            <a:prstDash val="solid"/>
          </a:ln>
        </p:spPr>
      </p:sp>
      <p:pic>
        <p:nvPicPr>
          <p:cNvPr id="37" name="Image 6" descr="preencoded.png">    </p:cNvPr>
          <p:cNvPicPr>
            <a:picLocks noChangeAspect="1"/>
          </p:cNvPicPr>
          <p:nvPr/>
        </p:nvPicPr>
        <p:blipFill>
          <a:blip r:embed="rId7"/>
          <a:stretch>
            <a:fillRect/>
          </a:stretch>
        </p:blipFill>
        <p:spPr>
          <a:xfrm>
            <a:off x="2834640" y="3429000"/>
            <a:ext cx="274320" cy="274320"/>
          </a:xfrm>
          <a:prstGeom prst="rect">
            <a:avLst/>
          </a:prstGeom>
        </p:spPr>
      </p:pic>
      <p:sp>
        <p:nvSpPr>
          <p:cNvPr id="38" name="Text 29"/>
          <p:cNvSpPr txBox="1"/>
          <p:nvPr/>
        </p:nvSpPr>
        <p:spPr>
          <a:xfrm>
            <a:off x="3611880" y="3291840"/>
            <a:ext cx="640080" cy="411480"/>
          </a:xfrm>
          <a:prstGeom prst="rect">
            <a:avLst/>
          </a:prstGeom>
          <a:noFill/>
          <a:ln/>
        </p:spPr>
        <p:txBody>
          <a:bodyPr wrap="square" lIns="0" tIns="0" rIns="0" bIns="0" rtlCol="0" anchor="ctr"/>
          <a:lstStyle/>
          <a:p>
            <a:pPr algn="r" indent="0" marL="0">
              <a:buNone/>
            </a:pPr>
            <a:r>
              <a:rPr lang="en-US" sz="2200" b="1" dirty="0">
                <a:solidFill>
                  <a:srgbClr val="E7B3C4"/>
                </a:solidFill>
                <a:latin typeface="Arial" pitchFamily="34" charset="0"/>
                <a:ea typeface="Arial" pitchFamily="34" charset="-122"/>
                <a:cs typeface="Arial" pitchFamily="34" charset="-120"/>
              </a:rPr>
              <a:t>06</a:t>
            </a:r>
            <a:endParaRPr lang="en-US" sz="2200" dirty="0"/>
          </a:p>
        </p:txBody>
      </p:sp>
      <p:sp>
        <p:nvSpPr>
          <p:cNvPr id="39" name="Text 30"/>
          <p:cNvSpPr txBox="1"/>
          <p:nvPr/>
        </p:nvSpPr>
        <p:spPr>
          <a:xfrm>
            <a:off x="2697480" y="3931920"/>
            <a:ext cx="1554480" cy="292608"/>
          </a:xfrm>
          <a:prstGeom prst="rect">
            <a:avLst/>
          </a:prstGeom>
          <a:noFill/>
          <a:ln/>
        </p:spPr>
        <p:txBody>
          <a:bodyPr wrap="square" lIns="0" tIns="0" rIns="0" bIns="0" rtlCol="0" anchor="ctr"/>
          <a:lstStyle/>
          <a:p>
            <a:pPr indent="0" marL="0">
              <a:buNone/>
            </a:pPr>
            <a:r>
              <a:rPr lang="en-US" sz="1400" b="1" dirty="0">
                <a:solidFill>
                  <a:srgbClr val="2B1A22"/>
                </a:solidFill>
                <a:latin typeface="Arial" pitchFamily="34" charset="0"/>
                <a:ea typeface="Arial" pitchFamily="34" charset="-122"/>
                <a:cs typeface="Arial" pitchFamily="34" charset="-120"/>
              </a:rPr>
              <a:t>Visa</a:t>
            </a:r>
            <a:endParaRPr lang="en-US" sz="1400" dirty="0"/>
          </a:p>
        </p:txBody>
      </p:sp>
      <p:sp>
        <p:nvSpPr>
          <p:cNvPr id="40" name="Text 31"/>
          <p:cNvSpPr txBox="1"/>
          <p:nvPr/>
        </p:nvSpPr>
        <p:spPr>
          <a:xfrm>
            <a:off x="2697480" y="4224528"/>
            <a:ext cx="1554480" cy="411480"/>
          </a:xfrm>
          <a:prstGeom prst="rect">
            <a:avLst/>
          </a:prstGeom>
          <a:noFill/>
          <a:ln/>
        </p:spPr>
        <p:txBody>
          <a:bodyPr wrap="square" lIns="0" tIns="0" rIns="0" bIns="0" rtlCol="0" anchor="t"/>
          <a:lstStyle/>
          <a:p>
            <a:pPr indent="0" marL="0">
              <a:buNone/>
            </a:pPr>
            <a:r>
              <a:rPr lang="en-US" sz="1100" dirty="0">
                <a:solidFill>
                  <a:srgbClr val="6B5A62"/>
                </a:solidFill>
                <a:latin typeface="Calibri" pitchFamily="34" charset="0"/>
                <a:ea typeface="Calibri" pitchFamily="34" charset="-122"/>
                <a:cs typeface="Calibri" pitchFamily="34" charset="-120"/>
              </a:rPr>
              <a:t>Visa process &amp; updates</a:t>
            </a:r>
            <a:endParaRPr lang="en-US" sz="1100" dirty="0"/>
          </a:p>
        </p:txBody>
      </p:sp>
      <p:sp>
        <p:nvSpPr>
          <p:cNvPr id="41" name="Shape 32"/>
          <p:cNvSpPr/>
          <p:nvPr/>
        </p:nvSpPr>
        <p:spPr>
          <a:xfrm>
            <a:off x="4572000" y="3108960"/>
            <a:ext cx="1874520" cy="1600200"/>
          </a:xfrm>
          <a:prstGeom prst="roundRect">
            <a:avLst>
              <a:gd name="adj" fmla="val 6857"/>
            </a:avLst>
          </a:prstGeom>
          <a:solidFill>
            <a:srgbClr val="FFFFFF"/>
          </a:solidFill>
          <a:ln w="9525">
            <a:solidFill>
              <a:srgbClr val="EBD3DC"/>
            </a:solidFill>
            <a:prstDash val="solid"/>
          </a:ln>
          <a:effectLst>
            <a:outerShdw sx="100000" sy="100000" kx="0" ky="0" algn="bl" rotWithShape="0" blurRad="76200" dist="25400" dir="5400000">
              <a:srgbClr val="000000">
                <a:alpha val="12000"/>
              </a:srgbClr>
            </a:outerShdw>
          </a:effectLst>
        </p:spPr>
      </p:sp>
      <p:sp>
        <p:nvSpPr>
          <p:cNvPr id="42" name="Shape 33"/>
          <p:cNvSpPr/>
          <p:nvPr/>
        </p:nvSpPr>
        <p:spPr>
          <a:xfrm>
            <a:off x="4754880" y="3291840"/>
            <a:ext cx="548640" cy="548640"/>
          </a:xfrm>
          <a:prstGeom prst="ellipse">
            <a:avLst/>
          </a:prstGeom>
          <a:solidFill>
            <a:srgbClr val="C01F53"/>
          </a:solidFill>
          <a:ln w="12700">
            <a:solidFill>
              <a:srgbClr val="C01F53"/>
            </a:solidFill>
            <a:prstDash val="solid"/>
          </a:ln>
        </p:spPr>
      </p:sp>
      <p:pic>
        <p:nvPicPr>
          <p:cNvPr id="43" name="Image 7" descr="preencoded.png">    </p:cNvPr>
          <p:cNvPicPr>
            <a:picLocks noChangeAspect="1"/>
          </p:cNvPicPr>
          <p:nvPr/>
        </p:nvPicPr>
        <p:blipFill>
          <a:blip r:embed="rId8"/>
          <a:stretch>
            <a:fillRect/>
          </a:stretch>
        </p:blipFill>
        <p:spPr>
          <a:xfrm>
            <a:off x="4892040" y="3429000"/>
            <a:ext cx="274320" cy="274320"/>
          </a:xfrm>
          <a:prstGeom prst="rect">
            <a:avLst/>
          </a:prstGeom>
        </p:spPr>
      </p:pic>
      <p:sp>
        <p:nvSpPr>
          <p:cNvPr id="44" name="Text 34"/>
          <p:cNvSpPr txBox="1"/>
          <p:nvPr/>
        </p:nvSpPr>
        <p:spPr>
          <a:xfrm>
            <a:off x="5669280" y="3291840"/>
            <a:ext cx="640080" cy="411480"/>
          </a:xfrm>
          <a:prstGeom prst="rect">
            <a:avLst/>
          </a:prstGeom>
          <a:noFill/>
          <a:ln/>
        </p:spPr>
        <p:txBody>
          <a:bodyPr wrap="square" lIns="0" tIns="0" rIns="0" bIns="0" rtlCol="0" anchor="ctr"/>
          <a:lstStyle/>
          <a:p>
            <a:pPr algn="r" indent="0" marL="0">
              <a:buNone/>
            </a:pPr>
            <a:r>
              <a:rPr lang="en-US" sz="2200" b="1" dirty="0">
                <a:solidFill>
                  <a:srgbClr val="E7B3C4"/>
                </a:solidFill>
                <a:latin typeface="Arial" pitchFamily="34" charset="0"/>
                <a:ea typeface="Arial" pitchFamily="34" charset="-122"/>
                <a:cs typeface="Arial" pitchFamily="34" charset="-120"/>
              </a:rPr>
              <a:t>07</a:t>
            </a:r>
            <a:endParaRPr lang="en-US" sz="2200" dirty="0"/>
          </a:p>
        </p:txBody>
      </p:sp>
      <p:sp>
        <p:nvSpPr>
          <p:cNvPr id="45" name="Text 35"/>
          <p:cNvSpPr txBox="1"/>
          <p:nvPr/>
        </p:nvSpPr>
        <p:spPr>
          <a:xfrm>
            <a:off x="4754880" y="3931920"/>
            <a:ext cx="1554480" cy="292608"/>
          </a:xfrm>
          <a:prstGeom prst="rect">
            <a:avLst/>
          </a:prstGeom>
          <a:noFill/>
          <a:ln/>
        </p:spPr>
        <p:txBody>
          <a:bodyPr wrap="square" lIns="0" tIns="0" rIns="0" bIns="0" rtlCol="0" anchor="ctr"/>
          <a:lstStyle/>
          <a:p>
            <a:pPr indent="0" marL="0">
              <a:buNone/>
            </a:pPr>
            <a:r>
              <a:rPr lang="en-US" sz="1400" b="1" dirty="0">
                <a:solidFill>
                  <a:srgbClr val="2B1A22"/>
                </a:solidFill>
                <a:latin typeface="Arial" pitchFamily="34" charset="0"/>
                <a:ea typeface="Arial" pitchFamily="34" charset="-122"/>
                <a:cs typeface="Arial" pitchFamily="34" charset="-120"/>
              </a:rPr>
              <a:t>Travel</a:t>
            </a:r>
            <a:endParaRPr lang="en-US" sz="1400" dirty="0"/>
          </a:p>
        </p:txBody>
      </p:sp>
      <p:sp>
        <p:nvSpPr>
          <p:cNvPr id="46" name="Text 36"/>
          <p:cNvSpPr txBox="1"/>
          <p:nvPr/>
        </p:nvSpPr>
        <p:spPr>
          <a:xfrm>
            <a:off x="4754880" y="4224528"/>
            <a:ext cx="1554480" cy="411480"/>
          </a:xfrm>
          <a:prstGeom prst="rect">
            <a:avLst/>
          </a:prstGeom>
          <a:noFill/>
          <a:ln/>
        </p:spPr>
        <p:txBody>
          <a:bodyPr wrap="square" lIns="0" tIns="0" rIns="0" bIns="0" rtlCol="0" anchor="t"/>
          <a:lstStyle/>
          <a:p>
            <a:pPr indent="0" marL="0">
              <a:buNone/>
            </a:pPr>
            <a:r>
              <a:rPr lang="en-US" sz="1100" dirty="0">
                <a:solidFill>
                  <a:srgbClr val="6B5A62"/>
                </a:solidFill>
                <a:latin typeface="Calibri" pitchFamily="34" charset="0"/>
                <a:ea typeface="Calibri" pitchFamily="34" charset="-122"/>
                <a:cs typeface="Calibri" pitchFamily="34" charset="-120"/>
              </a:rPr>
              <a:t>Travel dept. books tickets</a:t>
            </a:r>
            <a:endParaRPr lang="en-US" sz="1100" dirty="0"/>
          </a:p>
        </p:txBody>
      </p:sp>
      <p:sp>
        <p:nvSpPr>
          <p:cNvPr id="47" name="Shape 37"/>
          <p:cNvSpPr/>
          <p:nvPr/>
        </p:nvSpPr>
        <p:spPr>
          <a:xfrm>
            <a:off x="6629400" y="3108960"/>
            <a:ext cx="1874520" cy="1600200"/>
          </a:xfrm>
          <a:prstGeom prst="roundRect">
            <a:avLst>
              <a:gd name="adj" fmla="val 6857"/>
            </a:avLst>
          </a:prstGeom>
          <a:solidFill>
            <a:srgbClr val="FBEFF3"/>
          </a:solidFill>
          <a:ln w="9525">
            <a:solidFill>
              <a:srgbClr val="EBD3DC"/>
            </a:solidFill>
            <a:prstDash val="solid"/>
          </a:ln>
          <a:effectLst>
            <a:outerShdw sx="100000" sy="100000" kx="0" ky="0" algn="bl" rotWithShape="0" blurRad="76200" dist="25400" dir="5400000">
              <a:srgbClr val="000000">
                <a:alpha val="12000"/>
              </a:srgbClr>
            </a:outerShdw>
          </a:effectLst>
        </p:spPr>
      </p:sp>
      <p:sp>
        <p:nvSpPr>
          <p:cNvPr id="48" name="Shape 38"/>
          <p:cNvSpPr/>
          <p:nvPr/>
        </p:nvSpPr>
        <p:spPr>
          <a:xfrm>
            <a:off x="6812280" y="3291840"/>
            <a:ext cx="548640" cy="548640"/>
          </a:xfrm>
          <a:prstGeom prst="ellipse">
            <a:avLst/>
          </a:prstGeom>
          <a:solidFill>
            <a:srgbClr val="C01F53"/>
          </a:solidFill>
          <a:ln w="12700">
            <a:solidFill>
              <a:srgbClr val="C01F53"/>
            </a:solidFill>
            <a:prstDash val="solid"/>
          </a:ln>
        </p:spPr>
      </p:sp>
      <p:pic>
        <p:nvPicPr>
          <p:cNvPr id="49" name="Image 8" descr="preencoded.png">    </p:cNvPr>
          <p:cNvPicPr>
            <a:picLocks noChangeAspect="1"/>
          </p:cNvPicPr>
          <p:nvPr/>
        </p:nvPicPr>
        <p:blipFill>
          <a:blip r:embed="rId9"/>
          <a:stretch>
            <a:fillRect/>
          </a:stretch>
        </p:blipFill>
        <p:spPr>
          <a:xfrm>
            <a:off x="6949440" y="3429000"/>
            <a:ext cx="274320" cy="274320"/>
          </a:xfrm>
          <a:prstGeom prst="rect">
            <a:avLst/>
          </a:prstGeom>
        </p:spPr>
      </p:pic>
      <p:sp>
        <p:nvSpPr>
          <p:cNvPr id="50" name="Text 39"/>
          <p:cNvSpPr txBox="1"/>
          <p:nvPr/>
        </p:nvSpPr>
        <p:spPr>
          <a:xfrm>
            <a:off x="7726680" y="3291840"/>
            <a:ext cx="640080" cy="411480"/>
          </a:xfrm>
          <a:prstGeom prst="rect">
            <a:avLst/>
          </a:prstGeom>
          <a:noFill/>
          <a:ln/>
        </p:spPr>
        <p:txBody>
          <a:bodyPr wrap="square" lIns="0" tIns="0" rIns="0" bIns="0" rtlCol="0" anchor="ctr"/>
          <a:lstStyle/>
          <a:p>
            <a:pPr algn="r" indent="0" marL="0">
              <a:buNone/>
            </a:pPr>
            <a:r>
              <a:rPr lang="en-US" sz="2200" b="1" dirty="0">
                <a:solidFill>
                  <a:srgbClr val="E7B3C4"/>
                </a:solidFill>
                <a:latin typeface="Arial" pitchFamily="34" charset="0"/>
                <a:ea typeface="Arial" pitchFamily="34" charset="-122"/>
                <a:cs typeface="Arial" pitchFamily="34" charset="-120"/>
              </a:rPr>
              <a:t>08</a:t>
            </a:r>
            <a:endParaRPr lang="en-US" sz="2200" dirty="0"/>
          </a:p>
        </p:txBody>
      </p:sp>
      <p:sp>
        <p:nvSpPr>
          <p:cNvPr id="51" name="Text 40"/>
          <p:cNvSpPr txBox="1"/>
          <p:nvPr/>
        </p:nvSpPr>
        <p:spPr>
          <a:xfrm>
            <a:off x="6812280" y="3931920"/>
            <a:ext cx="1554480" cy="292608"/>
          </a:xfrm>
          <a:prstGeom prst="rect">
            <a:avLst/>
          </a:prstGeom>
          <a:noFill/>
          <a:ln/>
        </p:spPr>
        <p:txBody>
          <a:bodyPr wrap="square" lIns="0" tIns="0" rIns="0" bIns="0" rtlCol="0" anchor="ctr"/>
          <a:lstStyle/>
          <a:p>
            <a:pPr indent="0" marL="0">
              <a:buNone/>
            </a:pPr>
            <a:r>
              <a:rPr lang="en-US" sz="1400" b="1" dirty="0">
                <a:solidFill>
                  <a:srgbClr val="2B1A22"/>
                </a:solidFill>
                <a:latin typeface="Arial" pitchFamily="34" charset="0"/>
                <a:ea typeface="Arial" pitchFamily="34" charset="-122"/>
                <a:cs typeface="Arial" pitchFamily="34" charset="-120"/>
              </a:rPr>
              <a:t>Arrival</a:t>
            </a:r>
            <a:endParaRPr lang="en-US" sz="1400" dirty="0"/>
          </a:p>
        </p:txBody>
      </p:sp>
      <p:sp>
        <p:nvSpPr>
          <p:cNvPr id="52" name="Text 41"/>
          <p:cNvSpPr txBox="1"/>
          <p:nvPr/>
        </p:nvSpPr>
        <p:spPr>
          <a:xfrm>
            <a:off x="6812280" y="4224528"/>
            <a:ext cx="1554480" cy="411480"/>
          </a:xfrm>
          <a:prstGeom prst="rect">
            <a:avLst/>
          </a:prstGeom>
          <a:noFill/>
          <a:ln/>
        </p:spPr>
        <p:txBody>
          <a:bodyPr wrap="square" lIns="0" tIns="0" rIns="0" bIns="0" rtlCol="0" anchor="t"/>
          <a:lstStyle/>
          <a:p>
            <a:pPr indent="0" marL="0">
              <a:buNone/>
            </a:pPr>
            <a:r>
              <a:rPr lang="en-US" sz="1100" dirty="0">
                <a:solidFill>
                  <a:srgbClr val="6B5A62"/>
                </a:solidFill>
                <a:latin typeface="Calibri" pitchFamily="34" charset="0"/>
                <a:ea typeface="Calibri" pitchFamily="34" charset="-122"/>
                <a:cs typeface="Calibri" pitchFamily="34" charset="-120"/>
              </a:rPr>
              <a:t>Student reaches housing</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566928"/>
          </a:xfrm>
          <a:prstGeom prst="ellipse">
            <a:avLst/>
          </a:prstGeom>
          <a:solidFill>
            <a:srgbClr val="C01F53"/>
          </a:solidFill>
          <a:ln w="12700">
            <a:solidFill>
              <a:srgbClr val="C01F53"/>
            </a:solidFill>
            <a:prstDash val="solid"/>
          </a:ln>
        </p:spPr>
      </p:sp>
      <p:sp>
        <p:nvSpPr>
          <p:cNvPr id="3" name="Text 1"/>
          <p:cNvSpPr txBox="1"/>
          <p:nvPr/>
        </p:nvSpPr>
        <p:spPr>
          <a:xfrm>
            <a:off x="457200" y="34747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4" name="Text 2"/>
          <p:cNvSpPr txBox="1"/>
          <p:nvPr/>
        </p:nvSpPr>
        <p:spPr>
          <a:xfrm>
            <a:off x="1170432" y="274320"/>
            <a:ext cx="5779008" cy="457200"/>
          </a:xfrm>
          <a:prstGeom prst="rect">
            <a:avLst/>
          </a:prstGeom>
          <a:noFill/>
          <a:ln/>
        </p:spPr>
        <p:txBody>
          <a:bodyPr wrap="square" lIns="0" tIns="0" rIns="0" bIns="0" rtlCol="0" anchor="ctr"/>
          <a:lstStyle/>
          <a:p>
            <a:pPr indent="0" marL="0">
              <a:buNone/>
            </a:pPr>
            <a:r>
              <a:rPr lang="en-US" sz="2600" b="1" dirty="0">
                <a:solidFill>
                  <a:srgbClr val="2B1A22"/>
                </a:solidFill>
                <a:latin typeface="Arial" pitchFamily="34" charset="0"/>
                <a:ea typeface="Arial" pitchFamily="34" charset="-122"/>
                <a:cs typeface="Arial" pitchFamily="34" charset="-120"/>
              </a:rPr>
              <a:t>Counsellor: Collect Everything First</a:t>
            </a:r>
            <a:endParaRPr lang="en-US" sz="2600" dirty="0"/>
          </a:p>
        </p:txBody>
      </p:sp>
      <p:sp>
        <p:nvSpPr>
          <p:cNvPr id="5" name="Text 3"/>
          <p:cNvSpPr txBox="1"/>
          <p:nvPr/>
        </p:nvSpPr>
        <p:spPr>
          <a:xfrm>
            <a:off x="1170432" y="713232"/>
            <a:ext cx="5961888" cy="274320"/>
          </a:xfrm>
          <a:prstGeom prst="rect">
            <a:avLst/>
          </a:prstGeom>
          <a:noFill/>
          <a:ln/>
        </p:spPr>
        <p:txBody>
          <a:bodyPr wrap="square" lIns="0" tIns="0" rIns="0" bIns="0" rtlCol="0" anchor="ctr"/>
          <a:lstStyle/>
          <a:p>
            <a:pPr indent="0" marL="0">
              <a:buNone/>
            </a:pPr>
            <a:r>
              <a:rPr lang="en-US" sz="1300" i="1" dirty="0">
                <a:solidFill>
                  <a:srgbClr val="C01F53"/>
                </a:solidFill>
                <a:latin typeface="Calibri" pitchFamily="34" charset="0"/>
                <a:ea typeface="Calibri" pitchFamily="34" charset="-122"/>
                <a:cs typeface="Calibri" pitchFamily="34" charset="-120"/>
              </a:rPr>
              <a:t>No file moves forward until it is complete</a:t>
            </a:r>
            <a:endParaRPr lang="en-US" sz="1300" dirty="0"/>
          </a:p>
        </p:txBody>
      </p:sp>
      <p:pic>
        <p:nvPicPr>
          <p:cNvPr id="6" name="Image 0" descr="preencoded.png">    </p:cNvPr>
          <p:cNvPicPr>
            <a:picLocks noChangeAspect="1"/>
          </p:cNvPicPr>
          <p:nvPr/>
        </p:nvPicPr>
        <p:blipFill>
          <a:blip r:embed="rId1"/>
          <a:stretch>
            <a:fillRect/>
          </a:stretch>
        </p:blipFill>
        <p:spPr>
          <a:xfrm>
            <a:off x="8183880" y="274320"/>
            <a:ext cx="548640" cy="548640"/>
          </a:xfrm>
          <a:prstGeom prst="rect">
            <a:avLst/>
          </a:prstGeom>
        </p:spPr>
      </p:pic>
      <p:sp>
        <p:nvSpPr>
          <p:cNvPr id="7" name="Shape 4"/>
          <p:cNvSpPr/>
          <p:nvPr/>
        </p:nvSpPr>
        <p:spPr>
          <a:xfrm>
            <a:off x="457200" y="1234440"/>
            <a:ext cx="3977640" cy="713232"/>
          </a:xfrm>
          <a:prstGeom prst="roundRect">
            <a:avLst>
              <a:gd name="adj" fmla="val 15385"/>
            </a:avLst>
          </a:prstGeom>
          <a:solidFill>
            <a:srgbClr val="FFFFFF"/>
          </a:solidFill>
          <a:ln w="9525">
            <a:solidFill>
              <a:srgbClr val="EBD3DC"/>
            </a:solidFill>
            <a:prstDash val="solid"/>
          </a:ln>
          <a:effectLst>
            <a:outerShdw sx="100000" sy="100000" kx="0" ky="0" algn="bl" rotWithShape="0" blurRad="76200" dist="25400" dir="5400000">
              <a:srgbClr val="000000">
                <a:alpha val="12000"/>
              </a:srgbClr>
            </a:outerShdw>
          </a:effectLst>
        </p:spPr>
      </p:sp>
      <p:sp>
        <p:nvSpPr>
          <p:cNvPr id="8" name="Shape 5"/>
          <p:cNvSpPr/>
          <p:nvPr/>
        </p:nvSpPr>
        <p:spPr>
          <a:xfrm>
            <a:off x="594360" y="1362456"/>
            <a:ext cx="457200" cy="457200"/>
          </a:xfrm>
          <a:prstGeom prst="ellipse">
            <a:avLst/>
          </a:prstGeom>
          <a:solidFill>
            <a:srgbClr val="FBEFF3"/>
          </a:solidFill>
          <a:ln w="12700">
            <a:solidFill>
              <a:srgbClr val="FBEFF3"/>
            </a:solidFill>
            <a:prstDash val="solid"/>
          </a:ln>
        </p:spPr>
      </p:sp>
      <p:pic>
        <p:nvPicPr>
          <p:cNvPr id="9" name="Image 1" descr="preencoded.png">    </p:cNvPr>
          <p:cNvPicPr>
            <a:picLocks noChangeAspect="1"/>
          </p:cNvPicPr>
          <p:nvPr/>
        </p:nvPicPr>
        <p:blipFill>
          <a:blip r:embed="rId2"/>
          <a:stretch>
            <a:fillRect/>
          </a:stretch>
        </p:blipFill>
        <p:spPr>
          <a:xfrm>
            <a:off x="708660" y="1476756"/>
            <a:ext cx="228600" cy="228600"/>
          </a:xfrm>
          <a:prstGeom prst="rect">
            <a:avLst/>
          </a:prstGeom>
        </p:spPr>
      </p:pic>
      <p:sp>
        <p:nvSpPr>
          <p:cNvPr id="10" name="Text 6"/>
          <p:cNvSpPr txBox="1"/>
          <p:nvPr/>
        </p:nvSpPr>
        <p:spPr>
          <a:xfrm>
            <a:off x="1188720" y="1325880"/>
            <a:ext cx="3108960" cy="292608"/>
          </a:xfrm>
          <a:prstGeom prst="rect">
            <a:avLst/>
          </a:prstGeom>
          <a:noFill/>
          <a:ln/>
        </p:spPr>
        <p:txBody>
          <a:bodyPr wrap="square" lIns="0" tIns="0" rIns="0" bIns="0" rtlCol="0" anchor="ctr"/>
          <a:lstStyle/>
          <a:p>
            <a:pPr indent="0" marL="0">
              <a:buNone/>
            </a:pPr>
            <a:r>
              <a:rPr lang="en-US" sz="1300" b="1" dirty="0">
                <a:solidFill>
                  <a:srgbClr val="2B1A22"/>
                </a:solidFill>
                <a:latin typeface="Arial" pitchFamily="34" charset="0"/>
                <a:ea typeface="Arial" pitchFamily="34" charset="-122"/>
                <a:cs typeface="Arial" pitchFamily="34" charset="-120"/>
              </a:rPr>
              <a:t>CV / Resume</a:t>
            </a:r>
            <a:endParaRPr lang="en-US" sz="1300" dirty="0"/>
          </a:p>
        </p:txBody>
      </p:sp>
      <p:sp>
        <p:nvSpPr>
          <p:cNvPr id="11" name="Text 7"/>
          <p:cNvSpPr txBox="1"/>
          <p:nvPr/>
        </p:nvSpPr>
        <p:spPr>
          <a:xfrm>
            <a:off x="1188720" y="1618488"/>
            <a:ext cx="3108960" cy="256032"/>
          </a:xfrm>
          <a:prstGeom prst="rect">
            <a:avLst/>
          </a:prstGeom>
          <a:noFill/>
          <a:ln/>
        </p:spPr>
        <p:txBody>
          <a:bodyPr wrap="square" lIns="0" tIns="0" rIns="0" bIns="0" rtlCol="0" anchor="ctr"/>
          <a:lstStyle/>
          <a:p>
            <a:pPr indent="0" marL="0">
              <a:buNone/>
            </a:pPr>
            <a:r>
              <a:rPr lang="en-US" sz="1100" dirty="0">
                <a:solidFill>
                  <a:srgbClr val="6B5A62"/>
                </a:solidFill>
                <a:latin typeface="Calibri" pitchFamily="34" charset="0"/>
                <a:ea typeface="Calibri" pitchFamily="34" charset="-122"/>
                <a:cs typeface="Calibri" pitchFamily="34" charset="-120"/>
              </a:rPr>
              <a:t>Updated, with contact details</a:t>
            </a:r>
            <a:endParaRPr lang="en-US" sz="1100" dirty="0"/>
          </a:p>
        </p:txBody>
      </p:sp>
      <p:sp>
        <p:nvSpPr>
          <p:cNvPr id="12" name="Shape 8"/>
          <p:cNvSpPr/>
          <p:nvPr/>
        </p:nvSpPr>
        <p:spPr>
          <a:xfrm>
            <a:off x="4709160" y="1234440"/>
            <a:ext cx="3977640" cy="713232"/>
          </a:xfrm>
          <a:prstGeom prst="roundRect">
            <a:avLst>
              <a:gd name="adj" fmla="val 15385"/>
            </a:avLst>
          </a:prstGeom>
          <a:solidFill>
            <a:srgbClr val="FFFFFF"/>
          </a:solidFill>
          <a:ln w="9525">
            <a:solidFill>
              <a:srgbClr val="EBD3DC"/>
            </a:solidFill>
            <a:prstDash val="solid"/>
          </a:ln>
          <a:effectLst>
            <a:outerShdw sx="100000" sy="100000" kx="0" ky="0" algn="bl" rotWithShape="0" blurRad="76200" dist="25400" dir="5400000">
              <a:srgbClr val="000000">
                <a:alpha val="12000"/>
              </a:srgbClr>
            </a:outerShdw>
          </a:effectLst>
        </p:spPr>
      </p:sp>
      <p:sp>
        <p:nvSpPr>
          <p:cNvPr id="13" name="Shape 9"/>
          <p:cNvSpPr/>
          <p:nvPr/>
        </p:nvSpPr>
        <p:spPr>
          <a:xfrm>
            <a:off x="4846320" y="1362456"/>
            <a:ext cx="457200" cy="457200"/>
          </a:xfrm>
          <a:prstGeom prst="ellipse">
            <a:avLst/>
          </a:prstGeom>
          <a:solidFill>
            <a:srgbClr val="FBEFF3"/>
          </a:solidFill>
          <a:ln w="12700">
            <a:solidFill>
              <a:srgbClr val="FBEFF3"/>
            </a:solidFill>
            <a:prstDash val="solid"/>
          </a:ln>
        </p:spPr>
      </p:sp>
      <p:pic>
        <p:nvPicPr>
          <p:cNvPr id="14" name="Image 2" descr="preencoded.png">    </p:cNvPr>
          <p:cNvPicPr>
            <a:picLocks noChangeAspect="1"/>
          </p:cNvPicPr>
          <p:nvPr/>
        </p:nvPicPr>
        <p:blipFill>
          <a:blip r:embed="rId3"/>
          <a:stretch>
            <a:fillRect/>
          </a:stretch>
        </p:blipFill>
        <p:spPr>
          <a:xfrm>
            <a:off x="4960620" y="1476756"/>
            <a:ext cx="228600" cy="228600"/>
          </a:xfrm>
          <a:prstGeom prst="rect">
            <a:avLst/>
          </a:prstGeom>
        </p:spPr>
      </p:pic>
      <p:sp>
        <p:nvSpPr>
          <p:cNvPr id="15" name="Text 10"/>
          <p:cNvSpPr txBox="1"/>
          <p:nvPr/>
        </p:nvSpPr>
        <p:spPr>
          <a:xfrm>
            <a:off x="5440680" y="1325880"/>
            <a:ext cx="3108960" cy="292608"/>
          </a:xfrm>
          <a:prstGeom prst="rect">
            <a:avLst/>
          </a:prstGeom>
          <a:noFill/>
          <a:ln/>
        </p:spPr>
        <p:txBody>
          <a:bodyPr wrap="square" lIns="0" tIns="0" rIns="0" bIns="0" rtlCol="0" anchor="ctr"/>
          <a:lstStyle/>
          <a:p>
            <a:pPr indent="0" marL="0">
              <a:buNone/>
            </a:pPr>
            <a:r>
              <a:rPr lang="en-US" sz="1300" b="1" dirty="0">
                <a:solidFill>
                  <a:srgbClr val="2B1A22"/>
                </a:solidFill>
                <a:latin typeface="Arial" pitchFamily="34" charset="0"/>
                <a:ea typeface="Arial" pitchFamily="34" charset="-122"/>
                <a:cs typeface="Arial" pitchFamily="34" charset="-120"/>
              </a:rPr>
              <a:t>Educational Qualifications</a:t>
            </a:r>
            <a:endParaRPr lang="en-US" sz="1300" dirty="0"/>
          </a:p>
        </p:txBody>
      </p:sp>
      <p:sp>
        <p:nvSpPr>
          <p:cNvPr id="16" name="Text 11"/>
          <p:cNvSpPr txBox="1"/>
          <p:nvPr/>
        </p:nvSpPr>
        <p:spPr>
          <a:xfrm>
            <a:off x="5440680" y="1618488"/>
            <a:ext cx="3108960" cy="256032"/>
          </a:xfrm>
          <a:prstGeom prst="rect">
            <a:avLst/>
          </a:prstGeom>
          <a:noFill/>
          <a:ln/>
        </p:spPr>
        <p:txBody>
          <a:bodyPr wrap="square" lIns="0" tIns="0" rIns="0" bIns="0" rtlCol="0" anchor="ctr"/>
          <a:lstStyle/>
          <a:p>
            <a:pPr indent="0" marL="0">
              <a:buNone/>
            </a:pPr>
            <a:r>
              <a:rPr lang="en-US" sz="1100" dirty="0">
                <a:solidFill>
                  <a:srgbClr val="6B5A62"/>
                </a:solidFill>
                <a:latin typeface="Calibri" pitchFamily="34" charset="0"/>
                <a:ea typeface="Calibri" pitchFamily="34" charset="-122"/>
                <a:cs typeface="Calibri" pitchFamily="34" charset="-120"/>
              </a:rPr>
              <a:t>Mark sheets &amp; certificates</a:t>
            </a:r>
            <a:endParaRPr lang="en-US" sz="1100" dirty="0"/>
          </a:p>
        </p:txBody>
      </p:sp>
      <p:sp>
        <p:nvSpPr>
          <p:cNvPr id="17" name="Shape 12"/>
          <p:cNvSpPr/>
          <p:nvPr/>
        </p:nvSpPr>
        <p:spPr>
          <a:xfrm>
            <a:off x="457200" y="2084832"/>
            <a:ext cx="3977640" cy="713232"/>
          </a:xfrm>
          <a:prstGeom prst="roundRect">
            <a:avLst>
              <a:gd name="adj" fmla="val 15385"/>
            </a:avLst>
          </a:prstGeom>
          <a:solidFill>
            <a:srgbClr val="FFFFFF"/>
          </a:solidFill>
          <a:ln w="9525">
            <a:solidFill>
              <a:srgbClr val="EBD3DC"/>
            </a:solidFill>
            <a:prstDash val="solid"/>
          </a:ln>
          <a:effectLst>
            <a:outerShdw sx="100000" sy="100000" kx="0" ky="0" algn="bl" rotWithShape="0" blurRad="76200" dist="25400" dir="5400000">
              <a:srgbClr val="000000">
                <a:alpha val="12000"/>
              </a:srgbClr>
            </a:outerShdw>
          </a:effectLst>
        </p:spPr>
      </p:sp>
      <p:sp>
        <p:nvSpPr>
          <p:cNvPr id="18" name="Shape 13"/>
          <p:cNvSpPr/>
          <p:nvPr/>
        </p:nvSpPr>
        <p:spPr>
          <a:xfrm>
            <a:off x="594360" y="2212848"/>
            <a:ext cx="457200" cy="457200"/>
          </a:xfrm>
          <a:prstGeom prst="ellipse">
            <a:avLst/>
          </a:prstGeom>
          <a:solidFill>
            <a:srgbClr val="FBEFF3"/>
          </a:solidFill>
          <a:ln w="12700">
            <a:solidFill>
              <a:srgbClr val="FBEFF3"/>
            </a:solidFill>
            <a:prstDash val="solid"/>
          </a:ln>
        </p:spPr>
      </p:sp>
      <p:pic>
        <p:nvPicPr>
          <p:cNvPr id="19" name="Image 3" descr="preencoded.png">    </p:cNvPr>
          <p:cNvPicPr>
            <a:picLocks noChangeAspect="1"/>
          </p:cNvPicPr>
          <p:nvPr/>
        </p:nvPicPr>
        <p:blipFill>
          <a:blip r:embed="rId4"/>
          <a:stretch>
            <a:fillRect/>
          </a:stretch>
        </p:blipFill>
        <p:spPr>
          <a:xfrm>
            <a:off x="708660" y="2327148"/>
            <a:ext cx="228600" cy="228600"/>
          </a:xfrm>
          <a:prstGeom prst="rect">
            <a:avLst/>
          </a:prstGeom>
        </p:spPr>
      </p:pic>
      <p:sp>
        <p:nvSpPr>
          <p:cNvPr id="20" name="Text 14"/>
          <p:cNvSpPr txBox="1"/>
          <p:nvPr/>
        </p:nvSpPr>
        <p:spPr>
          <a:xfrm>
            <a:off x="1188720" y="2176272"/>
            <a:ext cx="3108960" cy="292608"/>
          </a:xfrm>
          <a:prstGeom prst="rect">
            <a:avLst/>
          </a:prstGeom>
          <a:noFill/>
          <a:ln/>
        </p:spPr>
        <p:txBody>
          <a:bodyPr wrap="square" lIns="0" tIns="0" rIns="0" bIns="0" rtlCol="0" anchor="ctr"/>
          <a:lstStyle/>
          <a:p>
            <a:pPr indent="0" marL="0">
              <a:buNone/>
            </a:pPr>
            <a:r>
              <a:rPr lang="en-US" sz="1300" b="1" dirty="0">
                <a:solidFill>
                  <a:srgbClr val="2B1A22"/>
                </a:solidFill>
                <a:latin typeface="Arial" pitchFamily="34" charset="0"/>
                <a:ea typeface="Arial" pitchFamily="34" charset="-122"/>
                <a:cs typeface="Arial" pitchFamily="34" charset="-120"/>
              </a:rPr>
              <a:t>Passport</a:t>
            </a:r>
            <a:endParaRPr lang="en-US" sz="1300" dirty="0"/>
          </a:p>
        </p:txBody>
      </p:sp>
      <p:sp>
        <p:nvSpPr>
          <p:cNvPr id="21" name="Text 15"/>
          <p:cNvSpPr txBox="1"/>
          <p:nvPr/>
        </p:nvSpPr>
        <p:spPr>
          <a:xfrm>
            <a:off x="1188720" y="2468880"/>
            <a:ext cx="3108960" cy="256032"/>
          </a:xfrm>
          <a:prstGeom prst="rect">
            <a:avLst/>
          </a:prstGeom>
          <a:noFill/>
          <a:ln/>
        </p:spPr>
        <p:txBody>
          <a:bodyPr wrap="square" lIns="0" tIns="0" rIns="0" bIns="0" rtlCol="0" anchor="ctr"/>
          <a:lstStyle/>
          <a:p>
            <a:pPr indent="0" marL="0">
              <a:buNone/>
            </a:pPr>
            <a:r>
              <a:rPr lang="en-US" sz="1100" dirty="0">
                <a:solidFill>
                  <a:srgbClr val="6B5A62"/>
                </a:solidFill>
                <a:latin typeface="Calibri" pitchFamily="34" charset="0"/>
                <a:ea typeface="Calibri" pitchFamily="34" charset="-122"/>
                <a:cs typeface="Calibri" pitchFamily="34" charset="-120"/>
              </a:rPr>
              <a:t>Clear copy, check validity</a:t>
            </a:r>
            <a:endParaRPr lang="en-US" sz="1100" dirty="0"/>
          </a:p>
        </p:txBody>
      </p:sp>
      <p:sp>
        <p:nvSpPr>
          <p:cNvPr id="22" name="Shape 16"/>
          <p:cNvSpPr/>
          <p:nvPr/>
        </p:nvSpPr>
        <p:spPr>
          <a:xfrm>
            <a:off x="4709160" y="2084832"/>
            <a:ext cx="3977640" cy="713232"/>
          </a:xfrm>
          <a:prstGeom prst="roundRect">
            <a:avLst>
              <a:gd name="adj" fmla="val 15385"/>
            </a:avLst>
          </a:prstGeom>
          <a:solidFill>
            <a:srgbClr val="FFFFFF"/>
          </a:solidFill>
          <a:ln w="9525">
            <a:solidFill>
              <a:srgbClr val="EBD3DC"/>
            </a:solidFill>
            <a:prstDash val="solid"/>
          </a:ln>
          <a:effectLst>
            <a:outerShdw sx="100000" sy="100000" kx="0" ky="0" algn="bl" rotWithShape="0" blurRad="76200" dist="25400" dir="5400000">
              <a:srgbClr val="000000">
                <a:alpha val="12000"/>
              </a:srgbClr>
            </a:outerShdw>
          </a:effectLst>
        </p:spPr>
      </p:sp>
      <p:sp>
        <p:nvSpPr>
          <p:cNvPr id="23" name="Shape 17"/>
          <p:cNvSpPr/>
          <p:nvPr/>
        </p:nvSpPr>
        <p:spPr>
          <a:xfrm>
            <a:off x="4846320" y="2212848"/>
            <a:ext cx="457200" cy="457200"/>
          </a:xfrm>
          <a:prstGeom prst="ellipse">
            <a:avLst/>
          </a:prstGeom>
          <a:solidFill>
            <a:srgbClr val="FBEFF3"/>
          </a:solidFill>
          <a:ln w="12700">
            <a:solidFill>
              <a:srgbClr val="FBEFF3"/>
            </a:solidFill>
            <a:prstDash val="solid"/>
          </a:ln>
        </p:spPr>
      </p:sp>
      <p:pic>
        <p:nvPicPr>
          <p:cNvPr id="24" name="Image 4" descr="preencoded.png">    </p:cNvPr>
          <p:cNvPicPr>
            <a:picLocks noChangeAspect="1"/>
          </p:cNvPicPr>
          <p:nvPr/>
        </p:nvPicPr>
        <p:blipFill>
          <a:blip r:embed="rId5"/>
          <a:stretch>
            <a:fillRect/>
          </a:stretch>
        </p:blipFill>
        <p:spPr>
          <a:xfrm>
            <a:off x="4960620" y="2327148"/>
            <a:ext cx="228600" cy="228600"/>
          </a:xfrm>
          <a:prstGeom prst="rect">
            <a:avLst/>
          </a:prstGeom>
        </p:spPr>
      </p:pic>
      <p:sp>
        <p:nvSpPr>
          <p:cNvPr id="25" name="Text 18"/>
          <p:cNvSpPr txBox="1"/>
          <p:nvPr/>
        </p:nvSpPr>
        <p:spPr>
          <a:xfrm>
            <a:off x="5440680" y="2176272"/>
            <a:ext cx="3108960" cy="292608"/>
          </a:xfrm>
          <a:prstGeom prst="rect">
            <a:avLst/>
          </a:prstGeom>
          <a:noFill/>
          <a:ln/>
        </p:spPr>
        <p:txBody>
          <a:bodyPr wrap="square" lIns="0" tIns="0" rIns="0" bIns="0" rtlCol="0" anchor="ctr"/>
          <a:lstStyle/>
          <a:p>
            <a:pPr indent="0" marL="0">
              <a:buNone/>
            </a:pPr>
            <a:r>
              <a:rPr lang="en-US" sz="1300" b="1" dirty="0">
                <a:solidFill>
                  <a:srgbClr val="2B1A22"/>
                </a:solidFill>
                <a:latin typeface="Arial" pitchFamily="34" charset="0"/>
                <a:ea typeface="Arial" pitchFamily="34" charset="-122"/>
                <a:cs typeface="Arial" pitchFamily="34" charset="-120"/>
              </a:rPr>
              <a:t>IELTS Score</a:t>
            </a:r>
            <a:endParaRPr lang="en-US" sz="1300" dirty="0"/>
          </a:p>
        </p:txBody>
      </p:sp>
      <p:sp>
        <p:nvSpPr>
          <p:cNvPr id="26" name="Text 19"/>
          <p:cNvSpPr txBox="1"/>
          <p:nvPr/>
        </p:nvSpPr>
        <p:spPr>
          <a:xfrm>
            <a:off x="5440680" y="2468880"/>
            <a:ext cx="3108960" cy="256032"/>
          </a:xfrm>
          <a:prstGeom prst="rect">
            <a:avLst/>
          </a:prstGeom>
          <a:noFill/>
          <a:ln/>
        </p:spPr>
        <p:txBody>
          <a:bodyPr wrap="square" lIns="0" tIns="0" rIns="0" bIns="0" rtlCol="0" anchor="ctr"/>
          <a:lstStyle/>
          <a:p>
            <a:pPr indent="0" marL="0">
              <a:buNone/>
            </a:pPr>
            <a:r>
              <a:rPr lang="en-US" sz="1100" dirty="0">
                <a:solidFill>
                  <a:srgbClr val="6B5A62"/>
                </a:solidFill>
                <a:latin typeface="Calibri" pitchFamily="34" charset="0"/>
                <a:ea typeface="Calibri" pitchFamily="34" charset="-122"/>
                <a:cs typeface="Calibri" pitchFamily="34" charset="-120"/>
              </a:rPr>
              <a:t>If the university requires it</a:t>
            </a:r>
            <a:endParaRPr lang="en-US" sz="1100" dirty="0"/>
          </a:p>
        </p:txBody>
      </p:sp>
      <p:sp>
        <p:nvSpPr>
          <p:cNvPr id="27" name="Shape 20"/>
          <p:cNvSpPr/>
          <p:nvPr/>
        </p:nvSpPr>
        <p:spPr>
          <a:xfrm>
            <a:off x="457200" y="2935224"/>
            <a:ext cx="3977640" cy="713232"/>
          </a:xfrm>
          <a:prstGeom prst="roundRect">
            <a:avLst>
              <a:gd name="adj" fmla="val 15385"/>
            </a:avLst>
          </a:prstGeom>
          <a:solidFill>
            <a:srgbClr val="FFFFFF"/>
          </a:solidFill>
          <a:ln w="9525">
            <a:solidFill>
              <a:srgbClr val="EBD3DC"/>
            </a:solidFill>
            <a:prstDash val="solid"/>
          </a:ln>
          <a:effectLst>
            <a:outerShdw sx="100000" sy="100000" kx="0" ky="0" algn="bl" rotWithShape="0" blurRad="76200" dist="25400" dir="5400000">
              <a:srgbClr val="000000">
                <a:alpha val="12000"/>
              </a:srgbClr>
            </a:outerShdw>
          </a:effectLst>
        </p:spPr>
      </p:sp>
      <p:sp>
        <p:nvSpPr>
          <p:cNvPr id="28" name="Shape 21"/>
          <p:cNvSpPr/>
          <p:nvPr/>
        </p:nvSpPr>
        <p:spPr>
          <a:xfrm>
            <a:off x="594360" y="3063240"/>
            <a:ext cx="457200" cy="457200"/>
          </a:xfrm>
          <a:prstGeom prst="ellipse">
            <a:avLst/>
          </a:prstGeom>
          <a:solidFill>
            <a:srgbClr val="FBEFF3"/>
          </a:solidFill>
          <a:ln w="12700">
            <a:solidFill>
              <a:srgbClr val="FBEFF3"/>
            </a:solidFill>
            <a:prstDash val="solid"/>
          </a:ln>
        </p:spPr>
      </p:sp>
      <p:pic>
        <p:nvPicPr>
          <p:cNvPr id="29" name="Image 5" descr="preencoded.png">    </p:cNvPr>
          <p:cNvPicPr>
            <a:picLocks noChangeAspect="1"/>
          </p:cNvPicPr>
          <p:nvPr/>
        </p:nvPicPr>
        <p:blipFill>
          <a:blip r:embed="rId6"/>
          <a:stretch>
            <a:fillRect/>
          </a:stretch>
        </p:blipFill>
        <p:spPr>
          <a:xfrm>
            <a:off x="708660" y="3177540"/>
            <a:ext cx="228600" cy="228600"/>
          </a:xfrm>
          <a:prstGeom prst="rect">
            <a:avLst/>
          </a:prstGeom>
        </p:spPr>
      </p:pic>
      <p:sp>
        <p:nvSpPr>
          <p:cNvPr id="30" name="Text 22"/>
          <p:cNvSpPr txBox="1"/>
          <p:nvPr/>
        </p:nvSpPr>
        <p:spPr>
          <a:xfrm>
            <a:off x="1188720" y="3026664"/>
            <a:ext cx="3108960" cy="292608"/>
          </a:xfrm>
          <a:prstGeom prst="rect">
            <a:avLst/>
          </a:prstGeom>
          <a:noFill/>
          <a:ln/>
        </p:spPr>
        <p:txBody>
          <a:bodyPr wrap="square" lIns="0" tIns="0" rIns="0" bIns="0" rtlCol="0" anchor="ctr"/>
          <a:lstStyle/>
          <a:p>
            <a:pPr indent="0" marL="0">
              <a:buNone/>
            </a:pPr>
            <a:r>
              <a:rPr lang="en-US" sz="1300" b="1" dirty="0">
                <a:solidFill>
                  <a:srgbClr val="2B1A22"/>
                </a:solidFill>
                <a:latin typeface="Arial" pitchFamily="34" charset="0"/>
                <a:ea typeface="Arial" pitchFamily="34" charset="-122"/>
                <a:cs typeface="Arial" pitchFamily="34" charset="-120"/>
              </a:rPr>
              <a:t>LOR</a:t>
            </a:r>
            <a:endParaRPr lang="en-US" sz="1300" dirty="0"/>
          </a:p>
        </p:txBody>
      </p:sp>
      <p:sp>
        <p:nvSpPr>
          <p:cNvPr id="31" name="Text 23"/>
          <p:cNvSpPr txBox="1"/>
          <p:nvPr/>
        </p:nvSpPr>
        <p:spPr>
          <a:xfrm>
            <a:off x="1188720" y="3319272"/>
            <a:ext cx="3108960" cy="256032"/>
          </a:xfrm>
          <a:prstGeom prst="rect">
            <a:avLst/>
          </a:prstGeom>
          <a:noFill/>
          <a:ln/>
        </p:spPr>
        <p:txBody>
          <a:bodyPr wrap="square" lIns="0" tIns="0" rIns="0" bIns="0" rtlCol="0" anchor="ctr"/>
          <a:lstStyle/>
          <a:p>
            <a:pPr indent="0" marL="0">
              <a:buNone/>
            </a:pPr>
            <a:r>
              <a:rPr lang="en-US" sz="1100" dirty="0">
                <a:solidFill>
                  <a:srgbClr val="6B5A62"/>
                </a:solidFill>
                <a:latin typeface="Calibri" pitchFamily="34" charset="0"/>
                <a:ea typeface="Calibri" pitchFamily="34" charset="-122"/>
                <a:cs typeface="Calibri" pitchFamily="34" charset="-120"/>
              </a:rPr>
              <a:t>Letter of Recommendation</a:t>
            </a:r>
            <a:endParaRPr lang="en-US" sz="1100" dirty="0"/>
          </a:p>
        </p:txBody>
      </p:sp>
      <p:sp>
        <p:nvSpPr>
          <p:cNvPr id="32" name="Shape 24"/>
          <p:cNvSpPr/>
          <p:nvPr/>
        </p:nvSpPr>
        <p:spPr>
          <a:xfrm>
            <a:off x="4709160" y="2935224"/>
            <a:ext cx="3977640" cy="713232"/>
          </a:xfrm>
          <a:prstGeom prst="roundRect">
            <a:avLst>
              <a:gd name="adj" fmla="val 15385"/>
            </a:avLst>
          </a:prstGeom>
          <a:solidFill>
            <a:srgbClr val="FFFFFF"/>
          </a:solidFill>
          <a:ln w="9525">
            <a:solidFill>
              <a:srgbClr val="EBD3DC"/>
            </a:solidFill>
            <a:prstDash val="solid"/>
          </a:ln>
          <a:effectLst>
            <a:outerShdw sx="100000" sy="100000" kx="0" ky="0" algn="bl" rotWithShape="0" blurRad="76200" dist="25400" dir="5400000">
              <a:srgbClr val="000000">
                <a:alpha val="12000"/>
              </a:srgbClr>
            </a:outerShdw>
          </a:effectLst>
        </p:spPr>
      </p:sp>
      <p:sp>
        <p:nvSpPr>
          <p:cNvPr id="33" name="Shape 25"/>
          <p:cNvSpPr/>
          <p:nvPr/>
        </p:nvSpPr>
        <p:spPr>
          <a:xfrm>
            <a:off x="4846320" y="3063240"/>
            <a:ext cx="457200" cy="457200"/>
          </a:xfrm>
          <a:prstGeom prst="ellipse">
            <a:avLst/>
          </a:prstGeom>
          <a:solidFill>
            <a:srgbClr val="FBEFF3"/>
          </a:solidFill>
          <a:ln w="12700">
            <a:solidFill>
              <a:srgbClr val="FBEFF3"/>
            </a:solidFill>
            <a:prstDash val="solid"/>
          </a:ln>
        </p:spPr>
      </p:sp>
      <p:pic>
        <p:nvPicPr>
          <p:cNvPr id="34" name="Image 6" descr="preencoded.png">    </p:cNvPr>
          <p:cNvPicPr>
            <a:picLocks noChangeAspect="1"/>
          </p:cNvPicPr>
          <p:nvPr/>
        </p:nvPicPr>
        <p:blipFill>
          <a:blip r:embed="rId7"/>
          <a:stretch>
            <a:fillRect/>
          </a:stretch>
        </p:blipFill>
        <p:spPr>
          <a:xfrm>
            <a:off x="4960620" y="3177540"/>
            <a:ext cx="228600" cy="228600"/>
          </a:xfrm>
          <a:prstGeom prst="rect">
            <a:avLst/>
          </a:prstGeom>
        </p:spPr>
      </p:pic>
      <p:sp>
        <p:nvSpPr>
          <p:cNvPr id="35" name="Text 26"/>
          <p:cNvSpPr txBox="1"/>
          <p:nvPr/>
        </p:nvSpPr>
        <p:spPr>
          <a:xfrm>
            <a:off x="5440680" y="3026664"/>
            <a:ext cx="3108960" cy="292608"/>
          </a:xfrm>
          <a:prstGeom prst="rect">
            <a:avLst/>
          </a:prstGeom>
          <a:noFill/>
          <a:ln/>
        </p:spPr>
        <p:txBody>
          <a:bodyPr wrap="square" lIns="0" tIns="0" rIns="0" bIns="0" rtlCol="0" anchor="ctr"/>
          <a:lstStyle/>
          <a:p>
            <a:pPr indent="0" marL="0">
              <a:buNone/>
            </a:pPr>
            <a:r>
              <a:rPr lang="en-US" sz="1300" b="1" dirty="0">
                <a:solidFill>
                  <a:srgbClr val="2B1A22"/>
                </a:solidFill>
                <a:latin typeface="Arial" pitchFamily="34" charset="0"/>
                <a:ea typeface="Arial" pitchFamily="34" charset="-122"/>
                <a:cs typeface="Arial" pitchFamily="34" charset="-120"/>
              </a:rPr>
              <a:t>MOI</a:t>
            </a:r>
            <a:endParaRPr lang="en-US" sz="1300" dirty="0"/>
          </a:p>
        </p:txBody>
      </p:sp>
      <p:sp>
        <p:nvSpPr>
          <p:cNvPr id="36" name="Text 27"/>
          <p:cNvSpPr txBox="1"/>
          <p:nvPr/>
        </p:nvSpPr>
        <p:spPr>
          <a:xfrm>
            <a:off x="5440680" y="3319272"/>
            <a:ext cx="3108960" cy="256032"/>
          </a:xfrm>
          <a:prstGeom prst="rect">
            <a:avLst/>
          </a:prstGeom>
          <a:noFill/>
          <a:ln/>
        </p:spPr>
        <p:txBody>
          <a:bodyPr wrap="square" lIns="0" tIns="0" rIns="0" bIns="0" rtlCol="0" anchor="ctr"/>
          <a:lstStyle/>
          <a:p>
            <a:pPr indent="0" marL="0">
              <a:buNone/>
            </a:pPr>
            <a:r>
              <a:rPr lang="en-US" sz="1100" dirty="0">
                <a:solidFill>
                  <a:srgbClr val="6B5A62"/>
                </a:solidFill>
                <a:latin typeface="Calibri" pitchFamily="34" charset="0"/>
                <a:ea typeface="Calibri" pitchFamily="34" charset="-122"/>
                <a:cs typeface="Calibri" pitchFamily="34" charset="-120"/>
              </a:rPr>
              <a:t>Medium of Instruction letter</a:t>
            </a:r>
            <a:endParaRPr lang="en-US" sz="1100" dirty="0"/>
          </a:p>
        </p:txBody>
      </p:sp>
      <p:sp>
        <p:nvSpPr>
          <p:cNvPr id="37" name="Shape 28"/>
          <p:cNvSpPr/>
          <p:nvPr/>
        </p:nvSpPr>
        <p:spPr>
          <a:xfrm>
            <a:off x="457200" y="3785616"/>
            <a:ext cx="3977640" cy="713232"/>
          </a:xfrm>
          <a:prstGeom prst="roundRect">
            <a:avLst>
              <a:gd name="adj" fmla="val 15385"/>
            </a:avLst>
          </a:prstGeom>
          <a:solidFill>
            <a:srgbClr val="FFFFFF"/>
          </a:solidFill>
          <a:ln w="9525">
            <a:solidFill>
              <a:srgbClr val="EBD3DC"/>
            </a:solidFill>
            <a:prstDash val="solid"/>
          </a:ln>
          <a:effectLst>
            <a:outerShdw sx="100000" sy="100000" kx="0" ky="0" algn="bl" rotWithShape="0" blurRad="76200" dist="25400" dir="5400000">
              <a:srgbClr val="000000">
                <a:alpha val="12000"/>
              </a:srgbClr>
            </a:outerShdw>
          </a:effectLst>
        </p:spPr>
      </p:sp>
      <p:sp>
        <p:nvSpPr>
          <p:cNvPr id="38" name="Shape 29"/>
          <p:cNvSpPr/>
          <p:nvPr/>
        </p:nvSpPr>
        <p:spPr>
          <a:xfrm>
            <a:off x="594360" y="3913632"/>
            <a:ext cx="457200" cy="457200"/>
          </a:xfrm>
          <a:prstGeom prst="ellipse">
            <a:avLst/>
          </a:prstGeom>
          <a:solidFill>
            <a:srgbClr val="EDE72D"/>
          </a:solidFill>
          <a:ln w="12700">
            <a:solidFill>
              <a:srgbClr val="EDE72D"/>
            </a:solidFill>
            <a:prstDash val="solid"/>
          </a:ln>
        </p:spPr>
      </p:sp>
      <p:pic>
        <p:nvPicPr>
          <p:cNvPr id="39" name="Image 7" descr="preencoded.png">    </p:cNvPr>
          <p:cNvPicPr>
            <a:picLocks noChangeAspect="1"/>
          </p:cNvPicPr>
          <p:nvPr/>
        </p:nvPicPr>
        <p:blipFill>
          <a:blip r:embed="rId8"/>
          <a:stretch>
            <a:fillRect/>
          </a:stretch>
        </p:blipFill>
        <p:spPr>
          <a:xfrm>
            <a:off x="708660" y="4027932"/>
            <a:ext cx="228600" cy="228600"/>
          </a:xfrm>
          <a:prstGeom prst="rect">
            <a:avLst/>
          </a:prstGeom>
        </p:spPr>
      </p:pic>
      <p:sp>
        <p:nvSpPr>
          <p:cNvPr id="40" name="Text 30"/>
          <p:cNvSpPr txBox="1"/>
          <p:nvPr/>
        </p:nvSpPr>
        <p:spPr>
          <a:xfrm>
            <a:off x="1188720" y="3877056"/>
            <a:ext cx="3108960" cy="292608"/>
          </a:xfrm>
          <a:prstGeom prst="rect">
            <a:avLst/>
          </a:prstGeom>
          <a:noFill/>
          <a:ln/>
        </p:spPr>
        <p:txBody>
          <a:bodyPr wrap="square" lIns="0" tIns="0" rIns="0" bIns="0" rtlCol="0" anchor="ctr"/>
          <a:lstStyle/>
          <a:p>
            <a:pPr indent="0" marL="0">
              <a:buNone/>
            </a:pPr>
            <a:r>
              <a:rPr lang="en-US" sz="1300" b="1" dirty="0">
                <a:solidFill>
                  <a:srgbClr val="2B1A22"/>
                </a:solidFill>
                <a:latin typeface="Arial" pitchFamily="34" charset="0"/>
                <a:ea typeface="Arial" pitchFamily="34" charset="-122"/>
                <a:cs typeface="Arial" pitchFamily="34" charset="-120"/>
              </a:rPr>
              <a:t>Registration Amount</a:t>
            </a:r>
            <a:endParaRPr lang="en-US" sz="1300" dirty="0"/>
          </a:p>
        </p:txBody>
      </p:sp>
      <p:sp>
        <p:nvSpPr>
          <p:cNvPr id="41" name="Text 31"/>
          <p:cNvSpPr txBox="1"/>
          <p:nvPr/>
        </p:nvSpPr>
        <p:spPr>
          <a:xfrm>
            <a:off x="1188720" y="4169664"/>
            <a:ext cx="3108960" cy="256032"/>
          </a:xfrm>
          <a:prstGeom prst="rect">
            <a:avLst/>
          </a:prstGeom>
          <a:noFill/>
          <a:ln/>
        </p:spPr>
        <p:txBody>
          <a:bodyPr wrap="square" lIns="0" tIns="0" rIns="0" bIns="0" rtlCol="0" anchor="ctr"/>
          <a:lstStyle/>
          <a:p>
            <a:pPr indent="0" marL="0">
              <a:buNone/>
            </a:pPr>
            <a:r>
              <a:rPr lang="en-US" sz="1100" dirty="0">
                <a:solidFill>
                  <a:srgbClr val="6B5A62"/>
                </a:solidFill>
                <a:latin typeface="Calibri" pitchFamily="34" charset="0"/>
                <a:ea typeface="Calibri" pitchFamily="34" charset="-122"/>
                <a:cs typeface="Calibri" pitchFamily="34" charset="-120"/>
              </a:rPr>
              <a:t>With payment evidence / receipt</a:t>
            </a:r>
            <a:endParaRPr lang="en-US" sz="1100" dirty="0"/>
          </a:p>
        </p:txBody>
      </p:sp>
      <p:sp>
        <p:nvSpPr>
          <p:cNvPr id="42" name="Shape 32"/>
          <p:cNvSpPr/>
          <p:nvPr/>
        </p:nvSpPr>
        <p:spPr>
          <a:xfrm>
            <a:off x="4709160" y="3785616"/>
            <a:ext cx="3977640" cy="713232"/>
          </a:xfrm>
          <a:prstGeom prst="roundRect">
            <a:avLst>
              <a:gd name="adj" fmla="val 15385"/>
            </a:avLst>
          </a:prstGeom>
          <a:solidFill>
            <a:srgbClr val="FFFFFF"/>
          </a:solidFill>
          <a:ln w="9525">
            <a:solidFill>
              <a:srgbClr val="EBD3DC"/>
            </a:solidFill>
            <a:prstDash val="solid"/>
          </a:ln>
          <a:effectLst>
            <a:outerShdw sx="100000" sy="100000" kx="0" ky="0" algn="bl" rotWithShape="0" blurRad="76200" dist="25400" dir="5400000">
              <a:srgbClr val="000000">
                <a:alpha val="12000"/>
              </a:srgbClr>
            </a:outerShdw>
          </a:effectLst>
        </p:spPr>
      </p:sp>
      <p:sp>
        <p:nvSpPr>
          <p:cNvPr id="43" name="Shape 33"/>
          <p:cNvSpPr/>
          <p:nvPr/>
        </p:nvSpPr>
        <p:spPr>
          <a:xfrm>
            <a:off x="4846320" y="3913632"/>
            <a:ext cx="457200" cy="457200"/>
          </a:xfrm>
          <a:prstGeom prst="ellipse">
            <a:avLst/>
          </a:prstGeom>
          <a:solidFill>
            <a:srgbClr val="EDE72D"/>
          </a:solidFill>
          <a:ln w="12700">
            <a:solidFill>
              <a:srgbClr val="EDE72D"/>
            </a:solidFill>
            <a:prstDash val="solid"/>
          </a:ln>
        </p:spPr>
      </p:sp>
      <p:pic>
        <p:nvPicPr>
          <p:cNvPr id="44" name="Image 8" descr="preencoded.png">    </p:cNvPr>
          <p:cNvPicPr>
            <a:picLocks noChangeAspect="1"/>
          </p:cNvPicPr>
          <p:nvPr/>
        </p:nvPicPr>
        <p:blipFill>
          <a:blip r:embed="rId9"/>
          <a:stretch>
            <a:fillRect/>
          </a:stretch>
        </p:blipFill>
        <p:spPr>
          <a:xfrm>
            <a:off x="4960620" y="4027932"/>
            <a:ext cx="228600" cy="228600"/>
          </a:xfrm>
          <a:prstGeom prst="rect">
            <a:avLst/>
          </a:prstGeom>
        </p:spPr>
      </p:pic>
      <p:sp>
        <p:nvSpPr>
          <p:cNvPr id="45" name="Text 34"/>
          <p:cNvSpPr txBox="1"/>
          <p:nvPr/>
        </p:nvSpPr>
        <p:spPr>
          <a:xfrm>
            <a:off x="5440680" y="3877056"/>
            <a:ext cx="3108960" cy="292608"/>
          </a:xfrm>
          <a:prstGeom prst="rect">
            <a:avLst/>
          </a:prstGeom>
          <a:noFill/>
          <a:ln/>
        </p:spPr>
        <p:txBody>
          <a:bodyPr wrap="square" lIns="0" tIns="0" rIns="0" bIns="0" rtlCol="0" anchor="ctr"/>
          <a:lstStyle/>
          <a:p>
            <a:pPr indent="0" marL="0">
              <a:buNone/>
            </a:pPr>
            <a:r>
              <a:rPr lang="en-US" sz="1300" b="1" dirty="0">
                <a:solidFill>
                  <a:srgbClr val="2B1A22"/>
                </a:solidFill>
                <a:latin typeface="Arial" pitchFamily="34" charset="0"/>
                <a:ea typeface="Arial" pitchFamily="34" charset="-122"/>
                <a:cs typeface="Arial" pitchFamily="34" charset="-120"/>
              </a:rPr>
              <a:t>Pending Documents</a:t>
            </a:r>
            <a:endParaRPr lang="en-US" sz="1300" dirty="0"/>
          </a:p>
        </p:txBody>
      </p:sp>
      <p:sp>
        <p:nvSpPr>
          <p:cNvPr id="46" name="Text 35"/>
          <p:cNvSpPr txBox="1"/>
          <p:nvPr/>
        </p:nvSpPr>
        <p:spPr>
          <a:xfrm>
            <a:off x="5440680" y="4169664"/>
            <a:ext cx="3108960" cy="256032"/>
          </a:xfrm>
          <a:prstGeom prst="rect">
            <a:avLst/>
          </a:prstGeom>
          <a:noFill/>
          <a:ln/>
        </p:spPr>
        <p:txBody>
          <a:bodyPr wrap="square" lIns="0" tIns="0" rIns="0" bIns="0" rtlCol="0" anchor="ctr"/>
          <a:lstStyle/>
          <a:p>
            <a:pPr indent="0" marL="0">
              <a:buNone/>
            </a:pPr>
            <a:r>
              <a:rPr lang="en-US" sz="1100" dirty="0">
                <a:solidFill>
                  <a:srgbClr val="6B5A62"/>
                </a:solidFill>
                <a:latin typeface="Calibri" pitchFamily="34" charset="0"/>
                <a:ea typeface="Calibri" pitchFamily="34" charset="-122"/>
                <a:cs typeface="Calibri" pitchFamily="34" charset="-120"/>
              </a:rPr>
              <a:t>Any extra item required for the course</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566928"/>
          </a:xfrm>
          <a:prstGeom prst="ellipse">
            <a:avLst/>
          </a:prstGeom>
          <a:solidFill>
            <a:srgbClr val="C01F53"/>
          </a:solidFill>
          <a:ln w="12700">
            <a:solidFill>
              <a:srgbClr val="C01F53"/>
            </a:solidFill>
            <a:prstDash val="solid"/>
          </a:ln>
        </p:spPr>
      </p:sp>
      <p:sp>
        <p:nvSpPr>
          <p:cNvPr id="3" name="Text 1"/>
          <p:cNvSpPr txBox="1"/>
          <p:nvPr/>
        </p:nvSpPr>
        <p:spPr>
          <a:xfrm>
            <a:off x="457200" y="34747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4" name="Text 2"/>
          <p:cNvSpPr txBox="1"/>
          <p:nvPr/>
        </p:nvSpPr>
        <p:spPr>
          <a:xfrm>
            <a:off x="1170432" y="274320"/>
            <a:ext cx="5779008" cy="457200"/>
          </a:xfrm>
          <a:prstGeom prst="rect">
            <a:avLst/>
          </a:prstGeom>
          <a:noFill/>
          <a:ln/>
        </p:spPr>
        <p:txBody>
          <a:bodyPr wrap="square" lIns="0" tIns="0" rIns="0" bIns="0" rtlCol="0" anchor="ctr"/>
          <a:lstStyle/>
          <a:p>
            <a:pPr indent="0" marL="0">
              <a:buNone/>
            </a:pPr>
            <a:r>
              <a:rPr lang="en-US" sz="2600" b="1" dirty="0">
                <a:solidFill>
                  <a:srgbClr val="2B1A22"/>
                </a:solidFill>
                <a:latin typeface="Arial" pitchFamily="34" charset="0"/>
                <a:ea typeface="Arial" pitchFamily="34" charset="-122"/>
                <a:cs typeface="Arial" pitchFamily="34" charset="-120"/>
              </a:rPr>
              <a:t>Official Mail to the ATL</a:t>
            </a:r>
            <a:endParaRPr lang="en-US" sz="2600" dirty="0"/>
          </a:p>
        </p:txBody>
      </p:sp>
      <p:sp>
        <p:nvSpPr>
          <p:cNvPr id="5" name="Text 3"/>
          <p:cNvSpPr txBox="1"/>
          <p:nvPr/>
        </p:nvSpPr>
        <p:spPr>
          <a:xfrm>
            <a:off x="1170432" y="713232"/>
            <a:ext cx="5961888" cy="274320"/>
          </a:xfrm>
          <a:prstGeom prst="rect">
            <a:avLst/>
          </a:prstGeom>
          <a:noFill/>
          <a:ln/>
        </p:spPr>
        <p:txBody>
          <a:bodyPr wrap="square" lIns="0" tIns="0" rIns="0" bIns="0" rtlCol="0" anchor="ctr"/>
          <a:lstStyle/>
          <a:p>
            <a:pPr indent="0" marL="0">
              <a:buNone/>
            </a:pPr>
            <a:r>
              <a:rPr lang="en-US" sz="1300" i="1" dirty="0">
                <a:solidFill>
                  <a:srgbClr val="C01F53"/>
                </a:solidFill>
                <a:latin typeface="Calibri" pitchFamily="34" charset="0"/>
                <a:ea typeface="Calibri" pitchFamily="34" charset="-122"/>
                <a:cs typeface="Calibri" pitchFamily="34" charset="-120"/>
              </a:rPr>
              <a:t>ATL = Application Team Lead</a:t>
            </a:r>
            <a:endParaRPr lang="en-US" sz="1300" dirty="0"/>
          </a:p>
        </p:txBody>
      </p:sp>
      <p:pic>
        <p:nvPicPr>
          <p:cNvPr id="6" name="Image 0" descr="preencoded.png">    </p:cNvPr>
          <p:cNvPicPr>
            <a:picLocks noChangeAspect="1"/>
          </p:cNvPicPr>
          <p:nvPr/>
        </p:nvPicPr>
        <p:blipFill>
          <a:blip r:embed="rId1"/>
          <a:stretch>
            <a:fillRect/>
          </a:stretch>
        </p:blipFill>
        <p:spPr>
          <a:xfrm>
            <a:off x="8183880" y="274320"/>
            <a:ext cx="548640" cy="548640"/>
          </a:xfrm>
          <a:prstGeom prst="rect">
            <a:avLst/>
          </a:prstGeom>
        </p:spPr>
      </p:pic>
      <p:sp>
        <p:nvSpPr>
          <p:cNvPr id="7" name="Shape 4"/>
          <p:cNvSpPr/>
          <p:nvPr/>
        </p:nvSpPr>
        <p:spPr>
          <a:xfrm>
            <a:off x="457200" y="1234440"/>
            <a:ext cx="4572000" cy="3429000"/>
          </a:xfrm>
          <a:prstGeom prst="roundRect">
            <a:avLst>
              <a:gd name="adj" fmla="val 3200"/>
            </a:avLst>
          </a:prstGeom>
          <a:solidFill>
            <a:srgbClr val="FFFFFF"/>
          </a:solidFill>
          <a:ln w="9525">
            <a:solidFill>
              <a:srgbClr val="EBD3DC"/>
            </a:solidFill>
            <a:prstDash val="solid"/>
          </a:ln>
          <a:effectLst>
            <a:outerShdw sx="100000" sy="100000" kx="0" ky="0" algn="bl" rotWithShape="0" blurRad="76200" dist="25400" dir="5400000">
              <a:srgbClr val="000000">
                <a:alpha val="12000"/>
              </a:srgbClr>
            </a:outerShdw>
          </a:effectLst>
        </p:spPr>
      </p:sp>
      <p:sp>
        <p:nvSpPr>
          <p:cNvPr id="8" name="Shape 5"/>
          <p:cNvSpPr/>
          <p:nvPr/>
        </p:nvSpPr>
        <p:spPr>
          <a:xfrm>
            <a:off x="457200" y="1234440"/>
            <a:ext cx="4572000" cy="457200"/>
          </a:xfrm>
          <a:prstGeom prst="roundRect">
            <a:avLst>
              <a:gd name="adj" fmla="val 24000"/>
            </a:avLst>
          </a:prstGeom>
          <a:solidFill>
            <a:srgbClr val="C01F53"/>
          </a:solidFill>
          <a:ln w="12700">
            <a:solidFill>
              <a:srgbClr val="C01F53"/>
            </a:solidFill>
            <a:prstDash val="solid"/>
          </a:ln>
        </p:spPr>
      </p:sp>
      <p:sp>
        <p:nvSpPr>
          <p:cNvPr id="9" name="Shape 6"/>
          <p:cNvSpPr/>
          <p:nvPr/>
        </p:nvSpPr>
        <p:spPr>
          <a:xfrm>
            <a:off x="457200" y="1508760"/>
            <a:ext cx="4572000" cy="182880"/>
          </a:xfrm>
          <a:prstGeom prst="rect">
            <a:avLst/>
          </a:prstGeom>
          <a:solidFill>
            <a:srgbClr val="C01F53"/>
          </a:solidFill>
          <a:ln w="12700">
            <a:solidFill>
              <a:srgbClr val="C01F53"/>
            </a:solidFill>
            <a:prstDash val="solid"/>
          </a:ln>
        </p:spPr>
      </p:sp>
      <p:sp>
        <p:nvSpPr>
          <p:cNvPr id="10" name="Text 7"/>
          <p:cNvSpPr txBox="1"/>
          <p:nvPr/>
        </p:nvSpPr>
        <p:spPr>
          <a:xfrm>
            <a:off x="640080" y="1234440"/>
            <a:ext cx="4206240" cy="45720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New message — official company mail</a:t>
            </a:r>
            <a:endParaRPr lang="en-US" sz="1200" dirty="0"/>
          </a:p>
        </p:txBody>
      </p:sp>
      <p:sp>
        <p:nvSpPr>
          <p:cNvPr id="11" name="Text 8"/>
          <p:cNvSpPr txBox="1"/>
          <p:nvPr/>
        </p:nvSpPr>
        <p:spPr>
          <a:xfrm>
            <a:off x="685800" y="1874520"/>
            <a:ext cx="4160520" cy="411480"/>
          </a:xfrm>
          <a:prstGeom prst="rect">
            <a:avLst/>
          </a:prstGeom>
          <a:noFill/>
          <a:ln/>
        </p:spPr>
        <p:txBody>
          <a:bodyPr wrap="square" lIns="0" tIns="0" rIns="0" bIns="0" rtlCol="0" anchor="ctr"/>
          <a:lstStyle/>
          <a:p>
            <a:pPr indent="0" marL="0">
              <a:buNone/>
            </a:pPr>
            <a:r>
              <a:rPr lang="en-US" sz="1300" b="1" dirty="0">
                <a:solidFill>
                  <a:srgbClr val="C01F53"/>
                </a:solidFill>
                <a:latin typeface="Calibri" pitchFamily="34" charset="0"/>
                <a:ea typeface="Calibri" pitchFamily="34" charset="-122"/>
                <a:cs typeface="Calibri" pitchFamily="34" charset="-120"/>
              </a:rPr>
              <a:t>To: </a:t>
            </a:r>
            <a:pPr indent="0" marL="0">
              <a:buNone/>
            </a:pPr>
            <a:r>
              <a:rPr lang="en-US" sz="1300" dirty="0">
                <a:solidFill>
                  <a:srgbClr val="2B1A22"/>
                </a:solidFill>
                <a:latin typeface="Calibri" pitchFamily="34" charset="0"/>
                <a:ea typeface="Calibri" pitchFamily="34" charset="-122"/>
                <a:cs typeface="Calibri" pitchFamily="34" charset="-120"/>
              </a:rPr>
              <a:t>Application Team Lead (ATL)</a:t>
            </a:r>
            <a:endParaRPr lang="en-US" sz="1300" dirty="0"/>
          </a:p>
        </p:txBody>
      </p:sp>
      <p:sp>
        <p:nvSpPr>
          <p:cNvPr id="12" name="Shape 9"/>
          <p:cNvSpPr/>
          <p:nvPr/>
        </p:nvSpPr>
        <p:spPr>
          <a:xfrm>
            <a:off x="685800" y="2350008"/>
            <a:ext cx="4114800" cy="0"/>
          </a:xfrm>
          <a:prstGeom prst="line">
            <a:avLst/>
          </a:prstGeom>
          <a:noFill/>
          <a:ln w="9525">
            <a:solidFill>
              <a:srgbClr val="EBD3DC"/>
            </a:solidFill>
            <a:prstDash val="solid"/>
          </a:ln>
        </p:spPr>
      </p:sp>
      <p:sp>
        <p:nvSpPr>
          <p:cNvPr id="13" name="Text 10"/>
          <p:cNvSpPr txBox="1"/>
          <p:nvPr/>
        </p:nvSpPr>
        <p:spPr>
          <a:xfrm>
            <a:off x="685800" y="2404872"/>
            <a:ext cx="4160520" cy="411480"/>
          </a:xfrm>
          <a:prstGeom prst="rect">
            <a:avLst/>
          </a:prstGeom>
          <a:noFill/>
          <a:ln/>
        </p:spPr>
        <p:txBody>
          <a:bodyPr wrap="square" lIns="0" tIns="0" rIns="0" bIns="0" rtlCol="0" anchor="ctr"/>
          <a:lstStyle/>
          <a:p>
            <a:pPr indent="0" marL="0">
              <a:buNone/>
            </a:pPr>
            <a:r>
              <a:rPr lang="en-US" sz="1300" b="1" dirty="0">
                <a:solidFill>
                  <a:srgbClr val="C01F53"/>
                </a:solidFill>
                <a:latin typeface="Calibri" pitchFamily="34" charset="0"/>
                <a:ea typeface="Calibri" pitchFamily="34" charset="-122"/>
                <a:cs typeface="Calibri" pitchFamily="34" charset="-120"/>
              </a:rPr>
              <a:t>Subject: </a:t>
            </a:r>
            <a:pPr indent="0" marL="0">
              <a:buNone/>
            </a:pPr>
            <a:r>
              <a:rPr lang="en-US" sz="1300" dirty="0">
                <a:solidFill>
                  <a:srgbClr val="2B1A22"/>
                </a:solidFill>
                <a:latin typeface="Calibri" pitchFamily="34" charset="0"/>
                <a:ea typeface="Calibri" pitchFamily="34" charset="-122"/>
                <a:cs typeface="Calibri" pitchFamily="34" charset="-120"/>
              </a:rPr>
              <a:t>Student Name – Country – University – Course</a:t>
            </a:r>
            <a:endParaRPr lang="en-US" sz="1300" dirty="0"/>
          </a:p>
        </p:txBody>
      </p:sp>
      <p:sp>
        <p:nvSpPr>
          <p:cNvPr id="14" name="Shape 11"/>
          <p:cNvSpPr/>
          <p:nvPr/>
        </p:nvSpPr>
        <p:spPr>
          <a:xfrm>
            <a:off x="685800" y="2880360"/>
            <a:ext cx="4114800" cy="0"/>
          </a:xfrm>
          <a:prstGeom prst="line">
            <a:avLst/>
          </a:prstGeom>
          <a:noFill/>
          <a:ln w="9525">
            <a:solidFill>
              <a:srgbClr val="EBD3DC"/>
            </a:solidFill>
            <a:prstDash val="solid"/>
          </a:ln>
        </p:spPr>
      </p:sp>
      <p:sp>
        <p:nvSpPr>
          <p:cNvPr id="15" name="Text 12"/>
          <p:cNvSpPr txBox="1"/>
          <p:nvPr/>
        </p:nvSpPr>
        <p:spPr>
          <a:xfrm>
            <a:off x="685800" y="2935224"/>
            <a:ext cx="4160520" cy="411480"/>
          </a:xfrm>
          <a:prstGeom prst="rect">
            <a:avLst/>
          </a:prstGeom>
          <a:noFill/>
          <a:ln/>
        </p:spPr>
        <p:txBody>
          <a:bodyPr wrap="square" lIns="0" tIns="0" rIns="0" bIns="0" rtlCol="0" anchor="ctr"/>
          <a:lstStyle/>
          <a:p>
            <a:pPr indent="0" marL="0">
              <a:buNone/>
            </a:pPr>
            <a:r>
              <a:rPr lang="en-US" sz="1300" b="1" dirty="0">
                <a:solidFill>
                  <a:srgbClr val="C01F53"/>
                </a:solidFill>
                <a:latin typeface="Calibri" pitchFamily="34" charset="0"/>
                <a:ea typeface="Calibri" pitchFamily="34" charset="-122"/>
                <a:cs typeface="Calibri" pitchFamily="34" charset="-120"/>
              </a:rPr>
              <a:t>Attach: </a:t>
            </a:r>
            <a:pPr indent="0" marL="0">
              <a:buNone/>
            </a:pPr>
            <a:r>
              <a:rPr lang="en-US" sz="1300" dirty="0">
                <a:solidFill>
                  <a:srgbClr val="2B1A22"/>
                </a:solidFill>
                <a:latin typeface="Calibri" pitchFamily="34" charset="0"/>
                <a:ea typeface="Calibri" pitchFamily="34" charset="-122"/>
                <a:cs typeface="Calibri" pitchFamily="34" charset="-120"/>
              </a:rPr>
              <a:t>CV, certificates, passport, IELTS, LOR, MOI</a:t>
            </a:r>
            <a:endParaRPr lang="en-US" sz="1300" dirty="0"/>
          </a:p>
        </p:txBody>
      </p:sp>
      <p:sp>
        <p:nvSpPr>
          <p:cNvPr id="16" name="Shape 13"/>
          <p:cNvSpPr/>
          <p:nvPr/>
        </p:nvSpPr>
        <p:spPr>
          <a:xfrm>
            <a:off x="685800" y="3410712"/>
            <a:ext cx="4114800" cy="0"/>
          </a:xfrm>
          <a:prstGeom prst="line">
            <a:avLst/>
          </a:prstGeom>
          <a:noFill/>
          <a:ln w="9525">
            <a:solidFill>
              <a:srgbClr val="EBD3DC"/>
            </a:solidFill>
            <a:prstDash val="solid"/>
          </a:ln>
        </p:spPr>
      </p:sp>
      <p:sp>
        <p:nvSpPr>
          <p:cNvPr id="17" name="Text 14"/>
          <p:cNvSpPr txBox="1"/>
          <p:nvPr/>
        </p:nvSpPr>
        <p:spPr>
          <a:xfrm>
            <a:off x="685800" y="3465576"/>
            <a:ext cx="4160520" cy="411480"/>
          </a:xfrm>
          <a:prstGeom prst="rect">
            <a:avLst/>
          </a:prstGeom>
          <a:noFill/>
          <a:ln/>
        </p:spPr>
        <p:txBody>
          <a:bodyPr wrap="square" lIns="0" tIns="0" rIns="0" bIns="0" rtlCol="0" anchor="ctr"/>
          <a:lstStyle/>
          <a:p>
            <a:pPr indent="0" marL="0">
              <a:buNone/>
            </a:pPr>
            <a:r>
              <a:rPr lang="en-US" sz="1300" b="1" dirty="0">
                <a:solidFill>
                  <a:srgbClr val="C01F53"/>
                </a:solidFill>
                <a:latin typeface="Calibri" pitchFamily="34" charset="0"/>
                <a:ea typeface="Calibri" pitchFamily="34" charset="-122"/>
                <a:cs typeface="Calibri" pitchFamily="34" charset="-120"/>
              </a:rPr>
              <a:t>Attach: </a:t>
            </a:r>
            <a:pPr indent="0" marL="0">
              <a:buNone/>
            </a:pPr>
            <a:r>
              <a:rPr lang="en-US" sz="1300" dirty="0">
                <a:solidFill>
                  <a:srgbClr val="2B1A22"/>
                </a:solidFill>
                <a:latin typeface="Calibri" pitchFamily="34" charset="0"/>
                <a:ea typeface="Calibri" pitchFamily="34" charset="-122"/>
                <a:cs typeface="Calibri" pitchFamily="34" charset="-120"/>
              </a:rPr>
              <a:t>Registration payment evidence</a:t>
            </a:r>
            <a:endParaRPr lang="en-US" sz="1300" dirty="0"/>
          </a:p>
        </p:txBody>
      </p:sp>
      <p:sp>
        <p:nvSpPr>
          <p:cNvPr id="18" name="Shape 15"/>
          <p:cNvSpPr/>
          <p:nvPr/>
        </p:nvSpPr>
        <p:spPr>
          <a:xfrm>
            <a:off x="685800" y="3941064"/>
            <a:ext cx="4114800" cy="0"/>
          </a:xfrm>
          <a:prstGeom prst="line">
            <a:avLst/>
          </a:prstGeom>
          <a:noFill/>
          <a:ln w="9525">
            <a:solidFill>
              <a:srgbClr val="EBD3DC"/>
            </a:solidFill>
            <a:prstDash val="solid"/>
          </a:ln>
        </p:spPr>
      </p:sp>
      <p:sp>
        <p:nvSpPr>
          <p:cNvPr id="19" name="Text 16"/>
          <p:cNvSpPr txBox="1"/>
          <p:nvPr/>
        </p:nvSpPr>
        <p:spPr>
          <a:xfrm>
            <a:off x="685800" y="3995928"/>
            <a:ext cx="4160520" cy="411480"/>
          </a:xfrm>
          <a:prstGeom prst="rect">
            <a:avLst/>
          </a:prstGeom>
          <a:noFill/>
          <a:ln/>
        </p:spPr>
        <p:txBody>
          <a:bodyPr wrap="square" lIns="0" tIns="0" rIns="0" bIns="0" rtlCol="0" anchor="ctr"/>
          <a:lstStyle/>
          <a:p>
            <a:pPr indent="0" marL="0">
              <a:buNone/>
            </a:pPr>
            <a:r>
              <a:rPr lang="en-US" sz="1300" b="1" dirty="0">
                <a:solidFill>
                  <a:srgbClr val="C01F53"/>
                </a:solidFill>
                <a:latin typeface="Calibri" pitchFamily="34" charset="0"/>
                <a:ea typeface="Calibri" pitchFamily="34" charset="-122"/>
                <a:cs typeface="Calibri" pitchFamily="34" charset="-120"/>
              </a:rPr>
              <a:t>Note: </a:t>
            </a:r>
            <a:pPr indent="0" marL="0">
              <a:buNone/>
            </a:pPr>
            <a:r>
              <a:rPr lang="en-US" sz="1300" dirty="0">
                <a:solidFill>
                  <a:srgbClr val="2B1A22"/>
                </a:solidFill>
                <a:latin typeface="Calibri" pitchFamily="34" charset="0"/>
                <a:ea typeface="Calibri" pitchFamily="34" charset="-122"/>
                <a:cs typeface="Calibri" pitchFamily="34" charset="-120"/>
              </a:rPr>
              <a:t>List any pending documents + reason</a:t>
            </a:r>
            <a:endParaRPr lang="en-US" sz="1300" dirty="0"/>
          </a:p>
        </p:txBody>
      </p:sp>
      <p:sp>
        <p:nvSpPr>
          <p:cNvPr id="20" name="Text 17"/>
          <p:cNvSpPr txBox="1"/>
          <p:nvPr/>
        </p:nvSpPr>
        <p:spPr>
          <a:xfrm>
            <a:off x="5394960" y="1234440"/>
            <a:ext cx="3291840" cy="365760"/>
          </a:xfrm>
          <a:prstGeom prst="rect">
            <a:avLst/>
          </a:prstGeom>
          <a:noFill/>
          <a:ln/>
        </p:spPr>
        <p:txBody>
          <a:bodyPr wrap="square" lIns="0" tIns="0" rIns="0" bIns="0" rtlCol="0" anchor="ctr"/>
          <a:lstStyle/>
          <a:p>
            <a:pPr indent="0" marL="0">
              <a:buNone/>
            </a:pPr>
            <a:r>
              <a:rPr lang="en-US" sz="1800" b="1" dirty="0">
                <a:solidFill>
                  <a:srgbClr val="2B1A22"/>
                </a:solidFill>
                <a:latin typeface="Arial" pitchFamily="34" charset="0"/>
                <a:ea typeface="Arial" pitchFamily="34" charset="-122"/>
                <a:cs typeface="Arial" pitchFamily="34" charset="-120"/>
              </a:rPr>
              <a:t>Rules</a:t>
            </a:r>
            <a:endParaRPr lang="en-US" sz="1800" dirty="0"/>
          </a:p>
        </p:txBody>
      </p:sp>
      <p:sp>
        <p:nvSpPr>
          <p:cNvPr id="21" name="Text 18"/>
          <p:cNvSpPr txBox="1"/>
          <p:nvPr/>
        </p:nvSpPr>
        <p:spPr>
          <a:xfrm>
            <a:off x="5394960" y="1691640"/>
            <a:ext cx="3291840" cy="292608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2B1A22"/>
                </a:solidFill>
                <a:latin typeface="Calibri" pitchFamily="34" charset="0"/>
                <a:ea typeface="Calibri" pitchFamily="34" charset="-122"/>
                <a:cs typeface="Calibri" pitchFamily="34" charset="-120"/>
              </a:rPr>
              <a:t>Only the official mail ID — never personal mail or WhatsApp for documents</a:t>
            </a:r>
            <a:endParaRPr lang="en-US" sz="1400" dirty="0"/>
          </a:p>
          <a:p>
            <a:pPr marL="342900" indent="-342900">
              <a:spcAft>
                <a:spcPts val="1000"/>
              </a:spcAft>
              <a:buSzPct val="100000"/>
              <a:buChar char="•"/>
            </a:pPr>
            <a:r>
              <a:rPr lang="en-US" sz="1400" dirty="0">
                <a:solidFill>
                  <a:srgbClr val="2B1A22"/>
                </a:solidFill>
                <a:latin typeface="Calibri" pitchFamily="34" charset="0"/>
                <a:ea typeface="Calibri" pitchFamily="34" charset="-122"/>
                <a:cs typeface="Calibri" pitchFamily="34" charset="-120"/>
              </a:rPr>
              <a:t>Attach every document; no links to personal drives</a:t>
            </a:r>
            <a:endParaRPr lang="en-US" sz="1400" dirty="0"/>
          </a:p>
          <a:p>
            <a:pPr marL="342900" indent="-342900">
              <a:spcAft>
                <a:spcPts val="1000"/>
              </a:spcAft>
              <a:buSzPct val="100000"/>
              <a:buChar char="•"/>
            </a:pPr>
            <a:r>
              <a:rPr lang="en-US" sz="1400" dirty="0">
                <a:solidFill>
                  <a:srgbClr val="2B1A22"/>
                </a:solidFill>
                <a:latin typeface="Calibri" pitchFamily="34" charset="0"/>
                <a:ea typeface="Calibri" pitchFamily="34" charset="-122"/>
                <a:cs typeface="Calibri" pitchFamily="34" charset="-120"/>
              </a:rPr>
              <a:t>Clear file names, e.g. StudentName_Passport.pdf</a:t>
            </a:r>
            <a:endParaRPr lang="en-US" sz="1400" dirty="0"/>
          </a:p>
          <a:p>
            <a:pPr marL="342900" indent="-342900">
              <a:spcAft>
                <a:spcPts val="1000"/>
              </a:spcAft>
              <a:buSzPct val="100000"/>
              <a:buChar char="•"/>
            </a:pPr>
            <a:r>
              <a:rPr lang="en-US" sz="1400" dirty="0">
                <a:solidFill>
                  <a:srgbClr val="2B1A22"/>
                </a:solidFill>
                <a:latin typeface="Calibri" pitchFamily="34" charset="0"/>
                <a:ea typeface="Calibri" pitchFamily="34" charset="-122"/>
                <a:cs typeface="Calibri" pitchFamily="34" charset="-120"/>
              </a:rPr>
              <a:t>Mention pending items so the team knows what to wait for</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566928"/>
          </a:xfrm>
          <a:prstGeom prst="ellipse">
            <a:avLst/>
          </a:prstGeom>
          <a:solidFill>
            <a:srgbClr val="C01F53"/>
          </a:solidFill>
          <a:ln w="12700">
            <a:solidFill>
              <a:srgbClr val="C01F53"/>
            </a:solidFill>
            <a:prstDash val="solid"/>
          </a:ln>
        </p:spPr>
      </p:sp>
      <p:sp>
        <p:nvSpPr>
          <p:cNvPr id="3" name="Text 1"/>
          <p:cNvSpPr txBox="1"/>
          <p:nvPr/>
        </p:nvSpPr>
        <p:spPr>
          <a:xfrm>
            <a:off x="457200" y="34747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4" name="Text 2"/>
          <p:cNvSpPr txBox="1"/>
          <p:nvPr/>
        </p:nvSpPr>
        <p:spPr>
          <a:xfrm>
            <a:off x="1170432" y="274320"/>
            <a:ext cx="5779008" cy="457200"/>
          </a:xfrm>
          <a:prstGeom prst="rect">
            <a:avLst/>
          </a:prstGeom>
          <a:noFill/>
          <a:ln/>
        </p:spPr>
        <p:txBody>
          <a:bodyPr wrap="square" lIns="0" tIns="0" rIns="0" bIns="0" rtlCol="0" anchor="ctr"/>
          <a:lstStyle/>
          <a:p>
            <a:pPr indent="0" marL="0">
              <a:buNone/>
            </a:pPr>
            <a:r>
              <a:rPr lang="en-US" sz="2600" b="1" dirty="0">
                <a:solidFill>
                  <a:srgbClr val="2B1A22"/>
                </a:solidFill>
                <a:latin typeface="Arial" pitchFamily="34" charset="0"/>
                <a:ea typeface="Arial" pitchFamily="34" charset="-122"/>
                <a:cs typeface="Arial" pitchFamily="34" charset="-120"/>
              </a:rPr>
              <a:t>ATL Reply &amp; Handover</a:t>
            </a:r>
            <a:endParaRPr lang="en-US" sz="2600" dirty="0"/>
          </a:p>
        </p:txBody>
      </p:sp>
      <p:sp>
        <p:nvSpPr>
          <p:cNvPr id="5" name="Text 3"/>
          <p:cNvSpPr txBox="1"/>
          <p:nvPr/>
        </p:nvSpPr>
        <p:spPr>
          <a:xfrm>
            <a:off x="1170432" y="713232"/>
            <a:ext cx="5961888" cy="274320"/>
          </a:xfrm>
          <a:prstGeom prst="rect">
            <a:avLst/>
          </a:prstGeom>
          <a:noFill/>
          <a:ln/>
        </p:spPr>
        <p:txBody>
          <a:bodyPr wrap="square" lIns="0" tIns="0" rIns="0" bIns="0" rtlCol="0" anchor="ctr"/>
          <a:lstStyle/>
          <a:p>
            <a:pPr indent="0" marL="0">
              <a:buNone/>
            </a:pPr>
            <a:r>
              <a:rPr lang="en-US" sz="1300" i="1" dirty="0">
                <a:solidFill>
                  <a:srgbClr val="C01F53"/>
                </a:solidFill>
                <a:latin typeface="Calibri" pitchFamily="34" charset="0"/>
                <a:ea typeface="Calibri" pitchFamily="34" charset="-122"/>
                <a:cs typeface="Calibri" pitchFamily="34" charset="-120"/>
              </a:rPr>
              <a:t>The handover is confirmed by email</a:t>
            </a:r>
            <a:endParaRPr lang="en-US" sz="1300" dirty="0"/>
          </a:p>
        </p:txBody>
      </p:sp>
      <p:pic>
        <p:nvPicPr>
          <p:cNvPr id="6" name="Image 0" descr="preencoded.png">    </p:cNvPr>
          <p:cNvPicPr>
            <a:picLocks noChangeAspect="1"/>
          </p:cNvPicPr>
          <p:nvPr/>
        </p:nvPicPr>
        <p:blipFill>
          <a:blip r:embed="rId1"/>
          <a:stretch>
            <a:fillRect/>
          </a:stretch>
        </p:blipFill>
        <p:spPr>
          <a:xfrm>
            <a:off x="8183880" y="274320"/>
            <a:ext cx="548640" cy="548640"/>
          </a:xfrm>
          <a:prstGeom prst="rect">
            <a:avLst/>
          </a:prstGeom>
        </p:spPr>
      </p:pic>
      <p:sp>
        <p:nvSpPr>
          <p:cNvPr id="7" name="Shape 4"/>
          <p:cNvSpPr/>
          <p:nvPr/>
        </p:nvSpPr>
        <p:spPr>
          <a:xfrm>
            <a:off x="457200" y="1417320"/>
            <a:ext cx="2468880" cy="2194560"/>
          </a:xfrm>
          <a:prstGeom prst="roundRect">
            <a:avLst>
              <a:gd name="adj" fmla="val 5000"/>
            </a:avLst>
          </a:prstGeom>
          <a:solidFill>
            <a:srgbClr val="FFFFFF"/>
          </a:solidFill>
          <a:ln w="9525">
            <a:solidFill>
              <a:srgbClr val="EBD3DC"/>
            </a:solidFill>
            <a:prstDash val="solid"/>
          </a:ln>
          <a:effectLst>
            <a:outerShdw sx="100000" sy="100000" kx="0" ky="0" algn="bl" rotWithShape="0" blurRad="76200" dist="25400" dir="5400000">
              <a:srgbClr val="000000">
                <a:alpha val="12000"/>
              </a:srgbClr>
            </a:outerShdw>
          </a:effectLst>
        </p:spPr>
      </p:sp>
      <p:sp>
        <p:nvSpPr>
          <p:cNvPr id="8" name="Shape 5"/>
          <p:cNvSpPr/>
          <p:nvPr/>
        </p:nvSpPr>
        <p:spPr>
          <a:xfrm>
            <a:off x="1325880" y="1645920"/>
            <a:ext cx="731520" cy="731520"/>
          </a:xfrm>
          <a:prstGeom prst="ellipse">
            <a:avLst/>
          </a:prstGeom>
          <a:solidFill>
            <a:srgbClr val="C01F53"/>
          </a:solidFill>
          <a:ln w="12700">
            <a:solidFill>
              <a:srgbClr val="C01F53"/>
            </a:solidFill>
            <a:prstDash val="solid"/>
          </a:ln>
        </p:spPr>
      </p:sp>
      <p:pic>
        <p:nvPicPr>
          <p:cNvPr id="9" name="Image 1" descr="preencoded.png">    </p:cNvPr>
          <p:cNvPicPr>
            <a:picLocks noChangeAspect="1"/>
          </p:cNvPicPr>
          <p:nvPr/>
        </p:nvPicPr>
        <p:blipFill>
          <a:blip r:embed="rId2"/>
          <a:stretch>
            <a:fillRect/>
          </a:stretch>
        </p:blipFill>
        <p:spPr>
          <a:xfrm>
            <a:off x="1508760" y="1828800"/>
            <a:ext cx="365760" cy="365760"/>
          </a:xfrm>
          <a:prstGeom prst="rect">
            <a:avLst/>
          </a:prstGeom>
        </p:spPr>
      </p:pic>
      <p:sp>
        <p:nvSpPr>
          <p:cNvPr id="10" name="Text 6"/>
          <p:cNvSpPr txBox="1"/>
          <p:nvPr/>
        </p:nvSpPr>
        <p:spPr>
          <a:xfrm>
            <a:off x="548640" y="2468880"/>
            <a:ext cx="2286000" cy="457200"/>
          </a:xfrm>
          <a:prstGeom prst="rect">
            <a:avLst/>
          </a:prstGeom>
          <a:noFill/>
          <a:ln/>
        </p:spPr>
        <p:txBody>
          <a:bodyPr wrap="square" lIns="0" tIns="0" rIns="0" bIns="0" rtlCol="0" anchor="ctr"/>
          <a:lstStyle/>
          <a:p>
            <a:pPr algn="ctr" indent="0" marL="0">
              <a:buNone/>
            </a:pPr>
            <a:r>
              <a:rPr lang="en-US" sz="1300" b="1" dirty="0">
                <a:solidFill>
                  <a:srgbClr val="2B1A22"/>
                </a:solidFill>
                <a:latin typeface="Arial" pitchFamily="34" charset="0"/>
                <a:ea typeface="Arial" pitchFamily="34" charset="-122"/>
                <a:cs typeface="Arial" pitchFamily="34" charset="-120"/>
              </a:rPr>
              <a:t>Counsellor</a:t>
            </a:r>
            <a:endParaRPr lang="en-US" sz="1300" dirty="0"/>
          </a:p>
        </p:txBody>
      </p:sp>
      <p:sp>
        <p:nvSpPr>
          <p:cNvPr id="11" name="Text 7"/>
          <p:cNvSpPr txBox="1"/>
          <p:nvPr/>
        </p:nvSpPr>
        <p:spPr>
          <a:xfrm>
            <a:off x="640080" y="2971800"/>
            <a:ext cx="2103120" cy="548640"/>
          </a:xfrm>
          <a:prstGeom prst="rect">
            <a:avLst/>
          </a:prstGeom>
          <a:noFill/>
          <a:ln/>
        </p:spPr>
        <p:txBody>
          <a:bodyPr wrap="square" lIns="0" tIns="0" rIns="0" bIns="0" rtlCol="0" anchor="t"/>
          <a:lstStyle/>
          <a:p>
            <a:pPr algn="ctr" indent="0" marL="0">
              <a:buNone/>
            </a:pPr>
            <a:r>
              <a:rPr lang="en-US" sz="1200" dirty="0">
                <a:solidFill>
                  <a:srgbClr val="6B5A62"/>
                </a:solidFill>
                <a:latin typeface="Calibri" pitchFamily="34" charset="0"/>
                <a:ea typeface="Calibri" pitchFamily="34" charset="-122"/>
                <a:cs typeface="Calibri" pitchFamily="34" charset="-120"/>
              </a:rPr>
              <a:t>Sends the official mail with the complete file</a:t>
            </a:r>
            <a:endParaRPr lang="en-US" sz="1200" dirty="0"/>
          </a:p>
        </p:txBody>
      </p:sp>
      <p:pic>
        <p:nvPicPr>
          <p:cNvPr id="12" name="Image 2" descr="preencoded.png">    </p:cNvPr>
          <p:cNvPicPr>
            <a:picLocks noChangeAspect="1"/>
          </p:cNvPicPr>
          <p:nvPr/>
        </p:nvPicPr>
        <p:blipFill>
          <a:blip r:embed="rId3"/>
          <a:stretch>
            <a:fillRect/>
          </a:stretch>
        </p:blipFill>
        <p:spPr>
          <a:xfrm>
            <a:off x="2999232" y="2377440"/>
            <a:ext cx="219456" cy="219456"/>
          </a:xfrm>
          <a:prstGeom prst="rect">
            <a:avLst/>
          </a:prstGeom>
        </p:spPr>
      </p:pic>
      <p:sp>
        <p:nvSpPr>
          <p:cNvPr id="13" name="Shape 8"/>
          <p:cNvSpPr/>
          <p:nvPr/>
        </p:nvSpPr>
        <p:spPr>
          <a:xfrm>
            <a:off x="3291840" y="1417320"/>
            <a:ext cx="2468880" cy="2194560"/>
          </a:xfrm>
          <a:prstGeom prst="roundRect">
            <a:avLst>
              <a:gd name="adj" fmla="val 5000"/>
            </a:avLst>
          </a:prstGeom>
          <a:solidFill>
            <a:srgbClr val="FFFFFF"/>
          </a:solidFill>
          <a:ln w="9525">
            <a:solidFill>
              <a:srgbClr val="EBD3DC"/>
            </a:solidFill>
            <a:prstDash val="solid"/>
          </a:ln>
          <a:effectLst>
            <a:outerShdw sx="100000" sy="100000" kx="0" ky="0" algn="bl" rotWithShape="0" blurRad="76200" dist="25400" dir="5400000">
              <a:srgbClr val="000000">
                <a:alpha val="12000"/>
              </a:srgbClr>
            </a:outerShdw>
          </a:effectLst>
        </p:spPr>
      </p:sp>
      <p:sp>
        <p:nvSpPr>
          <p:cNvPr id="14" name="Shape 9"/>
          <p:cNvSpPr/>
          <p:nvPr/>
        </p:nvSpPr>
        <p:spPr>
          <a:xfrm>
            <a:off x="4160520" y="1645920"/>
            <a:ext cx="731520" cy="731520"/>
          </a:xfrm>
          <a:prstGeom prst="ellipse">
            <a:avLst/>
          </a:prstGeom>
          <a:solidFill>
            <a:srgbClr val="C01F53"/>
          </a:solidFill>
          <a:ln w="12700">
            <a:solidFill>
              <a:srgbClr val="C01F53"/>
            </a:solidFill>
            <a:prstDash val="solid"/>
          </a:ln>
        </p:spPr>
      </p:sp>
      <p:pic>
        <p:nvPicPr>
          <p:cNvPr id="15" name="Image 3" descr="preencoded.png">    </p:cNvPr>
          <p:cNvPicPr>
            <a:picLocks noChangeAspect="1"/>
          </p:cNvPicPr>
          <p:nvPr/>
        </p:nvPicPr>
        <p:blipFill>
          <a:blip r:embed="rId4"/>
          <a:stretch>
            <a:fillRect/>
          </a:stretch>
        </p:blipFill>
        <p:spPr>
          <a:xfrm>
            <a:off x="4343400" y="1828800"/>
            <a:ext cx="365760" cy="365760"/>
          </a:xfrm>
          <a:prstGeom prst="rect">
            <a:avLst/>
          </a:prstGeom>
        </p:spPr>
      </p:pic>
      <p:sp>
        <p:nvSpPr>
          <p:cNvPr id="16" name="Text 10"/>
          <p:cNvSpPr txBox="1"/>
          <p:nvPr/>
        </p:nvSpPr>
        <p:spPr>
          <a:xfrm>
            <a:off x="3383280" y="2468880"/>
            <a:ext cx="2286000" cy="457200"/>
          </a:xfrm>
          <a:prstGeom prst="rect">
            <a:avLst/>
          </a:prstGeom>
          <a:noFill/>
          <a:ln/>
        </p:spPr>
        <p:txBody>
          <a:bodyPr wrap="square" lIns="0" tIns="0" rIns="0" bIns="0" rtlCol="0" anchor="ctr"/>
          <a:lstStyle/>
          <a:p>
            <a:pPr algn="ctr" indent="0" marL="0">
              <a:buNone/>
            </a:pPr>
            <a:r>
              <a:rPr lang="en-US" sz="1300" b="1" dirty="0">
                <a:solidFill>
                  <a:srgbClr val="2B1A22"/>
                </a:solidFill>
                <a:latin typeface="Arial" pitchFamily="34" charset="0"/>
                <a:ea typeface="Arial" pitchFamily="34" charset="-122"/>
                <a:cs typeface="Arial" pitchFamily="34" charset="-120"/>
              </a:rPr>
              <a:t>ATL</a:t>
            </a:r>
            <a:endParaRPr lang="en-US" sz="1300" dirty="0"/>
          </a:p>
        </p:txBody>
      </p:sp>
      <p:sp>
        <p:nvSpPr>
          <p:cNvPr id="17" name="Text 11"/>
          <p:cNvSpPr txBox="1"/>
          <p:nvPr/>
        </p:nvSpPr>
        <p:spPr>
          <a:xfrm>
            <a:off x="3474720" y="2971800"/>
            <a:ext cx="2103120" cy="548640"/>
          </a:xfrm>
          <a:prstGeom prst="rect">
            <a:avLst/>
          </a:prstGeom>
          <a:noFill/>
          <a:ln/>
        </p:spPr>
        <p:txBody>
          <a:bodyPr wrap="square" lIns="0" tIns="0" rIns="0" bIns="0" rtlCol="0" anchor="t"/>
          <a:lstStyle/>
          <a:p>
            <a:pPr algn="ctr" indent="0" marL="0">
              <a:buNone/>
            </a:pPr>
            <a:r>
              <a:rPr lang="en-US" sz="1200" dirty="0">
                <a:solidFill>
                  <a:srgbClr val="6B5A62"/>
                </a:solidFill>
                <a:latin typeface="Calibri" pitchFamily="34" charset="0"/>
                <a:ea typeface="Calibri" pitchFamily="34" charset="-122"/>
                <a:cs typeface="Calibri" pitchFamily="34" charset="-120"/>
              </a:rPr>
              <a:t>Checks the file and replies to the mail</a:t>
            </a:r>
            <a:endParaRPr lang="en-US" sz="1200" dirty="0"/>
          </a:p>
        </p:txBody>
      </p:sp>
      <p:pic>
        <p:nvPicPr>
          <p:cNvPr id="18" name="Image 4" descr="preencoded.png">    </p:cNvPr>
          <p:cNvPicPr>
            <a:picLocks noChangeAspect="1"/>
          </p:cNvPicPr>
          <p:nvPr/>
        </p:nvPicPr>
        <p:blipFill>
          <a:blip r:embed="rId5"/>
          <a:stretch>
            <a:fillRect/>
          </a:stretch>
        </p:blipFill>
        <p:spPr>
          <a:xfrm>
            <a:off x="5833872" y="2377440"/>
            <a:ext cx="219456" cy="219456"/>
          </a:xfrm>
          <a:prstGeom prst="rect">
            <a:avLst/>
          </a:prstGeom>
        </p:spPr>
      </p:pic>
      <p:sp>
        <p:nvSpPr>
          <p:cNvPr id="19" name="Shape 12"/>
          <p:cNvSpPr/>
          <p:nvPr/>
        </p:nvSpPr>
        <p:spPr>
          <a:xfrm>
            <a:off x="6126480" y="1417320"/>
            <a:ext cx="2468880" cy="2194560"/>
          </a:xfrm>
          <a:prstGeom prst="roundRect">
            <a:avLst>
              <a:gd name="adj" fmla="val 5000"/>
            </a:avLst>
          </a:prstGeom>
          <a:solidFill>
            <a:srgbClr val="FBEFF3"/>
          </a:solidFill>
          <a:ln w="9525">
            <a:solidFill>
              <a:srgbClr val="EBD3DC"/>
            </a:solidFill>
            <a:prstDash val="solid"/>
          </a:ln>
          <a:effectLst>
            <a:outerShdw sx="100000" sy="100000" kx="0" ky="0" algn="bl" rotWithShape="0" blurRad="76200" dist="25400" dir="5400000">
              <a:srgbClr val="000000">
                <a:alpha val="12000"/>
              </a:srgbClr>
            </a:outerShdw>
          </a:effectLst>
        </p:spPr>
      </p:sp>
      <p:sp>
        <p:nvSpPr>
          <p:cNvPr id="20" name="Shape 13"/>
          <p:cNvSpPr/>
          <p:nvPr/>
        </p:nvSpPr>
        <p:spPr>
          <a:xfrm>
            <a:off x="6995160" y="1645920"/>
            <a:ext cx="731520" cy="731520"/>
          </a:xfrm>
          <a:prstGeom prst="ellipse">
            <a:avLst/>
          </a:prstGeom>
          <a:solidFill>
            <a:srgbClr val="EDE72D"/>
          </a:solidFill>
          <a:ln w="12700">
            <a:solidFill>
              <a:srgbClr val="EDE72D"/>
            </a:solidFill>
            <a:prstDash val="solid"/>
          </a:ln>
        </p:spPr>
      </p:sp>
      <p:pic>
        <p:nvPicPr>
          <p:cNvPr id="21" name="Image 5" descr="preencoded.png">    </p:cNvPr>
          <p:cNvPicPr>
            <a:picLocks noChangeAspect="1"/>
          </p:cNvPicPr>
          <p:nvPr/>
        </p:nvPicPr>
        <p:blipFill>
          <a:blip r:embed="rId6"/>
          <a:stretch>
            <a:fillRect/>
          </a:stretch>
        </p:blipFill>
        <p:spPr>
          <a:xfrm>
            <a:off x="7178040" y="1828800"/>
            <a:ext cx="365760" cy="365760"/>
          </a:xfrm>
          <a:prstGeom prst="rect">
            <a:avLst/>
          </a:prstGeom>
        </p:spPr>
      </p:pic>
      <p:sp>
        <p:nvSpPr>
          <p:cNvPr id="22" name="Text 14"/>
          <p:cNvSpPr txBox="1"/>
          <p:nvPr/>
        </p:nvSpPr>
        <p:spPr>
          <a:xfrm>
            <a:off x="6217920" y="2468880"/>
            <a:ext cx="2286000" cy="457200"/>
          </a:xfrm>
          <a:prstGeom prst="rect">
            <a:avLst/>
          </a:prstGeom>
          <a:noFill/>
          <a:ln/>
        </p:spPr>
        <p:txBody>
          <a:bodyPr wrap="square" lIns="0" tIns="0" rIns="0" bIns="0" rtlCol="0" anchor="ctr"/>
          <a:lstStyle/>
          <a:p>
            <a:pPr algn="ctr" indent="0" marL="0">
              <a:buNone/>
            </a:pPr>
            <a:r>
              <a:rPr lang="en-US" sz="1300" b="1" dirty="0">
                <a:solidFill>
                  <a:srgbClr val="2B1A22"/>
                </a:solidFill>
                <a:latin typeface="Arial" pitchFamily="34" charset="0"/>
                <a:ea typeface="Arial" pitchFamily="34" charset="-122"/>
                <a:cs typeface="Arial" pitchFamily="34" charset="-120"/>
              </a:rPr>
              <a:t>Documentation Executive</a:t>
            </a:r>
            <a:endParaRPr lang="en-US" sz="1300" dirty="0"/>
          </a:p>
        </p:txBody>
      </p:sp>
      <p:sp>
        <p:nvSpPr>
          <p:cNvPr id="23" name="Text 15"/>
          <p:cNvSpPr txBox="1"/>
          <p:nvPr/>
        </p:nvSpPr>
        <p:spPr>
          <a:xfrm>
            <a:off x="6309360" y="2971800"/>
            <a:ext cx="2103120" cy="548640"/>
          </a:xfrm>
          <a:prstGeom prst="rect">
            <a:avLst/>
          </a:prstGeom>
          <a:noFill/>
          <a:ln/>
        </p:spPr>
        <p:txBody>
          <a:bodyPr wrap="square" lIns="0" tIns="0" rIns="0" bIns="0" rtlCol="0" anchor="t"/>
          <a:lstStyle/>
          <a:p>
            <a:pPr algn="ctr" indent="0" marL="0">
              <a:buNone/>
            </a:pPr>
            <a:r>
              <a:rPr lang="en-US" sz="1200" dirty="0">
                <a:solidFill>
                  <a:srgbClr val="6B5A62"/>
                </a:solidFill>
                <a:latin typeface="Calibri" pitchFamily="34" charset="0"/>
                <a:ea typeface="Calibri" pitchFamily="34" charset="-122"/>
                <a:cs typeface="Calibri" pitchFamily="34" charset="-120"/>
              </a:rPr>
              <a:t>Added in CC and now owns the application</a:t>
            </a:r>
            <a:endParaRPr lang="en-US" sz="1200" dirty="0"/>
          </a:p>
        </p:txBody>
      </p:sp>
      <p:sp>
        <p:nvSpPr>
          <p:cNvPr id="24" name="Shape 16"/>
          <p:cNvSpPr/>
          <p:nvPr/>
        </p:nvSpPr>
        <p:spPr>
          <a:xfrm>
            <a:off x="457200" y="3931920"/>
            <a:ext cx="8229600" cy="731520"/>
          </a:xfrm>
          <a:prstGeom prst="roundRect">
            <a:avLst>
              <a:gd name="adj" fmla="val 15000"/>
            </a:avLst>
          </a:prstGeom>
          <a:solidFill>
            <a:srgbClr val="FFFBD6"/>
          </a:solidFill>
          <a:ln w="9525">
            <a:solidFill>
              <a:srgbClr val="EBD3DC"/>
            </a:solidFill>
            <a:prstDash val="solid"/>
          </a:ln>
          <a:effectLst>
            <a:outerShdw sx="100000" sy="100000" kx="0" ky="0" algn="bl" rotWithShape="0" blurRad="76200" dist="25400" dir="5400000">
              <a:srgbClr val="000000">
                <a:alpha val="12000"/>
              </a:srgbClr>
            </a:outerShdw>
          </a:effectLst>
        </p:spPr>
      </p:sp>
      <p:sp>
        <p:nvSpPr>
          <p:cNvPr id="25" name="Shape 17"/>
          <p:cNvSpPr/>
          <p:nvPr/>
        </p:nvSpPr>
        <p:spPr>
          <a:xfrm>
            <a:off x="640080" y="4050792"/>
            <a:ext cx="493776" cy="493776"/>
          </a:xfrm>
          <a:prstGeom prst="ellipse">
            <a:avLst/>
          </a:prstGeom>
          <a:solidFill>
            <a:srgbClr val="EDE72D"/>
          </a:solidFill>
          <a:ln w="12700">
            <a:solidFill>
              <a:srgbClr val="EDE72D"/>
            </a:solidFill>
            <a:prstDash val="solid"/>
          </a:ln>
        </p:spPr>
      </p:sp>
      <p:pic>
        <p:nvPicPr>
          <p:cNvPr id="26" name="Image 6" descr="preencoded.png">    </p:cNvPr>
          <p:cNvPicPr>
            <a:picLocks noChangeAspect="1"/>
          </p:cNvPicPr>
          <p:nvPr/>
        </p:nvPicPr>
        <p:blipFill>
          <a:blip r:embed="rId7"/>
          <a:stretch>
            <a:fillRect/>
          </a:stretch>
        </p:blipFill>
        <p:spPr>
          <a:xfrm>
            <a:off x="763524" y="4174236"/>
            <a:ext cx="246888" cy="246888"/>
          </a:xfrm>
          <a:prstGeom prst="rect">
            <a:avLst/>
          </a:prstGeom>
        </p:spPr>
      </p:pic>
      <p:sp>
        <p:nvSpPr>
          <p:cNvPr id="27" name="Text 18"/>
          <p:cNvSpPr txBox="1"/>
          <p:nvPr/>
        </p:nvSpPr>
        <p:spPr>
          <a:xfrm>
            <a:off x="1325880" y="3931920"/>
            <a:ext cx="7223760" cy="731520"/>
          </a:xfrm>
          <a:prstGeom prst="rect">
            <a:avLst/>
          </a:prstGeom>
          <a:noFill/>
          <a:ln/>
        </p:spPr>
        <p:txBody>
          <a:bodyPr wrap="square" lIns="0" tIns="0" rIns="0" bIns="0" rtlCol="0" anchor="ctr"/>
          <a:lstStyle/>
          <a:p>
            <a:pPr indent="0" marL="0">
              <a:buNone/>
            </a:pPr>
            <a:r>
              <a:rPr lang="en-US" sz="1300" dirty="0">
                <a:solidFill>
                  <a:srgbClr val="2B1A22"/>
                </a:solidFill>
                <a:latin typeface="Calibri" pitchFamily="34" charset="0"/>
                <a:ea typeface="Calibri" pitchFamily="34" charset="-122"/>
                <a:cs typeface="Calibri" pitchFamily="34" charset="-120"/>
              </a:rPr>
              <a:t>Once the reply mail arrives with the Documentation Executive in CC, the counsellor stays involved but the Documentation Executive leads the application.</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566928"/>
          </a:xfrm>
          <a:prstGeom prst="ellipse">
            <a:avLst/>
          </a:prstGeom>
          <a:solidFill>
            <a:srgbClr val="C01F53"/>
          </a:solidFill>
          <a:ln w="12700">
            <a:solidFill>
              <a:srgbClr val="C01F53"/>
            </a:solidFill>
            <a:prstDash val="solid"/>
          </a:ln>
        </p:spPr>
      </p:sp>
      <p:sp>
        <p:nvSpPr>
          <p:cNvPr id="3" name="Text 1"/>
          <p:cNvSpPr txBox="1"/>
          <p:nvPr/>
        </p:nvSpPr>
        <p:spPr>
          <a:xfrm>
            <a:off x="457200" y="34747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4" name="Text 2"/>
          <p:cNvSpPr txBox="1"/>
          <p:nvPr/>
        </p:nvSpPr>
        <p:spPr>
          <a:xfrm>
            <a:off x="1170432" y="274320"/>
            <a:ext cx="5779008" cy="457200"/>
          </a:xfrm>
          <a:prstGeom prst="rect">
            <a:avLst/>
          </a:prstGeom>
          <a:noFill/>
          <a:ln/>
        </p:spPr>
        <p:txBody>
          <a:bodyPr wrap="square" lIns="0" tIns="0" rIns="0" bIns="0" rtlCol="0" anchor="ctr"/>
          <a:lstStyle/>
          <a:p>
            <a:pPr indent="0" marL="0">
              <a:buNone/>
            </a:pPr>
            <a:r>
              <a:rPr lang="en-US" sz="2600" b="1" dirty="0">
                <a:solidFill>
                  <a:srgbClr val="2B1A22"/>
                </a:solidFill>
                <a:latin typeface="Arial" pitchFamily="34" charset="0"/>
                <a:ea typeface="Arial" pitchFamily="34" charset="-122"/>
                <a:cs typeface="Arial" pitchFamily="34" charset="-120"/>
              </a:rPr>
              <a:t>Create the Student WhatsApp Group</a:t>
            </a:r>
            <a:endParaRPr lang="en-US" sz="2600" dirty="0"/>
          </a:p>
        </p:txBody>
      </p:sp>
      <p:sp>
        <p:nvSpPr>
          <p:cNvPr id="5" name="Text 3"/>
          <p:cNvSpPr txBox="1"/>
          <p:nvPr/>
        </p:nvSpPr>
        <p:spPr>
          <a:xfrm>
            <a:off x="1170432" y="713232"/>
            <a:ext cx="5961888" cy="274320"/>
          </a:xfrm>
          <a:prstGeom prst="rect">
            <a:avLst/>
          </a:prstGeom>
          <a:noFill/>
          <a:ln/>
        </p:spPr>
        <p:txBody>
          <a:bodyPr wrap="square" lIns="0" tIns="0" rIns="0" bIns="0" rtlCol="0" anchor="ctr"/>
          <a:lstStyle/>
          <a:p>
            <a:pPr indent="0" marL="0">
              <a:buNone/>
            </a:pPr>
            <a:r>
              <a:rPr lang="en-US" sz="1300" i="1" dirty="0">
                <a:solidFill>
                  <a:srgbClr val="C01F53"/>
                </a:solidFill>
                <a:latin typeface="Calibri" pitchFamily="34" charset="0"/>
                <a:ea typeface="Calibri" pitchFamily="34" charset="-122"/>
                <a:cs typeface="Calibri" pitchFamily="34" charset="-120"/>
              </a:rPr>
              <a:t>One group per student: everyone sees the same updates</a:t>
            </a:r>
            <a:endParaRPr lang="en-US" sz="1300" dirty="0"/>
          </a:p>
        </p:txBody>
      </p:sp>
      <p:pic>
        <p:nvPicPr>
          <p:cNvPr id="6" name="Image 0" descr="preencoded.png">    </p:cNvPr>
          <p:cNvPicPr>
            <a:picLocks noChangeAspect="1"/>
          </p:cNvPicPr>
          <p:nvPr/>
        </p:nvPicPr>
        <p:blipFill>
          <a:blip r:embed="rId1"/>
          <a:stretch>
            <a:fillRect/>
          </a:stretch>
        </p:blipFill>
        <p:spPr>
          <a:xfrm>
            <a:off x="8183880" y="274320"/>
            <a:ext cx="548640" cy="548640"/>
          </a:xfrm>
          <a:prstGeom prst="rect">
            <a:avLst/>
          </a:prstGeom>
        </p:spPr>
      </p:pic>
      <p:sp>
        <p:nvSpPr>
          <p:cNvPr id="7" name="Shape 4"/>
          <p:cNvSpPr/>
          <p:nvPr/>
        </p:nvSpPr>
        <p:spPr>
          <a:xfrm>
            <a:off x="1600200" y="2103120"/>
            <a:ext cx="1371600" cy="1371600"/>
          </a:xfrm>
          <a:prstGeom prst="ellipse">
            <a:avLst/>
          </a:prstGeom>
          <a:solidFill>
            <a:srgbClr val="25D366"/>
          </a:solidFill>
          <a:ln w="12700">
            <a:solidFill>
              <a:srgbClr val="25D366"/>
            </a:solidFill>
            <a:prstDash val="solid"/>
          </a:ln>
        </p:spPr>
      </p:sp>
      <p:pic>
        <p:nvPicPr>
          <p:cNvPr id="8" name="Image 1" descr="preencoded.png">    </p:cNvPr>
          <p:cNvPicPr>
            <a:picLocks noChangeAspect="1"/>
          </p:cNvPicPr>
          <p:nvPr/>
        </p:nvPicPr>
        <p:blipFill>
          <a:blip r:embed="rId2"/>
          <a:stretch>
            <a:fillRect/>
          </a:stretch>
        </p:blipFill>
        <p:spPr>
          <a:xfrm>
            <a:off x="1965960" y="2468880"/>
            <a:ext cx="640080" cy="640080"/>
          </a:xfrm>
          <a:prstGeom prst="rect">
            <a:avLst/>
          </a:prstGeom>
        </p:spPr>
      </p:pic>
      <p:sp>
        <p:nvSpPr>
          <p:cNvPr id="9" name="Shape 5"/>
          <p:cNvSpPr/>
          <p:nvPr/>
        </p:nvSpPr>
        <p:spPr>
          <a:xfrm>
            <a:off x="960120" y="1143000"/>
            <a:ext cx="457200" cy="457200"/>
          </a:xfrm>
          <a:prstGeom prst="ellipse">
            <a:avLst/>
          </a:prstGeom>
          <a:solidFill>
            <a:srgbClr val="C01F53"/>
          </a:solidFill>
          <a:ln w="12700">
            <a:solidFill>
              <a:srgbClr val="C01F53"/>
            </a:solidFill>
            <a:prstDash val="solid"/>
          </a:ln>
        </p:spPr>
      </p:sp>
      <p:pic>
        <p:nvPicPr>
          <p:cNvPr id="10" name="Image 2" descr="preencoded.png">    </p:cNvPr>
          <p:cNvPicPr>
            <a:picLocks noChangeAspect="1"/>
          </p:cNvPicPr>
          <p:nvPr/>
        </p:nvPicPr>
        <p:blipFill>
          <a:blip r:embed="rId3"/>
          <a:stretch>
            <a:fillRect/>
          </a:stretch>
        </p:blipFill>
        <p:spPr>
          <a:xfrm>
            <a:off x="1074420" y="1257300"/>
            <a:ext cx="228600" cy="228600"/>
          </a:xfrm>
          <a:prstGeom prst="rect">
            <a:avLst/>
          </a:prstGeom>
        </p:spPr>
      </p:pic>
      <p:sp>
        <p:nvSpPr>
          <p:cNvPr id="11" name="Text 6"/>
          <p:cNvSpPr txBox="1"/>
          <p:nvPr/>
        </p:nvSpPr>
        <p:spPr>
          <a:xfrm>
            <a:off x="274320" y="1627632"/>
            <a:ext cx="1920240" cy="274320"/>
          </a:xfrm>
          <a:prstGeom prst="rect">
            <a:avLst/>
          </a:prstGeom>
          <a:noFill/>
          <a:ln/>
        </p:spPr>
        <p:txBody>
          <a:bodyPr wrap="square" lIns="0" tIns="0" rIns="0" bIns="0" rtlCol="0" anchor="ctr"/>
          <a:lstStyle/>
          <a:p>
            <a:pPr algn="ctr" indent="0" marL="0">
              <a:buNone/>
            </a:pPr>
            <a:r>
              <a:rPr lang="en-US" sz="1100" b="1" dirty="0">
                <a:solidFill>
                  <a:srgbClr val="2B1A22"/>
                </a:solidFill>
                <a:latin typeface="Arial" pitchFamily="34" charset="0"/>
                <a:ea typeface="Arial" pitchFamily="34" charset="-122"/>
                <a:cs typeface="Arial" pitchFamily="34" charset="-120"/>
              </a:rPr>
              <a:t>Documentation Executive</a:t>
            </a:r>
            <a:endParaRPr lang="en-US" sz="1100" dirty="0"/>
          </a:p>
        </p:txBody>
      </p:sp>
      <p:sp>
        <p:nvSpPr>
          <p:cNvPr id="12" name="Shape 7"/>
          <p:cNvSpPr/>
          <p:nvPr/>
        </p:nvSpPr>
        <p:spPr>
          <a:xfrm>
            <a:off x="3246120" y="1143000"/>
            <a:ext cx="457200" cy="457200"/>
          </a:xfrm>
          <a:prstGeom prst="ellipse">
            <a:avLst/>
          </a:prstGeom>
          <a:solidFill>
            <a:srgbClr val="C01F53"/>
          </a:solidFill>
          <a:ln w="12700">
            <a:solidFill>
              <a:srgbClr val="C01F53"/>
            </a:solidFill>
            <a:prstDash val="solid"/>
          </a:ln>
        </p:spPr>
      </p:sp>
      <p:pic>
        <p:nvPicPr>
          <p:cNvPr id="13" name="Image 3" descr="preencoded.png">    </p:cNvPr>
          <p:cNvPicPr>
            <a:picLocks noChangeAspect="1"/>
          </p:cNvPicPr>
          <p:nvPr/>
        </p:nvPicPr>
        <p:blipFill>
          <a:blip r:embed="rId4"/>
          <a:stretch>
            <a:fillRect/>
          </a:stretch>
        </p:blipFill>
        <p:spPr>
          <a:xfrm>
            <a:off x="3360420" y="1257300"/>
            <a:ext cx="228600" cy="228600"/>
          </a:xfrm>
          <a:prstGeom prst="rect">
            <a:avLst/>
          </a:prstGeom>
        </p:spPr>
      </p:pic>
      <p:sp>
        <p:nvSpPr>
          <p:cNvPr id="14" name="Text 8"/>
          <p:cNvSpPr txBox="1"/>
          <p:nvPr/>
        </p:nvSpPr>
        <p:spPr>
          <a:xfrm>
            <a:off x="2560320" y="1627632"/>
            <a:ext cx="1920240" cy="274320"/>
          </a:xfrm>
          <a:prstGeom prst="rect">
            <a:avLst/>
          </a:prstGeom>
          <a:noFill/>
          <a:ln/>
        </p:spPr>
        <p:txBody>
          <a:bodyPr wrap="square" lIns="0" tIns="0" rIns="0" bIns="0" rtlCol="0" anchor="ctr"/>
          <a:lstStyle/>
          <a:p>
            <a:pPr algn="ctr" indent="0" marL="0">
              <a:buNone/>
            </a:pPr>
            <a:r>
              <a:rPr lang="en-US" sz="1100" b="1" dirty="0">
                <a:solidFill>
                  <a:srgbClr val="2B1A22"/>
                </a:solidFill>
                <a:latin typeface="Arial" pitchFamily="34" charset="0"/>
                <a:ea typeface="Arial" pitchFamily="34" charset="-122"/>
                <a:cs typeface="Arial" pitchFamily="34" charset="-120"/>
              </a:rPr>
              <a:t>Counsellor</a:t>
            </a:r>
            <a:endParaRPr lang="en-US" sz="1100" dirty="0"/>
          </a:p>
        </p:txBody>
      </p:sp>
      <p:sp>
        <p:nvSpPr>
          <p:cNvPr id="15" name="Shape 9"/>
          <p:cNvSpPr/>
          <p:nvPr/>
        </p:nvSpPr>
        <p:spPr>
          <a:xfrm>
            <a:off x="960120" y="3794760"/>
            <a:ext cx="457200" cy="457200"/>
          </a:xfrm>
          <a:prstGeom prst="ellipse">
            <a:avLst/>
          </a:prstGeom>
          <a:solidFill>
            <a:srgbClr val="C01F53"/>
          </a:solidFill>
          <a:ln w="12700">
            <a:solidFill>
              <a:srgbClr val="C01F53"/>
            </a:solidFill>
            <a:prstDash val="solid"/>
          </a:ln>
        </p:spPr>
      </p:sp>
      <p:pic>
        <p:nvPicPr>
          <p:cNvPr id="16" name="Image 4" descr="preencoded.png">    </p:cNvPr>
          <p:cNvPicPr>
            <a:picLocks noChangeAspect="1"/>
          </p:cNvPicPr>
          <p:nvPr/>
        </p:nvPicPr>
        <p:blipFill>
          <a:blip r:embed="rId5"/>
          <a:stretch>
            <a:fillRect/>
          </a:stretch>
        </p:blipFill>
        <p:spPr>
          <a:xfrm>
            <a:off x="1074420" y="3909060"/>
            <a:ext cx="228600" cy="228600"/>
          </a:xfrm>
          <a:prstGeom prst="rect">
            <a:avLst/>
          </a:prstGeom>
        </p:spPr>
      </p:pic>
      <p:sp>
        <p:nvSpPr>
          <p:cNvPr id="17" name="Text 10"/>
          <p:cNvSpPr txBox="1"/>
          <p:nvPr/>
        </p:nvSpPr>
        <p:spPr>
          <a:xfrm>
            <a:off x="274320" y="4279392"/>
            <a:ext cx="1920240" cy="274320"/>
          </a:xfrm>
          <a:prstGeom prst="rect">
            <a:avLst/>
          </a:prstGeom>
          <a:noFill/>
          <a:ln/>
        </p:spPr>
        <p:txBody>
          <a:bodyPr wrap="square" lIns="0" tIns="0" rIns="0" bIns="0" rtlCol="0" anchor="ctr"/>
          <a:lstStyle/>
          <a:p>
            <a:pPr algn="ctr" indent="0" marL="0">
              <a:buNone/>
            </a:pPr>
            <a:r>
              <a:rPr lang="en-US" sz="1100" b="1" dirty="0">
                <a:solidFill>
                  <a:srgbClr val="2B1A22"/>
                </a:solidFill>
                <a:latin typeface="Arial" pitchFamily="34" charset="0"/>
                <a:ea typeface="Arial" pitchFamily="34" charset="-122"/>
                <a:cs typeface="Arial" pitchFamily="34" charset="-120"/>
              </a:rPr>
              <a:t>Parents</a:t>
            </a:r>
            <a:endParaRPr lang="en-US" sz="1100" dirty="0"/>
          </a:p>
        </p:txBody>
      </p:sp>
      <p:sp>
        <p:nvSpPr>
          <p:cNvPr id="18" name="Shape 11"/>
          <p:cNvSpPr/>
          <p:nvPr/>
        </p:nvSpPr>
        <p:spPr>
          <a:xfrm>
            <a:off x="3246120" y="3794760"/>
            <a:ext cx="457200" cy="457200"/>
          </a:xfrm>
          <a:prstGeom prst="ellipse">
            <a:avLst/>
          </a:prstGeom>
          <a:solidFill>
            <a:srgbClr val="C01F53"/>
          </a:solidFill>
          <a:ln w="12700">
            <a:solidFill>
              <a:srgbClr val="C01F53"/>
            </a:solidFill>
            <a:prstDash val="solid"/>
          </a:ln>
        </p:spPr>
      </p:sp>
      <p:pic>
        <p:nvPicPr>
          <p:cNvPr id="19" name="Image 5" descr="preencoded.png">    </p:cNvPr>
          <p:cNvPicPr>
            <a:picLocks noChangeAspect="1"/>
          </p:cNvPicPr>
          <p:nvPr/>
        </p:nvPicPr>
        <p:blipFill>
          <a:blip r:embed="rId6"/>
          <a:stretch>
            <a:fillRect/>
          </a:stretch>
        </p:blipFill>
        <p:spPr>
          <a:xfrm>
            <a:off x="3360420" y="3909060"/>
            <a:ext cx="228600" cy="228600"/>
          </a:xfrm>
          <a:prstGeom prst="rect">
            <a:avLst/>
          </a:prstGeom>
        </p:spPr>
      </p:pic>
      <p:sp>
        <p:nvSpPr>
          <p:cNvPr id="20" name="Text 12"/>
          <p:cNvSpPr txBox="1"/>
          <p:nvPr/>
        </p:nvSpPr>
        <p:spPr>
          <a:xfrm>
            <a:off x="2560320" y="4279392"/>
            <a:ext cx="1920240" cy="274320"/>
          </a:xfrm>
          <a:prstGeom prst="rect">
            <a:avLst/>
          </a:prstGeom>
          <a:noFill/>
          <a:ln/>
        </p:spPr>
        <p:txBody>
          <a:bodyPr wrap="square" lIns="0" tIns="0" rIns="0" bIns="0" rtlCol="0" anchor="ctr"/>
          <a:lstStyle/>
          <a:p>
            <a:pPr algn="ctr" indent="0" marL="0">
              <a:buNone/>
            </a:pPr>
            <a:r>
              <a:rPr lang="en-US" sz="1100" b="1" dirty="0">
                <a:solidFill>
                  <a:srgbClr val="2B1A22"/>
                </a:solidFill>
                <a:latin typeface="Arial" pitchFamily="34" charset="0"/>
                <a:ea typeface="Arial" pitchFamily="34" charset="-122"/>
                <a:cs typeface="Arial" pitchFamily="34" charset="-120"/>
              </a:rPr>
              <a:t>Student</a:t>
            </a:r>
            <a:endParaRPr lang="en-US" sz="1100" dirty="0"/>
          </a:p>
        </p:txBody>
      </p:sp>
      <p:sp>
        <p:nvSpPr>
          <p:cNvPr id="21" name="Text 13"/>
          <p:cNvSpPr txBox="1"/>
          <p:nvPr/>
        </p:nvSpPr>
        <p:spPr>
          <a:xfrm>
            <a:off x="4754880" y="1234440"/>
            <a:ext cx="3931920" cy="365760"/>
          </a:xfrm>
          <a:prstGeom prst="rect">
            <a:avLst/>
          </a:prstGeom>
          <a:noFill/>
          <a:ln/>
        </p:spPr>
        <p:txBody>
          <a:bodyPr wrap="square" lIns="0" tIns="0" rIns="0" bIns="0" rtlCol="0" anchor="ctr"/>
          <a:lstStyle/>
          <a:p>
            <a:pPr indent="0" marL="0">
              <a:buNone/>
            </a:pPr>
            <a:r>
              <a:rPr lang="en-US" sz="1800" b="1" dirty="0">
                <a:solidFill>
                  <a:srgbClr val="2B1A22"/>
                </a:solidFill>
                <a:latin typeface="Arial" pitchFamily="34" charset="0"/>
                <a:ea typeface="Arial" pitchFamily="34" charset="-122"/>
                <a:cs typeface="Arial" pitchFamily="34" charset="-120"/>
              </a:rPr>
              <a:t>Use the group to share</a:t>
            </a:r>
            <a:endParaRPr lang="en-US" sz="1800" dirty="0"/>
          </a:p>
        </p:txBody>
      </p:sp>
      <p:sp>
        <p:nvSpPr>
          <p:cNvPr id="22" name="Text 14"/>
          <p:cNvSpPr txBox="1"/>
          <p:nvPr/>
        </p:nvSpPr>
        <p:spPr>
          <a:xfrm>
            <a:off x="4754880" y="1691640"/>
            <a:ext cx="3931920" cy="292608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2B1A22"/>
                </a:solidFill>
                <a:latin typeface="Calibri" pitchFamily="34" charset="0"/>
                <a:ea typeface="Calibri" pitchFamily="34" charset="-122"/>
                <a:cs typeface="Calibri" pitchFamily="34" charset="-120"/>
              </a:rPr>
              <a:t>Application status and university responses</a:t>
            </a:r>
            <a:endParaRPr lang="en-US" sz="1400" dirty="0"/>
          </a:p>
          <a:p>
            <a:pPr marL="342900" indent="-342900">
              <a:spcAft>
                <a:spcPts val="1000"/>
              </a:spcAft>
              <a:buSzPct val="100000"/>
              <a:buChar char="•"/>
            </a:pPr>
            <a:r>
              <a:rPr lang="en-US" sz="1400" dirty="0">
                <a:solidFill>
                  <a:srgbClr val="2B1A22"/>
                </a:solidFill>
                <a:latin typeface="Calibri" pitchFamily="34" charset="0"/>
                <a:ea typeface="Calibri" pitchFamily="34" charset="-122"/>
                <a:cs typeface="Calibri" pitchFamily="34" charset="-120"/>
              </a:rPr>
              <a:t>Payment reminders and confirmations</a:t>
            </a:r>
            <a:endParaRPr lang="en-US" sz="1400" dirty="0"/>
          </a:p>
          <a:p>
            <a:pPr marL="342900" indent="-342900">
              <a:spcAft>
                <a:spcPts val="1000"/>
              </a:spcAft>
              <a:buSzPct val="100000"/>
              <a:buChar char="•"/>
            </a:pPr>
            <a:r>
              <a:rPr lang="en-US" sz="1400" dirty="0">
                <a:solidFill>
                  <a:srgbClr val="2B1A22"/>
                </a:solidFill>
                <a:latin typeface="Calibri" pitchFamily="34" charset="0"/>
                <a:ea typeface="Calibri" pitchFamily="34" charset="-122"/>
                <a:cs typeface="Calibri" pitchFamily="34" charset="-120"/>
              </a:rPr>
              <a:t>Visa appointments and document requests</a:t>
            </a:r>
            <a:endParaRPr lang="en-US" sz="1400" dirty="0"/>
          </a:p>
          <a:p>
            <a:pPr marL="342900" indent="-342900">
              <a:spcAft>
                <a:spcPts val="1000"/>
              </a:spcAft>
              <a:buSzPct val="100000"/>
              <a:buChar char="•"/>
            </a:pPr>
            <a:r>
              <a:rPr lang="en-US" sz="1400" dirty="0">
                <a:solidFill>
                  <a:srgbClr val="2B1A22"/>
                </a:solidFill>
                <a:latin typeface="Calibri" pitchFamily="34" charset="0"/>
                <a:ea typeface="Calibri" pitchFamily="34" charset="-122"/>
                <a:cs typeface="Calibri" pitchFamily="34" charset="-120"/>
              </a:rPr>
              <a:t>Travel dates, tickets and arrival plans</a:t>
            </a:r>
            <a:endParaRPr lang="en-US" sz="1400" dirty="0"/>
          </a:p>
          <a:p>
            <a:pPr marL="342900" indent="-342900">
              <a:spcAft>
                <a:spcPts val="1000"/>
              </a:spcAft>
              <a:buSzPct val="100000"/>
              <a:buChar char="•"/>
            </a:pPr>
            <a:r>
              <a:rPr lang="en-US" sz="1400" dirty="0">
                <a:solidFill>
                  <a:srgbClr val="2B1A22"/>
                </a:solidFill>
                <a:latin typeface="Calibri" pitchFamily="34" charset="0"/>
                <a:ea typeface="Calibri" pitchFamily="34" charset="-122"/>
                <a:cs typeface="Calibri" pitchFamily="34" charset="-120"/>
              </a:rPr>
              <a:t>Name format: Student Name – Country – Medcity</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566928"/>
          </a:xfrm>
          <a:prstGeom prst="ellipse">
            <a:avLst/>
          </a:prstGeom>
          <a:solidFill>
            <a:srgbClr val="C01F53"/>
          </a:solidFill>
          <a:ln w="12700">
            <a:solidFill>
              <a:srgbClr val="C01F53"/>
            </a:solidFill>
            <a:prstDash val="solid"/>
          </a:ln>
        </p:spPr>
      </p:sp>
      <p:sp>
        <p:nvSpPr>
          <p:cNvPr id="3" name="Text 1"/>
          <p:cNvSpPr txBox="1"/>
          <p:nvPr/>
        </p:nvSpPr>
        <p:spPr>
          <a:xfrm>
            <a:off x="457200" y="34747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5</a:t>
            </a:r>
            <a:endParaRPr lang="en-US" sz="2000" dirty="0"/>
          </a:p>
        </p:txBody>
      </p:sp>
      <p:sp>
        <p:nvSpPr>
          <p:cNvPr id="4" name="Text 2"/>
          <p:cNvSpPr txBox="1"/>
          <p:nvPr/>
        </p:nvSpPr>
        <p:spPr>
          <a:xfrm>
            <a:off x="1170432" y="274320"/>
            <a:ext cx="5779008" cy="457200"/>
          </a:xfrm>
          <a:prstGeom prst="rect">
            <a:avLst/>
          </a:prstGeom>
          <a:noFill/>
          <a:ln/>
        </p:spPr>
        <p:txBody>
          <a:bodyPr wrap="square" lIns="0" tIns="0" rIns="0" bIns="0" rtlCol="0" anchor="ctr"/>
          <a:lstStyle/>
          <a:p>
            <a:pPr indent="0" marL="0">
              <a:buNone/>
            </a:pPr>
            <a:r>
              <a:rPr lang="en-US" sz="2600" b="1" dirty="0">
                <a:solidFill>
                  <a:srgbClr val="2B1A22"/>
                </a:solidFill>
                <a:latin typeface="Arial" pitchFamily="34" charset="0"/>
                <a:ea typeface="Arial" pitchFamily="34" charset="-122"/>
                <a:cs typeface="Arial" pitchFamily="34" charset="-120"/>
              </a:rPr>
              <a:t>Application to the University</a:t>
            </a:r>
            <a:endParaRPr lang="en-US" sz="2600" dirty="0"/>
          </a:p>
        </p:txBody>
      </p:sp>
      <p:sp>
        <p:nvSpPr>
          <p:cNvPr id="5" name="Text 3"/>
          <p:cNvSpPr txBox="1"/>
          <p:nvPr/>
        </p:nvSpPr>
        <p:spPr>
          <a:xfrm>
            <a:off x="1170432" y="713232"/>
            <a:ext cx="5961888" cy="274320"/>
          </a:xfrm>
          <a:prstGeom prst="rect">
            <a:avLst/>
          </a:prstGeom>
          <a:noFill/>
          <a:ln/>
        </p:spPr>
        <p:txBody>
          <a:bodyPr wrap="square" lIns="0" tIns="0" rIns="0" bIns="0" rtlCol="0" anchor="ctr"/>
          <a:lstStyle/>
          <a:p>
            <a:pPr indent="0" marL="0">
              <a:buNone/>
            </a:pPr>
            <a:r>
              <a:rPr lang="en-US" sz="1300" i="1" dirty="0">
                <a:solidFill>
                  <a:srgbClr val="C01F53"/>
                </a:solidFill>
                <a:latin typeface="Calibri" pitchFamily="34" charset="0"/>
                <a:ea typeface="Calibri" pitchFamily="34" charset="-122"/>
                <a:cs typeface="Calibri" pitchFamily="34" charset="-120"/>
              </a:rPr>
              <a:t>Only after payment is confirmed and the file is complete</a:t>
            </a:r>
            <a:endParaRPr lang="en-US" sz="1300" dirty="0"/>
          </a:p>
        </p:txBody>
      </p:sp>
      <p:pic>
        <p:nvPicPr>
          <p:cNvPr id="6" name="Image 0" descr="preencoded.png">    </p:cNvPr>
          <p:cNvPicPr>
            <a:picLocks noChangeAspect="1"/>
          </p:cNvPicPr>
          <p:nvPr/>
        </p:nvPicPr>
        <p:blipFill>
          <a:blip r:embed="rId1"/>
          <a:stretch>
            <a:fillRect/>
          </a:stretch>
        </p:blipFill>
        <p:spPr>
          <a:xfrm>
            <a:off x="8183880" y="274320"/>
            <a:ext cx="548640" cy="548640"/>
          </a:xfrm>
          <a:prstGeom prst="rect">
            <a:avLst/>
          </a:prstGeom>
        </p:spPr>
      </p:pic>
      <p:sp>
        <p:nvSpPr>
          <p:cNvPr id="7" name="Shape 4"/>
          <p:cNvSpPr/>
          <p:nvPr/>
        </p:nvSpPr>
        <p:spPr>
          <a:xfrm>
            <a:off x="457200" y="1325880"/>
            <a:ext cx="502920" cy="502920"/>
          </a:xfrm>
          <a:prstGeom prst="ellipse">
            <a:avLst/>
          </a:prstGeom>
          <a:solidFill>
            <a:srgbClr val="FBEFF3"/>
          </a:solidFill>
          <a:ln w="12700">
            <a:solidFill>
              <a:srgbClr val="C01F53"/>
            </a:solidFill>
            <a:prstDash val="solid"/>
          </a:ln>
        </p:spPr>
      </p:sp>
      <p:sp>
        <p:nvSpPr>
          <p:cNvPr id="8" name="Text 5"/>
          <p:cNvSpPr txBox="1"/>
          <p:nvPr/>
        </p:nvSpPr>
        <p:spPr>
          <a:xfrm>
            <a:off x="457200" y="1325880"/>
            <a:ext cx="502920" cy="502920"/>
          </a:xfrm>
          <a:prstGeom prst="rect">
            <a:avLst/>
          </a:prstGeom>
          <a:noFill/>
          <a:ln/>
        </p:spPr>
        <p:txBody>
          <a:bodyPr wrap="square" lIns="0" tIns="0" rIns="0" bIns="0" rtlCol="0" anchor="ctr"/>
          <a:lstStyle/>
          <a:p>
            <a:pPr algn="ctr" indent="0" marL="0">
              <a:buNone/>
            </a:pPr>
            <a:r>
              <a:rPr lang="en-US" sz="1600" b="1" dirty="0">
                <a:solidFill>
                  <a:srgbClr val="C01F53"/>
                </a:solidFill>
                <a:latin typeface="Arial" pitchFamily="34" charset="0"/>
                <a:ea typeface="Arial" pitchFamily="34" charset="-122"/>
                <a:cs typeface="Arial" pitchFamily="34" charset="-120"/>
              </a:rPr>
              <a:t>1</a:t>
            </a:r>
            <a:endParaRPr lang="en-US" sz="1600" dirty="0"/>
          </a:p>
        </p:txBody>
      </p:sp>
      <p:sp>
        <p:nvSpPr>
          <p:cNvPr id="9" name="Shape 6"/>
          <p:cNvSpPr/>
          <p:nvPr/>
        </p:nvSpPr>
        <p:spPr>
          <a:xfrm>
            <a:off x="708660" y="1828800"/>
            <a:ext cx="0" cy="347472"/>
          </a:xfrm>
          <a:prstGeom prst="line">
            <a:avLst/>
          </a:prstGeom>
          <a:noFill/>
          <a:ln w="19050">
            <a:solidFill>
              <a:srgbClr val="E7B3C4"/>
            </a:solidFill>
            <a:prstDash val="solid"/>
          </a:ln>
        </p:spPr>
      </p:sp>
      <p:sp>
        <p:nvSpPr>
          <p:cNvPr id="10" name="Text 7"/>
          <p:cNvSpPr txBox="1"/>
          <p:nvPr/>
        </p:nvSpPr>
        <p:spPr>
          <a:xfrm>
            <a:off x="1143000" y="1280160"/>
            <a:ext cx="3840480" cy="320040"/>
          </a:xfrm>
          <a:prstGeom prst="rect">
            <a:avLst/>
          </a:prstGeom>
          <a:noFill/>
          <a:ln/>
        </p:spPr>
        <p:txBody>
          <a:bodyPr wrap="square" lIns="0" tIns="0" rIns="0" bIns="0" rtlCol="0" anchor="ctr"/>
          <a:lstStyle/>
          <a:p>
            <a:pPr indent="0" marL="0">
              <a:buNone/>
            </a:pPr>
            <a:r>
              <a:rPr lang="en-US" sz="1500" b="1" dirty="0">
                <a:solidFill>
                  <a:srgbClr val="2B1A22"/>
                </a:solidFill>
                <a:latin typeface="Arial" pitchFamily="34" charset="0"/>
                <a:ea typeface="Arial" pitchFamily="34" charset="-122"/>
                <a:cs typeface="Arial" pitchFamily="34" charset="-120"/>
              </a:rPr>
              <a:t>Confirm payment</a:t>
            </a:r>
            <a:endParaRPr lang="en-US" sz="1500" dirty="0"/>
          </a:p>
        </p:txBody>
      </p:sp>
      <p:sp>
        <p:nvSpPr>
          <p:cNvPr id="11" name="Text 8"/>
          <p:cNvSpPr txBox="1"/>
          <p:nvPr/>
        </p:nvSpPr>
        <p:spPr>
          <a:xfrm>
            <a:off x="1143000" y="1600200"/>
            <a:ext cx="3840480" cy="274320"/>
          </a:xfrm>
          <a:prstGeom prst="rect">
            <a:avLst/>
          </a:prstGeom>
          <a:noFill/>
          <a:ln/>
        </p:spPr>
        <p:txBody>
          <a:bodyPr wrap="square" lIns="0" tIns="0" rIns="0" bIns="0" rtlCol="0" anchor="ctr"/>
          <a:lstStyle/>
          <a:p>
            <a:pPr indent="0" marL="0">
              <a:buNone/>
            </a:pPr>
            <a:r>
              <a:rPr lang="en-US" sz="1200" dirty="0">
                <a:solidFill>
                  <a:srgbClr val="6B5A62"/>
                </a:solidFill>
                <a:latin typeface="Calibri" pitchFamily="34" charset="0"/>
                <a:ea typeface="Calibri" pitchFamily="34" charset="-122"/>
                <a:cs typeface="Calibri" pitchFamily="34" charset="-120"/>
              </a:rPr>
              <a:t>Registration / application fee received</a:t>
            </a:r>
            <a:endParaRPr lang="en-US" sz="1200" dirty="0"/>
          </a:p>
        </p:txBody>
      </p:sp>
      <p:sp>
        <p:nvSpPr>
          <p:cNvPr id="12" name="Shape 9"/>
          <p:cNvSpPr/>
          <p:nvPr/>
        </p:nvSpPr>
        <p:spPr>
          <a:xfrm>
            <a:off x="457200" y="2176272"/>
            <a:ext cx="502920" cy="502920"/>
          </a:xfrm>
          <a:prstGeom prst="ellipse">
            <a:avLst/>
          </a:prstGeom>
          <a:solidFill>
            <a:srgbClr val="FBEFF3"/>
          </a:solidFill>
          <a:ln w="12700">
            <a:solidFill>
              <a:srgbClr val="C01F53"/>
            </a:solidFill>
            <a:prstDash val="solid"/>
          </a:ln>
        </p:spPr>
      </p:sp>
      <p:sp>
        <p:nvSpPr>
          <p:cNvPr id="13" name="Text 10"/>
          <p:cNvSpPr txBox="1"/>
          <p:nvPr/>
        </p:nvSpPr>
        <p:spPr>
          <a:xfrm>
            <a:off x="457200" y="2176272"/>
            <a:ext cx="502920" cy="502920"/>
          </a:xfrm>
          <a:prstGeom prst="rect">
            <a:avLst/>
          </a:prstGeom>
          <a:noFill/>
          <a:ln/>
        </p:spPr>
        <p:txBody>
          <a:bodyPr wrap="square" lIns="0" tIns="0" rIns="0" bIns="0" rtlCol="0" anchor="ctr"/>
          <a:lstStyle/>
          <a:p>
            <a:pPr algn="ctr" indent="0" marL="0">
              <a:buNone/>
            </a:pPr>
            <a:r>
              <a:rPr lang="en-US" sz="1600" b="1" dirty="0">
                <a:solidFill>
                  <a:srgbClr val="C01F53"/>
                </a:solidFill>
                <a:latin typeface="Arial" pitchFamily="34" charset="0"/>
                <a:ea typeface="Arial" pitchFamily="34" charset="-122"/>
                <a:cs typeface="Arial" pitchFamily="34" charset="-120"/>
              </a:rPr>
              <a:t>2</a:t>
            </a:r>
            <a:endParaRPr lang="en-US" sz="1600" dirty="0"/>
          </a:p>
        </p:txBody>
      </p:sp>
      <p:sp>
        <p:nvSpPr>
          <p:cNvPr id="14" name="Shape 11"/>
          <p:cNvSpPr/>
          <p:nvPr/>
        </p:nvSpPr>
        <p:spPr>
          <a:xfrm>
            <a:off x="708660" y="2679192"/>
            <a:ext cx="0" cy="347472"/>
          </a:xfrm>
          <a:prstGeom prst="line">
            <a:avLst/>
          </a:prstGeom>
          <a:noFill/>
          <a:ln w="19050">
            <a:solidFill>
              <a:srgbClr val="E7B3C4"/>
            </a:solidFill>
            <a:prstDash val="solid"/>
          </a:ln>
        </p:spPr>
      </p:sp>
      <p:sp>
        <p:nvSpPr>
          <p:cNvPr id="15" name="Text 12"/>
          <p:cNvSpPr txBox="1"/>
          <p:nvPr/>
        </p:nvSpPr>
        <p:spPr>
          <a:xfrm>
            <a:off x="1143000" y="2130552"/>
            <a:ext cx="3840480" cy="320040"/>
          </a:xfrm>
          <a:prstGeom prst="rect">
            <a:avLst/>
          </a:prstGeom>
          <a:noFill/>
          <a:ln/>
        </p:spPr>
        <p:txBody>
          <a:bodyPr wrap="square" lIns="0" tIns="0" rIns="0" bIns="0" rtlCol="0" anchor="ctr"/>
          <a:lstStyle/>
          <a:p>
            <a:pPr indent="0" marL="0">
              <a:buNone/>
            </a:pPr>
            <a:r>
              <a:rPr lang="en-US" sz="1500" b="1" dirty="0">
                <a:solidFill>
                  <a:srgbClr val="2B1A22"/>
                </a:solidFill>
                <a:latin typeface="Arial" pitchFamily="34" charset="0"/>
                <a:ea typeface="Arial" pitchFamily="34" charset="-122"/>
                <a:cs typeface="Arial" pitchFamily="34" charset="-120"/>
              </a:rPr>
              <a:t>Verify documents</a:t>
            </a:r>
            <a:endParaRPr lang="en-US" sz="1500" dirty="0"/>
          </a:p>
        </p:txBody>
      </p:sp>
      <p:sp>
        <p:nvSpPr>
          <p:cNvPr id="16" name="Text 13"/>
          <p:cNvSpPr txBox="1"/>
          <p:nvPr/>
        </p:nvSpPr>
        <p:spPr>
          <a:xfrm>
            <a:off x="1143000" y="2450592"/>
            <a:ext cx="3840480" cy="274320"/>
          </a:xfrm>
          <a:prstGeom prst="rect">
            <a:avLst/>
          </a:prstGeom>
          <a:noFill/>
          <a:ln/>
        </p:spPr>
        <p:txBody>
          <a:bodyPr wrap="square" lIns="0" tIns="0" rIns="0" bIns="0" rtlCol="0" anchor="ctr"/>
          <a:lstStyle/>
          <a:p>
            <a:pPr indent="0" marL="0">
              <a:buNone/>
            </a:pPr>
            <a:r>
              <a:rPr lang="en-US" sz="1200" dirty="0">
                <a:solidFill>
                  <a:srgbClr val="6B5A62"/>
                </a:solidFill>
                <a:latin typeface="Calibri" pitchFamily="34" charset="0"/>
                <a:ea typeface="Calibri" pitchFamily="34" charset="-122"/>
                <a:cs typeface="Calibri" pitchFamily="34" charset="-120"/>
              </a:rPr>
              <a:t>Everything checked against university criteria</a:t>
            </a:r>
            <a:endParaRPr lang="en-US" sz="1200" dirty="0"/>
          </a:p>
        </p:txBody>
      </p:sp>
      <p:sp>
        <p:nvSpPr>
          <p:cNvPr id="17" name="Shape 14"/>
          <p:cNvSpPr/>
          <p:nvPr/>
        </p:nvSpPr>
        <p:spPr>
          <a:xfrm>
            <a:off x="457200" y="3026664"/>
            <a:ext cx="502920" cy="502920"/>
          </a:xfrm>
          <a:prstGeom prst="ellipse">
            <a:avLst/>
          </a:prstGeom>
          <a:solidFill>
            <a:srgbClr val="C01F53"/>
          </a:solidFill>
          <a:ln w="12700">
            <a:solidFill>
              <a:srgbClr val="C01F53"/>
            </a:solidFill>
            <a:prstDash val="solid"/>
          </a:ln>
        </p:spPr>
      </p:sp>
      <p:sp>
        <p:nvSpPr>
          <p:cNvPr id="18" name="Text 15"/>
          <p:cNvSpPr txBox="1"/>
          <p:nvPr/>
        </p:nvSpPr>
        <p:spPr>
          <a:xfrm>
            <a:off x="457200" y="3026664"/>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9" name="Shape 16"/>
          <p:cNvSpPr/>
          <p:nvPr/>
        </p:nvSpPr>
        <p:spPr>
          <a:xfrm>
            <a:off x="708660" y="3529584"/>
            <a:ext cx="0" cy="347472"/>
          </a:xfrm>
          <a:prstGeom prst="line">
            <a:avLst/>
          </a:prstGeom>
          <a:noFill/>
          <a:ln w="19050">
            <a:solidFill>
              <a:srgbClr val="E7B3C4"/>
            </a:solidFill>
            <a:prstDash val="solid"/>
          </a:ln>
        </p:spPr>
      </p:sp>
      <p:sp>
        <p:nvSpPr>
          <p:cNvPr id="20" name="Text 17"/>
          <p:cNvSpPr txBox="1"/>
          <p:nvPr/>
        </p:nvSpPr>
        <p:spPr>
          <a:xfrm>
            <a:off x="1143000" y="2980944"/>
            <a:ext cx="3840480" cy="320040"/>
          </a:xfrm>
          <a:prstGeom prst="rect">
            <a:avLst/>
          </a:prstGeom>
          <a:noFill/>
          <a:ln/>
        </p:spPr>
        <p:txBody>
          <a:bodyPr wrap="square" lIns="0" tIns="0" rIns="0" bIns="0" rtlCol="0" anchor="ctr"/>
          <a:lstStyle/>
          <a:p>
            <a:pPr indent="0" marL="0">
              <a:buNone/>
            </a:pPr>
            <a:r>
              <a:rPr lang="en-US" sz="1500" b="1" dirty="0">
                <a:solidFill>
                  <a:srgbClr val="2B1A22"/>
                </a:solidFill>
                <a:latin typeface="Arial" pitchFamily="34" charset="0"/>
                <a:ea typeface="Arial" pitchFamily="34" charset="-122"/>
                <a:cs typeface="Arial" pitchFamily="34" charset="-120"/>
              </a:rPr>
              <a:t>Submit application</a:t>
            </a:r>
            <a:endParaRPr lang="en-US" sz="1500" dirty="0"/>
          </a:p>
        </p:txBody>
      </p:sp>
      <p:sp>
        <p:nvSpPr>
          <p:cNvPr id="21" name="Text 18"/>
          <p:cNvSpPr txBox="1"/>
          <p:nvPr/>
        </p:nvSpPr>
        <p:spPr>
          <a:xfrm>
            <a:off x="1143000" y="3300984"/>
            <a:ext cx="3840480" cy="274320"/>
          </a:xfrm>
          <a:prstGeom prst="rect">
            <a:avLst/>
          </a:prstGeom>
          <a:noFill/>
          <a:ln/>
        </p:spPr>
        <p:txBody>
          <a:bodyPr wrap="square" lIns="0" tIns="0" rIns="0" bIns="0" rtlCol="0" anchor="ctr"/>
          <a:lstStyle/>
          <a:p>
            <a:pPr indent="0" marL="0">
              <a:buNone/>
            </a:pPr>
            <a:r>
              <a:rPr lang="en-US" sz="1200" dirty="0">
                <a:solidFill>
                  <a:srgbClr val="6B5A62"/>
                </a:solidFill>
                <a:latin typeface="Calibri" pitchFamily="34" charset="0"/>
                <a:ea typeface="Calibri" pitchFamily="34" charset="-122"/>
                <a:cs typeface="Calibri" pitchFamily="34" charset="-120"/>
              </a:rPr>
              <a:t>Sent to the university by the Doc. Executive</a:t>
            </a:r>
            <a:endParaRPr lang="en-US" sz="1200" dirty="0"/>
          </a:p>
        </p:txBody>
      </p:sp>
      <p:sp>
        <p:nvSpPr>
          <p:cNvPr id="22" name="Shape 19"/>
          <p:cNvSpPr/>
          <p:nvPr/>
        </p:nvSpPr>
        <p:spPr>
          <a:xfrm>
            <a:off x="457200" y="3877056"/>
            <a:ext cx="502920" cy="502920"/>
          </a:xfrm>
          <a:prstGeom prst="ellipse">
            <a:avLst/>
          </a:prstGeom>
          <a:solidFill>
            <a:srgbClr val="FBEFF3"/>
          </a:solidFill>
          <a:ln w="12700">
            <a:solidFill>
              <a:srgbClr val="C01F53"/>
            </a:solidFill>
            <a:prstDash val="solid"/>
          </a:ln>
        </p:spPr>
      </p:sp>
      <p:sp>
        <p:nvSpPr>
          <p:cNvPr id="23" name="Text 20"/>
          <p:cNvSpPr txBox="1"/>
          <p:nvPr/>
        </p:nvSpPr>
        <p:spPr>
          <a:xfrm>
            <a:off x="457200" y="3877056"/>
            <a:ext cx="502920" cy="502920"/>
          </a:xfrm>
          <a:prstGeom prst="rect">
            <a:avLst/>
          </a:prstGeom>
          <a:noFill/>
          <a:ln/>
        </p:spPr>
        <p:txBody>
          <a:bodyPr wrap="square" lIns="0" tIns="0" rIns="0" bIns="0" rtlCol="0" anchor="ctr"/>
          <a:lstStyle/>
          <a:p>
            <a:pPr algn="ctr" indent="0" marL="0">
              <a:buNone/>
            </a:pPr>
            <a:r>
              <a:rPr lang="en-US" sz="1600" b="1" dirty="0">
                <a:solidFill>
                  <a:srgbClr val="C01F53"/>
                </a:solidFill>
                <a:latin typeface="Arial" pitchFamily="34" charset="0"/>
                <a:ea typeface="Arial" pitchFamily="34" charset="-122"/>
                <a:cs typeface="Arial" pitchFamily="34" charset="-120"/>
              </a:rPr>
              <a:t>4</a:t>
            </a:r>
            <a:endParaRPr lang="en-US" sz="1600" dirty="0"/>
          </a:p>
        </p:txBody>
      </p:sp>
      <p:sp>
        <p:nvSpPr>
          <p:cNvPr id="24" name="Text 21"/>
          <p:cNvSpPr txBox="1"/>
          <p:nvPr/>
        </p:nvSpPr>
        <p:spPr>
          <a:xfrm>
            <a:off x="1143000" y="3831336"/>
            <a:ext cx="3840480" cy="320040"/>
          </a:xfrm>
          <a:prstGeom prst="rect">
            <a:avLst/>
          </a:prstGeom>
          <a:noFill/>
          <a:ln/>
        </p:spPr>
        <p:txBody>
          <a:bodyPr wrap="square" lIns="0" tIns="0" rIns="0" bIns="0" rtlCol="0" anchor="ctr"/>
          <a:lstStyle/>
          <a:p>
            <a:pPr indent="0" marL="0">
              <a:buNone/>
            </a:pPr>
            <a:r>
              <a:rPr lang="en-US" sz="1500" b="1" dirty="0">
                <a:solidFill>
                  <a:srgbClr val="2B1A22"/>
                </a:solidFill>
                <a:latin typeface="Arial" pitchFamily="34" charset="0"/>
                <a:ea typeface="Arial" pitchFamily="34" charset="-122"/>
                <a:cs typeface="Arial" pitchFamily="34" charset="-120"/>
              </a:rPr>
              <a:t>Track the response</a:t>
            </a:r>
            <a:endParaRPr lang="en-US" sz="1500" dirty="0"/>
          </a:p>
        </p:txBody>
      </p:sp>
      <p:sp>
        <p:nvSpPr>
          <p:cNvPr id="25" name="Text 22"/>
          <p:cNvSpPr txBox="1"/>
          <p:nvPr/>
        </p:nvSpPr>
        <p:spPr>
          <a:xfrm>
            <a:off x="1143000" y="4151376"/>
            <a:ext cx="3840480" cy="274320"/>
          </a:xfrm>
          <a:prstGeom prst="rect">
            <a:avLst/>
          </a:prstGeom>
          <a:noFill/>
          <a:ln/>
        </p:spPr>
        <p:txBody>
          <a:bodyPr wrap="square" lIns="0" tIns="0" rIns="0" bIns="0" rtlCol="0" anchor="ctr"/>
          <a:lstStyle/>
          <a:p>
            <a:pPr indent="0" marL="0">
              <a:buNone/>
            </a:pPr>
            <a:r>
              <a:rPr lang="en-US" sz="1200" dirty="0">
                <a:solidFill>
                  <a:srgbClr val="6B5A62"/>
                </a:solidFill>
                <a:latin typeface="Calibri" pitchFamily="34" charset="0"/>
                <a:ea typeface="Calibri" pitchFamily="34" charset="-122"/>
                <a:cs typeface="Calibri" pitchFamily="34" charset="-120"/>
              </a:rPr>
              <a:t>Offer / admission letter shared in the group</a:t>
            </a:r>
            <a:endParaRPr lang="en-US" sz="1200" dirty="0"/>
          </a:p>
        </p:txBody>
      </p:sp>
      <p:sp>
        <p:nvSpPr>
          <p:cNvPr id="26" name="Shape 23"/>
          <p:cNvSpPr/>
          <p:nvPr/>
        </p:nvSpPr>
        <p:spPr>
          <a:xfrm>
            <a:off x="5394960" y="1280160"/>
            <a:ext cx="3291840" cy="3291840"/>
          </a:xfrm>
          <a:prstGeom prst="roundRect">
            <a:avLst>
              <a:gd name="adj" fmla="val 4167"/>
            </a:avLst>
          </a:prstGeom>
          <a:solidFill>
            <a:srgbClr val="C01F53"/>
          </a:solidFill>
          <a:ln w="12700">
            <a:solidFill>
              <a:srgbClr val="C01F53"/>
            </a:solidFill>
            <a:prstDash val="solid"/>
          </a:ln>
        </p:spPr>
      </p:sp>
      <p:sp>
        <p:nvSpPr>
          <p:cNvPr id="27" name="Shape 24"/>
          <p:cNvSpPr/>
          <p:nvPr/>
        </p:nvSpPr>
        <p:spPr>
          <a:xfrm>
            <a:off x="5669280" y="1554480"/>
            <a:ext cx="685800" cy="685800"/>
          </a:xfrm>
          <a:prstGeom prst="ellipse">
            <a:avLst/>
          </a:prstGeom>
          <a:solidFill>
            <a:srgbClr val="EDE72D"/>
          </a:solidFill>
          <a:ln w="12700">
            <a:solidFill>
              <a:srgbClr val="EDE72D"/>
            </a:solidFill>
            <a:prstDash val="solid"/>
          </a:ln>
        </p:spPr>
      </p:sp>
      <p:pic>
        <p:nvPicPr>
          <p:cNvPr id="28" name="Image 1" descr="preencoded.png">    </p:cNvPr>
          <p:cNvPicPr>
            <a:picLocks noChangeAspect="1"/>
          </p:cNvPicPr>
          <p:nvPr/>
        </p:nvPicPr>
        <p:blipFill>
          <a:blip r:embed="rId2"/>
          <a:stretch>
            <a:fillRect/>
          </a:stretch>
        </p:blipFill>
        <p:spPr>
          <a:xfrm>
            <a:off x="5840730" y="1725930"/>
            <a:ext cx="342900" cy="342900"/>
          </a:xfrm>
          <a:prstGeom prst="rect">
            <a:avLst/>
          </a:prstGeom>
        </p:spPr>
      </p:pic>
      <p:sp>
        <p:nvSpPr>
          <p:cNvPr id="29" name="Text 25"/>
          <p:cNvSpPr txBox="1"/>
          <p:nvPr/>
        </p:nvSpPr>
        <p:spPr>
          <a:xfrm>
            <a:off x="5669280" y="2377440"/>
            <a:ext cx="2834640" cy="91440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No payment,</a:t>
            </a:r>
            <a:endParaRPr lang="en-US" sz="2200" dirty="0"/>
          </a:p>
          <a:p>
            <a:pPr indent="0" marL="0">
              <a:buNone/>
            </a:pPr>
            <a:r>
              <a:rPr lang="en-US" sz="2200" b="1" dirty="0">
                <a:solidFill>
                  <a:srgbClr val="FFFFFF"/>
                </a:solidFill>
                <a:latin typeface="Arial" pitchFamily="34" charset="0"/>
                <a:ea typeface="Arial" pitchFamily="34" charset="-122"/>
                <a:cs typeface="Arial" pitchFamily="34" charset="-120"/>
              </a:rPr>
              <a:t>no application.</a:t>
            </a:r>
            <a:endParaRPr lang="en-US" sz="2200" dirty="0"/>
          </a:p>
        </p:txBody>
      </p:sp>
      <p:sp>
        <p:nvSpPr>
          <p:cNvPr id="30" name="Text 26"/>
          <p:cNvSpPr txBox="1"/>
          <p:nvPr/>
        </p:nvSpPr>
        <p:spPr>
          <a:xfrm>
            <a:off x="5669280" y="3383280"/>
            <a:ext cx="2834640" cy="914400"/>
          </a:xfrm>
          <a:prstGeom prst="rect">
            <a:avLst/>
          </a:prstGeom>
          <a:noFill/>
          <a:ln/>
        </p:spPr>
        <p:txBody>
          <a:bodyPr wrap="square" lIns="0" tIns="0" rIns="0" bIns="0" rtlCol="0" anchor="t"/>
          <a:lstStyle/>
          <a:p>
            <a:pPr indent="0" marL="0">
              <a:buNone/>
            </a:pPr>
            <a:r>
              <a:rPr lang="en-US" sz="1300" dirty="0">
                <a:solidFill>
                  <a:srgbClr val="F6C9D7"/>
                </a:solidFill>
                <a:latin typeface="Calibri" pitchFamily="34" charset="0"/>
                <a:ea typeface="Calibri" pitchFamily="34" charset="-122"/>
                <a:cs typeface="Calibri" pitchFamily="34" charset="-120"/>
              </a:rPr>
              <a:t>The application is sent only when payment and all required documents are confirmed.</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566928"/>
          </a:xfrm>
          <a:prstGeom prst="ellipse">
            <a:avLst/>
          </a:prstGeom>
          <a:solidFill>
            <a:srgbClr val="C01F53"/>
          </a:solidFill>
          <a:ln w="12700">
            <a:solidFill>
              <a:srgbClr val="C01F53"/>
            </a:solidFill>
            <a:prstDash val="solid"/>
          </a:ln>
        </p:spPr>
      </p:sp>
      <p:sp>
        <p:nvSpPr>
          <p:cNvPr id="3" name="Text 1"/>
          <p:cNvSpPr txBox="1"/>
          <p:nvPr/>
        </p:nvSpPr>
        <p:spPr>
          <a:xfrm>
            <a:off x="457200" y="34747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6</a:t>
            </a:r>
            <a:endParaRPr lang="en-US" sz="2000" dirty="0"/>
          </a:p>
        </p:txBody>
      </p:sp>
      <p:sp>
        <p:nvSpPr>
          <p:cNvPr id="4" name="Text 2"/>
          <p:cNvSpPr txBox="1"/>
          <p:nvPr/>
        </p:nvSpPr>
        <p:spPr>
          <a:xfrm>
            <a:off x="1170432" y="274320"/>
            <a:ext cx="5779008" cy="457200"/>
          </a:xfrm>
          <a:prstGeom prst="rect">
            <a:avLst/>
          </a:prstGeom>
          <a:noFill/>
          <a:ln/>
        </p:spPr>
        <p:txBody>
          <a:bodyPr wrap="square" lIns="0" tIns="0" rIns="0" bIns="0" rtlCol="0" anchor="ctr"/>
          <a:lstStyle/>
          <a:p>
            <a:pPr indent="0" marL="0">
              <a:buNone/>
            </a:pPr>
            <a:r>
              <a:rPr lang="en-US" sz="2600" b="1" dirty="0">
                <a:solidFill>
                  <a:srgbClr val="2B1A22"/>
                </a:solidFill>
                <a:latin typeface="Arial" pitchFamily="34" charset="0"/>
                <a:ea typeface="Arial" pitchFamily="34" charset="-122"/>
                <a:cs typeface="Arial" pitchFamily="34" charset="-120"/>
              </a:rPr>
              <a:t>Visa &amp; Travel Arrangements</a:t>
            </a:r>
            <a:endParaRPr lang="en-US" sz="2600" dirty="0"/>
          </a:p>
        </p:txBody>
      </p:sp>
      <p:sp>
        <p:nvSpPr>
          <p:cNvPr id="5" name="Text 3"/>
          <p:cNvSpPr txBox="1"/>
          <p:nvPr/>
        </p:nvSpPr>
        <p:spPr>
          <a:xfrm>
            <a:off x="1170432" y="713232"/>
            <a:ext cx="5961888" cy="274320"/>
          </a:xfrm>
          <a:prstGeom prst="rect">
            <a:avLst/>
          </a:prstGeom>
          <a:noFill/>
          <a:ln/>
        </p:spPr>
        <p:txBody>
          <a:bodyPr wrap="square" lIns="0" tIns="0" rIns="0" bIns="0" rtlCol="0" anchor="ctr"/>
          <a:lstStyle/>
          <a:p>
            <a:pPr indent="0" marL="0">
              <a:buNone/>
            </a:pPr>
            <a:r>
              <a:rPr lang="en-US" sz="1300" i="1" dirty="0">
                <a:solidFill>
                  <a:srgbClr val="C01F53"/>
                </a:solidFill>
                <a:latin typeface="Calibri" pitchFamily="34" charset="0"/>
                <a:ea typeface="Calibri" pitchFamily="34" charset="-122"/>
                <a:cs typeface="Calibri" pitchFamily="34" charset="-120"/>
              </a:rPr>
              <a:t>Follow up at every step — nothing is left to the student alone</a:t>
            </a:r>
            <a:endParaRPr lang="en-US" sz="1300" dirty="0"/>
          </a:p>
        </p:txBody>
      </p:sp>
      <p:pic>
        <p:nvPicPr>
          <p:cNvPr id="6" name="Image 0" descr="preencoded.png">    </p:cNvPr>
          <p:cNvPicPr>
            <a:picLocks noChangeAspect="1"/>
          </p:cNvPicPr>
          <p:nvPr/>
        </p:nvPicPr>
        <p:blipFill>
          <a:blip r:embed="rId1"/>
          <a:stretch>
            <a:fillRect/>
          </a:stretch>
        </p:blipFill>
        <p:spPr>
          <a:xfrm>
            <a:off x="8183880" y="274320"/>
            <a:ext cx="548640" cy="548640"/>
          </a:xfrm>
          <a:prstGeom prst="rect">
            <a:avLst/>
          </a:prstGeom>
        </p:spPr>
      </p:pic>
      <p:sp>
        <p:nvSpPr>
          <p:cNvPr id="7" name="Shape 4"/>
          <p:cNvSpPr/>
          <p:nvPr/>
        </p:nvSpPr>
        <p:spPr>
          <a:xfrm>
            <a:off x="457200" y="1234440"/>
            <a:ext cx="2560320" cy="3429000"/>
          </a:xfrm>
          <a:prstGeom prst="roundRect">
            <a:avLst>
              <a:gd name="adj" fmla="val 4286"/>
            </a:avLst>
          </a:prstGeom>
          <a:solidFill>
            <a:srgbClr val="FFFFFF"/>
          </a:solidFill>
          <a:ln w="9525">
            <a:solidFill>
              <a:srgbClr val="EBD3DC"/>
            </a:solidFill>
            <a:prstDash val="solid"/>
          </a:ln>
          <a:effectLst>
            <a:outerShdw sx="100000" sy="100000" kx="0" ky="0" algn="bl" rotWithShape="0" blurRad="76200" dist="25400" dir="5400000">
              <a:srgbClr val="000000">
                <a:alpha val="12000"/>
              </a:srgbClr>
            </a:outerShdw>
          </a:effectLst>
        </p:spPr>
      </p:sp>
      <p:sp>
        <p:nvSpPr>
          <p:cNvPr id="8" name="Shape 5"/>
          <p:cNvSpPr/>
          <p:nvPr/>
        </p:nvSpPr>
        <p:spPr>
          <a:xfrm>
            <a:off x="640080" y="1417320"/>
            <a:ext cx="548640" cy="548640"/>
          </a:xfrm>
          <a:prstGeom prst="ellipse">
            <a:avLst/>
          </a:prstGeom>
          <a:solidFill>
            <a:srgbClr val="C01F53"/>
          </a:solidFill>
          <a:ln w="12700">
            <a:solidFill>
              <a:srgbClr val="C01F53"/>
            </a:solidFill>
            <a:prstDash val="solid"/>
          </a:ln>
        </p:spPr>
      </p:sp>
      <p:pic>
        <p:nvPicPr>
          <p:cNvPr id="9" name="Image 1" descr="preencoded.png">    </p:cNvPr>
          <p:cNvPicPr>
            <a:picLocks noChangeAspect="1"/>
          </p:cNvPicPr>
          <p:nvPr/>
        </p:nvPicPr>
        <p:blipFill>
          <a:blip r:embed="rId2"/>
          <a:stretch>
            <a:fillRect/>
          </a:stretch>
        </p:blipFill>
        <p:spPr>
          <a:xfrm>
            <a:off x="777240" y="1554480"/>
            <a:ext cx="274320" cy="274320"/>
          </a:xfrm>
          <a:prstGeom prst="rect">
            <a:avLst/>
          </a:prstGeom>
        </p:spPr>
      </p:pic>
      <p:sp>
        <p:nvSpPr>
          <p:cNvPr id="10" name="Text 6"/>
          <p:cNvSpPr txBox="1"/>
          <p:nvPr/>
        </p:nvSpPr>
        <p:spPr>
          <a:xfrm>
            <a:off x="1325880" y="1417320"/>
            <a:ext cx="1600200" cy="548640"/>
          </a:xfrm>
          <a:prstGeom prst="rect">
            <a:avLst/>
          </a:prstGeom>
          <a:noFill/>
          <a:ln/>
        </p:spPr>
        <p:txBody>
          <a:bodyPr wrap="square" lIns="0" tIns="0" rIns="0" bIns="0" rtlCol="0" anchor="ctr"/>
          <a:lstStyle/>
          <a:p>
            <a:pPr indent="0" marL="0">
              <a:buNone/>
            </a:pPr>
            <a:r>
              <a:rPr lang="en-US" sz="1500" b="1" dirty="0">
                <a:solidFill>
                  <a:srgbClr val="2B1A22"/>
                </a:solidFill>
                <a:latin typeface="Arial" pitchFamily="34" charset="0"/>
                <a:ea typeface="Arial" pitchFamily="34" charset="-122"/>
                <a:cs typeface="Arial" pitchFamily="34" charset="-120"/>
              </a:rPr>
              <a:t>Visa Process</a:t>
            </a:r>
            <a:endParaRPr lang="en-US" sz="1500" dirty="0"/>
          </a:p>
        </p:txBody>
      </p:sp>
      <p:sp>
        <p:nvSpPr>
          <p:cNvPr id="11" name="Text 7"/>
          <p:cNvSpPr txBox="1"/>
          <p:nvPr/>
        </p:nvSpPr>
        <p:spPr>
          <a:xfrm>
            <a:off x="640080" y="2194560"/>
            <a:ext cx="2240280" cy="22860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2B1A22"/>
                </a:solidFill>
                <a:latin typeface="Calibri" pitchFamily="34" charset="0"/>
                <a:ea typeface="Calibri" pitchFamily="34" charset="-122"/>
                <a:cs typeface="Calibri" pitchFamily="34" charset="-120"/>
              </a:rPr>
              <a:t>Prepare visa document list</a:t>
            </a:r>
            <a:endParaRPr lang="en-US" sz="1300" dirty="0"/>
          </a:p>
          <a:p>
            <a:pPr marL="342900" indent="-342900">
              <a:spcAft>
                <a:spcPts val="800"/>
              </a:spcAft>
              <a:buSzPct val="100000"/>
              <a:buChar char="•"/>
            </a:pPr>
            <a:r>
              <a:rPr lang="en-US" sz="1300" dirty="0">
                <a:solidFill>
                  <a:srgbClr val="2B1A22"/>
                </a:solidFill>
                <a:latin typeface="Calibri" pitchFamily="34" charset="0"/>
                <a:ea typeface="Calibri" pitchFamily="34" charset="-122"/>
                <a:cs typeface="Calibri" pitchFamily="34" charset="-120"/>
              </a:rPr>
              <a:t>Book / attend appointments</a:t>
            </a:r>
            <a:endParaRPr lang="en-US" sz="1300" dirty="0"/>
          </a:p>
          <a:p>
            <a:pPr marL="342900" indent="-342900">
              <a:spcAft>
                <a:spcPts val="800"/>
              </a:spcAft>
              <a:buSzPct val="100000"/>
              <a:buChar char="•"/>
            </a:pPr>
            <a:r>
              <a:rPr lang="en-US" sz="1300" dirty="0">
                <a:solidFill>
                  <a:srgbClr val="2B1A22"/>
                </a:solidFill>
                <a:latin typeface="Calibri" pitchFamily="34" charset="0"/>
                <a:ea typeface="Calibri" pitchFamily="34" charset="-122"/>
                <a:cs typeface="Calibri" pitchFamily="34" charset="-120"/>
              </a:rPr>
              <a:t>Track visa status</a:t>
            </a:r>
            <a:endParaRPr lang="en-US" sz="1300" dirty="0"/>
          </a:p>
          <a:p>
            <a:pPr marL="342900" indent="-342900">
              <a:spcAft>
                <a:spcPts val="800"/>
              </a:spcAft>
              <a:buSzPct val="100000"/>
              <a:buChar char="•"/>
            </a:pPr>
            <a:r>
              <a:rPr lang="en-US" sz="1300" dirty="0">
                <a:solidFill>
                  <a:srgbClr val="2B1A22"/>
                </a:solidFill>
                <a:latin typeface="Calibri" pitchFamily="34" charset="0"/>
                <a:ea typeface="Calibri" pitchFamily="34" charset="-122"/>
                <a:cs typeface="Calibri" pitchFamily="34" charset="-120"/>
              </a:rPr>
              <a:t>Share approval in the group</a:t>
            </a:r>
            <a:endParaRPr lang="en-US" sz="1300" dirty="0"/>
          </a:p>
        </p:txBody>
      </p:sp>
      <p:sp>
        <p:nvSpPr>
          <p:cNvPr id="12" name="Shape 8"/>
          <p:cNvSpPr/>
          <p:nvPr/>
        </p:nvSpPr>
        <p:spPr>
          <a:xfrm>
            <a:off x="3291840" y="1234440"/>
            <a:ext cx="2560320" cy="3429000"/>
          </a:xfrm>
          <a:prstGeom prst="roundRect">
            <a:avLst>
              <a:gd name="adj" fmla="val 4286"/>
            </a:avLst>
          </a:prstGeom>
          <a:solidFill>
            <a:srgbClr val="FBEFF3"/>
          </a:solidFill>
          <a:ln w="9525">
            <a:solidFill>
              <a:srgbClr val="EBD3DC"/>
            </a:solidFill>
            <a:prstDash val="solid"/>
          </a:ln>
          <a:effectLst>
            <a:outerShdw sx="100000" sy="100000" kx="0" ky="0" algn="bl" rotWithShape="0" blurRad="76200" dist="25400" dir="5400000">
              <a:srgbClr val="000000">
                <a:alpha val="12000"/>
              </a:srgbClr>
            </a:outerShdw>
          </a:effectLst>
        </p:spPr>
      </p:sp>
      <p:sp>
        <p:nvSpPr>
          <p:cNvPr id="13" name="Shape 9"/>
          <p:cNvSpPr/>
          <p:nvPr/>
        </p:nvSpPr>
        <p:spPr>
          <a:xfrm>
            <a:off x="3474720" y="1417320"/>
            <a:ext cx="548640" cy="548640"/>
          </a:xfrm>
          <a:prstGeom prst="ellipse">
            <a:avLst/>
          </a:prstGeom>
          <a:solidFill>
            <a:srgbClr val="C01F53"/>
          </a:solidFill>
          <a:ln w="12700">
            <a:solidFill>
              <a:srgbClr val="C01F53"/>
            </a:solidFill>
            <a:prstDash val="solid"/>
          </a:ln>
        </p:spPr>
      </p:sp>
      <p:pic>
        <p:nvPicPr>
          <p:cNvPr id="14" name="Image 2" descr="preencoded.png">    </p:cNvPr>
          <p:cNvPicPr>
            <a:picLocks noChangeAspect="1"/>
          </p:cNvPicPr>
          <p:nvPr/>
        </p:nvPicPr>
        <p:blipFill>
          <a:blip r:embed="rId3"/>
          <a:stretch>
            <a:fillRect/>
          </a:stretch>
        </p:blipFill>
        <p:spPr>
          <a:xfrm>
            <a:off x="3611880" y="1554480"/>
            <a:ext cx="274320" cy="274320"/>
          </a:xfrm>
          <a:prstGeom prst="rect">
            <a:avLst/>
          </a:prstGeom>
        </p:spPr>
      </p:pic>
      <p:sp>
        <p:nvSpPr>
          <p:cNvPr id="15" name="Text 10"/>
          <p:cNvSpPr txBox="1"/>
          <p:nvPr/>
        </p:nvSpPr>
        <p:spPr>
          <a:xfrm>
            <a:off x="4160520" y="1417320"/>
            <a:ext cx="1600200" cy="548640"/>
          </a:xfrm>
          <a:prstGeom prst="rect">
            <a:avLst/>
          </a:prstGeom>
          <a:noFill/>
          <a:ln/>
        </p:spPr>
        <p:txBody>
          <a:bodyPr wrap="square" lIns="0" tIns="0" rIns="0" bIns="0" rtlCol="0" anchor="ctr"/>
          <a:lstStyle/>
          <a:p>
            <a:pPr indent="0" marL="0">
              <a:buNone/>
            </a:pPr>
            <a:r>
              <a:rPr lang="en-US" sz="1500" b="1" dirty="0">
                <a:solidFill>
                  <a:srgbClr val="2B1A22"/>
                </a:solidFill>
                <a:latin typeface="Arial" pitchFamily="34" charset="0"/>
                <a:ea typeface="Arial" pitchFamily="34" charset="-122"/>
                <a:cs typeface="Arial" pitchFamily="34" charset="-120"/>
              </a:rPr>
              <a:t>Travel Department</a:t>
            </a:r>
            <a:endParaRPr lang="en-US" sz="1500" dirty="0"/>
          </a:p>
        </p:txBody>
      </p:sp>
      <p:sp>
        <p:nvSpPr>
          <p:cNvPr id="16" name="Text 11"/>
          <p:cNvSpPr txBox="1"/>
          <p:nvPr/>
        </p:nvSpPr>
        <p:spPr>
          <a:xfrm>
            <a:off x="3474720" y="2194560"/>
            <a:ext cx="2240280" cy="22860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2B1A22"/>
                </a:solidFill>
                <a:latin typeface="Calibri" pitchFamily="34" charset="0"/>
                <a:ea typeface="Calibri" pitchFamily="34" charset="-122"/>
                <a:cs typeface="Calibri" pitchFamily="34" charset="-120"/>
              </a:rPr>
              <a:t>Hand over confirmed visa details</a:t>
            </a:r>
            <a:endParaRPr lang="en-US" sz="1300" dirty="0"/>
          </a:p>
          <a:p>
            <a:pPr marL="342900" indent="-342900">
              <a:spcAft>
                <a:spcPts val="800"/>
              </a:spcAft>
              <a:buSzPct val="100000"/>
              <a:buChar char="•"/>
            </a:pPr>
            <a:r>
              <a:rPr lang="en-US" sz="1300" dirty="0">
                <a:solidFill>
                  <a:srgbClr val="2B1A22"/>
                </a:solidFill>
                <a:latin typeface="Calibri" pitchFamily="34" charset="0"/>
                <a:ea typeface="Calibri" pitchFamily="34" charset="-122"/>
                <a:cs typeface="Calibri" pitchFamily="34" charset="-120"/>
              </a:rPr>
              <a:t>Book flight tickets</a:t>
            </a:r>
            <a:endParaRPr lang="en-US" sz="1300" dirty="0"/>
          </a:p>
          <a:p>
            <a:pPr marL="342900" indent="-342900">
              <a:spcAft>
                <a:spcPts val="800"/>
              </a:spcAft>
              <a:buSzPct val="100000"/>
              <a:buChar char="•"/>
            </a:pPr>
            <a:r>
              <a:rPr lang="en-US" sz="1300" dirty="0">
                <a:solidFill>
                  <a:srgbClr val="2B1A22"/>
                </a:solidFill>
                <a:latin typeface="Calibri" pitchFamily="34" charset="0"/>
                <a:ea typeface="Calibri" pitchFamily="34" charset="-122"/>
                <a:cs typeface="Calibri" pitchFamily="34" charset="-120"/>
              </a:rPr>
              <a:t>Plan airport pickup</a:t>
            </a:r>
            <a:endParaRPr lang="en-US" sz="1300" dirty="0"/>
          </a:p>
          <a:p>
            <a:pPr marL="342900" indent="-342900">
              <a:spcAft>
                <a:spcPts val="800"/>
              </a:spcAft>
              <a:buSzPct val="100000"/>
              <a:buChar char="•"/>
            </a:pPr>
            <a:r>
              <a:rPr lang="en-US" sz="1300" dirty="0">
                <a:solidFill>
                  <a:srgbClr val="2B1A22"/>
                </a:solidFill>
                <a:latin typeface="Calibri" pitchFamily="34" charset="0"/>
                <a:ea typeface="Calibri" pitchFamily="34" charset="-122"/>
                <a:cs typeface="Calibri" pitchFamily="34" charset="-120"/>
              </a:rPr>
              <a:t>Share itinerary with family</a:t>
            </a:r>
            <a:endParaRPr lang="en-US" sz="1300" dirty="0"/>
          </a:p>
        </p:txBody>
      </p:sp>
      <p:sp>
        <p:nvSpPr>
          <p:cNvPr id="17" name="Shape 12"/>
          <p:cNvSpPr/>
          <p:nvPr/>
        </p:nvSpPr>
        <p:spPr>
          <a:xfrm>
            <a:off x="6126480" y="1234440"/>
            <a:ext cx="2560320" cy="3429000"/>
          </a:xfrm>
          <a:prstGeom prst="roundRect">
            <a:avLst>
              <a:gd name="adj" fmla="val 4286"/>
            </a:avLst>
          </a:prstGeom>
          <a:solidFill>
            <a:srgbClr val="FFFFFF"/>
          </a:solidFill>
          <a:ln w="9525">
            <a:solidFill>
              <a:srgbClr val="EBD3DC"/>
            </a:solidFill>
            <a:prstDash val="solid"/>
          </a:ln>
          <a:effectLst>
            <a:outerShdw sx="100000" sy="100000" kx="0" ky="0" algn="bl" rotWithShape="0" blurRad="76200" dist="25400" dir="5400000">
              <a:srgbClr val="000000">
                <a:alpha val="12000"/>
              </a:srgbClr>
            </a:outerShdw>
          </a:effectLst>
        </p:spPr>
      </p:sp>
      <p:sp>
        <p:nvSpPr>
          <p:cNvPr id="18" name="Shape 13"/>
          <p:cNvSpPr/>
          <p:nvPr/>
        </p:nvSpPr>
        <p:spPr>
          <a:xfrm>
            <a:off x="6309360" y="1417320"/>
            <a:ext cx="548640" cy="548640"/>
          </a:xfrm>
          <a:prstGeom prst="ellipse">
            <a:avLst/>
          </a:prstGeom>
          <a:solidFill>
            <a:srgbClr val="C01F53"/>
          </a:solidFill>
          <a:ln w="12700">
            <a:solidFill>
              <a:srgbClr val="C01F53"/>
            </a:solidFill>
            <a:prstDash val="solid"/>
          </a:ln>
        </p:spPr>
      </p:sp>
      <p:pic>
        <p:nvPicPr>
          <p:cNvPr id="19" name="Image 3" descr="preencoded.png">    </p:cNvPr>
          <p:cNvPicPr>
            <a:picLocks noChangeAspect="1"/>
          </p:cNvPicPr>
          <p:nvPr/>
        </p:nvPicPr>
        <p:blipFill>
          <a:blip r:embed="rId4"/>
          <a:stretch>
            <a:fillRect/>
          </a:stretch>
        </p:blipFill>
        <p:spPr>
          <a:xfrm>
            <a:off x="6446520" y="1554480"/>
            <a:ext cx="274320" cy="274320"/>
          </a:xfrm>
          <a:prstGeom prst="rect">
            <a:avLst/>
          </a:prstGeom>
        </p:spPr>
      </p:pic>
      <p:sp>
        <p:nvSpPr>
          <p:cNvPr id="20" name="Text 14"/>
          <p:cNvSpPr txBox="1"/>
          <p:nvPr/>
        </p:nvSpPr>
        <p:spPr>
          <a:xfrm>
            <a:off x="6995160" y="1417320"/>
            <a:ext cx="1600200" cy="548640"/>
          </a:xfrm>
          <a:prstGeom prst="rect">
            <a:avLst/>
          </a:prstGeom>
          <a:noFill/>
          <a:ln/>
        </p:spPr>
        <p:txBody>
          <a:bodyPr wrap="square" lIns="0" tIns="0" rIns="0" bIns="0" rtlCol="0" anchor="ctr"/>
          <a:lstStyle/>
          <a:p>
            <a:pPr indent="0" marL="0">
              <a:buNone/>
            </a:pPr>
            <a:r>
              <a:rPr lang="en-US" sz="1500" b="1" dirty="0">
                <a:solidFill>
                  <a:srgbClr val="2B1A22"/>
                </a:solidFill>
                <a:latin typeface="Arial" pitchFamily="34" charset="0"/>
                <a:ea typeface="Arial" pitchFamily="34" charset="-122"/>
                <a:cs typeface="Arial" pitchFamily="34" charset="-120"/>
              </a:rPr>
              <a:t>Accommodation</a:t>
            </a:r>
            <a:endParaRPr lang="en-US" sz="1500" dirty="0"/>
          </a:p>
        </p:txBody>
      </p:sp>
      <p:sp>
        <p:nvSpPr>
          <p:cNvPr id="21" name="Text 15"/>
          <p:cNvSpPr txBox="1"/>
          <p:nvPr/>
        </p:nvSpPr>
        <p:spPr>
          <a:xfrm>
            <a:off x="6309360" y="2194560"/>
            <a:ext cx="2240280" cy="22860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2B1A22"/>
                </a:solidFill>
                <a:latin typeface="Calibri" pitchFamily="34" charset="0"/>
                <a:ea typeface="Calibri" pitchFamily="34" charset="-122"/>
                <a:cs typeface="Calibri" pitchFamily="34" charset="-120"/>
              </a:rPr>
              <a:t>Confirm hostel / housing</a:t>
            </a:r>
            <a:endParaRPr lang="en-US" sz="1300" dirty="0"/>
          </a:p>
          <a:p>
            <a:pPr marL="342900" indent="-342900">
              <a:spcAft>
                <a:spcPts val="800"/>
              </a:spcAft>
              <a:buSzPct val="100000"/>
              <a:buChar char="•"/>
            </a:pPr>
            <a:r>
              <a:rPr lang="en-US" sz="1300" dirty="0">
                <a:solidFill>
                  <a:srgbClr val="2B1A22"/>
                </a:solidFill>
                <a:latin typeface="Calibri" pitchFamily="34" charset="0"/>
                <a:ea typeface="Calibri" pitchFamily="34" charset="-122"/>
                <a:cs typeface="Calibri" pitchFamily="34" charset="-120"/>
              </a:rPr>
              <a:t>Share address &amp; contact</a:t>
            </a:r>
            <a:endParaRPr lang="en-US" sz="1300" dirty="0"/>
          </a:p>
          <a:p>
            <a:pPr marL="342900" indent="-342900">
              <a:spcAft>
                <a:spcPts val="800"/>
              </a:spcAft>
              <a:buSzPct val="100000"/>
              <a:buChar char="•"/>
            </a:pPr>
            <a:r>
              <a:rPr lang="en-US" sz="1300" dirty="0">
                <a:solidFill>
                  <a:srgbClr val="2B1A22"/>
                </a:solidFill>
                <a:latin typeface="Calibri" pitchFamily="34" charset="0"/>
                <a:ea typeface="Calibri" pitchFamily="34" charset="-122"/>
                <a:cs typeface="Calibri" pitchFamily="34" charset="-120"/>
              </a:rPr>
              <a:t>Check arrival timing</a:t>
            </a:r>
            <a:endParaRPr lang="en-US" sz="1300" dirty="0"/>
          </a:p>
          <a:p>
            <a:pPr marL="342900" indent="-342900">
              <a:spcAft>
                <a:spcPts val="800"/>
              </a:spcAft>
              <a:buSzPct val="100000"/>
              <a:buChar char="•"/>
            </a:pPr>
            <a:r>
              <a:rPr lang="en-US" sz="1300" dirty="0">
                <a:solidFill>
                  <a:srgbClr val="2B1A22"/>
                </a:solidFill>
                <a:latin typeface="Calibri" pitchFamily="34" charset="0"/>
                <a:ea typeface="Calibri" pitchFamily="34" charset="-122"/>
                <a:cs typeface="Calibri" pitchFamily="34" charset="-120"/>
              </a:rPr>
              <a:t>Local contact on arrival</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566928"/>
          </a:xfrm>
          <a:prstGeom prst="ellipse">
            <a:avLst/>
          </a:prstGeom>
          <a:solidFill>
            <a:srgbClr val="C01F53"/>
          </a:solidFill>
          <a:ln w="12700">
            <a:solidFill>
              <a:srgbClr val="C01F53"/>
            </a:solidFill>
            <a:prstDash val="solid"/>
          </a:ln>
        </p:spPr>
      </p:sp>
      <p:sp>
        <p:nvSpPr>
          <p:cNvPr id="3" name="Text 1"/>
          <p:cNvSpPr txBox="1"/>
          <p:nvPr/>
        </p:nvSpPr>
        <p:spPr>
          <a:xfrm>
            <a:off x="457200" y="34747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7</a:t>
            </a:r>
            <a:endParaRPr lang="en-US" sz="2000" dirty="0"/>
          </a:p>
        </p:txBody>
      </p:sp>
      <p:sp>
        <p:nvSpPr>
          <p:cNvPr id="4" name="Text 2"/>
          <p:cNvSpPr txBox="1"/>
          <p:nvPr/>
        </p:nvSpPr>
        <p:spPr>
          <a:xfrm>
            <a:off x="1170432" y="274320"/>
            <a:ext cx="5779008" cy="457200"/>
          </a:xfrm>
          <a:prstGeom prst="rect">
            <a:avLst/>
          </a:prstGeom>
          <a:noFill/>
          <a:ln/>
        </p:spPr>
        <p:txBody>
          <a:bodyPr wrap="square" lIns="0" tIns="0" rIns="0" bIns="0" rtlCol="0" anchor="ctr"/>
          <a:lstStyle/>
          <a:p>
            <a:pPr indent="0" marL="0">
              <a:buNone/>
            </a:pPr>
            <a:r>
              <a:rPr lang="en-US" sz="2600" b="1" dirty="0">
                <a:solidFill>
                  <a:srgbClr val="2B1A22"/>
                </a:solidFill>
                <a:latin typeface="Arial" pitchFamily="34" charset="0"/>
                <a:ea typeface="Arial" pitchFamily="34" charset="-122"/>
                <a:cs typeface="Arial" pitchFamily="34" charset="-120"/>
              </a:rPr>
              <a:t>The Day Before Departure</a:t>
            </a:r>
            <a:endParaRPr lang="en-US" sz="2600" dirty="0"/>
          </a:p>
        </p:txBody>
      </p:sp>
      <p:sp>
        <p:nvSpPr>
          <p:cNvPr id="5" name="Text 3"/>
          <p:cNvSpPr txBox="1"/>
          <p:nvPr/>
        </p:nvSpPr>
        <p:spPr>
          <a:xfrm>
            <a:off x="1170432" y="713232"/>
            <a:ext cx="5961888" cy="274320"/>
          </a:xfrm>
          <a:prstGeom prst="rect">
            <a:avLst/>
          </a:prstGeom>
          <a:noFill/>
          <a:ln/>
        </p:spPr>
        <p:txBody>
          <a:bodyPr wrap="square" lIns="0" tIns="0" rIns="0" bIns="0" rtlCol="0" anchor="ctr"/>
          <a:lstStyle/>
          <a:p>
            <a:pPr indent="0" marL="0">
              <a:buNone/>
            </a:pPr>
            <a:r>
              <a:rPr lang="en-US" sz="1300" i="1" dirty="0">
                <a:solidFill>
                  <a:srgbClr val="C01F53"/>
                </a:solidFill>
                <a:latin typeface="Calibri" pitchFamily="34" charset="0"/>
                <a:ea typeface="Calibri" pitchFamily="34" charset="-122"/>
                <a:cs typeface="Calibri" pitchFamily="34" charset="-120"/>
              </a:rPr>
              <a:t>Send a final briefing message to the student and parents</a:t>
            </a:r>
            <a:endParaRPr lang="en-US" sz="1300" dirty="0"/>
          </a:p>
        </p:txBody>
      </p:sp>
      <p:pic>
        <p:nvPicPr>
          <p:cNvPr id="6" name="Image 0" descr="preencoded.png">    </p:cNvPr>
          <p:cNvPicPr>
            <a:picLocks noChangeAspect="1"/>
          </p:cNvPicPr>
          <p:nvPr/>
        </p:nvPicPr>
        <p:blipFill>
          <a:blip r:embed="rId1"/>
          <a:stretch>
            <a:fillRect/>
          </a:stretch>
        </p:blipFill>
        <p:spPr>
          <a:xfrm>
            <a:off x="8183880" y="274320"/>
            <a:ext cx="548640" cy="548640"/>
          </a:xfrm>
          <a:prstGeom prst="rect">
            <a:avLst/>
          </a:prstGeom>
        </p:spPr>
      </p:pic>
      <p:sp>
        <p:nvSpPr>
          <p:cNvPr id="7" name="Shape 4"/>
          <p:cNvSpPr/>
          <p:nvPr/>
        </p:nvSpPr>
        <p:spPr>
          <a:xfrm>
            <a:off x="457200" y="1234440"/>
            <a:ext cx="4206240" cy="3429000"/>
          </a:xfrm>
          <a:prstGeom prst="roundRect">
            <a:avLst>
              <a:gd name="adj" fmla="val 3200"/>
            </a:avLst>
          </a:prstGeom>
          <a:solidFill>
            <a:srgbClr val="E7F8EE"/>
          </a:solidFill>
          <a:ln w="9525">
            <a:solidFill>
              <a:srgbClr val="EBD3DC"/>
            </a:solidFill>
            <a:prstDash val="solid"/>
          </a:ln>
          <a:effectLst>
            <a:outerShdw sx="100000" sy="100000" kx="0" ky="0" algn="bl" rotWithShape="0" blurRad="76200" dist="25400" dir="5400000">
              <a:srgbClr val="000000">
                <a:alpha val="12000"/>
              </a:srgbClr>
            </a:outerShdw>
          </a:effectLst>
        </p:spPr>
      </p:sp>
      <p:sp>
        <p:nvSpPr>
          <p:cNvPr id="8" name="Shape 5"/>
          <p:cNvSpPr/>
          <p:nvPr/>
        </p:nvSpPr>
        <p:spPr>
          <a:xfrm>
            <a:off x="640080" y="1417320"/>
            <a:ext cx="457200" cy="457200"/>
          </a:xfrm>
          <a:prstGeom prst="ellipse">
            <a:avLst/>
          </a:prstGeom>
          <a:solidFill>
            <a:srgbClr val="25D366"/>
          </a:solidFill>
          <a:ln w="12700">
            <a:solidFill>
              <a:srgbClr val="25D366"/>
            </a:solidFill>
            <a:prstDash val="solid"/>
          </a:ln>
        </p:spPr>
      </p:sp>
      <p:pic>
        <p:nvPicPr>
          <p:cNvPr id="9" name="Image 1" descr="preencoded.png">    </p:cNvPr>
          <p:cNvPicPr>
            <a:picLocks noChangeAspect="1"/>
          </p:cNvPicPr>
          <p:nvPr/>
        </p:nvPicPr>
        <p:blipFill>
          <a:blip r:embed="rId2"/>
          <a:stretch>
            <a:fillRect/>
          </a:stretch>
        </p:blipFill>
        <p:spPr>
          <a:xfrm>
            <a:off x="754380" y="1531620"/>
            <a:ext cx="228600" cy="228600"/>
          </a:xfrm>
          <a:prstGeom prst="rect">
            <a:avLst/>
          </a:prstGeom>
        </p:spPr>
      </p:pic>
      <p:sp>
        <p:nvSpPr>
          <p:cNvPr id="10" name="Text 6"/>
          <p:cNvSpPr txBox="1"/>
          <p:nvPr/>
        </p:nvSpPr>
        <p:spPr>
          <a:xfrm>
            <a:off x="1234440" y="1417320"/>
            <a:ext cx="3200400" cy="457200"/>
          </a:xfrm>
          <a:prstGeom prst="rect">
            <a:avLst/>
          </a:prstGeom>
          <a:noFill/>
          <a:ln/>
        </p:spPr>
        <p:txBody>
          <a:bodyPr wrap="square" lIns="0" tIns="0" rIns="0" bIns="0" rtlCol="0" anchor="ctr"/>
          <a:lstStyle/>
          <a:p>
            <a:pPr indent="0" marL="0">
              <a:buNone/>
            </a:pPr>
            <a:r>
              <a:rPr lang="en-US" sz="1400" b="1" dirty="0">
                <a:solidFill>
                  <a:srgbClr val="2B1A22"/>
                </a:solidFill>
                <a:latin typeface="Arial" pitchFamily="34" charset="0"/>
                <a:ea typeface="Arial" pitchFamily="34" charset="-122"/>
                <a:cs typeface="Arial" pitchFamily="34" charset="-120"/>
              </a:rPr>
              <a:t>Sample message</a:t>
            </a:r>
            <a:endParaRPr lang="en-US" sz="1400" dirty="0"/>
          </a:p>
        </p:txBody>
      </p:sp>
      <p:sp>
        <p:nvSpPr>
          <p:cNvPr id="11" name="Text 7"/>
          <p:cNvSpPr txBox="1"/>
          <p:nvPr/>
        </p:nvSpPr>
        <p:spPr>
          <a:xfrm>
            <a:off x="685800" y="2011680"/>
            <a:ext cx="3749040" cy="2514600"/>
          </a:xfrm>
          <a:prstGeom prst="rect">
            <a:avLst/>
          </a:prstGeom>
          <a:noFill/>
          <a:ln/>
        </p:spPr>
        <p:txBody>
          <a:bodyPr wrap="square" lIns="0" tIns="0" rIns="0" bIns="0" rtlCol="0" anchor="t"/>
          <a:lstStyle/>
          <a:p>
            <a:pPr indent="0" marL="0">
              <a:buNone/>
            </a:pPr>
            <a:r>
              <a:rPr lang="en-US" sz="1300" dirty="0">
                <a:solidFill>
                  <a:srgbClr val="2B1A22"/>
                </a:solidFill>
                <a:latin typeface="Calibri" pitchFamily="34" charset="0"/>
                <a:ea typeface="Calibri" pitchFamily="34" charset="-122"/>
                <a:cs typeface="Calibri" pitchFamily="34" charset="-120"/>
              </a:rPr>
              <a:t>Dear [Student], all the best for your journey tomorrow! Flight [No.] departs at [time] from [airport]. Please carry your passport, visa, admission letter and tickets. [Name] will pick you up at [airport] and take you to [accommodation]. Call us on [number] anytime. — Team Medcity</a:t>
            </a:r>
            <a:endParaRPr lang="en-US" sz="1300" dirty="0"/>
          </a:p>
        </p:txBody>
      </p:sp>
      <p:sp>
        <p:nvSpPr>
          <p:cNvPr id="12" name="Text 8"/>
          <p:cNvSpPr txBox="1"/>
          <p:nvPr/>
        </p:nvSpPr>
        <p:spPr>
          <a:xfrm>
            <a:off x="5029200" y="1234440"/>
            <a:ext cx="3657600" cy="365760"/>
          </a:xfrm>
          <a:prstGeom prst="rect">
            <a:avLst/>
          </a:prstGeom>
          <a:noFill/>
          <a:ln/>
        </p:spPr>
        <p:txBody>
          <a:bodyPr wrap="square" lIns="0" tIns="0" rIns="0" bIns="0" rtlCol="0" anchor="ctr"/>
          <a:lstStyle/>
          <a:p>
            <a:pPr indent="0" marL="0">
              <a:buNone/>
            </a:pPr>
            <a:r>
              <a:rPr lang="en-US" sz="1800" b="1" dirty="0">
                <a:solidFill>
                  <a:srgbClr val="2B1A22"/>
                </a:solidFill>
                <a:latin typeface="Arial" pitchFamily="34" charset="0"/>
                <a:ea typeface="Arial" pitchFamily="34" charset="-122"/>
                <a:cs typeface="Arial" pitchFamily="34" charset="-120"/>
              </a:rPr>
              <a:t>Confirm before they fly</a:t>
            </a:r>
            <a:endParaRPr lang="en-US" sz="1800" dirty="0"/>
          </a:p>
        </p:txBody>
      </p:sp>
      <p:sp>
        <p:nvSpPr>
          <p:cNvPr id="13" name="Shape 9"/>
          <p:cNvSpPr/>
          <p:nvPr/>
        </p:nvSpPr>
        <p:spPr>
          <a:xfrm>
            <a:off x="5029200" y="1737360"/>
            <a:ext cx="310896" cy="310896"/>
          </a:xfrm>
          <a:prstGeom prst="ellipse">
            <a:avLst/>
          </a:prstGeom>
          <a:solidFill>
            <a:srgbClr val="C01F53"/>
          </a:solidFill>
          <a:ln w="12700">
            <a:solidFill>
              <a:srgbClr val="C01F53"/>
            </a:solidFill>
            <a:prstDash val="solid"/>
          </a:ln>
        </p:spPr>
      </p:sp>
      <p:pic>
        <p:nvPicPr>
          <p:cNvPr id="14" name="Image 2" descr="preencoded.png">    </p:cNvPr>
          <p:cNvPicPr>
            <a:picLocks noChangeAspect="1"/>
          </p:cNvPicPr>
          <p:nvPr/>
        </p:nvPicPr>
        <p:blipFill>
          <a:blip r:embed="rId3"/>
          <a:stretch>
            <a:fillRect/>
          </a:stretch>
        </p:blipFill>
        <p:spPr>
          <a:xfrm>
            <a:off x="5106924" y="1815084"/>
            <a:ext cx="155448" cy="155448"/>
          </a:xfrm>
          <a:prstGeom prst="rect">
            <a:avLst/>
          </a:prstGeom>
        </p:spPr>
      </p:pic>
      <p:sp>
        <p:nvSpPr>
          <p:cNvPr id="15" name="Text 10"/>
          <p:cNvSpPr txBox="1"/>
          <p:nvPr/>
        </p:nvSpPr>
        <p:spPr>
          <a:xfrm>
            <a:off x="5486400" y="1737360"/>
            <a:ext cx="3200400" cy="310896"/>
          </a:xfrm>
          <a:prstGeom prst="rect">
            <a:avLst/>
          </a:prstGeom>
          <a:noFill/>
          <a:ln/>
        </p:spPr>
        <p:txBody>
          <a:bodyPr wrap="square" lIns="0" tIns="0" rIns="0" bIns="0" rtlCol="0" anchor="ctr"/>
          <a:lstStyle/>
          <a:p>
            <a:pPr indent="0" marL="0">
              <a:buNone/>
            </a:pPr>
            <a:r>
              <a:rPr lang="en-US" sz="1400" dirty="0">
                <a:solidFill>
                  <a:srgbClr val="2B1A22"/>
                </a:solidFill>
                <a:latin typeface="Calibri" pitchFamily="34" charset="0"/>
                <a:ea typeface="Calibri" pitchFamily="34" charset="-122"/>
                <a:cs typeface="Calibri" pitchFamily="34" charset="-120"/>
              </a:rPr>
              <a:t>Flight time &amp; airport</a:t>
            </a:r>
            <a:endParaRPr lang="en-US" sz="1400" dirty="0"/>
          </a:p>
        </p:txBody>
      </p:sp>
      <p:sp>
        <p:nvSpPr>
          <p:cNvPr id="16" name="Shape 11"/>
          <p:cNvSpPr/>
          <p:nvPr/>
        </p:nvSpPr>
        <p:spPr>
          <a:xfrm>
            <a:off x="5029200" y="2212848"/>
            <a:ext cx="310896" cy="310896"/>
          </a:xfrm>
          <a:prstGeom prst="ellipse">
            <a:avLst/>
          </a:prstGeom>
          <a:solidFill>
            <a:srgbClr val="C01F53"/>
          </a:solidFill>
          <a:ln w="12700">
            <a:solidFill>
              <a:srgbClr val="C01F53"/>
            </a:solidFill>
            <a:prstDash val="solid"/>
          </a:ln>
        </p:spPr>
      </p:sp>
      <p:pic>
        <p:nvPicPr>
          <p:cNvPr id="17" name="Image 3" descr="preencoded.png">    </p:cNvPr>
          <p:cNvPicPr>
            <a:picLocks noChangeAspect="1"/>
          </p:cNvPicPr>
          <p:nvPr/>
        </p:nvPicPr>
        <p:blipFill>
          <a:blip r:embed="rId4"/>
          <a:stretch>
            <a:fillRect/>
          </a:stretch>
        </p:blipFill>
        <p:spPr>
          <a:xfrm>
            <a:off x="5106924" y="2290572"/>
            <a:ext cx="155448" cy="155448"/>
          </a:xfrm>
          <a:prstGeom prst="rect">
            <a:avLst/>
          </a:prstGeom>
        </p:spPr>
      </p:pic>
      <p:sp>
        <p:nvSpPr>
          <p:cNvPr id="18" name="Text 12"/>
          <p:cNvSpPr txBox="1"/>
          <p:nvPr/>
        </p:nvSpPr>
        <p:spPr>
          <a:xfrm>
            <a:off x="5486400" y="2212848"/>
            <a:ext cx="3200400" cy="310896"/>
          </a:xfrm>
          <a:prstGeom prst="rect">
            <a:avLst/>
          </a:prstGeom>
          <a:noFill/>
          <a:ln/>
        </p:spPr>
        <p:txBody>
          <a:bodyPr wrap="square" lIns="0" tIns="0" rIns="0" bIns="0" rtlCol="0" anchor="ctr"/>
          <a:lstStyle/>
          <a:p>
            <a:pPr indent="0" marL="0">
              <a:buNone/>
            </a:pPr>
            <a:r>
              <a:rPr lang="en-US" sz="1400" dirty="0">
                <a:solidFill>
                  <a:srgbClr val="2B1A22"/>
                </a:solidFill>
                <a:latin typeface="Calibri" pitchFamily="34" charset="0"/>
                <a:ea typeface="Calibri" pitchFamily="34" charset="-122"/>
                <a:cs typeface="Calibri" pitchFamily="34" charset="-120"/>
              </a:rPr>
              <a:t>Passport, visa &amp; originals packed</a:t>
            </a:r>
            <a:endParaRPr lang="en-US" sz="1400" dirty="0"/>
          </a:p>
        </p:txBody>
      </p:sp>
      <p:sp>
        <p:nvSpPr>
          <p:cNvPr id="19" name="Shape 13"/>
          <p:cNvSpPr/>
          <p:nvPr/>
        </p:nvSpPr>
        <p:spPr>
          <a:xfrm>
            <a:off x="5029200" y="2688336"/>
            <a:ext cx="310896" cy="310896"/>
          </a:xfrm>
          <a:prstGeom prst="ellipse">
            <a:avLst/>
          </a:prstGeom>
          <a:solidFill>
            <a:srgbClr val="C01F53"/>
          </a:solidFill>
          <a:ln w="12700">
            <a:solidFill>
              <a:srgbClr val="C01F53"/>
            </a:solidFill>
            <a:prstDash val="solid"/>
          </a:ln>
        </p:spPr>
      </p:sp>
      <p:pic>
        <p:nvPicPr>
          <p:cNvPr id="20" name="Image 4" descr="preencoded.png">    </p:cNvPr>
          <p:cNvPicPr>
            <a:picLocks noChangeAspect="1"/>
          </p:cNvPicPr>
          <p:nvPr/>
        </p:nvPicPr>
        <p:blipFill>
          <a:blip r:embed="rId5"/>
          <a:stretch>
            <a:fillRect/>
          </a:stretch>
        </p:blipFill>
        <p:spPr>
          <a:xfrm>
            <a:off x="5106924" y="2766060"/>
            <a:ext cx="155448" cy="155448"/>
          </a:xfrm>
          <a:prstGeom prst="rect">
            <a:avLst/>
          </a:prstGeom>
        </p:spPr>
      </p:pic>
      <p:sp>
        <p:nvSpPr>
          <p:cNvPr id="21" name="Text 14"/>
          <p:cNvSpPr txBox="1"/>
          <p:nvPr/>
        </p:nvSpPr>
        <p:spPr>
          <a:xfrm>
            <a:off x="5486400" y="2688336"/>
            <a:ext cx="3200400" cy="310896"/>
          </a:xfrm>
          <a:prstGeom prst="rect">
            <a:avLst/>
          </a:prstGeom>
          <a:noFill/>
          <a:ln/>
        </p:spPr>
        <p:txBody>
          <a:bodyPr wrap="square" lIns="0" tIns="0" rIns="0" bIns="0" rtlCol="0" anchor="ctr"/>
          <a:lstStyle/>
          <a:p>
            <a:pPr indent="0" marL="0">
              <a:buNone/>
            </a:pPr>
            <a:r>
              <a:rPr lang="en-US" sz="1400" dirty="0">
                <a:solidFill>
                  <a:srgbClr val="2B1A22"/>
                </a:solidFill>
                <a:latin typeface="Calibri" pitchFamily="34" charset="0"/>
                <a:ea typeface="Calibri" pitchFamily="34" charset="-122"/>
                <a:cs typeface="Calibri" pitchFamily="34" charset="-120"/>
              </a:rPr>
              <a:t>Admission / offer letter</a:t>
            </a:r>
            <a:endParaRPr lang="en-US" sz="1400" dirty="0"/>
          </a:p>
        </p:txBody>
      </p:sp>
      <p:sp>
        <p:nvSpPr>
          <p:cNvPr id="22" name="Shape 15"/>
          <p:cNvSpPr/>
          <p:nvPr/>
        </p:nvSpPr>
        <p:spPr>
          <a:xfrm>
            <a:off x="5029200" y="3163824"/>
            <a:ext cx="310896" cy="310896"/>
          </a:xfrm>
          <a:prstGeom prst="ellipse">
            <a:avLst/>
          </a:prstGeom>
          <a:solidFill>
            <a:srgbClr val="C01F53"/>
          </a:solidFill>
          <a:ln w="12700">
            <a:solidFill>
              <a:srgbClr val="C01F53"/>
            </a:solidFill>
            <a:prstDash val="solid"/>
          </a:ln>
        </p:spPr>
      </p:sp>
      <p:pic>
        <p:nvPicPr>
          <p:cNvPr id="23" name="Image 5" descr="preencoded.png">    </p:cNvPr>
          <p:cNvPicPr>
            <a:picLocks noChangeAspect="1"/>
          </p:cNvPicPr>
          <p:nvPr/>
        </p:nvPicPr>
        <p:blipFill>
          <a:blip r:embed="rId6"/>
          <a:stretch>
            <a:fillRect/>
          </a:stretch>
        </p:blipFill>
        <p:spPr>
          <a:xfrm>
            <a:off x="5106924" y="3241548"/>
            <a:ext cx="155448" cy="155448"/>
          </a:xfrm>
          <a:prstGeom prst="rect">
            <a:avLst/>
          </a:prstGeom>
        </p:spPr>
      </p:pic>
      <p:sp>
        <p:nvSpPr>
          <p:cNvPr id="24" name="Text 16"/>
          <p:cNvSpPr txBox="1"/>
          <p:nvPr/>
        </p:nvSpPr>
        <p:spPr>
          <a:xfrm>
            <a:off x="5486400" y="3163824"/>
            <a:ext cx="3200400" cy="310896"/>
          </a:xfrm>
          <a:prstGeom prst="rect">
            <a:avLst/>
          </a:prstGeom>
          <a:noFill/>
          <a:ln/>
        </p:spPr>
        <p:txBody>
          <a:bodyPr wrap="square" lIns="0" tIns="0" rIns="0" bIns="0" rtlCol="0" anchor="ctr"/>
          <a:lstStyle/>
          <a:p>
            <a:pPr indent="0" marL="0">
              <a:buNone/>
            </a:pPr>
            <a:r>
              <a:rPr lang="en-US" sz="1400" dirty="0">
                <a:solidFill>
                  <a:srgbClr val="2B1A22"/>
                </a:solidFill>
                <a:latin typeface="Calibri" pitchFamily="34" charset="0"/>
                <a:ea typeface="Calibri" pitchFamily="34" charset="-122"/>
                <a:cs typeface="Calibri" pitchFamily="34" charset="-120"/>
              </a:rPr>
              <a:t>Pickup person &amp; phone number</a:t>
            </a:r>
            <a:endParaRPr lang="en-US" sz="1400" dirty="0"/>
          </a:p>
        </p:txBody>
      </p:sp>
      <p:sp>
        <p:nvSpPr>
          <p:cNvPr id="25" name="Shape 17"/>
          <p:cNvSpPr/>
          <p:nvPr/>
        </p:nvSpPr>
        <p:spPr>
          <a:xfrm>
            <a:off x="5029200" y="3639312"/>
            <a:ext cx="310896" cy="310896"/>
          </a:xfrm>
          <a:prstGeom prst="ellipse">
            <a:avLst/>
          </a:prstGeom>
          <a:solidFill>
            <a:srgbClr val="C01F53"/>
          </a:solidFill>
          <a:ln w="12700">
            <a:solidFill>
              <a:srgbClr val="C01F53"/>
            </a:solidFill>
            <a:prstDash val="solid"/>
          </a:ln>
        </p:spPr>
      </p:sp>
      <p:pic>
        <p:nvPicPr>
          <p:cNvPr id="26" name="Image 6" descr="preencoded.png">    </p:cNvPr>
          <p:cNvPicPr>
            <a:picLocks noChangeAspect="1"/>
          </p:cNvPicPr>
          <p:nvPr/>
        </p:nvPicPr>
        <p:blipFill>
          <a:blip r:embed="rId7"/>
          <a:stretch>
            <a:fillRect/>
          </a:stretch>
        </p:blipFill>
        <p:spPr>
          <a:xfrm>
            <a:off x="5106924" y="3717036"/>
            <a:ext cx="155448" cy="155448"/>
          </a:xfrm>
          <a:prstGeom prst="rect">
            <a:avLst/>
          </a:prstGeom>
        </p:spPr>
      </p:pic>
      <p:sp>
        <p:nvSpPr>
          <p:cNvPr id="27" name="Text 18"/>
          <p:cNvSpPr txBox="1"/>
          <p:nvPr/>
        </p:nvSpPr>
        <p:spPr>
          <a:xfrm>
            <a:off x="5486400" y="3639312"/>
            <a:ext cx="3200400" cy="310896"/>
          </a:xfrm>
          <a:prstGeom prst="rect">
            <a:avLst/>
          </a:prstGeom>
          <a:noFill/>
          <a:ln/>
        </p:spPr>
        <p:txBody>
          <a:bodyPr wrap="square" lIns="0" tIns="0" rIns="0" bIns="0" rtlCol="0" anchor="ctr"/>
          <a:lstStyle/>
          <a:p>
            <a:pPr indent="0" marL="0">
              <a:buNone/>
            </a:pPr>
            <a:r>
              <a:rPr lang="en-US" sz="1400" dirty="0">
                <a:solidFill>
                  <a:srgbClr val="2B1A22"/>
                </a:solidFill>
                <a:latin typeface="Calibri" pitchFamily="34" charset="0"/>
                <a:ea typeface="Calibri" pitchFamily="34" charset="-122"/>
                <a:cs typeface="Calibri" pitchFamily="34" charset="-120"/>
              </a:rPr>
              <a:t>Accommodation address</a:t>
            </a:r>
            <a:endParaRPr lang="en-US" sz="1400" dirty="0"/>
          </a:p>
        </p:txBody>
      </p:sp>
      <p:sp>
        <p:nvSpPr>
          <p:cNvPr id="28" name="Shape 19"/>
          <p:cNvSpPr/>
          <p:nvPr/>
        </p:nvSpPr>
        <p:spPr>
          <a:xfrm>
            <a:off x="5029200" y="4114800"/>
            <a:ext cx="310896" cy="310896"/>
          </a:xfrm>
          <a:prstGeom prst="ellipse">
            <a:avLst/>
          </a:prstGeom>
          <a:solidFill>
            <a:srgbClr val="C01F53"/>
          </a:solidFill>
          <a:ln w="12700">
            <a:solidFill>
              <a:srgbClr val="C01F53"/>
            </a:solidFill>
            <a:prstDash val="solid"/>
          </a:ln>
        </p:spPr>
      </p:sp>
      <p:pic>
        <p:nvPicPr>
          <p:cNvPr id="29" name="Image 7" descr="preencoded.png">    </p:cNvPr>
          <p:cNvPicPr>
            <a:picLocks noChangeAspect="1"/>
          </p:cNvPicPr>
          <p:nvPr/>
        </p:nvPicPr>
        <p:blipFill>
          <a:blip r:embed="rId8"/>
          <a:stretch>
            <a:fillRect/>
          </a:stretch>
        </p:blipFill>
        <p:spPr>
          <a:xfrm>
            <a:off x="5106924" y="4192524"/>
            <a:ext cx="155448" cy="155448"/>
          </a:xfrm>
          <a:prstGeom prst="rect">
            <a:avLst/>
          </a:prstGeom>
        </p:spPr>
      </p:pic>
      <p:sp>
        <p:nvSpPr>
          <p:cNvPr id="30" name="Text 20"/>
          <p:cNvSpPr txBox="1"/>
          <p:nvPr/>
        </p:nvSpPr>
        <p:spPr>
          <a:xfrm>
            <a:off x="5486400" y="4114800"/>
            <a:ext cx="3200400" cy="310896"/>
          </a:xfrm>
          <a:prstGeom prst="rect">
            <a:avLst/>
          </a:prstGeom>
          <a:noFill/>
          <a:ln/>
        </p:spPr>
        <p:txBody>
          <a:bodyPr wrap="square" lIns="0" tIns="0" rIns="0" bIns="0" rtlCol="0" anchor="ctr"/>
          <a:lstStyle/>
          <a:p>
            <a:pPr indent="0" marL="0">
              <a:buNone/>
            </a:pPr>
            <a:r>
              <a:rPr lang="en-US" sz="1400" dirty="0">
                <a:solidFill>
                  <a:srgbClr val="2B1A22"/>
                </a:solidFill>
                <a:latin typeface="Calibri" pitchFamily="34" charset="0"/>
                <a:ea typeface="Calibri" pitchFamily="34" charset="-122"/>
                <a:cs typeface="Calibri" pitchFamily="34" charset="-120"/>
              </a:rPr>
              <a:t>Emergency contact numbers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6492240" cy="457200"/>
          </a:xfrm>
          <a:prstGeom prst="rect">
            <a:avLst/>
          </a:prstGeom>
          <a:noFill/>
          <a:ln/>
        </p:spPr>
        <p:txBody>
          <a:bodyPr wrap="square" lIns="0" tIns="0" rIns="0" bIns="0" rtlCol="0" anchor="ctr"/>
          <a:lstStyle/>
          <a:p>
            <a:pPr indent="0" marL="0">
              <a:buNone/>
            </a:pPr>
            <a:r>
              <a:rPr lang="en-US" sz="2600" b="1" dirty="0">
                <a:solidFill>
                  <a:srgbClr val="2B1A22"/>
                </a:solidFill>
                <a:latin typeface="Arial" pitchFamily="34" charset="0"/>
                <a:ea typeface="Arial" pitchFamily="34" charset="-122"/>
                <a:cs typeface="Arial" pitchFamily="34" charset="-120"/>
              </a:rPr>
              <a:t>Who Owns What</a:t>
            </a:r>
            <a:endParaRPr lang="en-US" sz="2600" dirty="0"/>
          </a:p>
        </p:txBody>
      </p:sp>
      <p:sp>
        <p:nvSpPr>
          <p:cNvPr id="3" name="Text 1"/>
          <p:cNvSpPr txBox="1"/>
          <p:nvPr/>
        </p:nvSpPr>
        <p:spPr>
          <a:xfrm>
            <a:off x="457200" y="713232"/>
            <a:ext cx="6675120" cy="274320"/>
          </a:xfrm>
          <a:prstGeom prst="rect">
            <a:avLst/>
          </a:prstGeom>
          <a:noFill/>
          <a:ln/>
        </p:spPr>
        <p:txBody>
          <a:bodyPr wrap="square" lIns="0" tIns="0" rIns="0" bIns="0" rtlCol="0" anchor="ctr"/>
          <a:lstStyle/>
          <a:p>
            <a:pPr indent="0" marL="0">
              <a:buNone/>
            </a:pPr>
            <a:r>
              <a:rPr lang="en-US" sz="1300" i="1" dirty="0">
                <a:solidFill>
                  <a:srgbClr val="C01F53"/>
                </a:solidFill>
                <a:latin typeface="Calibri" pitchFamily="34" charset="0"/>
                <a:ea typeface="Calibri" pitchFamily="34" charset="-122"/>
                <a:cs typeface="Calibri" pitchFamily="34" charset="-120"/>
              </a:rPr>
              <a:t>Clear ownership keeps every file moving</a:t>
            </a:r>
            <a:endParaRPr lang="en-US" sz="1300" dirty="0"/>
          </a:p>
        </p:txBody>
      </p:sp>
      <p:pic>
        <p:nvPicPr>
          <p:cNvPr id="4" name="Image 0" descr="preencoded.png">    </p:cNvPr>
          <p:cNvPicPr>
            <a:picLocks noChangeAspect="1"/>
          </p:cNvPicPr>
          <p:nvPr/>
        </p:nvPicPr>
        <p:blipFill>
          <a:blip r:embed="rId1"/>
          <a:stretch>
            <a:fillRect/>
          </a:stretch>
        </p:blipFill>
        <p:spPr>
          <a:xfrm>
            <a:off x="8183880" y="274320"/>
            <a:ext cx="548640" cy="548640"/>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2011680"/>
                <a:gridCol w="4480560"/>
                <a:gridCol w="173736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Role</a:t>
                      </a:r>
                      <a:endParaRPr lang="en-US" sz="1200" dirty="0">
                        <a:latin typeface="Arial" charset="0"/>
                        <a:ea typeface="Arial" charset="0"/>
                        <a:cs typeface="Arial" charset="0"/>
                      </a:endParaRPr>
                    </a:p>
                  </a:txBody>
                  <a:tcPr marL="73152" marR="73152" marT="73152" marB="73152" anchor="ctr">
                    <a:lnL w="9525" cap="flat" cmpd="sng" algn="ctr">
                      <a:solidFill>
                        <a:srgbClr val="EBD3DC"/>
                      </a:solidFill>
                      <a:prstDash val="solid"/>
                      <a:round/>
                      <a:headEnd type="none" w="med" len="med"/>
                      <a:tailEnd type="none" w="med" len="med"/>
                    </a:lnL>
                    <a:lnR w="9525" cap="flat" cmpd="sng" algn="ctr">
                      <a:solidFill>
                        <a:srgbClr val="EBD3DC"/>
                      </a:solidFill>
                      <a:prstDash val="solid"/>
                      <a:round/>
                      <a:headEnd type="none" w="med" len="med"/>
                      <a:tailEnd type="none" w="med" len="med"/>
                    </a:lnR>
                    <a:lnT w="9525" cap="flat" cmpd="sng" algn="ctr">
                      <a:solidFill>
                        <a:srgbClr val="EBD3DC"/>
                      </a:solidFill>
                      <a:prstDash val="solid"/>
                      <a:round/>
                      <a:headEnd type="none" w="med" len="med"/>
                      <a:tailEnd type="none" w="med" len="med"/>
                    </a:lnT>
                    <a:lnB w="9525" cap="flat" cmpd="sng" algn="ctr">
                      <a:solidFill>
                        <a:srgbClr val="EBD3DC"/>
                      </a:solidFill>
                      <a:prstDash val="solid"/>
                      <a:round/>
                      <a:headEnd type="none" w="med" len="med"/>
                      <a:tailEnd type="none" w="med" len="med"/>
                    </a:lnB>
                    <a:solidFill>
                      <a:srgbClr val="C01F53"/>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Main responsibilities</a:t>
                      </a:r>
                      <a:endParaRPr lang="en-US" sz="1200" dirty="0">
                        <a:latin typeface="Arial" charset="0"/>
                        <a:ea typeface="Arial" charset="0"/>
                        <a:cs typeface="Arial" charset="0"/>
                      </a:endParaRPr>
                    </a:p>
                  </a:txBody>
                  <a:tcPr marL="73152" marR="73152" marT="73152" marB="73152" anchor="ctr">
                    <a:lnL w="9525" cap="flat" cmpd="sng" algn="ctr">
                      <a:solidFill>
                        <a:srgbClr val="EBD3DC"/>
                      </a:solidFill>
                      <a:prstDash val="solid"/>
                      <a:round/>
                      <a:headEnd type="none" w="med" len="med"/>
                      <a:tailEnd type="none" w="med" len="med"/>
                    </a:lnL>
                    <a:lnR w="9525" cap="flat" cmpd="sng" algn="ctr">
                      <a:solidFill>
                        <a:srgbClr val="EBD3DC"/>
                      </a:solidFill>
                      <a:prstDash val="solid"/>
                      <a:round/>
                      <a:headEnd type="none" w="med" len="med"/>
                      <a:tailEnd type="none" w="med" len="med"/>
                    </a:lnR>
                    <a:lnT w="9525" cap="flat" cmpd="sng" algn="ctr">
                      <a:solidFill>
                        <a:srgbClr val="EBD3DC"/>
                      </a:solidFill>
                      <a:prstDash val="solid"/>
                      <a:round/>
                      <a:headEnd type="none" w="med" len="med"/>
                      <a:tailEnd type="none" w="med" len="med"/>
                    </a:lnT>
                    <a:lnB w="9525" cap="flat" cmpd="sng" algn="ctr">
                      <a:solidFill>
                        <a:srgbClr val="EBD3DC"/>
                      </a:solidFill>
                      <a:prstDash val="solid"/>
                      <a:round/>
                      <a:headEnd type="none" w="med" len="med"/>
                      <a:tailEnd type="none" w="med" len="med"/>
                    </a:lnB>
                    <a:solidFill>
                      <a:srgbClr val="C01F53"/>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Hands over to</a:t>
                      </a:r>
                      <a:endParaRPr lang="en-US" sz="1200" dirty="0">
                        <a:latin typeface="Arial" charset="0"/>
                        <a:ea typeface="Arial" charset="0"/>
                        <a:cs typeface="Arial" charset="0"/>
                      </a:endParaRPr>
                    </a:p>
                  </a:txBody>
                  <a:tcPr marL="73152" marR="73152" marT="73152" marB="73152" anchor="ctr">
                    <a:lnL w="9525" cap="flat" cmpd="sng" algn="ctr">
                      <a:solidFill>
                        <a:srgbClr val="EBD3DC"/>
                      </a:solidFill>
                      <a:prstDash val="solid"/>
                      <a:round/>
                      <a:headEnd type="none" w="med" len="med"/>
                      <a:tailEnd type="none" w="med" len="med"/>
                    </a:lnL>
                    <a:lnR w="9525" cap="flat" cmpd="sng" algn="ctr">
                      <a:solidFill>
                        <a:srgbClr val="EBD3DC"/>
                      </a:solidFill>
                      <a:prstDash val="solid"/>
                      <a:round/>
                      <a:headEnd type="none" w="med" len="med"/>
                      <a:tailEnd type="none" w="med" len="med"/>
                    </a:lnR>
                    <a:lnT w="9525" cap="flat" cmpd="sng" algn="ctr">
                      <a:solidFill>
                        <a:srgbClr val="EBD3DC"/>
                      </a:solidFill>
                      <a:prstDash val="solid"/>
                      <a:round/>
                      <a:headEnd type="none" w="med" len="med"/>
                      <a:tailEnd type="none" w="med" len="med"/>
                    </a:lnT>
                    <a:lnB w="9525" cap="flat" cmpd="sng" algn="ctr">
                      <a:solidFill>
                        <a:srgbClr val="EBD3DC"/>
                      </a:solidFill>
                      <a:prstDash val="solid"/>
                      <a:round/>
                      <a:headEnd type="none" w="med" len="med"/>
                      <a:tailEnd type="none" w="med" len="med"/>
                    </a:lnB>
                    <a:solidFill>
                      <a:srgbClr val="C01F53"/>
                    </a:solidFill>
                  </a:tcPr>
                </a:tc>
              </a:tr>
              <a:tr h="731520">
                <a:tc>
                  <a:txBody>
                    <a:bodyPr/>
                    <a:lstStyle/>
                    <a:p>
                      <a:pPr indent="0" marL="0">
                        <a:buNone/>
                      </a:pPr>
                      <a:r>
                        <a:rPr lang="en-US" sz="1200" b="1" dirty="0">
                          <a:solidFill>
                            <a:srgbClr val="2B1A22"/>
                          </a:solidFill>
                          <a:latin typeface="Calibri" pitchFamily="34" charset="0"/>
                          <a:ea typeface="Calibri" pitchFamily="34" charset="-122"/>
                          <a:cs typeface="Calibri" pitchFamily="34" charset="-120"/>
                        </a:rPr>
                        <a:t>Counsellor</a:t>
                      </a:r>
                      <a:endParaRPr lang="en-US" sz="1200" dirty="0">
                        <a:latin typeface="Calibri" charset="0"/>
                        <a:ea typeface="Calibri" charset="0"/>
                        <a:cs typeface="Calibri" charset="0"/>
                      </a:endParaRPr>
                    </a:p>
                  </a:txBody>
                  <a:tcPr marL="73152" marR="73152" marT="73152" marB="73152" anchor="ctr">
                    <a:lnL w="9525" cap="flat" cmpd="sng" algn="ctr">
                      <a:solidFill>
                        <a:srgbClr val="EBD3DC"/>
                      </a:solidFill>
                      <a:prstDash val="solid"/>
                      <a:round/>
                      <a:headEnd type="none" w="med" len="med"/>
                      <a:tailEnd type="none" w="med" len="med"/>
                    </a:lnL>
                    <a:lnR w="9525" cap="flat" cmpd="sng" algn="ctr">
                      <a:solidFill>
                        <a:srgbClr val="EBD3DC"/>
                      </a:solidFill>
                      <a:prstDash val="solid"/>
                      <a:round/>
                      <a:headEnd type="none" w="med" len="med"/>
                      <a:tailEnd type="none" w="med" len="med"/>
                    </a:lnR>
                    <a:lnT w="9525" cap="flat" cmpd="sng" algn="ctr">
                      <a:solidFill>
                        <a:srgbClr val="EBD3DC"/>
                      </a:solidFill>
                      <a:prstDash val="solid"/>
                      <a:round/>
                      <a:headEnd type="none" w="med" len="med"/>
                      <a:tailEnd type="none" w="med" len="med"/>
                    </a:lnT>
                    <a:lnB w="9525" cap="flat" cmpd="sng" algn="ctr">
                      <a:solidFill>
                        <a:srgbClr val="EBD3DC"/>
                      </a:solidFill>
                      <a:prstDash val="solid"/>
                      <a:round/>
                      <a:headEnd type="none" w="med" len="med"/>
                      <a:tailEnd type="none" w="med" len="med"/>
                    </a:lnB>
                    <a:solidFill>
                      <a:srgbClr val="FFFFFF"/>
                    </a:solidFill>
                  </a:tcPr>
                </a:tc>
                <a:tc>
                  <a:txBody>
                    <a:bodyPr/>
                    <a:lstStyle/>
                    <a:p>
                      <a:pPr indent="0" marL="0">
                        <a:buNone/>
                      </a:pPr>
                      <a:r>
                        <a:rPr lang="en-US" sz="1200" dirty="0">
                          <a:solidFill>
                            <a:srgbClr val="2B1A22"/>
                          </a:solidFill>
                          <a:latin typeface="Calibri" pitchFamily="34" charset="0"/>
                          <a:ea typeface="Calibri" pitchFamily="34" charset="-122"/>
                          <a:cs typeface="Calibri" pitchFamily="34" charset="-120"/>
                        </a:rPr>
                        <a:t>Collect CV, qualifications, passport, IELTS, LOR, MOI, registration fee + evidence; raise pending items; send official mail</a:t>
                      </a:r>
                      <a:endParaRPr lang="en-US" sz="1200" dirty="0">
                        <a:latin typeface="Calibri" charset="0"/>
                        <a:ea typeface="Calibri" charset="0"/>
                        <a:cs typeface="Calibri" charset="0"/>
                      </a:endParaRPr>
                    </a:p>
                  </a:txBody>
                  <a:tcPr marL="73152" marR="73152" marT="73152" marB="73152" anchor="ctr">
                    <a:lnL w="9525" cap="flat" cmpd="sng" algn="ctr">
                      <a:solidFill>
                        <a:srgbClr val="EBD3DC"/>
                      </a:solidFill>
                      <a:prstDash val="solid"/>
                      <a:round/>
                      <a:headEnd type="none" w="med" len="med"/>
                      <a:tailEnd type="none" w="med" len="med"/>
                    </a:lnL>
                    <a:lnR w="9525" cap="flat" cmpd="sng" algn="ctr">
                      <a:solidFill>
                        <a:srgbClr val="EBD3DC"/>
                      </a:solidFill>
                      <a:prstDash val="solid"/>
                      <a:round/>
                      <a:headEnd type="none" w="med" len="med"/>
                      <a:tailEnd type="none" w="med" len="med"/>
                    </a:lnR>
                    <a:lnT w="9525" cap="flat" cmpd="sng" algn="ctr">
                      <a:solidFill>
                        <a:srgbClr val="EBD3DC"/>
                      </a:solidFill>
                      <a:prstDash val="solid"/>
                      <a:round/>
                      <a:headEnd type="none" w="med" len="med"/>
                      <a:tailEnd type="none" w="med" len="med"/>
                    </a:lnT>
                    <a:lnB w="9525" cap="flat" cmpd="sng" algn="ctr">
                      <a:solidFill>
                        <a:srgbClr val="EBD3DC"/>
                      </a:solidFill>
                      <a:prstDash val="solid"/>
                      <a:round/>
                      <a:headEnd type="none" w="med" len="med"/>
                      <a:tailEnd type="none" w="med" len="med"/>
                    </a:lnB>
                    <a:solidFill>
                      <a:srgbClr val="FFFFFF"/>
                    </a:solidFill>
                  </a:tcPr>
                </a:tc>
                <a:tc>
                  <a:txBody>
                    <a:bodyPr/>
                    <a:lstStyle/>
                    <a:p>
                      <a:pPr indent="0" marL="0">
                        <a:buNone/>
                      </a:pPr>
                      <a:r>
                        <a:rPr lang="en-US" sz="1200" dirty="0">
                          <a:solidFill>
                            <a:srgbClr val="2B1A22"/>
                          </a:solidFill>
                          <a:latin typeface="Calibri" pitchFamily="34" charset="0"/>
                          <a:ea typeface="Calibri" pitchFamily="34" charset="-122"/>
                          <a:cs typeface="Calibri" pitchFamily="34" charset="-120"/>
                        </a:rPr>
                        <a:t>ATL</a:t>
                      </a:r>
                      <a:endParaRPr lang="en-US" sz="1200" dirty="0">
                        <a:latin typeface="Calibri" charset="0"/>
                        <a:ea typeface="Calibri" charset="0"/>
                        <a:cs typeface="Calibri" charset="0"/>
                      </a:endParaRPr>
                    </a:p>
                  </a:txBody>
                  <a:tcPr marL="73152" marR="73152" marT="73152" marB="73152" anchor="ctr">
                    <a:lnL w="9525" cap="flat" cmpd="sng" algn="ctr">
                      <a:solidFill>
                        <a:srgbClr val="EBD3DC"/>
                      </a:solidFill>
                      <a:prstDash val="solid"/>
                      <a:round/>
                      <a:headEnd type="none" w="med" len="med"/>
                      <a:tailEnd type="none" w="med" len="med"/>
                    </a:lnL>
                    <a:lnR w="9525" cap="flat" cmpd="sng" algn="ctr">
                      <a:solidFill>
                        <a:srgbClr val="EBD3DC"/>
                      </a:solidFill>
                      <a:prstDash val="solid"/>
                      <a:round/>
                      <a:headEnd type="none" w="med" len="med"/>
                      <a:tailEnd type="none" w="med" len="med"/>
                    </a:lnR>
                    <a:lnT w="9525" cap="flat" cmpd="sng" algn="ctr">
                      <a:solidFill>
                        <a:srgbClr val="EBD3DC"/>
                      </a:solidFill>
                      <a:prstDash val="solid"/>
                      <a:round/>
                      <a:headEnd type="none" w="med" len="med"/>
                      <a:tailEnd type="none" w="med" len="med"/>
                    </a:lnT>
                    <a:lnB w="9525" cap="flat" cmpd="sng" algn="ctr">
                      <a:solidFill>
                        <a:srgbClr val="EBD3DC"/>
                      </a:solidFill>
                      <a:prstDash val="solid"/>
                      <a:round/>
                      <a:headEnd type="none" w="med" len="med"/>
                      <a:tailEnd type="none" w="med" len="med"/>
                    </a:lnB>
                    <a:solidFill>
                      <a:srgbClr val="FFFFFF"/>
                    </a:solidFill>
                  </a:tcPr>
                </a:tc>
              </a:tr>
              <a:tr h="640080">
                <a:tc>
                  <a:txBody>
                    <a:bodyPr/>
                    <a:lstStyle/>
                    <a:p>
                      <a:pPr indent="0" marL="0">
                        <a:buNone/>
                      </a:pPr>
                      <a:r>
                        <a:rPr lang="en-US" sz="1200" b="1" dirty="0">
                          <a:solidFill>
                            <a:srgbClr val="2B1A22"/>
                          </a:solidFill>
                          <a:latin typeface="Calibri" pitchFamily="34" charset="0"/>
                          <a:ea typeface="Calibri" pitchFamily="34" charset="-122"/>
                          <a:cs typeface="Calibri" pitchFamily="34" charset="-120"/>
                        </a:rPr>
                        <a:t>Application Team Lead (ATL)</a:t>
                      </a:r>
                      <a:endParaRPr lang="en-US" sz="1200" dirty="0">
                        <a:latin typeface="Calibri" charset="0"/>
                        <a:ea typeface="Calibri" charset="0"/>
                        <a:cs typeface="Calibri" charset="0"/>
                      </a:endParaRPr>
                    </a:p>
                  </a:txBody>
                  <a:tcPr marL="73152" marR="73152" marT="73152" marB="73152" anchor="ctr">
                    <a:lnL w="9525" cap="flat" cmpd="sng" algn="ctr">
                      <a:solidFill>
                        <a:srgbClr val="EBD3DC"/>
                      </a:solidFill>
                      <a:prstDash val="solid"/>
                      <a:round/>
                      <a:headEnd type="none" w="med" len="med"/>
                      <a:tailEnd type="none" w="med" len="med"/>
                    </a:lnL>
                    <a:lnR w="9525" cap="flat" cmpd="sng" algn="ctr">
                      <a:solidFill>
                        <a:srgbClr val="EBD3DC"/>
                      </a:solidFill>
                      <a:prstDash val="solid"/>
                      <a:round/>
                      <a:headEnd type="none" w="med" len="med"/>
                      <a:tailEnd type="none" w="med" len="med"/>
                    </a:lnR>
                    <a:lnT w="9525" cap="flat" cmpd="sng" algn="ctr">
                      <a:solidFill>
                        <a:srgbClr val="EBD3DC"/>
                      </a:solidFill>
                      <a:prstDash val="solid"/>
                      <a:round/>
                      <a:headEnd type="none" w="med" len="med"/>
                      <a:tailEnd type="none" w="med" len="med"/>
                    </a:lnT>
                    <a:lnB w="9525" cap="flat" cmpd="sng" algn="ctr">
                      <a:solidFill>
                        <a:srgbClr val="EBD3DC"/>
                      </a:solidFill>
                      <a:prstDash val="solid"/>
                      <a:round/>
                      <a:headEnd type="none" w="med" len="med"/>
                      <a:tailEnd type="none" w="med" len="med"/>
                    </a:lnB>
                    <a:solidFill>
                      <a:srgbClr val="FFFFFF"/>
                    </a:solidFill>
                  </a:tcPr>
                </a:tc>
                <a:tc>
                  <a:txBody>
                    <a:bodyPr/>
                    <a:lstStyle/>
                    <a:p>
                      <a:pPr indent="0" marL="0">
                        <a:buNone/>
                      </a:pPr>
                      <a:r>
                        <a:rPr lang="en-US" sz="1200" dirty="0">
                          <a:solidFill>
                            <a:srgbClr val="2B1A22"/>
                          </a:solidFill>
                          <a:latin typeface="Calibri" pitchFamily="34" charset="0"/>
                          <a:ea typeface="Calibri" pitchFamily="34" charset="-122"/>
                          <a:cs typeface="Calibri" pitchFamily="34" charset="-120"/>
                        </a:rPr>
                        <a:t>Review the file, reply to the mail, assign the Documentation Executive in CC</a:t>
                      </a:r>
                      <a:endParaRPr lang="en-US" sz="1200" dirty="0">
                        <a:latin typeface="Calibri" charset="0"/>
                        <a:ea typeface="Calibri" charset="0"/>
                        <a:cs typeface="Calibri" charset="0"/>
                      </a:endParaRPr>
                    </a:p>
                  </a:txBody>
                  <a:tcPr marL="73152" marR="73152" marT="73152" marB="73152" anchor="ctr">
                    <a:lnL w="9525" cap="flat" cmpd="sng" algn="ctr">
                      <a:solidFill>
                        <a:srgbClr val="EBD3DC"/>
                      </a:solidFill>
                      <a:prstDash val="solid"/>
                      <a:round/>
                      <a:headEnd type="none" w="med" len="med"/>
                      <a:tailEnd type="none" w="med" len="med"/>
                    </a:lnL>
                    <a:lnR w="9525" cap="flat" cmpd="sng" algn="ctr">
                      <a:solidFill>
                        <a:srgbClr val="EBD3DC"/>
                      </a:solidFill>
                      <a:prstDash val="solid"/>
                      <a:round/>
                      <a:headEnd type="none" w="med" len="med"/>
                      <a:tailEnd type="none" w="med" len="med"/>
                    </a:lnR>
                    <a:lnT w="9525" cap="flat" cmpd="sng" algn="ctr">
                      <a:solidFill>
                        <a:srgbClr val="EBD3DC"/>
                      </a:solidFill>
                      <a:prstDash val="solid"/>
                      <a:round/>
                      <a:headEnd type="none" w="med" len="med"/>
                      <a:tailEnd type="none" w="med" len="med"/>
                    </a:lnT>
                    <a:lnB w="9525" cap="flat" cmpd="sng" algn="ctr">
                      <a:solidFill>
                        <a:srgbClr val="EBD3DC"/>
                      </a:solidFill>
                      <a:prstDash val="solid"/>
                      <a:round/>
                      <a:headEnd type="none" w="med" len="med"/>
                      <a:tailEnd type="none" w="med" len="med"/>
                    </a:lnB>
                    <a:solidFill>
                      <a:srgbClr val="FFFFFF"/>
                    </a:solidFill>
                  </a:tcPr>
                </a:tc>
                <a:tc>
                  <a:txBody>
                    <a:bodyPr/>
                    <a:lstStyle/>
                    <a:p>
                      <a:pPr indent="0" marL="0">
                        <a:buNone/>
                      </a:pPr>
                      <a:r>
                        <a:rPr lang="en-US" sz="1200" dirty="0">
                          <a:solidFill>
                            <a:srgbClr val="2B1A22"/>
                          </a:solidFill>
                          <a:latin typeface="Calibri" pitchFamily="34" charset="0"/>
                          <a:ea typeface="Calibri" pitchFamily="34" charset="-122"/>
                          <a:cs typeface="Calibri" pitchFamily="34" charset="-120"/>
                        </a:rPr>
                        <a:t>Documentation Executive</a:t>
                      </a:r>
                      <a:endParaRPr lang="en-US" sz="1200" dirty="0">
                        <a:latin typeface="Calibri" charset="0"/>
                        <a:ea typeface="Calibri" charset="0"/>
                        <a:cs typeface="Calibri" charset="0"/>
                      </a:endParaRPr>
                    </a:p>
                  </a:txBody>
                  <a:tcPr marL="73152" marR="73152" marT="73152" marB="73152" anchor="ctr">
                    <a:lnL w="9525" cap="flat" cmpd="sng" algn="ctr">
                      <a:solidFill>
                        <a:srgbClr val="EBD3DC"/>
                      </a:solidFill>
                      <a:prstDash val="solid"/>
                      <a:round/>
                      <a:headEnd type="none" w="med" len="med"/>
                      <a:tailEnd type="none" w="med" len="med"/>
                    </a:lnL>
                    <a:lnR w="9525" cap="flat" cmpd="sng" algn="ctr">
                      <a:solidFill>
                        <a:srgbClr val="EBD3DC"/>
                      </a:solidFill>
                      <a:prstDash val="solid"/>
                      <a:round/>
                      <a:headEnd type="none" w="med" len="med"/>
                      <a:tailEnd type="none" w="med" len="med"/>
                    </a:lnR>
                    <a:lnT w="9525" cap="flat" cmpd="sng" algn="ctr">
                      <a:solidFill>
                        <a:srgbClr val="EBD3DC"/>
                      </a:solidFill>
                      <a:prstDash val="solid"/>
                      <a:round/>
                      <a:headEnd type="none" w="med" len="med"/>
                      <a:tailEnd type="none" w="med" len="med"/>
                    </a:lnT>
                    <a:lnB w="9525" cap="flat" cmpd="sng" algn="ctr">
                      <a:solidFill>
                        <a:srgbClr val="EBD3DC"/>
                      </a:solidFill>
                      <a:prstDash val="solid"/>
                      <a:round/>
                      <a:headEnd type="none" w="med" len="med"/>
                      <a:tailEnd type="none" w="med" len="med"/>
                    </a:lnB>
                    <a:solidFill>
                      <a:srgbClr val="FFFFFF"/>
                    </a:solidFill>
                  </a:tcPr>
                </a:tc>
              </a:tr>
              <a:tr h="731520">
                <a:tc>
                  <a:txBody>
                    <a:bodyPr/>
                    <a:lstStyle/>
                    <a:p>
                      <a:pPr indent="0" marL="0">
                        <a:buNone/>
                      </a:pPr>
                      <a:r>
                        <a:rPr lang="en-US" sz="1200" b="1" dirty="0">
                          <a:solidFill>
                            <a:srgbClr val="2B1A22"/>
                          </a:solidFill>
                          <a:latin typeface="Calibri" pitchFamily="34" charset="0"/>
                          <a:ea typeface="Calibri" pitchFamily="34" charset="-122"/>
                          <a:cs typeface="Calibri" pitchFamily="34" charset="-120"/>
                        </a:rPr>
                        <a:t>Documentation Executive</a:t>
                      </a:r>
                      <a:endParaRPr lang="en-US" sz="1200" dirty="0">
                        <a:latin typeface="Calibri" charset="0"/>
                        <a:ea typeface="Calibri" charset="0"/>
                        <a:cs typeface="Calibri" charset="0"/>
                      </a:endParaRPr>
                    </a:p>
                  </a:txBody>
                  <a:tcPr marL="73152" marR="73152" marT="73152" marB="73152" anchor="ctr">
                    <a:lnL w="9525" cap="flat" cmpd="sng" algn="ctr">
                      <a:solidFill>
                        <a:srgbClr val="EBD3DC"/>
                      </a:solidFill>
                      <a:prstDash val="solid"/>
                      <a:round/>
                      <a:headEnd type="none" w="med" len="med"/>
                      <a:tailEnd type="none" w="med" len="med"/>
                    </a:lnL>
                    <a:lnR w="9525" cap="flat" cmpd="sng" algn="ctr">
                      <a:solidFill>
                        <a:srgbClr val="EBD3DC"/>
                      </a:solidFill>
                      <a:prstDash val="solid"/>
                      <a:round/>
                      <a:headEnd type="none" w="med" len="med"/>
                      <a:tailEnd type="none" w="med" len="med"/>
                    </a:lnR>
                    <a:lnT w="9525" cap="flat" cmpd="sng" algn="ctr">
                      <a:solidFill>
                        <a:srgbClr val="EBD3DC"/>
                      </a:solidFill>
                      <a:prstDash val="solid"/>
                      <a:round/>
                      <a:headEnd type="none" w="med" len="med"/>
                      <a:tailEnd type="none" w="med" len="med"/>
                    </a:lnT>
                    <a:lnB w="9525" cap="flat" cmpd="sng" algn="ctr">
                      <a:solidFill>
                        <a:srgbClr val="EBD3DC"/>
                      </a:solidFill>
                      <a:prstDash val="solid"/>
                      <a:round/>
                      <a:headEnd type="none" w="med" len="med"/>
                      <a:tailEnd type="none" w="med" len="med"/>
                    </a:lnB>
                    <a:solidFill>
                      <a:srgbClr val="FFFFFF"/>
                    </a:solidFill>
                  </a:tcPr>
                </a:tc>
                <a:tc>
                  <a:txBody>
                    <a:bodyPr/>
                    <a:lstStyle/>
                    <a:p>
                      <a:pPr indent="0" marL="0">
                        <a:buNone/>
                      </a:pPr>
                      <a:r>
                        <a:rPr lang="en-US" sz="1200" dirty="0">
                          <a:solidFill>
                            <a:srgbClr val="2B1A22"/>
                          </a:solidFill>
                          <a:latin typeface="Calibri" pitchFamily="34" charset="0"/>
                          <a:ea typeface="Calibri" pitchFamily="34" charset="-122"/>
                          <a:cs typeface="Calibri" pitchFamily="34" charset="-120"/>
                        </a:rPr>
                        <a:t>Create the WhatsApp group, apply to the university after payment, handle visa follow-up, update the group</a:t>
                      </a:r>
                      <a:endParaRPr lang="en-US" sz="1200" dirty="0">
                        <a:latin typeface="Calibri" charset="0"/>
                        <a:ea typeface="Calibri" charset="0"/>
                        <a:cs typeface="Calibri" charset="0"/>
                      </a:endParaRPr>
                    </a:p>
                  </a:txBody>
                  <a:tcPr marL="73152" marR="73152" marT="73152" marB="73152" anchor="ctr">
                    <a:lnL w="9525" cap="flat" cmpd="sng" algn="ctr">
                      <a:solidFill>
                        <a:srgbClr val="EBD3DC"/>
                      </a:solidFill>
                      <a:prstDash val="solid"/>
                      <a:round/>
                      <a:headEnd type="none" w="med" len="med"/>
                      <a:tailEnd type="none" w="med" len="med"/>
                    </a:lnL>
                    <a:lnR w="9525" cap="flat" cmpd="sng" algn="ctr">
                      <a:solidFill>
                        <a:srgbClr val="EBD3DC"/>
                      </a:solidFill>
                      <a:prstDash val="solid"/>
                      <a:round/>
                      <a:headEnd type="none" w="med" len="med"/>
                      <a:tailEnd type="none" w="med" len="med"/>
                    </a:lnR>
                    <a:lnT w="9525" cap="flat" cmpd="sng" algn="ctr">
                      <a:solidFill>
                        <a:srgbClr val="EBD3DC"/>
                      </a:solidFill>
                      <a:prstDash val="solid"/>
                      <a:round/>
                      <a:headEnd type="none" w="med" len="med"/>
                      <a:tailEnd type="none" w="med" len="med"/>
                    </a:lnT>
                    <a:lnB w="9525" cap="flat" cmpd="sng" algn="ctr">
                      <a:solidFill>
                        <a:srgbClr val="EBD3DC"/>
                      </a:solidFill>
                      <a:prstDash val="solid"/>
                      <a:round/>
                      <a:headEnd type="none" w="med" len="med"/>
                      <a:tailEnd type="none" w="med" len="med"/>
                    </a:lnB>
                    <a:solidFill>
                      <a:srgbClr val="FFFFFF"/>
                    </a:solidFill>
                  </a:tcPr>
                </a:tc>
                <a:tc>
                  <a:txBody>
                    <a:bodyPr/>
                    <a:lstStyle/>
                    <a:p>
                      <a:pPr indent="0" marL="0">
                        <a:buNone/>
                      </a:pPr>
                      <a:r>
                        <a:rPr lang="en-US" sz="1200" dirty="0">
                          <a:solidFill>
                            <a:srgbClr val="2B1A22"/>
                          </a:solidFill>
                          <a:latin typeface="Calibri" pitchFamily="34" charset="0"/>
                          <a:ea typeface="Calibri" pitchFamily="34" charset="-122"/>
                          <a:cs typeface="Calibri" pitchFamily="34" charset="-120"/>
                        </a:rPr>
                        <a:t>Travel Department</a:t>
                      </a:r>
                      <a:endParaRPr lang="en-US" sz="1200" dirty="0">
                        <a:latin typeface="Calibri" charset="0"/>
                        <a:ea typeface="Calibri" charset="0"/>
                        <a:cs typeface="Calibri" charset="0"/>
                      </a:endParaRPr>
                    </a:p>
                  </a:txBody>
                  <a:tcPr marL="73152" marR="73152" marT="73152" marB="73152" anchor="ctr">
                    <a:lnL w="9525" cap="flat" cmpd="sng" algn="ctr">
                      <a:solidFill>
                        <a:srgbClr val="EBD3DC"/>
                      </a:solidFill>
                      <a:prstDash val="solid"/>
                      <a:round/>
                      <a:headEnd type="none" w="med" len="med"/>
                      <a:tailEnd type="none" w="med" len="med"/>
                    </a:lnL>
                    <a:lnR w="9525" cap="flat" cmpd="sng" algn="ctr">
                      <a:solidFill>
                        <a:srgbClr val="EBD3DC"/>
                      </a:solidFill>
                      <a:prstDash val="solid"/>
                      <a:round/>
                      <a:headEnd type="none" w="med" len="med"/>
                      <a:tailEnd type="none" w="med" len="med"/>
                    </a:lnR>
                    <a:lnT w="9525" cap="flat" cmpd="sng" algn="ctr">
                      <a:solidFill>
                        <a:srgbClr val="EBD3DC"/>
                      </a:solidFill>
                      <a:prstDash val="solid"/>
                      <a:round/>
                      <a:headEnd type="none" w="med" len="med"/>
                      <a:tailEnd type="none" w="med" len="med"/>
                    </a:lnT>
                    <a:lnB w="9525" cap="flat" cmpd="sng" algn="ctr">
                      <a:solidFill>
                        <a:srgbClr val="EBD3DC"/>
                      </a:solidFill>
                      <a:prstDash val="solid"/>
                      <a:round/>
                      <a:headEnd type="none" w="med" len="med"/>
                      <a:tailEnd type="none" w="med" len="med"/>
                    </a:lnB>
                    <a:solidFill>
                      <a:srgbClr val="FFFFFF"/>
                    </a:solidFill>
                  </a:tcPr>
                </a:tc>
              </a:tr>
              <a:tr h="640080">
                <a:tc>
                  <a:txBody>
                    <a:bodyPr/>
                    <a:lstStyle/>
                    <a:p>
                      <a:pPr indent="0" marL="0">
                        <a:buNone/>
                      </a:pPr>
                      <a:r>
                        <a:rPr lang="en-US" sz="1200" b="1" dirty="0">
                          <a:solidFill>
                            <a:srgbClr val="2B1A22"/>
                          </a:solidFill>
                          <a:latin typeface="Calibri" pitchFamily="34" charset="0"/>
                          <a:ea typeface="Calibri" pitchFamily="34" charset="-122"/>
                          <a:cs typeface="Calibri" pitchFamily="34" charset="-120"/>
                        </a:rPr>
                        <a:t>Travel Department</a:t>
                      </a:r>
                      <a:endParaRPr lang="en-US" sz="1200" dirty="0">
                        <a:latin typeface="Calibri" charset="0"/>
                        <a:ea typeface="Calibri" charset="0"/>
                        <a:cs typeface="Calibri" charset="0"/>
                      </a:endParaRPr>
                    </a:p>
                  </a:txBody>
                  <a:tcPr marL="73152" marR="73152" marT="73152" marB="73152" anchor="ctr">
                    <a:lnL w="9525" cap="flat" cmpd="sng" algn="ctr">
                      <a:solidFill>
                        <a:srgbClr val="EBD3DC"/>
                      </a:solidFill>
                      <a:prstDash val="solid"/>
                      <a:round/>
                      <a:headEnd type="none" w="med" len="med"/>
                      <a:tailEnd type="none" w="med" len="med"/>
                    </a:lnL>
                    <a:lnR w="9525" cap="flat" cmpd="sng" algn="ctr">
                      <a:solidFill>
                        <a:srgbClr val="EBD3DC"/>
                      </a:solidFill>
                      <a:prstDash val="solid"/>
                      <a:round/>
                      <a:headEnd type="none" w="med" len="med"/>
                      <a:tailEnd type="none" w="med" len="med"/>
                    </a:lnR>
                    <a:lnT w="9525" cap="flat" cmpd="sng" algn="ctr">
                      <a:solidFill>
                        <a:srgbClr val="EBD3DC"/>
                      </a:solidFill>
                      <a:prstDash val="solid"/>
                      <a:round/>
                      <a:headEnd type="none" w="med" len="med"/>
                      <a:tailEnd type="none" w="med" len="med"/>
                    </a:lnT>
                    <a:lnB w="9525" cap="flat" cmpd="sng" algn="ctr">
                      <a:solidFill>
                        <a:srgbClr val="EBD3DC"/>
                      </a:solidFill>
                      <a:prstDash val="solid"/>
                      <a:round/>
                      <a:headEnd type="none" w="med" len="med"/>
                      <a:tailEnd type="none" w="med" len="med"/>
                    </a:lnB>
                    <a:solidFill>
                      <a:srgbClr val="FFFFFF"/>
                    </a:solidFill>
                  </a:tcPr>
                </a:tc>
                <a:tc>
                  <a:txBody>
                    <a:bodyPr/>
                    <a:lstStyle/>
                    <a:p>
                      <a:pPr indent="0" marL="0">
                        <a:buNone/>
                      </a:pPr>
                      <a:r>
                        <a:rPr lang="en-US" sz="1200" dirty="0">
                          <a:solidFill>
                            <a:srgbClr val="2B1A22"/>
                          </a:solidFill>
                          <a:latin typeface="Calibri" pitchFamily="34" charset="0"/>
                          <a:ea typeface="Calibri" pitchFamily="34" charset="-122"/>
                          <a:cs typeface="Calibri" pitchFamily="34" charset="-120"/>
                        </a:rPr>
                        <a:t>Book tickets, plan pickup and travel to the accommodation</a:t>
                      </a:r>
                      <a:endParaRPr lang="en-US" sz="1200" dirty="0">
                        <a:latin typeface="Calibri" charset="0"/>
                        <a:ea typeface="Calibri" charset="0"/>
                        <a:cs typeface="Calibri" charset="0"/>
                      </a:endParaRPr>
                    </a:p>
                  </a:txBody>
                  <a:tcPr marL="73152" marR="73152" marT="73152" marB="73152" anchor="ctr">
                    <a:lnL w="9525" cap="flat" cmpd="sng" algn="ctr">
                      <a:solidFill>
                        <a:srgbClr val="EBD3DC"/>
                      </a:solidFill>
                      <a:prstDash val="solid"/>
                      <a:round/>
                      <a:headEnd type="none" w="med" len="med"/>
                      <a:tailEnd type="none" w="med" len="med"/>
                    </a:lnL>
                    <a:lnR w="9525" cap="flat" cmpd="sng" algn="ctr">
                      <a:solidFill>
                        <a:srgbClr val="EBD3DC"/>
                      </a:solidFill>
                      <a:prstDash val="solid"/>
                      <a:round/>
                      <a:headEnd type="none" w="med" len="med"/>
                      <a:tailEnd type="none" w="med" len="med"/>
                    </a:lnR>
                    <a:lnT w="9525" cap="flat" cmpd="sng" algn="ctr">
                      <a:solidFill>
                        <a:srgbClr val="EBD3DC"/>
                      </a:solidFill>
                      <a:prstDash val="solid"/>
                      <a:round/>
                      <a:headEnd type="none" w="med" len="med"/>
                      <a:tailEnd type="none" w="med" len="med"/>
                    </a:lnT>
                    <a:lnB w="9525" cap="flat" cmpd="sng" algn="ctr">
                      <a:solidFill>
                        <a:srgbClr val="EBD3DC"/>
                      </a:solidFill>
                      <a:prstDash val="solid"/>
                      <a:round/>
                      <a:headEnd type="none" w="med" len="med"/>
                      <a:tailEnd type="none" w="med" len="med"/>
                    </a:lnB>
                    <a:solidFill>
                      <a:srgbClr val="FFFFFF"/>
                    </a:solidFill>
                  </a:tcPr>
                </a:tc>
                <a:tc>
                  <a:txBody>
                    <a:bodyPr/>
                    <a:lstStyle/>
                    <a:p>
                      <a:pPr indent="0" marL="0">
                        <a:buNone/>
                      </a:pPr>
                      <a:r>
                        <a:rPr lang="en-US" sz="1200" dirty="0">
                          <a:solidFill>
                            <a:srgbClr val="2B1A22"/>
                          </a:solidFill>
                          <a:latin typeface="Calibri" pitchFamily="34" charset="0"/>
                          <a:ea typeface="Calibri" pitchFamily="34" charset="-122"/>
                          <a:cs typeface="Calibri" pitchFamily="34" charset="-120"/>
                        </a:rPr>
                        <a:t>Student arrives safely</a:t>
                      </a:r>
                      <a:endParaRPr lang="en-US" sz="1200" dirty="0">
                        <a:latin typeface="Calibri" charset="0"/>
                        <a:ea typeface="Calibri" charset="0"/>
                        <a:cs typeface="Calibri" charset="0"/>
                      </a:endParaRPr>
                    </a:p>
                  </a:txBody>
                  <a:tcPr marL="73152" marR="73152" marT="73152" marB="73152" anchor="ctr">
                    <a:lnL w="9525" cap="flat" cmpd="sng" algn="ctr">
                      <a:solidFill>
                        <a:srgbClr val="EBD3DC"/>
                      </a:solidFill>
                      <a:prstDash val="solid"/>
                      <a:round/>
                      <a:headEnd type="none" w="med" len="med"/>
                      <a:tailEnd type="none" w="med" len="med"/>
                    </a:lnL>
                    <a:lnR w="9525" cap="flat" cmpd="sng" algn="ctr">
                      <a:solidFill>
                        <a:srgbClr val="EBD3DC"/>
                      </a:solidFill>
                      <a:prstDash val="solid"/>
                      <a:round/>
                      <a:headEnd type="none" w="med" len="med"/>
                      <a:tailEnd type="none" w="med" len="med"/>
                    </a:lnR>
                    <a:lnT w="9525" cap="flat" cmpd="sng" algn="ctr">
                      <a:solidFill>
                        <a:srgbClr val="EBD3DC"/>
                      </a:solidFill>
                      <a:prstDash val="solid"/>
                      <a:round/>
                      <a:headEnd type="none" w="med" len="med"/>
                      <a:tailEnd type="none" w="med" len="med"/>
                    </a:lnT>
                    <a:lnB w="9525" cap="flat" cmpd="sng" algn="ctr">
                      <a:solidFill>
                        <a:srgbClr val="EBD3D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6492240" cy="457200"/>
          </a:xfrm>
          <a:prstGeom prst="rect">
            <a:avLst/>
          </a:prstGeom>
          <a:noFill/>
          <a:ln/>
        </p:spPr>
        <p:txBody>
          <a:bodyPr wrap="square" lIns="0" tIns="0" rIns="0" bIns="0" rtlCol="0" anchor="ctr"/>
          <a:lstStyle/>
          <a:p>
            <a:pPr indent="0" marL="0">
              <a:buNone/>
            </a:pPr>
            <a:r>
              <a:rPr lang="en-US" sz="2600" b="1" dirty="0">
                <a:solidFill>
                  <a:srgbClr val="2B1A22"/>
                </a:solidFill>
                <a:latin typeface="Arial" pitchFamily="34" charset="0"/>
                <a:ea typeface="Arial" pitchFamily="34" charset="-122"/>
                <a:cs typeface="Arial" pitchFamily="34" charset="-120"/>
              </a:rPr>
              <a:t>Golden Rules of Operations</a:t>
            </a:r>
            <a:endParaRPr lang="en-US" sz="2600" dirty="0"/>
          </a:p>
        </p:txBody>
      </p:sp>
      <p:pic>
        <p:nvPicPr>
          <p:cNvPr id="3" name="Image 0" descr="preencoded.png">    </p:cNvPr>
          <p:cNvPicPr>
            <a:picLocks noChangeAspect="1"/>
          </p:cNvPicPr>
          <p:nvPr/>
        </p:nvPicPr>
        <p:blipFill>
          <a:blip r:embed="rId1"/>
          <a:stretch>
            <a:fillRect/>
          </a:stretch>
        </p:blipFill>
        <p:spPr>
          <a:xfrm>
            <a:off x="8183880" y="274320"/>
            <a:ext cx="548640" cy="548640"/>
          </a:xfrm>
          <a:prstGeom prst="rect">
            <a:avLst/>
          </a:prstGeom>
        </p:spPr>
      </p:pic>
      <p:sp>
        <p:nvSpPr>
          <p:cNvPr id="4" name="Shape 1"/>
          <p:cNvSpPr/>
          <p:nvPr/>
        </p:nvSpPr>
        <p:spPr>
          <a:xfrm>
            <a:off x="457200" y="1097280"/>
            <a:ext cx="2560320" cy="1600200"/>
          </a:xfrm>
          <a:prstGeom prst="roundRect">
            <a:avLst>
              <a:gd name="adj" fmla="val 6857"/>
            </a:avLst>
          </a:prstGeom>
          <a:solidFill>
            <a:srgbClr val="FFFFFF"/>
          </a:solidFill>
          <a:ln w="9525">
            <a:solidFill>
              <a:srgbClr val="EBD3DC"/>
            </a:solidFill>
            <a:prstDash val="solid"/>
          </a:ln>
          <a:effectLst>
            <a:outerShdw sx="100000" sy="100000" kx="0" ky="0" algn="bl" rotWithShape="0" blurRad="76200" dist="25400" dir="5400000">
              <a:srgbClr val="000000">
                <a:alpha val="12000"/>
              </a:srgbClr>
            </a:outerShdw>
          </a:effectLst>
        </p:spPr>
      </p:sp>
      <p:sp>
        <p:nvSpPr>
          <p:cNvPr id="5" name="Shape 2"/>
          <p:cNvSpPr/>
          <p:nvPr/>
        </p:nvSpPr>
        <p:spPr>
          <a:xfrm>
            <a:off x="640080" y="1280160"/>
            <a:ext cx="502920" cy="502920"/>
          </a:xfrm>
          <a:prstGeom prst="ellipse">
            <a:avLst/>
          </a:prstGeom>
          <a:solidFill>
            <a:srgbClr val="C01F53"/>
          </a:solidFill>
          <a:ln w="12700">
            <a:solidFill>
              <a:srgbClr val="C01F53"/>
            </a:solidFill>
            <a:prstDash val="solid"/>
          </a:ln>
        </p:spPr>
      </p:sp>
      <p:pic>
        <p:nvPicPr>
          <p:cNvPr id="6" name="Image 1" descr="preencoded.png">    </p:cNvPr>
          <p:cNvPicPr>
            <a:picLocks noChangeAspect="1"/>
          </p:cNvPicPr>
          <p:nvPr/>
        </p:nvPicPr>
        <p:blipFill>
          <a:blip r:embed="rId2"/>
          <a:stretch>
            <a:fillRect/>
          </a:stretch>
        </p:blipFill>
        <p:spPr>
          <a:xfrm>
            <a:off x="765810" y="1405890"/>
            <a:ext cx="251460" cy="251460"/>
          </a:xfrm>
          <a:prstGeom prst="rect">
            <a:avLst/>
          </a:prstGeom>
        </p:spPr>
      </p:pic>
      <p:sp>
        <p:nvSpPr>
          <p:cNvPr id="7" name="Text 3"/>
          <p:cNvSpPr txBox="1"/>
          <p:nvPr/>
        </p:nvSpPr>
        <p:spPr>
          <a:xfrm>
            <a:off x="1280160" y="1280160"/>
            <a:ext cx="1645920" cy="502920"/>
          </a:xfrm>
          <a:prstGeom prst="rect">
            <a:avLst/>
          </a:prstGeom>
          <a:noFill/>
          <a:ln/>
        </p:spPr>
        <p:txBody>
          <a:bodyPr wrap="square" lIns="0" tIns="0" rIns="0" bIns="0" rtlCol="0" anchor="ctr"/>
          <a:lstStyle/>
          <a:p>
            <a:pPr indent="0" marL="0">
              <a:buNone/>
            </a:pPr>
            <a:r>
              <a:rPr lang="en-US" sz="1300" b="1" dirty="0">
                <a:solidFill>
                  <a:srgbClr val="2B1A22"/>
                </a:solidFill>
                <a:latin typeface="Arial" pitchFamily="34" charset="0"/>
                <a:ea typeface="Arial" pitchFamily="34" charset="-122"/>
                <a:cs typeface="Arial" pitchFamily="34" charset="-120"/>
              </a:rPr>
              <a:t>Official mail only</a:t>
            </a:r>
            <a:endParaRPr lang="en-US" sz="1300" dirty="0"/>
          </a:p>
        </p:txBody>
      </p:sp>
      <p:sp>
        <p:nvSpPr>
          <p:cNvPr id="8" name="Text 4"/>
          <p:cNvSpPr txBox="1"/>
          <p:nvPr/>
        </p:nvSpPr>
        <p:spPr>
          <a:xfrm>
            <a:off x="640080" y="1920240"/>
            <a:ext cx="2240280" cy="685800"/>
          </a:xfrm>
          <a:prstGeom prst="rect">
            <a:avLst/>
          </a:prstGeom>
          <a:noFill/>
          <a:ln/>
        </p:spPr>
        <p:txBody>
          <a:bodyPr wrap="square" lIns="0" tIns="0" rIns="0" bIns="0" rtlCol="0" anchor="t"/>
          <a:lstStyle/>
          <a:p>
            <a:pPr indent="0" marL="0">
              <a:buNone/>
            </a:pPr>
            <a:r>
              <a:rPr lang="en-US" sz="1200" dirty="0">
                <a:solidFill>
                  <a:srgbClr val="6B5A62"/>
                </a:solidFill>
                <a:latin typeface="Calibri" pitchFamily="34" charset="0"/>
                <a:ea typeface="Calibri" pitchFamily="34" charset="-122"/>
                <a:cs typeface="Calibri" pitchFamily="34" charset="-120"/>
              </a:rPr>
              <a:t>Documents move only through official email, never personal channels.</a:t>
            </a:r>
            <a:endParaRPr lang="en-US" sz="1200" dirty="0"/>
          </a:p>
        </p:txBody>
      </p:sp>
      <p:sp>
        <p:nvSpPr>
          <p:cNvPr id="9" name="Shape 5"/>
          <p:cNvSpPr/>
          <p:nvPr/>
        </p:nvSpPr>
        <p:spPr>
          <a:xfrm>
            <a:off x="3291840" y="1097280"/>
            <a:ext cx="2560320" cy="1600200"/>
          </a:xfrm>
          <a:prstGeom prst="roundRect">
            <a:avLst>
              <a:gd name="adj" fmla="val 6857"/>
            </a:avLst>
          </a:prstGeom>
          <a:solidFill>
            <a:srgbClr val="FFFFFF"/>
          </a:solidFill>
          <a:ln w="9525">
            <a:solidFill>
              <a:srgbClr val="EBD3DC"/>
            </a:solidFill>
            <a:prstDash val="solid"/>
          </a:ln>
          <a:effectLst>
            <a:outerShdw sx="100000" sy="100000" kx="0" ky="0" algn="bl" rotWithShape="0" blurRad="76200" dist="25400" dir="5400000">
              <a:srgbClr val="000000">
                <a:alpha val="12000"/>
              </a:srgbClr>
            </a:outerShdw>
          </a:effectLst>
        </p:spPr>
      </p:sp>
      <p:sp>
        <p:nvSpPr>
          <p:cNvPr id="10" name="Shape 6"/>
          <p:cNvSpPr/>
          <p:nvPr/>
        </p:nvSpPr>
        <p:spPr>
          <a:xfrm>
            <a:off x="3474720" y="1280160"/>
            <a:ext cx="502920" cy="502920"/>
          </a:xfrm>
          <a:prstGeom prst="ellipse">
            <a:avLst/>
          </a:prstGeom>
          <a:solidFill>
            <a:srgbClr val="C01F53"/>
          </a:solidFill>
          <a:ln w="12700">
            <a:solidFill>
              <a:srgbClr val="C01F53"/>
            </a:solidFill>
            <a:prstDash val="solid"/>
          </a:ln>
        </p:spPr>
      </p:sp>
      <p:pic>
        <p:nvPicPr>
          <p:cNvPr id="11" name="Image 2" descr="preencoded.png">    </p:cNvPr>
          <p:cNvPicPr>
            <a:picLocks noChangeAspect="1"/>
          </p:cNvPicPr>
          <p:nvPr/>
        </p:nvPicPr>
        <p:blipFill>
          <a:blip r:embed="rId3"/>
          <a:stretch>
            <a:fillRect/>
          </a:stretch>
        </p:blipFill>
        <p:spPr>
          <a:xfrm>
            <a:off x="3600450" y="1405890"/>
            <a:ext cx="251460" cy="251460"/>
          </a:xfrm>
          <a:prstGeom prst="rect">
            <a:avLst/>
          </a:prstGeom>
        </p:spPr>
      </p:pic>
      <p:sp>
        <p:nvSpPr>
          <p:cNvPr id="12" name="Text 7"/>
          <p:cNvSpPr txBox="1"/>
          <p:nvPr/>
        </p:nvSpPr>
        <p:spPr>
          <a:xfrm>
            <a:off x="4114800" y="1280160"/>
            <a:ext cx="1645920" cy="502920"/>
          </a:xfrm>
          <a:prstGeom prst="rect">
            <a:avLst/>
          </a:prstGeom>
          <a:noFill/>
          <a:ln/>
        </p:spPr>
        <p:txBody>
          <a:bodyPr wrap="square" lIns="0" tIns="0" rIns="0" bIns="0" rtlCol="0" anchor="ctr"/>
          <a:lstStyle/>
          <a:p>
            <a:pPr indent="0" marL="0">
              <a:buNone/>
            </a:pPr>
            <a:r>
              <a:rPr lang="en-US" sz="1300" b="1" dirty="0">
                <a:solidFill>
                  <a:srgbClr val="2B1A22"/>
                </a:solidFill>
                <a:latin typeface="Arial" pitchFamily="34" charset="0"/>
                <a:ea typeface="Arial" pitchFamily="34" charset="-122"/>
                <a:cs typeface="Arial" pitchFamily="34" charset="-120"/>
              </a:rPr>
              <a:t>Complete before sending</a:t>
            </a:r>
            <a:endParaRPr lang="en-US" sz="1300" dirty="0"/>
          </a:p>
        </p:txBody>
      </p:sp>
      <p:sp>
        <p:nvSpPr>
          <p:cNvPr id="13" name="Text 8"/>
          <p:cNvSpPr txBox="1"/>
          <p:nvPr/>
        </p:nvSpPr>
        <p:spPr>
          <a:xfrm>
            <a:off x="3474720" y="1920240"/>
            <a:ext cx="2240280" cy="685800"/>
          </a:xfrm>
          <a:prstGeom prst="rect">
            <a:avLst/>
          </a:prstGeom>
          <a:noFill/>
          <a:ln/>
        </p:spPr>
        <p:txBody>
          <a:bodyPr wrap="square" lIns="0" tIns="0" rIns="0" bIns="0" rtlCol="0" anchor="t"/>
          <a:lstStyle/>
          <a:p>
            <a:pPr indent="0" marL="0">
              <a:buNone/>
            </a:pPr>
            <a:r>
              <a:rPr lang="en-US" sz="1200" dirty="0">
                <a:solidFill>
                  <a:srgbClr val="6B5A62"/>
                </a:solidFill>
                <a:latin typeface="Calibri" pitchFamily="34" charset="0"/>
                <a:ea typeface="Calibri" pitchFamily="34" charset="-122"/>
                <a:cs typeface="Calibri" pitchFamily="34" charset="-120"/>
              </a:rPr>
              <a:t>Raise pending documents early; don't send half files.</a:t>
            </a:r>
            <a:endParaRPr lang="en-US" sz="1200" dirty="0"/>
          </a:p>
        </p:txBody>
      </p:sp>
      <p:sp>
        <p:nvSpPr>
          <p:cNvPr id="14" name="Shape 9"/>
          <p:cNvSpPr/>
          <p:nvPr/>
        </p:nvSpPr>
        <p:spPr>
          <a:xfrm>
            <a:off x="6126480" y="1097280"/>
            <a:ext cx="2560320" cy="1600200"/>
          </a:xfrm>
          <a:prstGeom prst="roundRect">
            <a:avLst>
              <a:gd name="adj" fmla="val 6857"/>
            </a:avLst>
          </a:prstGeom>
          <a:solidFill>
            <a:srgbClr val="FFFFFF"/>
          </a:solidFill>
          <a:ln w="9525">
            <a:solidFill>
              <a:srgbClr val="EBD3DC"/>
            </a:solidFill>
            <a:prstDash val="solid"/>
          </a:ln>
          <a:effectLst>
            <a:outerShdw sx="100000" sy="100000" kx="0" ky="0" algn="bl" rotWithShape="0" blurRad="76200" dist="25400" dir="5400000">
              <a:srgbClr val="000000">
                <a:alpha val="12000"/>
              </a:srgbClr>
            </a:outerShdw>
          </a:effectLst>
        </p:spPr>
      </p:sp>
      <p:sp>
        <p:nvSpPr>
          <p:cNvPr id="15" name="Shape 10"/>
          <p:cNvSpPr/>
          <p:nvPr/>
        </p:nvSpPr>
        <p:spPr>
          <a:xfrm>
            <a:off x="6309360" y="1280160"/>
            <a:ext cx="502920" cy="502920"/>
          </a:xfrm>
          <a:prstGeom prst="ellipse">
            <a:avLst/>
          </a:prstGeom>
          <a:solidFill>
            <a:srgbClr val="C01F53"/>
          </a:solidFill>
          <a:ln w="12700">
            <a:solidFill>
              <a:srgbClr val="C01F53"/>
            </a:solidFill>
            <a:prstDash val="solid"/>
          </a:ln>
        </p:spPr>
      </p:sp>
      <p:pic>
        <p:nvPicPr>
          <p:cNvPr id="16" name="Image 3" descr="preencoded.png">    </p:cNvPr>
          <p:cNvPicPr>
            <a:picLocks noChangeAspect="1"/>
          </p:cNvPicPr>
          <p:nvPr/>
        </p:nvPicPr>
        <p:blipFill>
          <a:blip r:embed="rId4"/>
          <a:stretch>
            <a:fillRect/>
          </a:stretch>
        </p:blipFill>
        <p:spPr>
          <a:xfrm>
            <a:off x="6435090" y="1405890"/>
            <a:ext cx="251460" cy="251460"/>
          </a:xfrm>
          <a:prstGeom prst="rect">
            <a:avLst/>
          </a:prstGeom>
        </p:spPr>
      </p:pic>
      <p:sp>
        <p:nvSpPr>
          <p:cNvPr id="17" name="Text 11"/>
          <p:cNvSpPr txBox="1"/>
          <p:nvPr/>
        </p:nvSpPr>
        <p:spPr>
          <a:xfrm>
            <a:off x="6949440" y="1280160"/>
            <a:ext cx="1645920" cy="502920"/>
          </a:xfrm>
          <a:prstGeom prst="rect">
            <a:avLst/>
          </a:prstGeom>
          <a:noFill/>
          <a:ln/>
        </p:spPr>
        <p:txBody>
          <a:bodyPr wrap="square" lIns="0" tIns="0" rIns="0" bIns="0" rtlCol="0" anchor="ctr"/>
          <a:lstStyle/>
          <a:p>
            <a:pPr indent="0" marL="0">
              <a:buNone/>
            </a:pPr>
            <a:r>
              <a:rPr lang="en-US" sz="1300" b="1" dirty="0">
                <a:solidFill>
                  <a:srgbClr val="2B1A22"/>
                </a:solidFill>
                <a:latin typeface="Arial" pitchFamily="34" charset="0"/>
                <a:ea typeface="Arial" pitchFamily="34" charset="-122"/>
                <a:cs typeface="Arial" pitchFamily="34" charset="-120"/>
              </a:rPr>
              <a:t>Payment first</a:t>
            </a:r>
            <a:endParaRPr lang="en-US" sz="1300" dirty="0"/>
          </a:p>
        </p:txBody>
      </p:sp>
      <p:sp>
        <p:nvSpPr>
          <p:cNvPr id="18" name="Text 12"/>
          <p:cNvSpPr txBox="1"/>
          <p:nvPr/>
        </p:nvSpPr>
        <p:spPr>
          <a:xfrm>
            <a:off x="6309360" y="1920240"/>
            <a:ext cx="2240280" cy="685800"/>
          </a:xfrm>
          <a:prstGeom prst="rect">
            <a:avLst/>
          </a:prstGeom>
          <a:noFill/>
          <a:ln/>
        </p:spPr>
        <p:txBody>
          <a:bodyPr wrap="square" lIns="0" tIns="0" rIns="0" bIns="0" rtlCol="0" anchor="t"/>
          <a:lstStyle/>
          <a:p>
            <a:pPr indent="0" marL="0">
              <a:buNone/>
            </a:pPr>
            <a:r>
              <a:rPr lang="en-US" sz="1200" dirty="0">
                <a:solidFill>
                  <a:srgbClr val="6B5A62"/>
                </a:solidFill>
                <a:latin typeface="Calibri" pitchFamily="34" charset="0"/>
                <a:ea typeface="Calibri" pitchFamily="34" charset="-122"/>
                <a:cs typeface="Calibri" pitchFamily="34" charset="-120"/>
              </a:rPr>
              <a:t>No university application without confirmed payment.</a:t>
            </a:r>
            <a:endParaRPr lang="en-US" sz="1200" dirty="0"/>
          </a:p>
        </p:txBody>
      </p:sp>
      <p:sp>
        <p:nvSpPr>
          <p:cNvPr id="19" name="Shape 13"/>
          <p:cNvSpPr/>
          <p:nvPr/>
        </p:nvSpPr>
        <p:spPr>
          <a:xfrm>
            <a:off x="457200" y="2880360"/>
            <a:ext cx="2560320" cy="1600200"/>
          </a:xfrm>
          <a:prstGeom prst="roundRect">
            <a:avLst>
              <a:gd name="adj" fmla="val 6857"/>
            </a:avLst>
          </a:prstGeom>
          <a:solidFill>
            <a:srgbClr val="FBEFF3"/>
          </a:solidFill>
          <a:ln w="9525">
            <a:solidFill>
              <a:srgbClr val="EBD3DC"/>
            </a:solidFill>
            <a:prstDash val="solid"/>
          </a:ln>
          <a:effectLst>
            <a:outerShdw sx="100000" sy="100000" kx="0" ky="0" algn="bl" rotWithShape="0" blurRad="76200" dist="25400" dir="5400000">
              <a:srgbClr val="000000">
                <a:alpha val="12000"/>
              </a:srgbClr>
            </a:outerShdw>
          </a:effectLst>
        </p:spPr>
      </p:sp>
      <p:sp>
        <p:nvSpPr>
          <p:cNvPr id="20" name="Shape 14"/>
          <p:cNvSpPr/>
          <p:nvPr/>
        </p:nvSpPr>
        <p:spPr>
          <a:xfrm>
            <a:off x="640080" y="3063240"/>
            <a:ext cx="502920" cy="502920"/>
          </a:xfrm>
          <a:prstGeom prst="ellipse">
            <a:avLst/>
          </a:prstGeom>
          <a:solidFill>
            <a:srgbClr val="C01F53"/>
          </a:solidFill>
          <a:ln w="12700">
            <a:solidFill>
              <a:srgbClr val="C01F53"/>
            </a:solidFill>
            <a:prstDash val="solid"/>
          </a:ln>
        </p:spPr>
      </p:sp>
      <p:pic>
        <p:nvPicPr>
          <p:cNvPr id="21" name="Image 4" descr="preencoded.png">    </p:cNvPr>
          <p:cNvPicPr>
            <a:picLocks noChangeAspect="1"/>
          </p:cNvPicPr>
          <p:nvPr/>
        </p:nvPicPr>
        <p:blipFill>
          <a:blip r:embed="rId5"/>
          <a:stretch>
            <a:fillRect/>
          </a:stretch>
        </p:blipFill>
        <p:spPr>
          <a:xfrm>
            <a:off x="765810" y="3188970"/>
            <a:ext cx="251460" cy="251460"/>
          </a:xfrm>
          <a:prstGeom prst="rect">
            <a:avLst/>
          </a:prstGeom>
        </p:spPr>
      </p:pic>
      <p:sp>
        <p:nvSpPr>
          <p:cNvPr id="22" name="Text 15"/>
          <p:cNvSpPr txBox="1"/>
          <p:nvPr/>
        </p:nvSpPr>
        <p:spPr>
          <a:xfrm>
            <a:off x="1280160" y="3063240"/>
            <a:ext cx="1645920" cy="502920"/>
          </a:xfrm>
          <a:prstGeom prst="rect">
            <a:avLst/>
          </a:prstGeom>
          <a:noFill/>
          <a:ln/>
        </p:spPr>
        <p:txBody>
          <a:bodyPr wrap="square" lIns="0" tIns="0" rIns="0" bIns="0" rtlCol="0" anchor="ctr"/>
          <a:lstStyle/>
          <a:p>
            <a:pPr indent="0" marL="0">
              <a:buNone/>
            </a:pPr>
            <a:r>
              <a:rPr lang="en-US" sz="1300" b="1" dirty="0">
                <a:solidFill>
                  <a:srgbClr val="2B1A22"/>
                </a:solidFill>
                <a:latin typeface="Arial" pitchFamily="34" charset="0"/>
                <a:ea typeface="Arial" pitchFamily="34" charset="-122"/>
                <a:cs typeface="Arial" pitchFamily="34" charset="-120"/>
              </a:rPr>
              <a:t>Update every step</a:t>
            </a:r>
            <a:endParaRPr lang="en-US" sz="1300" dirty="0"/>
          </a:p>
        </p:txBody>
      </p:sp>
      <p:sp>
        <p:nvSpPr>
          <p:cNvPr id="23" name="Text 16"/>
          <p:cNvSpPr txBox="1"/>
          <p:nvPr/>
        </p:nvSpPr>
        <p:spPr>
          <a:xfrm>
            <a:off x="640080" y="3703320"/>
            <a:ext cx="2240280" cy="685800"/>
          </a:xfrm>
          <a:prstGeom prst="rect">
            <a:avLst/>
          </a:prstGeom>
          <a:noFill/>
          <a:ln/>
        </p:spPr>
        <p:txBody>
          <a:bodyPr wrap="square" lIns="0" tIns="0" rIns="0" bIns="0" rtlCol="0" anchor="t"/>
          <a:lstStyle/>
          <a:p>
            <a:pPr indent="0" marL="0">
              <a:buNone/>
            </a:pPr>
            <a:r>
              <a:rPr lang="en-US" sz="1200" dirty="0">
                <a:solidFill>
                  <a:srgbClr val="6B5A62"/>
                </a:solidFill>
                <a:latin typeface="Calibri" pitchFamily="34" charset="0"/>
                <a:ea typeface="Calibri" pitchFamily="34" charset="-122"/>
                <a:cs typeface="Calibri" pitchFamily="34" charset="-120"/>
              </a:rPr>
              <a:t>Post each status change in the WhatsApp group the same day.</a:t>
            </a:r>
            <a:endParaRPr lang="en-US" sz="1200" dirty="0"/>
          </a:p>
        </p:txBody>
      </p:sp>
      <p:sp>
        <p:nvSpPr>
          <p:cNvPr id="24" name="Shape 17"/>
          <p:cNvSpPr/>
          <p:nvPr/>
        </p:nvSpPr>
        <p:spPr>
          <a:xfrm>
            <a:off x="3291840" y="2880360"/>
            <a:ext cx="2560320" cy="1600200"/>
          </a:xfrm>
          <a:prstGeom prst="roundRect">
            <a:avLst>
              <a:gd name="adj" fmla="val 6857"/>
            </a:avLst>
          </a:prstGeom>
          <a:solidFill>
            <a:srgbClr val="FBEFF3"/>
          </a:solidFill>
          <a:ln w="9525">
            <a:solidFill>
              <a:srgbClr val="EBD3DC"/>
            </a:solidFill>
            <a:prstDash val="solid"/>
          </a:ln>
          <a:effectLst>
            <a:outerShdw sx="100000" sy="100000" kx="0" ky="0" algn="bl" rotWithShape="0" blurRad="76200" dist="25400" dir="5400000">
              <a:srgbClr val="000000">
                <a:alpha val="12000"/>
              </a:srgbClr>
            </a:outerShdw>
          </a:effectLst>
        </p:spPr>
      </p:sp>
      <p:sp>
        <p:nvSpPr>
          <p:cNvPr id="25" name="Shape 18"/>
          <p:cNvSpPr/>
          <p:nvPr/>
        </p:nvSpPr>
        <p:spPr>
          <a:xfrm>
            <a:off x="3474720" y="3063240"/>
            <a:ext cx="502920" cy="502920"/>
          </a:xfrm>
          <a:prstGeom prst="ellipse">
            <a:avLst/>
          </a:prstGeom>
          <a:solidFill>
            <a:srgbClr val="C01F53"/>
          </a:solidFill>
          <a:ln w="12700">
            <a:solidFill>
              <a:srgbClr val="C01F53"/>
            </a:solidFill>
            <a:prstDash val="solid"/>
          </a:ln>
        </p:spPr>
      </p:sp>
      <p:pic>
        <p:nvPicPr>
          <p:cNvPr id="26" name="Image 5" descr="preencoded.png">    </p:cNvPr>
          <p:cNvPicPr>
            <a:picLocks noChangeAspect="1"/>
          </p:cNvPicPr>
          <p:nvPr/>
        </p:nvPicPr>
        <p:blipFill>
          <a:blip r:embed="rId6"/>
          <a:stretch>
            <a:fillRect/>
          </a:stretch>
        </p:blipFill>
        <p:spPr>
          <a:xfrm>
            <a:off x="3600450" y="3188970"/>
            <a:ext cx="251460" cy="251460"/>
          </a:xfrm>
          <a:prstGeom prst="rect">
            <a:avLst/>
          </a:prstGeom>
        </p:spPr>
      </p:pic>
      <p:sp>
        <p:nvSpPr>
          <p:cNvPr id="27" name="Text 19"/>
          <p:cNvSpPr txBox="1"/>
          <p:nvPr/>
        </p:nvSpPr>
        <p:spPr>
          <a:xfrm>
            <a:off x="4114800" y="3063240"/>
            <a:ext cx="1645920" cy="502920"/>
          </a:xfrm>
          <a:prstGeom prst="rect">
            <a:avLst/>
          </a:prstGeom>
          <a:noFill/>
          <a:ln/>
        </p:spPr>
        <p:txBody>
          <a:bodyPr wrap="square" lIns="0" tIns="0" rIns="0" bIns="0" rtlCol="0" anchor="ctr"/>
          <a:lstStyle/>
          <a:p>
            <a:pPr indent="0" marL="0">
              <a:buNone/>
            </a:pPr>
            <a:r>
              <a:rPr lang="en-US" sz="1300" b="1" dirty="0">
                <a:solidFill>
                  <a:srgbClr val="2B1A22"/>
                </a:solidFill>
                <a:latin typeface="Arial" pitchFamily="34" charset="0"/>
                <a:ea typeface="Arial" pitchFamily="34" charset="-122"/>
                <a:cs typeface="Arial" pitchFamily="34" charset="-120"/>
              </a:rPr>
              <a:t>Own the follow-up</a:t>
            </a:r>
            <a:endParaRPr lang="en-US" sz="1300" dirty="0"/>
          </a:p>
        </p:txBody>
      </p:sp>
      <p:sp>
        <p:nvSpPr>
          <p:cNvPr id="28" name="Text 20"/>
          <p:cNvSpPr txBox="1"/>
          <p:nvPr/>
        </p:nvSpPr>
        <p:spPr>
          <a:xfrm>
            <a:off x="3474720" y="3703320"/>
            <a:ext cx="2240280" cy="685800"/>
          </a:xfrm>
          <a:prstGeom prst="rect">
            <a:avLst/>
          </a:prstGeom>
          <a:noFill/>
          <a:ln/>
        </p:spPr>
        <p:txBody>
          <a:bodyPr wrap="square" lIns="0" tIns="0" rIns="0" bIns="0" rtlCol="0" anchor="t"/>
          <a:lstStyle/>
          <a:p>
            <a:pPr indent="0" marL="0">
              <a:buNone/>
            </a:pPr>
            <a:r>
              <a:rPr lang="en-US" sz="1200" dirty="0">
                <a:solidFill>
                  <a:srgbClr val="6B5A62"/>
                </a:solidFill>
                <a:latin typeface="Calibri" pitchFamily="34" charset="0"/>
                <a:ea typeface="Calibri" pitchFamily="34" charset="-122"/>
                <a:cs typeface="Calibri" pitchFamily="34" charset="-120"/>
              </a:rPr>
              <a:t>Follow up until the student reaches their accommodation.</a:t>
            </a:r>
            <a:endParaRPr lang="en-US" sz="1200" dirty="0"/>
          </a:p>
        </p:txBody>
      </p:sp>
      <p:sp>
        <p:nvSpPr>
          <p:cNvPr id="29" name="Shape 21"/>
          <p:cNvSpPr/>
          <p:nvPr/>
        </p:nvSpPr>
        <p:spPr>
          <a:xfrm>
            <a:off x="6126480" y="2880360"/>
            <a:ext cx="2560320" cy="1600200"/>
          </a:xfrm>
          <a:prstGeom prst="roundRect">
            <a:avLst>
              <a:gd name="adj" fmla="val 6857"/>
            </a:avLst>
          </a:prstGeom>
          <a:solidFill>
            <a:srgbClr val="FBEFF3"/>
          </a:solidFill>
          <a:ln w="9525">
            <a:solidFill>
              <a:srgbClr val="EBD3DC"/>
            </a:solidFill>
            <a:prstDash val="solid"/>
          </a:ln>
          <a:effectLst>
            <a:outerShdw sx="100000" sy="100000" kx="0" ky="0" algn="bl" rotWithShape="0" blurRad="76200" dist="25400" dir="5400000">
              <a:srgbClr val="000000">
                <a:alpha val="12000"/>
              </a:srgbClr>
            </a:outerShdw>
          </a:effectLst>
        </p:spPr>
      </p:sp>
      <p:sp>
        <p:nvSpPr>
          <p:cNvPr id="30" name="Shape 22"/>
          <p:cNvSpPr/>
          <p:nvPr/>
        </p:nvSpPr>
        <p:spPr>
          <a:xfrm>
            <a:off x="6309360" y="3063240"/>
            <a:ext cx="502920" cy="502920"/>
          </a:xfrm>
          <a:prstGeom prst="ellipse">
            <a:avLst/>
          </a:prstGeom>
          <a:solidFill>
            <a:srgbClr val="C01F53"/>
          </a:solidFill>
          <a:ln w="12700">
            <a:solidFill>
              <a:srgbClr val="C01F53"/>
            </a:solidFill>
            <a:prstDash val="solid"/>
          </a:ln>
        </p:spPr>
      </p:sp>
      <p:pic>
        <p:nvPicPr>
          <p:cNvPr id="31" name="Image 6" descr="preencoded.png">    </p:cNvPr>
          <p:cNvPicPr>
            <a:picLocks noChangeAspect="1"/>
          </p:cNvPicPr>
          <p:nvPr/>
        </p:nvPicPr>
        <p:blipFill>
          <a:blip r:embed="rId7"/>
          <a:stretch>
            <a:fillRect/>
          </a:stretch>
        </p:blipFill>
        <p:spPr>
          <a:xfrm>
            <a:off x="6435090" y="3188970"/>
            <a:ext cx="251460" cy="251460"/>
          </a:xfrm>
          <a:prstGeom prst="rect">
            <a:avLst/>
          </a:prstGeom>
        </p:spPr>
      </p:pic>
      <p:sp>
        <p:nvSpPr>
          <p:cNvPr id="32" name="Text 23"/>
          <p:cNvSpPr txBox="1"/>
          <p:nvPr/>
        </p:nvSpPr>
        <p:spPr>
          <a:xfrm>
            <a:off x="6949440" y="3063240"/>
            <a:ext cx="1645920" cy="502920"/>
          </a:xfrm>
          <a:prstGeom prst="rect">
            <a:avLst/>
          </a:prstGeom>
          <a:noFill/>
          <a:ln/>
        </p:spPr>
        <p:txBody>
          <a:bodyPr wrap="square" lIns="0" tIns="0" rIns="0" bIns="0" rtlCol="0" anchor="ctr"/>
          <a:lstStyle/>
          <a:p>
            <a:pPr indent="0" marL="0">
              <a:buNone/>
            </a:pPr>
            <a:r>
              <a:rPr lang="en-US" sz="1300" b="1" dirty="0">
                <a:solidFill>
                  <a:srgbClr val="2B1A22"/>
                </a:solidFill>
                <a:latin typeface="Arial" pitchFamily="34" charset="0"/>
                <a:ea typeface="Arial" pitchFamily="34" charset="-122"/>
                <a:cs typeface="Arial" pitchFamily="34" charset="-120"/>
              </a:rPr>
              <a:t>Keep parents informed</a:t>
            </a:r>
            <a:endParaRPr lang="en-US" sz="1300" dirty="0"/>
          </a:p>
        </p:txBody>
      </p:sp>
      <p:sp>
        <p:nvSpPr>
          <p:cNvPr id="33" name="Text 24"/>
          <p:cNvSpPr txBox="1"/>
          <p:nvPr/>
        </p:nvSpPr>
        <p:spPr>
          <a:xfrm>
            <a:off x="6309360" y="3703320"/>
            <a:ext cx="2240280" cy="685800"/>
          </a:xfrm>
          <a:prstGeom prst="rect">
            <a:avLst/>
          </a:prstGeom>
          <a:noFill/>
          <a:ln/>
        </p:spPr>
        <p:txBody>
          <a:bodyPr wrap="square" lIns="0" tIns="0" rIns="0" bIns="0" rtlCol="0" anchor="t"/>
          <a:lstStyle/>
          <a:p>
            <a:pPr indent="0" marL="0">
              <a:buNone/>
            </a:pPr>
            <a:r>
              <a:rPr lang="en-US" sz="1200" dirty="0">
                <a:solidFill>
                  <a:srgbClr val="6B5A62"/>
                </a:solidFill>
                <a:latin typeface="Calibri" pitchFamily="34" charset="0"/>
                <a:ea typeface="Calibri" pitchFamily="34" charset="-122"/>
                <a:cs typeface="Calibri" pitchFamily="34" charset="-120"/>
              </a:rPr>
              <a:t>Parents hear updates at the same time as the student.</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C01F5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3200400" y="320040"/>
            <a:ext cx="2743200" cy="2743200"/>
          </a:xfrm>
          <a:prstGeom prst="rect">
            <a:avLst/>
          </a:prstGeom>
        </p:spPr>
      </p:pic>
      <p:sp>
        <p:nvSpPr>
          <p:cNvPr id="3" name="Text 0"/>
          <p:cNvSpPr txBox="1"/>
          <p:nvPr/>
        </p:nvSpPr>
        <p:spPr>
          <a:xfrm>
            <a:off x="457200" y="3200400"/>
            <a:ext cx="8229600" cy="548640"/>
          </a:xfrm>
          <a:prstGeom prst="rect">
            <a:avLst/>
          </a:prstGeom>
          <a:noFill/>
          <a:ln/>
        </p:spPr>
        <p:txBody>
          <a:bodyPr wrap="square" lIns="0" tIns="0" rIns="0" bIns="0" rtlCol="0" anchor="ctr"/>
          <a:lstStyle/>
          <a:p>
            <a:pPr algn="ctr" indent="0" marL="0">
              <a:buNone/>
            </a:pPr>
            <a:r>
              <a:rPr lang="en-US" sz="2800" b="1" i="1" dirty="0">
                <a:solidFill>
                  <a:srgbClr val="FFFFFF"/>
                </a:solidFill>
                <a:latin typeface="Arial" pitchFamily="34" charset="0"/>
                <a:ea typeface="Arial" pitchFamily="34" charset="-122"/>
                <a:cs typeface="Arial" pitchFamily="34" charset="-120"/>
              </a:rPr>
              <a:t>You Dream it, We Make it…</a:t>
            </a:r>
            <a:endParaRPr lang="en-US" sz="2800" dirty="0"/>
          </a:p>
        </p:txBody>
      </p:sp>
      <p:sp>
        <p:nvSpPr>
          <p:cNvPr id="4" name="Text 1"/>
          <p:cNvSpPr txBox="1"/>
          <p:nvPr/>
        </p:nvSpPr>
        <p:spPr>
          <a:xfrm>
            <a:off x="457200" y="3840480"/>
            <a:ext cx="8229600" cy="411480"/>
          </a:xfrm>
          <a:prstGeom prst="rect">
            <a:avLst/>
          </a:prstGeom>
          <a:noFill/>
          <a:ln/>
        </p:spPr>
        <p:txBody>
          <a:bodyPr wrap="square" lIns="0" tIns="0" rIns="0" bIns="0" rtlCol="0" anchor="ctr"/>
          <a:lstStyle/>
          <a:p>
            <a:pPr algn="ctr" indent="0" marL="0">
              <a:buNone/>
            </a:pPr>
            <a:r>
              <a:rPr lang="en-US" sz="1800" dirty="0">
                <a:solidFill>
                  <a:srgbClr val="EDE72D"/>
                </a:solidFill>
                <a:latin typeface="Calibri" pitchFamily="34" charset="0"/>
                <a:ea typeface="Calibri" pitchFamily="34" charset="-122"/>
                <a:cs typeface="Calibri" pitchFamily="34" charset="-120"/>
              </a:rPr>
              <a:t>Questions? Thank you!</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Medcity Study Abroad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Medcity Operations Workflow</dc:title>
  <dc:subject>PptxGenJS Presentation</dc:subject>
  <dc:creator>PptxGenJS</dc:creator>
  <cp:lastModifiedBy>PptxGenJS</cp:lastModifiedBy>
  <cp:revision>1</cp:revision>
  <dcterms:created xsi:type="dcterms:W3CDTF">2026-09-28T05:01:29Z</dcterms:created>
  <dcterms:modified xsi:type="dcterms:W3CDTF">2026-09-28T05:01:29Z</dcterms:modified>
</cp:coreProperties>
</file>