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Lst>
  <p:notesMasterIdLst>
    <p:notesMasterId r:id="rId4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notesMaster" Target="notesMasters/notesMaster1.xml"/><Relationship Id="rId46" Type="http://schemas.openxmlformats.org/officeDocument/2006/relationships/presProps" Target="presProps.xml"/><Relationship Id="rId47" Type="http://schemas.openxmlformats.org/officeDocument/2006/relationships/viewProps" Target="viewProps.xml"/><Relationship Id="rId48" Type="http://schemas.openxmlformats.org/officeDocument/2006/relationships/theme" Target="theme/theme1.xml"/><Relationship Id="rId4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by saying what the session is NOT: it is not a lecture you need pharmacology for. Everything is taught at the moment it is needed. Ask the room who has ever filled in an ADR form — usually almost nobody, which is the point.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these out. The framing that matters: we are not testing recall. Every one of these is a thing you DO, with a reference open in front of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Ten blocks. The last one is a team challenge on an incomplete case — flag now that it is the point the whole day builds to, so nobody treats the earlier blocks as separate topics.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divider. And why a system built on voluntary reports is the best tool we have.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Worked example to give: a woman becomes pregnant because an enzyme-inducing drug stopped her contraceptive working. That is a pharmacovigilance case. Almost nobody reports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four documented reasons people do not report: no time, did not know how, thought it was already known, feared blame. Every one is answerable and answering them is part of the job.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National Coordination Centre is at the Indian Pharmacopoeia Commission in Ghaziabad — say the full name once. Land step 7 hard. Every restriction students have ever heard of — the fluoroquinolone warnings, the rofecoxib withdrawal — began with somebody filling in a form exactly like the one they will fill in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divider. Nobody hands you a form with the boxes filled in. You get a story.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Drill this. Ask the room to recite it back: Patient, Drug, Indication, Time, Event, Action, Outcome. If they remember one thing from the morning, it should be this.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description question is the important one. "Rash" covers a nuisance and a dermatological emergency. Fever, mucosal involvement and skin pain are what separate them — and if nobody asks, the case is unassessable forever.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divider. Assessing a reaction without reading about the medicine is guessing.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to slow down on. Every NSAID adverse effect — GI bleed, kidney injury, fluid retention, the asthma reaction — falls out of that one mechanism. Students who get this stop memorising.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divider. Nobody knows these from memory. What you are expected to do is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Demonstrate live in the workshop tool if you can. The point to land: students think the skill is knowing the pairs. It is not. It is running the check and then saying what happens next.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three words out loud and make the room repeat them: triple whammy. It is one of the very few mnemonics in this session worth carrying.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beta-blocker in an asthmatic is the cleanest example in the syllabus — a good medicine that can kill this particular patient, on a prescription that looks identical either 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divider. Three patients took a medicine and then had a symptom. That does not make three ADRs.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this as a vote before revealing. Most rooms pick B. Ask who picked C and why — then tell them they are also right. That moment is worth more than the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Confounding is the word to introduce here. Case C from the previous slide is the illustration: three competing explanations, none tested.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Make them recite: patient, reporter, product, event. Then ask what is missing from the list. Somebody always says "proof" — that is the teachable moment.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divider. Two words that are not interchangeable, and the assessment everything else was gathered for.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students only ever use the hospitalisation criterion they will classify a great many dangerous cases as non-serious. That is the failure this slide exists to prevent.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Mixing these two up is the single most common error in the whole subject. Both examples are worth stating slowly. The potassium one usually gets an audible reaction.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these four aloud against the amoxicillin rash case. Yes, yes, no, yes — probable. Then reveal that they have just used the WHO-UMC framework without being told its name.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Conditional means you are still waiting for information you have asked for. Unassessable means it is never coming. Students conflate them constantly.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Maximum realistically achievable is 13, not the theoretical top. Work an example: a typical well-documented case lands on 6 or 7 — probable.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divider. The patient’s words are not the coded term, and both belong in the report.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Emphasise: record the verbatim term BEFORE coding. Students want to jump straight to the standardised word and the detail that separates a nuisance from an emergency is lost in that jump.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Filling in those five fields is the single biggest contribution a student can make to the quality of the world’s safety data. Say that plainly — it is true and it is motivating.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"do not chase" column usually surprises people. Students equate thoroughness with collecting everything. In safety data, restraint about identifiers is professional competence.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divider. One report is an observation. The job of the whole system is to notice when many observations mean something new.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down the chain slowly. Most students imagine pharmacovigilance stops at step one — filling in the form. Point out that steps four to six are where a label gets changed for everybody, and that none of it happens unless step one happened first. The person who files the report is the start of this chain, not a clerk at the end of someone else’s.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the table with the Signal column covered and ask the room to pick. Most will say nausea, because it has the most cases. Then uncover it. The rash row is worth a minute too: two cases and labelled, so not a signal on the numbers — but if either involved blistering or mucosal involvement, two cases of a severe cutaneous reaction outweigh fifteen of nausea. Counting is the easy part and it is not the assessment.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divider. A three-line phone call about dizziness. Everything in this course, used at once, on one patient.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handover aloud exactly as written and then stop. Let the silence sit. Ask: can anyone assess this? The correct answer is no — and recognising that is the skill being tested, not producing a confident guess from three lines.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pivot of the whole workshop. Beginners freeze because they think the task is to know the answer. Reframe it: the task is to know what you are missing. Have the room build the list on a board before you show this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source costs the student a point in the workshop, so they have to choose in what order. That is deliberate: in practice you rarely get all five at once. Ask which two they would call first. Pharmacy and laboratory is the strong answer — one names the drug, the other confirms the event.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Make them justify each row against the definitions from part six. Seriousness is the one people get wrong: she was not hospitalised, so students say non-serious. Recurrent hypoglycaemia severe enough to put a 67-year-old on the floor, with falling renal function, is an other medically important condition — the fall and fracture risk alone is the argument.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point of this slide: a real case almost never has a single cause. The drug is the suspect, but renal decline, an unreported painkiller, a missed meal and a second interacting drug all had to line up. Pharmacovigilance that stops at naming the suspect drug misses four of the five.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the case here. The reported complaint was dizziness; the actual case was drug-induced hypoglycaemia in a patient whose kidneys had quietly failed, worsened by a painkiller she did not count as a medicine. None of that was in the phone call. It came out of asking what was missing and then going and getting it — which is the entire method of this course.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plainly that neither tool reports anything to anybody — a real ADR goes to the national programme on the real form. These exist so people can practise the reasoning enough times that the real form stops being intimidating. Point them at the workshops page for both links.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round the room and ask six different people to read one each. It fixes them better than reading all six yourself.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Finish on this and nothing after it. The single behaviour change worth getting from four hours is that the next time somebody in the room sees a suspected reaction, they send the form instead of deciding they are not sure enough.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2B3D"/>
        </a:solidFill>
      </p:bgPr>
    </p:bg>
    <p:spTree>
      <p:nvGrpSpPr>
        <p:cNvPr id="1" name=""/>
        <p:cNvGrpSpPr/>
        <p:nvPr/>
      </p:nvGrpSpPr>
      <p:grpSpPr>
        <a:xfrm>
          <a:off x="0" y="0"/>
          <a:ext cx="0" cy="0"/>
          <a:chOff x="0" y="0"/>
          <a:chExt cx="0" cy="0"/>
        </a:xfrm>
      </p:grpSpPr>
      <p:sp>
        <p:nvSpPr>
          <p:cNvPr id="2" name="Shape 0"/>
          <p:cNvSpPr/>
          <p:nvPr/>
        </p:nvSpPr>
        <p:spPr>
          <a:xfrm>
            <a:off x="9326880" y="-1371600"/>
            <a:ext cx="4754880" cy="4754880"/>
          </a:xfrm>
          <a:prstGeom prst="ellipse">
            <a:avLst/>
          </a:prstGeom>
          <a:solidFill>
            <a:srgbClr val="16394F"/>
          </a:solidFill>
          <a:ln/>
        </p:spPr>
      </p:sp>
      <p:sp>
        <p:nvSpPr>
          <p:cNvPr id="3" name="Shape 1"/>
          <p:cNvSpPr/>
          <p:nvPr/>
        </p:nvSpPr>
        <p:spPr>
          <a:xfrm>
            <a:off x="10424160" y="4206240"/>
            <a:ext cx="2743200" cy="2743200"/>
          </a:xfrm>
          <a:prstGeom prst="ellipse">
            <a:avLst/>
          </a:prstGeom>
          <a:solidFill>
            <a:srgbClr val="0E7490"/>
          </a:solidFill>
          <a:ln/>
        </p:spPr>
      </p:sp>
      <p:sp>
        <p:nvSpPr>
          <p:cNvPr id="4" name="Text 2"/>
          <p:cNvSpPr txBox="1"/>
          <p:nvPr/>
        </p:nvSpPr>
        <p:spPr>
          <a:xfrm>
            <a:off x="566928" y="1325880"/>
            <a:ext cx="7315200" cy="274320"/>
          </a:xfrm>
          <a:prstGeom prst="rect">
            <a:avLst/>
          </a:prstGeom>
          <a:noFill/>
          <a:ln/>
        </p:spPr>
        <p:txBody>
          <a:bodyPr wrap="square" lIns="0" tIns="0" rIns="0" bIns="0" rtlCol="0" anchor="ctr"/>
          <a:lstStyle/>
          <a:p>
            <a:pPr indent="0" marL="0">
              <a:buNone/>
            </a:pPr>
            <a:r>
              <a:rPr lang="en-US" sz="1200" b="1" spc="300" kern="0" dirty="0">
                <a:solidFill>
                  <a:srgbClr val="0891B2"/>
                </a:solidFill>
                <a:latin typeface="Calibri" pitchFamily="34" charset="0"/>
                <a:ea typeface="Calibri" pitchFamily="34" charset="-122"/>
                <a:cs typeface="Calibri" pitchFamily="34" charset="-120"/>
              </a:rPr>
              <a:t>OPEN WORKSHOP</a:t>
            </a:r>
            <a:endParaRPr lang="en-US" sz="1200" dirty="0"/>
          </a:p>
        </p:txBody>
      </p:sp>
      <p:sp>
        <p:nvSpPr>
          <p:cNvPr id="5" name="Text 3"/>
          <p:cNvSpPr txBox="1"/>
          <p:nvPr/>
        </p:nvSpPr>
        <p:spPr>
          <a:xfrm>
            <a:off x="566928" y="1691640"/>
            <a:ext cx="8595360" cy="914400"/>
          </a:xfrm>
          <a:prstGeom prst="rect">
            <a:avLst/>
          </a:prstGeom>
          <a:noFill/>
          <a:ln/>
        </p:spPr>
        <p:txBody>
          <a:bodyPr wrap="square" lIns="0" tIns="0" rIns="0" bIns="0" rtlCol="0" anchor="ctr"/>
          <a:lstStyle/>
          <a:p>
            <a:pPr indent="0" marL="0">
              <a:buNone/>
            </a:pPr>
            <a:r>
              <a:rPr lang="en-US" sz="5200" b="1" dirty="0">
                <a:solidFill>
                  <a:srgbClr val="FFFFFF"/>
                </a:solidFill>
                <a:latin typeface="Cambria" pitchFamily="34" charset="0"/>
                <a:ea typeface="Cambria" pitchFamily="34" charset="-122"/>
                <a:cs typeface="Cambria" pitchFamily="34" charset="-120"/>
              </a:rPr>
              <a:t>Pharmacovigilance</a:t>
            </a:r>
            <a:endParaRPr lang="en-US" sz="5200" dirty="0"/>
          </a:p>
        </p:txBody>
      </p:sp>
      <p:sp>
        <p:nvSpPr>
          <p:cNvPr id="6" name="Text 4"/>
          <p:cNvSpPr txBox="1"/>
          <p:nvPr/>
        </p:nvSpPr>
        <p:spPr>
          <a:xfrm>
            <a:off x="566928" y="2578608"/>
            <a:ext cx="8595360" cy="822960"/>
          </a:xfrm>
          <a:prstGeom prst="rect">
            <a:avLst/>
          </a:prstGeom>
          <a:noFill/>
          <a:ln/>
        </p:spPr>
        <p:txBody>
          <a:bodyPr wrap="square" lIns="0" tIns="0" rIns="0" bIns="0" rtlCol="0" anchor="ctr"/>
          <a:lstStyle/>
          <a:p>
            <a:pPr indent="0" marL="0">
              <a:buNone/>
            </a:pPr>
            <a:r>
              <a:rPr lang="en-US" sz="5200" b="1" dirty="0">
                <a:solidFill>
                  <a:srgbClr val="0891B2"/>
                </a:solidFill>
                <a:latin typeface="Cambria" pitchFamily="34" charset="0"/>
                <a:ea typeface="Cambria" pitchFamily="34" charset="-122"/>
                <a:cs typeface="Cambria" pitchFamily="34" charset="-120"/>
              </a:rPr>
              <a:t>Foundations</a:t>
            </a:r>
            <a:endParaRPr lang="en-US" sz="5200" dirty="0"/>
          </a:p>
        </p:txBody>
      </p:sp>
      <p:sp>
        <p:nvSpPr>
          <p:cNvPr id="7" name="Text 5"/>
          <p:cNvSpPr txBox="1"/>
          <p:nvPr/>
        </p:nvSpPr>
        <p:spPr>
          <a:xfrm>
            <a:off x="566928" y="3611880"/>
            <a:ext cx="7863840" cy="731520"/>
          </a:xfrm>
          <a:prstGeom prst="rect">
            <a:avLst/>
          </a:prstGeom>
          <a:noFill/>
          <a:ln/>
        </p:spPr>
        <p:txBody>
          <a:bodyPr wrap="square" lIns="0" tIns="0" rIns="0" bIns="0" rtlCol="0" anchor="ctr"/>
          <a:lstStyle/>
          <a:p>
            <a:pPr indent="0" marL="0">
              <a:lnSpc>
                <a:spcPts val="2600"/>
              </a:lnSpc>
              <a:buNone/>
            </a:pPr>
            <a:r>
              <a:rPr lang="en-US" sz="1700" dirty="0">
                <a:solidFill>
                  <a:srgbClr val="CBD5E1"/>
                </a:solidFill>
                <a:latin typeface="Calibri" pitchFamily="34" charset="0"/>
                <a:ea typeface="Calibri" pitchFamily="34" charset="-122"/>
                <a:cs typeface="Calibri" pitchFamily="34" charset="-120"/>
              </a:rPr>
              <a:t>Finding, assessing and reporting harm from medicines — for people who have not studied it yet.</a:t>
            </a:r>
            <a:endParaRPr lang="en-US" sz="1700" dirty="0"/>
          </a:p>
        </p:txBody>
      </p:sp>
      <p:sp>
        <p:nvSpPr>
          <p:cNvPr id="8" name="Text 6"/>
          <p:cNvSpPr txBox="1"/>
          <p:nvPr/>
        </p:nvSpPr>
        <p:spPr>
          <a:xfrm>
            <a:off x="566928" y="5074920"/>
            <a:ext cx="8229600" cy="1005840"/>
          </a:xfrm>
          <a:prstGeom prst="rect">
            <a:avLst/>
          </a:prstGeom>
          <a:noFill/>
          <a:ln/>
        </p:spPr>
        <p:txBody>
          <a:bodyPr wrap="square" lIns="0" tIns="0" rIns="0" bIns="0" rtlCol="0" anchor="ctr"/>
          <a:lstStyle/>
          <a:p>
            <a:pPr indent="0" marL="0">
              <a:lnSpc>
                <a:spcPts val="1800"/>
              </a:lnSpc>
              <a:buNone/>
            </a:pPr>
            <a:r>
              <a:rPr lang="en-US" sz="1250" b="1" dirty="0">
                <a:solidFill>
                  <a:srgbClr val="94A3B8"/>
                </a:solidFill>
                <a:latin typeface="Calibri" pitchFamily="34" charset="0"/>
                <a:ea typeface="Calibri" pitchFamily="34" charset="-122"/>
                <a:cs typeface="Calibri" pitchFamily="34" charset="-120"/>
              </a:rPr>
              <a:t>Alizon School of Medical &amp; Digital Intelligence</a:t>
            </a:r>
            <a:endParaRPr lang="en-US" sz="1250" dirty="0"/>
          </a:p>
          <a:p>
            <a:pPr indent="0" marL="0">
              <a:lnSpc>
                <a:spcPts val="1800"/>
              </a:lnSpc>
              <a:buNone/>
            </a:pPr>
            <a:r>
              <a:rPr lang="en-US" sz="1250" dirty="0">
                <a:solidFill>
                  <a:srgbClr val="94A3B8"/>
                </a:solidFill>
                <a:latin typeface="Calibri" pitchFamily="34" charset="0"/>
                <a:ea typeface="Calibri" pitchFamily="34" charset="-122"/>
                <a:cs typeface="Calibri" pitchFamily="34" charset="-120"/>
              </a:rPr>
              <a:t>with Mar Dioscorus College of Pharmacy</a:t>
            </a:r>
            <a:endParaRPr lang="en-US" sz="1250" dirty="0"/>
          </a:p>
          <a:p>
            <a:pPr indent="0" marL="0">
              <a:lnSpc>
                <a:spcPts val="1800"/>
              </a:lnSpc>
              <a:buNone/>
            </a:pPr>
            <a:r>
              <a:rPr lang="en-US" sz="1250" dirty="0">
                <a:solidFill>
                  <a:srgbClr val="94A3B8"/>
                </a:solidFill>
                <a:latin typeface="Calibri" pitchFamily="34" charset="0"/>
                <a:ea typeface="Calibri" pitchFamily="34" charset="-122"/>
                <a:cs typeface="Calibri" pitchFamily="34" charset="-120"/>
              </a:rPr>
              <a:t>and the International Organisation for Preventive Health &amp; Medical Research Centre</a:t>
            </a:r>
            <a:endParaRPr lang="en-US" sz="12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84048"/>
            <a:ext cx="10058400" cy="256032"/>
          </a:xfrm>
          <a:prstGeom prst="rect">
            <a:avLst/>
          </a:prstGeom>
          <a:noFill/>
          <a:ln/>
        </p:spPr>
        <p:txBody>
          <a:bodyPr wrap="square" lIns="0" tIns="0" rIns="0" bIns="0" rtlCol="0" anchor="ctr"/>
          <a:lstStyle/>
          <a:p>
            <a:pPr indent="0" marL="0">
              <a:buNone/>
            </a:pPr>
            <a:r>
              <a:rPr lang="en-US" sz="1100" b="1" spc="250" kern="0" dirty="0">
                <a:solidFill>
                  <a:srgbClr val="0E7490"/>
                </a:solidFill>
                <a:latin typeface="Calibri" pitchFamily="34" charset="0"/>
                <a:ea typeface="Calibri" pitchFamily="34" charset="-122"/>
                <a:cs typeface="Calibri" pitchFamily="34" charset="-120"/>
              </a:rPr>
              <a:t>Learning outcomes</a:t>
            </a:r>
            <a:endParaRPr lang="en-US" sz="1100" dirty="0"/>
          </a:p>
        </p:txBody>
      </p:sp>
      <p:sp>
        <p:nvSpPr>
          <p:cNvPr id="3" name="Text 1"/>
          <p:cNvSpPr txBox="1"/>
          <p:nvPr/>
        </p:nvSpPr>
        <p:spPr>
          <a:xfrm>
            <a:off x="566928" y="640080"/>
            <a:ext cx="11064240" cy="548640"/>
          </a:xfrm>
          <a:prstGeom prst="rect">
            <a:avLst/>
          </a:prstGeom>
          <a:noFill/>
          <a:ln/>
        </p:spPr>
        <p:txBody>
          <a:bodyPr wrap="square" lIns="0" tIns="0" rIns="0" bIns="0" rtlCol="0" anchor="t"/>
          <a:lstStyle/>
          <a:p>
            <a:pPr indent="0" marL="0">
              <a:lnSpc>
                <a:spcPts val="3800"/>
              </a:lnSpc>
              <a:buNone/>
            </a:pPr>
            <a:r>
              <a:rPr lang="en-US" sz="3100" b="1" dirty="0">
                <a:solidFill>
                  <a:srgbClr val="0F2B3D"/>
                </a:solidFill>
                <a:latin typeface="Cambria" pitchFamily="34" charset="0"/>
                <a:ea typeface="Cambria" pitchFamily="34" charset="-122"/>
                <a:cs typeface="Cambria" pitchFamily="34" charset="-120"/>
              </a:rPr>
              <a:t>What you will be able to do by the end</a:t>
            </a:r>
            <a:endParaRPr lang="en-US" sz="3100" dirty="0"/>
          </a:p>
        </p:txBody>
      </p:sp>
      <p:sp>
        <p:nvSpPr>
          <p:cNvPr id="4" name="Shape 2"/>
          <p:cNvSpPr/>
          <p:nvPr/>
        </p:nvSpPr>
        <p:spPr>
          <a:xfrm>
            <a:off x="566928" y="1554480"/>
            <a:ext cx="5349240" cy="1444752"/>
          </a:xfrm>
          <a:prstGeom prst="roundRect">
            <a:avLst>
              <a:gd name="adj" fmla="val 3797"/>
            </a:avLst>
          </a:prstGeom>
          <a:solidFill>
            <a:srgbClr val="F1F5F9"/>
          </a:solidFill>
          <a:ln w="12700">
            <a:solidFill>
              <a:srgbClr val="E2E8F0"/>
            </a:solidFill>
            <a:prstDash val="solid"/>
          </a:ln>
        </p:spPr>
      </p:sp>
      <p:sp>
        <p:nvSpPr>
          <p:cNvPr id="5" name="Shape 3"/>
          <p:cNvSpPr/>
          <p:nvPr/>
        </p:nvSpPr>
        <p:spPr>
          <a:xfrm>
            <a:off x="822960" y="1847088"/>
            <a:ext cx="420624" cy="420624"/>
          </a:xfrm>
          <a:prstGeom prst="ellipse">
            <a:avLst/>
          </a:prstGeom>
          <a:solidFill>
            <a:srgbClr val="0E7490"/>
          </a:solidFill>
          <a:ln/>
        </p:spPr>
      </p:sp>
      <p:sp>
        <p:nvSpPr>
          <p:cNvPr id="6" name="Text 4"/>
          <p:cNvSpPr txBox="1"/>
          <p:nvPr/>
        </p:nvSpPr>
        <p:spPr>
          <a:xfrm>
            <a:off x="822960" y="1847088"/>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7" name="Text 5"/>
          <p:cNvSpPr txBox="1"/>
          <p:nvPr/>
        </p:nvSpPr>
        <p:spPr>
          <a:xfrm>
            <a:off x="1408176" y="1792224"/>
            <a:ext cx="4297680" cy="310896"/>
          </a:xfrm>
          <a:prstGeom prst="rect">
            <a:avLst/>
          </a:prstGeom>
          <a:noFill/>
          <a:ln/>
        </p:spPr>
        <p:txBody>
          <a:bodyPr wrap="square" lIns="0" tIns="0" rIns="0" bIns="0" rtlCol="0" anchor="t"/>
          <a:lstStyle/>
          <a:p>
            <a:pPr indent="0" marL="0">
              <a:buNone/>
            </a:pPr>
            <a:r>
              <a:rPr lang="en-US" sz="1600" b="1" dirty="0">
                <a:solidFill>
                  <a:srgbClr val="0F2B3D"/>
                </a:solidFill>
                <a:latin typeface="Cambria" pitchFamily="34" charset="0"/>
                <a:ea typeface="Cambria" pitchFamily="34" charset="-122"/>
                <a:cs typeface="Cambria" pitchFamily="34" charset="-120"/>
              </a:rPr>
              <a:t>Read a case</a:t>
            </a:r>
            <a:endParaRPr lang="en-US" sz="1600" dirty="0"/>
          </a:p>
        </p:txBody>
      </p:sp>
      <p:sp>
        <p:nvSpPr>
          <p:cNvPr id="8" name="Text 6"/>
          <p:cNvSpPr txBox="1"/>
          <p:nvPr/>
        </p:nvSpPr>
        <p:spPr>
          <a:xfrm>
            <a:off x="1408176" y="2176272"/>
            <a:ext cx="4343400" cy="676656"/>
          </a:xfrm>
          <a:prstGeom prst="rect">
            <a:avLst/>
          </a:prstGeom>
          <a:noFill/>
          <a:ln/>
        </p:spPr>
        <p:txBody>
          <a:bodyPr wrap="square" lIns="0" tIns="0" rIns="0" bIns="0" rtlCol="0" anchor="t"/>
          <a:lstStyle/>
          <a:p>
            <a:pPr indent="0" marL="0">
              <a:lnSpc>
                <a:spcPts val="1700"/>
              </a:lnSpc>
              <a:buNone/>
            </a:pPr>
            <a:r>
              <a:rPr lang="en-US" sz="1250" dirty="0">
                <a:solidFill>
                  <a:srgbClr val="64748B"/>
                </a:solidFill>
                <a:latin typeface="Calibri" pitchFamily="34" charset="0"/>
                <a:ea typeface="Calibri" pitchFamily="34" charset="-122"/>
                <a:cs typeface="Calibri" pitchFamily="34" charset="-120"/>
              </a:rPr>
              <a:t>Pull patient, drug, indication, timing, event, action and outcome out of a plain narrative.</a:t>
            </a:r>
            <a:endParaRPr lang="en-US" sz="1250" dirty="0"/>
          </a:p>
        </p:txBody>
      </p:sp>
      <p:sp>
        <p:nvSpPr>
          <p:cNvPr id="9" name="Shape 7"/>
          <p:cNvSpPr/>
          <p:nvPr/>
        </p:nvSpPr>
        <p:spPr>
          <a:xfrm>
            <a:off x="6190488" y="1554480"/>
            <a:ext cx="5349240" cy="1444752"/>
          </a:xfrm>
          <a:prstGeom prst="roundRect">
            <a:avLst>
              <a:gd name="adj" fmla="val 3797"/>
            </a:avLst>
          </a:prstGeom>
          <a:solidFill>
            <a:srgbClr val="F1F5F9"/>
          </a:solidFill>
          <a:ln w="12700">
            <a:solidFill>
              <a:srgbClr val="E2E8F0"/>
            </a:solidFill>
            <a:prstDash val="solid"/>
          </a:ln>
        </p:spPr>
      </p:sp>
      <p:sp>
        <p:nvSpPr>
          <p:cNvPr id="10" name="Shape 8"/>
          <p:cNvSpPr/>
          <p:nvPr/>
        </p:nvSpPr>
        <p:spPr>
          <a:xfrm>
            <a:off x="6446520" y="1847088"/>
            <a:ext cx="420624" cy="420624"/>
          </a:xfrm>
          <a:prstGeom prst="ellipse">
            <a:avLst/>
          </a:prstGeom>
          <a:solidFill>
            <a:srgbClr val="0E7490"/>
          </a:solidFill>
          <a:ln/>
        </p:spPr>
      </p:sp>
      <p:sp>
        <p:nvSpPr>
          <p:cNvPr id="11" name="Text 9"/>
          <p:cNvSpPr txBox="1"/>
          <p:nvPr/>
        </p:nvSpPr>
        <p:spPr>
          <a:xfrm>
            <a:off x="6446520" y="1847088"/>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2" name="Text 10"/>
          <p:cNvSpPr txBox="1"/>
          <p:nvPr/>
        </p:nvSpPr>
        <p:spPr>
          <a:xfrm>
            <a:off x="7031736" y="1792224"/>
            <a:ext cx="4297680" cy="310896"/>
          </a:xfrm>
          <a:prstGeom prst="rect">
            <a:avLst/>
          </a:prstGeom>
          <a:noFill/>
          <a:ln/>
        </p:spPr>
        <p:txBody>
          <a:bodyPr wrap="square" lIns="0" tIns="0" rIns="0" bIns="0" rtlCol="0" anchor="t"/>
          <a:lstStyle/>
          <a:p>
            <a:pPr indent="0" marL="0">
              <a:buNone/>
            </a:pPr>
            <a:r>
              <a:rPr lang="en-US" sz="1600" b="1" dirty="0">
                <a:solidFill>
                  <a:srgbClr val="0F2B3D"/>
                </a:solidFill>
                <a:latin typeface="Cambria" pitchFamily="34" charset="0"/>
                <a:ea typeface="Cambria" pitchFamily="34" charset="-122"/>
                <a:cs typeface="Cambria" pitchFamily="34" charset="-120"/>
              </a:rPr>
              <a:t>Look the drug up</a:t>
            </a:r>
            <a:endParaRPr lang="en-US" sz="1600" dirty="0"/>
          </a:p>
        </p:txBody>
      </p:sp>
      <p:sp>
        <p:nvSpPr>
          <p:cNvPr id="13" name="Text 11"/>
          <p:cNvSpPr txBox="1"/>
          <p:nvPr/>
        </p:nvSpPr>
        <p:spPr>
          <a:xfrm>
            <a:off x="7031736" y="2176272"/>
            <a:ext cx="4343400" cy="676656"/>
          </a:xfrm>
          <a:prstGeom prst="rect">
            <a:avLst/>
          </a:prstGeom>
          <a:noFill/>
          <a:ln/>
        </p:spPr>
        <p:txBody>
          <a:bodyPr wrap="square" lIns="0" tIns="0" rIns="0" bIns="0" rtlCol="0" anchor="t"/>
          <a:lstStyle/>
          <a:p>
            <a:pPr indent="0" marL="0">
              <a:lnSpc>
                <a:spcPts val="1700"/>
              </a:lnSpc>
              <a:buNone/>
            </a:pPr>
            <a:r>
              <a:rPr lang="en-US" sz="1250" dirty="0">
                <a:solidFill>
                  <a:srgbClr val="64748B"/>
                </a:solidFill>
                <a:latin typeface="Calibri" pitchFamily="34" charset="0"/>
                <a:ea typeface="Calibri" pitchFamily="34" charset="-122"/>
                <a:cs typeface="Calibri" pitchFamily="34" charset="-120"/>
              </a:rPr>
              <a:t>Use a reference before judging a reaction to a medicine. Nobody memorises this.</a:t>
            </a:r>
            <a:endParaRPr lang="en-US" sz="1250" dirty="0"/>
          </a:p>
        </p:txBody>
      </p:sp>
      <p:sp>
        <p:nvSpPr>
          <p:cNvPr id="14" name="Shape 12"/>
          <p:cNvSpPr/>
          <p:nvPr/>
        </p:nvSpPr>
        <p:spPr>
          <a:xfrm>
            <a:off x="566928" y="3182112"/>
            <a:ext cx="5349240" cy="1444752"/>
          </a:xfrm>
          <a:prstGeom prst="roundRect">
            <a:avLst>
              <a:gd name="adj" fmla="val 3797"/>
            </a:avLst>
          </a:prstGeom>
          <a:solidFill>
            <a:srgbClr val="F1F5F9"/>
          </a:solidFill>
          <a:ln w="12700">
            <a:solidFill>
              <a:srgbClr val="E2E8F0"/>
            </a:solidFill>
            <a:prstDash val="solid"/>
          </a:ln>
        </p:spPr>
      </p:sp>
      <p:sp>
        <p:nvSpPr>
          <p:cNvPr id="15" name="Shape 13"/>
          <p:cNvSpPr/>
          <p:nvPr/>
        </p:nvSpPr>
        <p:spPr>
          <a:xfrm>
            <a:off x="822960" y="3474720"/>
            <a:ext cx="420624" cy="420624"/>
          </a:xfrm>
          <a:prstGeom prst="ellipse">
            <a:avLst/>
          </a:prstGeom>
          <a:solidFill>
            <a:srgbClr val="0E7490"/>
          </a:solidFill>
          <a:ln/>
        </p:spPr>
      </p:sp>
      <p:sp>
        <p:nvSpPr>
          <p:cNvPr id="16" name="Text 14"/>
          <p:cNvSpPr txBox="1"/>
          <p:nvPr/>
        </p:nvSpPr>
        <p:spPr>
          <a:xfrm>
            <a:off x="822960" y="3474720"/>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7" name="Text 15"/>
          <p:cNvSpPr txBox="1"/>
          <p:nvPr/>
        </p:nvSpPr>
        <p:spPr>
          <a:xfrm>
            <a:off x="1408176" y="3419856"/>
            <a:ext cx="4297680" cy="310896"/>
          </a:xfrm>
          <a:prstGeom prst="rect">
            <a:avLst/>
          </a:prstGeom>
          <a:noFill/>
          <a:ln/>
        </p:spPr>
        <p:txBody>
          <a:bodyPr wrap="square" lIns="0" tIns="0" rIns="0" bIns="0" rtlCol="0" anchor="t"/>
          <a:lstStyle/>
          <a:p>
            <a:pPr indent="0" marL="0">
              <a:buNone/>
            </a:pPr>
            <a:r>
              <a:rPr lang="en-US" sz="1600" b="1" dirty="0">
                <a:solidFill>
                  <a:srgbClr val="0F2B3D"/>
                </a:solidFill>
                <a:latin typeface="Cambria" pitchFamily="34" charset="0"/>
                <a:ea typeface="Cambria" pitchFamily="34" charset="-122"/>
                <a:cs typeface="Cambria" pitchFamily="34" charset="-120"/>
              </a:rPr>
              <a:t>Check the combination</a:t>
            </a:r>
            <a:endParaRPr lang="en-US" sz="1600" dirty="0"/>
          </a:p>
        </p:txBody>
      </p:sp>
      <p:sp>
        <p:nvSpPr>
          <p:cNvPr id="18" name="Text 16"/>
          <p:cNvSpPr txBox="1"/>
          <p:nvPr/>
        </p:nvSpPr>
        <p:spPr>
          <a:xfrm>
            <a:off x="1408176" y="3803904"/>
            <a:ext cx="4343400" cy="676656"/>
          </a:xfrm>
          <a:prstGeom prst="rect">
            <a:avLst/>
          </a:prstGeom>
          <a:noFill/>
          <a:ln/>
        </p:spPr>
        <p:txBody>
          <a:bodyPr wrap="square" lIns="0" tIns="0" rIns="0" bIns="0" rtlCol="0" anchor="t"/>
          <a:lstStyle/>
          <a:p>
            <a:pPr indent="0" marL="0">
              <a:lnSpc>
                <a:spcPts val="1700"/>
              </a:lnSpc>
              <a:buNone/>
            </a:pPr>
            <a:r>
              <a:rPr lang="en-US" sz="1250" dirty="0">
                <a:solidFill>
                  <a:srgbClr val="64748B"/>
                </a:solidFill>
                <a:latin typeface="Calibri" pitchFamily="34" charset="0"/>
                <a:ea typeface="Calibri" pitchFamily="34" charset="-122"/>
                <a:cs typeface="Calibri" pitchFamily="34" charset="-120"/>
              </a:rPr>
              <a:t>Drug–drug, drug–disease and patient factors — and say what the pharmacist does.</a:t>
            </a:r>
            <a:endParaRPr lang="en-US" sz="1250" dirty="0"/>
          </a:p>
        </p:txBody>
      </p:sp>
      <p:sp>
        <p:nvSpPr>
          <p:cNvPr id="19" name="Shape 17"/>
          <p:cNvSpPr/>
          <p:nvPr/>
        </p:nvSpPr>
        <p:spPr>
          <a:xfrm>
            <a:off x="6190488" y="3182112"/>
            <a:ext cx="5349240" cy="1444752"/>
          </a:xfrm>
          <a:prstGeom prst="roundRect">
            <a:avLst>
              <a:gd name="adj" fmla="val 3797"/>
            </a:avLst>
          </a:prstGeom>
          <a:solidFill>
            <a:srgbClr val="F1F5F9"/>
          </a:solidFill>
          <a:ln w="12700">
            <a:solidFill>
              <a:srgbClr val="E2E8F0"/>
            </a:solidFill>
            <a:prstDash val="solid"/>
          </a:ln>
        </p:spPr>
      </p:sp>
      <p:sp>
        <p:nvSpPr>
          <p:cNvPr id="20" name="Shape 18"/>
          <p:cNvSpPr/>
          <p:nvPr/>
        </p:nvSpPr>
        <p:spPr>
          <a:xfrm>
            <a:off x="6446520" y="3474720"/>
            <a:ext cx="420624" cy="420624"/>
          </a:xfrm>
          <a:prstGeom prst="ellipse">
            <a:avLst/>
          </a:prstGeom>
          <a:solidFill>
            <a:srgbClr val="0E7490"/>
          </a:solidFill>
          <a:ln/>
        </p:spPr>
      </p:sp>
      <p:sp>
        <p:nvSpPr>
          <p:cNvPr id="21" name="Text 19"/>
          <p:cNvSpPr txBox="1"/>
          <p:nvPr/>
        </p:nvSpPr>
        <p:spPr>
          <a:xfrm>
            <a:off x="6446520" y="3474720"/>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22" name="Text 20"/>
          <p:cNvSpPr txBox="1"/>
          <p:nvPr/>
        </p:nvSpPr>
        <p:spPr>
          <a:xfrm>
            <a:off x="7031736" y="3419856"/>
            <a:ext cx="4297680" cy="310896"/>
          </a:xfrm>
          <a:prstGeom prst="rect">
            <a:avLst/>
          </a:prstGeom>
          <a:noFill/>
          <a:ln/>
        </p:spPr>
        <p:txBody>
          <a:bodyPr wrap="square" lIns="0" tIns="0" rIns="0" bIns="0" rtlCol="0" anchor="t"/>
          <a:lstStyle/>
          <a:p>
            <a:pPr indent="0" marL="0">
              <a:buNone/>
            </a:pPr>
            <a:r>
              <a:rPr lang="en-US" sz="1600" b="1" dirty="0">
                <a:solidFill>
                  <a:srgbClr val="0F2B3D"/>
                </a:solidFill>
                <a:latin typeface="Cambria" pitchFamily="34" charset="0"/>
                <a:ea typeface="Cambria" pitchFamily="34" charset="-122"/>
                <a:cs typeface="Cambria" pitchFamily="34" charset="-120"/>
              </a:rPr>
              <a:t>Decide if it is an ADR</a:t>
            </a:r>
            <a:endParaRPr lang="en-US" sz="1600" dirty="0"/>
          </a:p>
        </p:txBody>
      </p:sp>
      <p:sp>
        <p:nvSpPr>
          <p:cNvPr id="23" name="Text 21"/>
          <p:cNvSpPr txBox="1"/>
          <p:nvPr/>
        </p:nvSpPr>
        <p:spPr>
          <a:xfrm>
            <a:off x="7031736" y="3803904"/>
            <a:ext cx="4343400" cy="676656"/>
          </a:xfrm>
          <a:prstGeom prst="rect">
            <a:avLst/>
          </a:prstGeom>
          <a:noFill/>
          <a:ln/>
        </p:spPr>
        <p:txBody>
          <a:bodyPr wrap="square" lIns="0" tIns="0" rIns="0" bIns="0" rtlCol="0" anchor="t"/>
          <a:lstStyle/>
          <a:p>
            <a:pPr indent="0" marL="0">
              <a:lnSpc>
                <a:spcPts val="1700"/>
              </a:lnSpc>
              <a:buNone/>
            </a:pPr>
            <a:r>
              <a:rPr lang="en-US" sz="1250" dirty="0">
                <a:solidFill>
                  <a:srgbClr val="64748B"/>
                </a:solidFill>
                <a:latin typeface="Calibri" pitchFamily="34" charset="0"/>
                <a:ea typeface="Calibri" pitchFamily="34" charset="-122"/>
                <a:cs typeface="Calibri" pitchFamily="34" charset="-120"/>
              </a:rPr>
              <a:t>Including recognising when you cannot decide yet.</a:t>
            </a:r>
            <a:endParaRPr lang="en-US" sz="1250" dirty="0"/>
          </a:p>
        </p:txBody>
      </p:sp>
      <p:sp>
        <p:nvSpPr>
          <p:cNvPr id="24" name="Shape 22"/>
          <p:cNvSpPr/>
          <p:nvPr/>
        </p:nvSpPr>
        <p:spPr>
          <a:xfrm>
            <a:off x="566928" y="4809744"/>
            <a:ext cx="5349240" cy="1444752"/>
          </a:xfrm>
          <a:prstGeom prst="roundRect">
            <a:avLst>
              <a:gd name="adj" fmla="val 3797"/>
            </a:avLst>
          </a:prstGeom>
          <a:solidFill>
            <a:srgbClr val="F1F5F9"/>
          </a:solidFill>
          <a:ln w="12700">
            <a:solidFill>
              <a:srgbClr val="E2E8F0"/>
            </a:solidFill>
            <a:prstDash val="solid"/>
          </a:ln>
        </p:spPr>
      </p:sp>
      <p:sp>
        <p:nvSpPr>
          <p:cNvPr id="25" name="Shape 23"/>
          <p:cNvSpPr/>
          <p:nvPr/>
        </p:nvSpPr>
        <p:spPr>
          <a:xfrm>
            <a:off x="822960" y="5102352"/>
            <a:ext cx="420624" cy="420624"/>
          </a:xfrm>
          <a:prstGeom prst="ellipse">
            <a:avLst/>
          </a:prstGeom>
          <a:solidFill>
            <a:srgbClr val="0E7490"/>
          </a:solidFill>
          <a:ln/>
        </p:spPr>
      </p:sp>
      <p:sp>
        <p:nvSpPr>
          <p:cNvPr id="26" name="Text 24"/>
          <p:cNvSpPr txBox="1"/>
          <p:nvPr/>
        </p:nvSpPr>
        <p:spPr>
          <a:xfrm>
            <a:off x="822960" y="5102352"/>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27" name="Text 25"/>
          <p:cNvSpPr txBox="1"/>
          <p:nvPr/>
        </p:nvSpPr>
        <p:spPr>
          <a:xfrm>
            <a:off x="1408176" y="5047488"/>
            <a:ext cx="4297680" cy="310896"/>
          </a:xfrm>
          <a:prstGeom prst="rect">
            <a:avLst/>
          </a:prstGeom>
          <a:noFill/>
          <a:ln/>
        </p:spPr>
        <p:txBody>
          <a:bodyPr wrap="square" lIns="0" tIns="0" rIns="0" bIns="0" rtlCol="0" anchor="t"/>
          <a:lstStyle/>
          <a:p>
            <a:pPr indent="0" marL="0">
              <a:buNone/>
            </a:pPr>
            <a:r>
              <a:rPr lang="en-US" sz="1600" b="1" dirty="0">
                <a:solidFill>
                  <a:srgbClr val="0F2B3D"/>
                </a:solidFill>
                <a:latin typeface="Cambria" pitchFamily="34" charset="0"/>
                <a:ea typeface="Cambria" pitchFamily="34" charset="-122"/>
                <a:cs typeface="Cambria" pitchFamily="34" charset="-120"/>
              </a:rPr>
              <a:t>Classify and assess</a:t>
            </a:r>
            <a:endParaRPr lang="en-US" sz="1600" dirty="0"/>
          </a:p>
        </p:txBody>
      </p:sp>
      <p:sp>
        <p:nvSpPr>
          <p:cNvPr id="28" name="Text 26"/>
          <p:cNvSpPr txBox="1"/>
          <p:nvPr/>
        </p:nvSpPr>
        <p:spPr>
          <a:xfrm>
            <a:off x="1408176" y="5431536"/>
            <a:ext cx="4343400" cy="676656"/>
          </a:xfrm>
          <a:prstGeom prst="rect">
            <a:avLst/>
          </a:prstGeom>
          <a:noFill/>
          <a:ln/>
        </p:spPr>
        <p:txBody>
          <a:bodyPr wrap="square" lIns="0" tIns="0" rIns="0" bIns="0" rtlCol="0" anchor="t"/>
          <a:lstStyle/>
          <a:p>
            <a:pPr indent="0" marL="0">
              <a:lnSpc>
                <a:spcPts val="1700"/>
              </a:lnSpc>
              <a:buNone/>
            </a:pPr>
            <a:r>
              <a:rPr lang="en-US" sz="1250" dirty="0">
                <a:solidFill>
                  <a:srgbClr val="64748B"/>
                </a:solidFill>
                <a:latin typeface="Calibri" pitchFamily="34" charset="0"/>
                <a:ea typeface="Calibri" pitchFamily="34" charset="-122"/>
                <a:cs typeface="Calibri" pitchFamily="34" charset="-120"/>
              </a:rPr>
              <a:t>Seriousness, severity, expectedness, causality.</a:t>
            </a:r>
            <a:endParaRPr lang="en-US" sz="1250" dirty="0"/>
          </a:p>
        </p:txBody>
      </p:sp>
      <p:sp>
        <p:nvSpPr>
          <p:cNvPr id="29" name="Shape 27"/>
          <p:cNvSpPr/>
          <p:nvPr/>
        </p:nvSpPr>
        <p:spPr>
          <a:xfrm>
            <a:off x="6190488" y="4809744"/>
            <a:ext cx="5349240" cy="1444752"/>
          </a:xfrm>
          <a:prstGeom prst="roundRect">
            <a:avLst>
              <a:gd name="adj" fmla="val 3797"/>
            </a:avLst>
          </a:prstGeom>
          <a:solidFill>
            <a:srgbClr val="F1F5F9"/>
          </a:solidFill>
          <a:ln w="12700">
            <a:solidFill>
              <a:srgbClr val="E2E8F0"/>
            </a:solidFill>
            <a:prstDash val="solid"/>
          </a:ln>
        </p:spPr>
      </p:sp>
      <p:sp>
        <p:nvSpPr>
          <p:cNvPr id="30" name="Shape 28"/>
          <p:cNvSpPr/>
          <p:nvPr/>
        </p:nvSpPr>
        <p:spPr>
          <a:xfrm>
            <a:off x="6446520" y="5102352"/>
            <a:ext cx="420624" cy="420624"/>
          </a:xfrm>
          <a:prstGeom prst="ellipse">
            <a:avLst/>
          </a:prstGeom>
          <a:solidFill>
            <a:srgbClr val="0E7490"/>
          </a:solidFill>
          <a:ln/>
        </p:spPr>
      </p:sp>
      <p:sp>
        <p:nvSpPr>
          <p:cNvPr id="31" name="Text 29"/>
          <p:cNvSpPr txBox="1"/>
          <p:nvPr/>
        </p:nvSpPr>
        <p:spPr>
          <a:xfrm>
            <a:off x="6446520" y="5102352"/>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6</a:t>
            </a:r>
            <a:endParaRPr lang="en-US" sz="1200" dirty="0"/>
          </a:p>
        </p:txBody>
      </p:sp>
      <p:sp>
        <p:nvSpPr>
          <p:cNvPr id="32" name="Text 30"/>
          <p:cNvSpPr txBox="1"/>
          <p:nvPr/>
        </p:nvSpPr>
        <p:spPr>
          <a:xfrm>
            <a:off x="7031736" y="5047488"/>
            <a:ext cx="4297680" cy="310896"/>
          </a:xfrm>
          <a:prstGeom prst="rect">
            <a:avLst/>
          </a:prstGeom>
          <a:noFill/>
          <a:ln/>
        </p:spPr>
        <p:txBody>
          <a:bodyPr wrap="square" lIns="0" tIns="0" rIns="0" bIns="0" rtlCol="0" anchor="t"/>
          <a:lstStyle/>
          <a:p>
            <a:pPr indent="0" marL="0">
              <a:buNone/>
            </a:pPr>
            <a:r>
              <a:rPr lang="en-US" sz="1600" b="1" dirty="0">
                <a:solidFill>
                  <a:srgbClr val="0F2B3D"/>
                </a:solidFill>
                <a:latin typeface="Cambria" pitchFamily="34" charset="0"/>
                <a:ea typeface="Cambria" pitchFamily="34" charset="-122"/>
                <a:cs typeface="Cambria" pitchFamily="34" charset="-120"/>
              </a:rPr>
              <a:t>Code and report</a:t>
            </a:r>
            <a:endParaRPr lang="en-US" sz="1600" dirty="0"/>
          </a:p>
        </p:txBody>
      </p:sp>
      <p:sp>
        <p:nvSpPr>
          <p:cNvPr id="33" name="Text 31"/>
          <p:cNvSpPr txBox="1"/>
          <p:nvPr/>
        </p:nvSpPr>
        <p:spPr>
          <a:xfrm>
            <a:off x="7031736" y="5431536"/>
            <a:ext cx="4343400" cy="676656"/>
          </a:xfrm>
          <a:prstGeom prst="rect">
            <a:avLst/>
          </a:prstGeom>
          <a:noFill/>
          <a:ln/>
        </p:spPr>
        <p:txBody>
          <a:bodyPr wrap="square" lIns="0" tIns="0" rIns="0" bIns="0" rtlCol="0" anchor="t"/>
          <a:lstStyle/>
          <a:p>
            <a:pPr indent="0" marL="0">
              <a:lnSpc>
                <a:spcPts val="1700"/>
              </a:lnSpc>
              <a:buNone/>
            </a:pPr>
            <a:r>
              <a:rPr lang="en-US" sz="1250" dirty="0">
                <a:solidFill>
                  <a:srgbClr val="64748B"/>
                </a:solidFill>
                <a:latin typeface="Calibri" pitchFamily="34" charset="0"/>
                <a:ea typeface="Calibri" pitchFamily="34" charset="-122"/>
                <a:cs typeface="Calibri" pitchFamily="34" charset="-120"/>
              </a:rPr>
              <a:t>Turn words into a standardised term and build a valid ICSR.</a:t>
            </a:r>
            <a:endParaRPr lang="en-US" sz="12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84048"/>
            <a:ext cx="10058400" cy="256032"/>
          </a:xfrm>
          <a:prstGeom prst="rect">
            <a:avLst/>
          </a:prstGeom>
          <a:noFill/>
          <a:ln/>
        </p:spPr>
        <p:txBody>
          <a:bodyPr wrap="square" lIns="0" tIns="0" rIns="0" bIns="0" rtlCol="0" anchor="ctr"/>
          <a:lstStyle/>
          <a:p>
            <a:pPr indent="0" marL="0">
              <a:buNone/>
            </a:pPr>
            <a:r>
              <a:rPr lang="en-US" sz="1100" b="1" spc="250" kern="0" dirty="0">
                <a:solidFill>
                  <a:srgbClr val="0E7490"/>
                </a:solidFill>
                <a:latin typeface="Calibri" pitchFamily="34" charset="0"/>
                <a:ea typeface="Calibri" pitchFamily="34" charset="-122"/>
                <a:cs typeface="Calibri" pitchFamily="34" charset="-120"/>
              </a:rPr>
              <a:t>Session plan</a:t>
            </a:r>
            <a:endParaRPr lang="en-US" sz="1100" dirty="0"/>
          </a:p>
        </p:txBody>
      </p:sp>
      <p:sp>
        <p:nvSpPr>
          <p:cNvPr id="3" name="Text 1"/>
          <p:cNvSpPr txBox="1"/>
          <p:nvPr/>
        </p:nvSpPr>
        <p:spPr>
          <a:xfrm>
            <a:off x="566928" y="640080"/>
            <a:ext cx="11064240" cy="548640"/>
          </a:xfrm>
          <a:prstGeom prst="rect">
            <a:avLst/>
          </a:prstGeom>
          <a:noFill/>
          <a:ln/>
        </p:spPr>
        <p:txBody>
          <a:bodyPr wrap="square" lIns="0" tIns="0" rIns="0" bIns="0" rtlCol="0" anchor="t"/>
          <a:lstStyle/>
          <a:p>
            <a:pPr indent="0" marL="0">
              <a:lnSpc>
                <a:spcPts val="3800"/>
              </a:lnSpc>
              <a:buNone/>
            </a:pPr>
            <a:r>
              <a:rPr lang="en-US" sz="3100" b="1" dirty="0">
                <a:solidFill>
                  <a:srgbClr val="0F2B3D"/>
                </a:solidFill>
                <a:latin typeface="Cambria" pitchFamily="34" charset="0"/>
                <a:ea typeface="Cambria" pitchFamily="34" charset="-122"/>
                <a:cs typeface="Cambria" pitchFamily="34" charset="-120"/>
              </a:rPr>
              <a:t>The four hours</a:t>
            </a:r>
            <a:endParaRPr lang="en-US" sz="31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566928" y="1417320"/>
          <a:ext cx="11027664" cy="914400"/>
        </p:xfrm>
        <a:graphic>
          <a:graphicData uri="http://schemas.openxmlformats.org/drawingml/2006/table">
            <a:tbl>
              <a:tblPr/>
              <a:tblGrid>
                <a:gridCol w="1234440"/>
                <a:gridCol w="3566160"/>
                <a:gridCol w="6227064"/>
              </a:tblGrid>
              <a:tr h="0">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Time</a:t>
                      </a:r>
                      <a:endParaRPr lang="en-US" sz="1150" dirty="0">
                        <a:latin typeface="Calibri" charset="0"/>
                        <a:ea typeface="Calibri" charset="0"/>
                        <a:cs typeface="Calibri" charset="0"/>
                      </a:endParaRPr>
                    </a:p>
                  </a:txBody>
                  <a:tcPr marL="91440" marR="91440" marT="45720" marB="45720" anchor="t">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0F2B3D"/>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Session</a:t>
                      </a:r>
                      <a:endParaRPr lang="en-US" sz="1150" dirty="0">
                        <a:latin typeface="Calibri" charset="0"/>
                        <a:ea typeface="Calibri" charset="0"/>
                        <a:cs typeface="Calibri" charset="0"/>
                      </a:endParaRPr>
                    </a:p>
                  </a:txBody>
                  <a:tcPr marL="91440" marR="91440" marT="45720" marB="45720" anchor="t">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0F2B3D"/>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What you walk out able to do</a:t>
                      </a:r>
                      <a:endParaRPr lang="en-US" sz="1150" dirty="0">
                        <a:latin typeface="Calibri" charset="0"/>
                        <a:ea typeface="Calibri" charset="0"/>
                        <a:cs typeface="Calibri" charset="0"/>
                      </a:endParaRPr>
                    </a:p>
                  </a:txBody>
                  <a:tcPr marL="91440" marR="91440" marT="45720" marB="45720" anchor="t">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0F2B3D"/>
                    </a:solidFill>
                  </a:tcPr>
                </a:tc>
              </a:tr>
              <a:tr h="0">
                <a:tc>
                  <a:txBody>
                    <a:bodyPr/>
                    <a:lstStyle/>
                    <a:p>
                      <a:pPr indent="0" marL="0">
                        <a:buNone/>
                      </a:pPr>
                      <a:r>
                        <a:rPr lang="en-US" sz="1150" b="1" dirty="0">
                          <a:solidFill>
                            <a:srgbClr val="0E7490"/>
                          </a:solidFill>
                          <a:latin typeface="Calibri" pitchFamily="34" charset="0"/>
                          <a:ea typeface="Calibri" pitchFamily="34" charset="-122"/>
                          <a:cs typeface="Calibri" pitchFamily="34" charset="-120"/>
                        </a:rPr>
                        <a:t>20 min</a:t>
                      </a:r>
                      <a:endParaRPr lang="en-US" sz="1150" dirty="0">
                        <a:latin typeface="Calibri" charset="0"/>
                        <a:ea typeface="Calibri" charset="0"/>
                        <a:cs typeface="Calibri" charset="0"/>
                      </a:endParaRPr>
                    </a:p>
                  </a:txBody>
                  <a:tcPr marL="91440" marR="91440" marT="45720" marB="45720" anchor="t">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indent="0" marL="0">
                        <a:buNone/>
                      </a:pPr>
                      <a:r>
                        <a:rPr lang="en-US" sz="1150" b="1" dirty="0">
                          <a:solidFill>
                            <a:srgbClr val="1E293B"/>
                          </a:solidFill>
                          <a:latin typeface="Calibri" pitchFamily="34" charset="0"/>
                          <a:ea typeface="Calibri" pitchFamily="34" charset="-122"/>
                          <a:cs typeface="Calibri" pitchFamily="34" charset="-120"/>
                        </a:rPr>
                        <a:t>PV Basics — what is pharmacovigilance?</a:t>
                      </a:r>
                      <a:endParaRPr lang="en-US" sz="1150" dirty="0">
                        <a:latin typeface="Calibri" charset="0"/>
                        <a:ea typeface="Calibri" charset="0"/>
                        <a:cs typeface="Calibri" charset="0"/>
                      </a:endParaRPr>
                    </a:p>
                  </a:txBody>
                  <a:tcPr marL="91440" marR="91440" marT="45720" marB="45720" anchor="t">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indent="0" marL="0">
                        <a:buNone/>
                      </a:pPr>
                      <a:r>
                        <a:rPr lang="en-US" sz="1150" dirty="0">
                          <a:solidFill>
                            <a:srgbClr val="64748B"/>
                          </a:solidFill>
                          <a:latin typeface="Calibri" pitchFamily="34" charset="0"/>
                          <a:ea typeface="Calibri" pitchFamily="34" charset="-122"/>
                          <a:cs typeface="Calibri" pitchFamily="34" charset="-120"/>
                        </a:rPr>
                        <a:t>Why reporting exists, who may report, and what happens to a report after it is filed.</a:t>
                      </a:r>
                      <a:endParaRPr lang="en-US" sz="1150" dirty="0">
                        <a:latin typeface="Calibri" charset="0"/>
                        <a:ea typeface="Calibri" charset="0"/>
                        <a:cs typeface="Calibri" charset="0"/>
                      </a:endParaRPr>
                    </a:p>
                  </a:txBody>
                  <a:tcPr marL="91440" marR="91440" marT="45720" marB="45720" anchor="t">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r>
              <a:tr h="0">
                <a:tc>
                  <a:txBody>
                    <a:bodyPr/>
                    <a:lstStyle/>
                    <a:p>
                      <a:pPr indent="0" marL="0">
                        <a:buNone/>
                      </a:pPr>
                      <a:r>
                        <a:rPr lang="en-US" sz="1150" b="1" dirty="0">
                          <a:solidFill>
                            <a:srgbClr val="0E7490"/>
                          </a:solidFill>
                          <a:latin typeface="Calibri" pitchFamily="34" charset="0"/>
                          <a:ea typeface="Calibri" pitchFamily="34" charset="-122"/>
                          <a:cs typeface="Calibri" pitchFamily="34" charset="-120"/>
                        </a:rPr>
                        <a:t>20 min</a:t>
                      </a:r>
                      <a:endParaRPr lang="en-US" sz="1150" dirty="0">
                        <a:latin typeface="Calibri" charset="0"/>
                        <a:ea typeface="Calibri" charset="0"/>
                        <a:cs typeface="Calibri" charset="0"/>
                      </a:endParaRPr>
                    </a:p>
                  </a:txBody>
                  <a:tcPr marL="91440" marR="91440" marT="45720" marB="45720" anchor="t">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indent="0" marL="0">
                        <a:buNone/>
                      </a:pPr>
                      <a:r>
                        <a:rPr lang="en-US" sz="1150" b="1" dirty="0">
                          <a:solidFill>
                            <a:srgbClr val="1E293B"/>
                          </a:solidFill>
                          <a:latin typeface="Calibri" pitchFamily="34" charset="0"/>
                          <a:ea typeface="Calibri" pitchFamily="34" charset="-122"/>
                          <a:cs typeface="Calibri" pitchFamily="34" charset="-120"/>
                        </a:rPr>
                        <a:t>How to read a medication safety case</a:t>
                      </a:r>
                      <a:endParaRPr lang="en-US" sz="1150" dirty="0">
                        <a:latin typeface="Calibri" charset="0"/>
                        <a:ea typeface="Calibri" charset="0"/>
                        <a:cs typeface="Calibri" charset="0"/>
                      </a:endParaRPr>
                    </a:p>
                  </a:txBody>
                  <a:tcPr marL="91440" marR="91440" marT="45720" marB="45720" anchor="t">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indent="0" marL="0">
                        <a:buNone/>
                      </a:pPr>
                      <a:r>
                        <a:rPr lang="en-US" sz="1150" dirty="0">
                          <a:solidFill>
                            <a:srgbClr val="64748B"/>
                          </a:solidFill>
                          <a:latin typeface="Calibri" pitchFamily="34" charset="0"/>
                          <a:ea typeface="Calibri" pitchFamily="34" charset="-122"/>
                          <a:cs typeface="Calibri" pitchFamily="34" charset="-120"/>
                        </a:rPr>
                        <a:t>Extract patient, drug, indication, timing, event, action and outcome from a plain narrative.</a:t>
                      </a:r>
                      <a:endParaRPr lang="en-US" sz="1150" dirty="0">
                        <a:latin typeface="Calibri" charset="0"/>
                        <a:ea typeface="Calibri" charset="0"/>
                        <a:cs typeface="Calibri" charset="0"/>
                      </a:endParaRPr>
                    </a:p>
                  </a:txBody>
                  <a:tcPr marL="91440" marR="91440" marT="45720" marB="45720" anchor="t">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r>
              <a:tr h="0">
                <a:tc>
                  <a:txBody>
                    <a:bodyPr/>
                    <a:lstStyle/>
                    <a:p>
                      <a:pPr indent="0" marL="0">
                        <a:buNone/>
                      </a:pPr>
                      <a:r>
                        <a:rPr lang="en-US" sz="1150" b="1" dirty="0">
                          <a:solidFill>
                            <a:srgbClr val="0E7490"/>
                          </a:solidFill>
                          <a:latin typeface="Calibri" pitchFamily="34" charset="0"/>
                          <a:ea typeface="Calibri" pitchFamily="34" charset="-122"/>
                          <a:cs typeface="Calibri" pitchFamily="34" charset="-120"/>
                        </a:rPr>
                        <a:t>25 min</a:t>
                      </a:r>
                      <a:endParaRPr lang="en-US" sz="1150" dirty="0">
                        <a:latin typeface="Calibri" charset="0"/>
                        <a:ea typeface="Calibri" charset="0"/>
                        <a:cs typeface="Calibri" charset="0"/>
                      </a:endParaRPr>
                    </a:p>
                  </a:txBody>
                  <a:tcPr marL="91440" marR="91440" marT="45720" marB="45720" anchor="t">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indent="0" marL="0">
                        <a:buNone/>
                      </a:pPr>
                      <a:r>
                        <a:rPr lang="en-US" sz="1150" b="1" dirty="0">
                          <a:solidFill>
                            <a:srgbClr val="1E293B"/>
                          </a:solidFill>
                          <a:latin typeface="Calibri" pitchFamily="34" charset="0"/>
                          <a:ea typeface="Calibri" pitchFamily="34" charset="-122"/>
                          <a:cs typeface="Calibri" pitchFamily="34" charset="-120"/>
                        </a:rPr>
                        <a:t>Drug and ADR intelligence</a:t>
                      </a:r>
                      <a:endParaRPr lang="en-US" sz="1150" dirty="0">
                        <a:latin typeface="Calibri" charset="0"/>
                        <a:ea typeface="Calibri" charset="0"/>
                        <a:cs typeface="Calibri" charset="0"/>
                      </a:endParaRPr>
                    </a:p>
                  </a:txBody>
                  <a:tcPr marL="91440" marR="91440" marT="45720" marB="45720" anchor="t">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indent="0" marL="0">
                        <a:buNone/>
                      </a:pPr>
                      <a:r>
                        <a:rPr lang="en-US" sz="1150" dirty="0">
                          <a:solidFill>
                            <a:srgbClr val="64748B"/>
                          </a:solidFill>
                          <a:latin typeface="Calibri" pitchFamily="34" charset="0"/>
                          <a:ea typeface="Calibri" pitchFamily="34" charset="-122"/>
                          <a:cs typeface="Calibri" pitchFamily="34" charset="-120"/>
                        </a:rPr>
                        <a:t>Use a drug card before assessing a reaction to that drug. Look it up rather than recall it.</a:t>
                      </a:r>
                      <a:endParaRPr lang="en-US" sz="1150" dirty="0">
                        <a:latin typeface="Calibri" charset="0"/>
                        <a:ea typeface="Calibri" charset="0"/>
                        <a:cs typeface="Calibri" charset="0"/>
                      </a:endParaRPr>
                    </a:p>
                  </a:txBody>
                  <a:tcPr marL="91440" marR="91440" marT="45720" marB="45720" anchor="t">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r>
              <a:tr h="0">
                <a:tc>
                  <a:txBody>
                    <a:bodyPr/>
                    <a:lstStyle/>
                    <a:p>
                      <a:pPr indent="0" marL="0">
                        <a:buNone/>
                      </a:pPr>
                      <a:r>
                        <a:rPr lang="en-US" sz="1150" b="1" dirty="0">
                          <a:solidFill>
                            <a:srgbClr val="0E7490"/>
                          </a:solidFill>
                          <a:latin typeface="Calibri" pitchFamily="34" charset="0"/>
                          <a:ea typeface="Calibri" pitchFamily="34" charset="-122"/>
                          <a:cs typeface="Calibri" pitchFamily="34" charset="-120"/>
                        </a:rPr>
                        <a:t>30 min</a:t>
                      </a:r>
                      <a:endParaRPr lang="en-US" sz="1150" dirty="0">
                        <a:latin typeface="Calibri" charset="0"/>
                        <a:ea typeface="Calibri" charset="0"/>
                        <a:cs typeface="Calibri" charset="0"/>
                      </a:endParaRPr>
                    </a:p>
                  </a:txBody>
                  <a:tcPr marL="91440" marR="91440" marT="45720" marB="45720" anchor="t">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indent="0" marL="0">
                        <a:buNone/>
                      </a:pPr>
                      <a:r>
                        <a:rPr lang="en-US" sz="1150" b="1" dirty="0">
                          <a:solidFill>
                            <a:srgbClr val="1E293B"/>
                          </a:solidFill>
                          <a:latin typeface="Calibri" pitchFamily="34" charset="0"/>
                          <a:ea typeface="Calibri" pitchFamily="34" charset="-122"/>
                          <a:cs typeface="Calibri" pitchFamily="34" charset="-120"/>
                        </a:rPr>
                        <a:t>Interactions, contraindications and patient factors</a:t>
                      </a:r>
                      <a:endParaRPr lang="en-US" sz="1150" dirty="0">
                        <a:latin typeface="Calibri" charset="0"/>
                        <a:ea typeface="Calibri" charset="0"/>
                        <a:cs typeface="Calibri" charset="0"/>
                      </a:endParaRPr>
                    </a:p>
                  </a:txBody>
                  <a:tcPr marL="91440" marR="91440" marT="45720" marB="45720" anchor="t">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indent="0" marL="0">
                        <a:buNone/>
                      </a:pPr>
                      <a:r>
                        <a:rPr lang="en-US" sz="1150" dirty="0">
                          <a:solidFill>
                            <a:srgbClr val="64748B"/>
                          </a:solidFill>
                          <a:latin typeface="Calibri" pitchFamily="34" charset="0"/>
                          <a:ea typeface="Calibri" pitchFamily="34" charset="-122"/>
                          <a:cs typeface="Calibri" pitchFamily="34" charset="-120"/>
                        </a:rPr>
                        <a:t>Run a drug-drug check and a drug-disease check, and say what the pharmacist should do.</a:t>
                      </a:r>
                      <a:endParaRPr lang="en-US" sz="1150" dirty="0">
                        <a:latin typeface="Calibri" charset="0"/>
                        <a:ea typeface="Calibri" charset="0"/>
                        <a:cs typeface="Calibri" charset="0"/>
                      </a:endParaRPr>
                    </a:p>
                  </a:txBody>
                  <a:tcPr marL="91440" marR="91440" marT="45720" marB="45720" anchor="t">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r>
              <a:tr h="0">
                <a:tc>
                  <a:txBody>
                    <a:bodyPr/>
                    <a:lstStyle/>
                    <a:p>
                      <a:pPr indent="0" marL="0">
                        <a:buNone/>
                      </a:pPr>
                      <a:r>
                        <a:rPr lang="en-US" sz="1150" b="1" dirty="0">
                          <a:solidFill>
                            <a:srgbClr val="0E7490"/>
                          </a:solidFill>
                          <a:latin typeface="Calibri" pitchFamily="34" charset="0"/>
                          <a:ea typeface="Calibri" pitchFamily="34" charset="-122"/>
                          <a:cs typeface="Calibri" pitchFamily="34" charset="-120"/>
                        </a:rPr>
                        <a:t>30 min</a:t>
                      </a:r>
                      <a:endParaRPr lang="en-US" sz="1150" dirty="0">
                        <a:latin typeface="Calibri" charset="0"/>
                        <a:ea typeface="Calibri" charset="0"/>
                        <a:cs typeface="Calibri" charset="0"/>
                      </a:endParaRPr>
                    </a:p>
                  </a:txBody>
                  <a:tcPr marL="91440" marR="91440" marT="45720" marB="45720" anchor="t">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indent="0" marL="0">
                        <a:buNone/>
                      </a:pPr>
                      <a:r>
                        <a:rPr lang="en-US" sz="1150" b="1" dirty="0">
                          <a:solidFill>
                            <a:srgbClr val="1E293B"/>
                          </a:solidFill>
                          <a:latin typeface="Calibri" pitchFamily="34" charset="0"/>
                          <a:ea typeface="Calibri" pitchFamily="34" charset="-122"/>
                          <a:cs typeface="Calibri" pitchFamily="34" charset="-120"/>
                        </a:rPr>
                        <a:t>ADR identification and case validation</a:t>
                      </a:r>
                      <a:endParaRPr lang="en-US" sz="1150" dirty="0">
                        <a:latin typeface="Calibri" charset="0"/>
                        <a:ea typeface="Calibri" charset="0"/>
                        <a:cs typeface="Calibri" charset="0"/>
                      </a:endParaRPr>
                    </a:p>
                  </a:txBody>
                  <a:tcPr marL="91440" marR="91440" marT="45720" marB="45720" anchor="t">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indent="0" marL="0">
                        <a:buNone/>
                      </a:pPr>
                      <a:r>
                        <a:rPr lang="en-US" sz="1150" dirty="0">
                          <a:solidFill>
                            <a:srgbClr val="64748B"/>
                          </a:solidFill>
                          <a:latin typeface="Calibri" pitchFamily="34" charset="0"/>
                          <a:ea typeface="Calibri" pitchFamily="34" charset="-122"/>
                          <a:cs typeface="Calibri" pitchFamily="34" charset="-120"/>
                        </a:rPr>
                        <a:t>Decide which cases need investigating, list alternative causes, and confirm the four minimum elements.</a:t>
                      </a:r>
                      <a:endParaRPr lang="en-US" sz="1150" dirty="0">
                        <a:latin typeface="Calibri" charset="0"/>
                        <a:ea typeface="Calibri" charset="0"/>
                        <a:cs typeface="Calibri" charset="0"/>
                      </a:endParaRPr>
                    </a:p>
                  </a:txBody>
                  <a:tcPr marL="91440" marR="91440" marT="45720" marB="45720" anchor="t">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r>
              <a:tr h="0">
                <a:tc>
                  <a:txBody>
                    <a:bodyPr/>
                    <a:lstStyle/>
                    <a:p>
                      <a:pPr indent="0" marL="0">
                        <a:buNone/>
                      </a:pPr>
                      <a:r>
                        <a:rPr lang="en-US" sz="1150" b="1" dirty="0">
                          <a:solidFill>
                            <a:srgbClr val="0E7490"/>
                          </a:solidFill>
                          <a:latin typeface="Calibri" pitchFamily="34" charset="0"/>
                          <a:ea typeface="Calibri" pitchFamily="34" charset="-122"/>
                          <a:cs typeface="Calibri" pitchFamily="34" charset="-120"/>
                        </a:rPr>
                        <a:t>30 min</a:t>
                      </a:r>
                      <a:endParaRPr lang="en-US" sz="1150" dirty="0">
                        <a:latin typeface="Calibri" charset="0"/>
                        <a:ea typeface="Calibri" charset="0"/>
                        <a:cs typeface="Calibri" charset="0"/>
                      </a:endParaRPr>
                    </a:p>
                  </a:txBody>
                  <a:tcPr marL="91440" marR="91440" marT="45720" marB="45720" anchor="t">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indent="0" marL="0">
                        <a:buNone/>
                      </a:pPr>
                      <a:r>
                        <a:rPr lang="en-US" sz="1150" b="1" dirty="0">
                          <a:solidFill>
                            <a:srgbClr val="1E293B"/>
                          </a:solidFill>
                          <a:latin typeface="Calibri" pitchFamily="34" charset="0"/>
                          <a:ea typeface="Calibri" pitchFamily="34" charset="-122"/>
                          <a:cs typeface="Calibri" pitchFamily="34" charset="-120"/>
                        </a:rPr>
                        <a:t>Seriousness, severity and causality</a:t>
                      </a:r>
                      <a:endParaRPr lang="en-US" sz="1150" dirty="0">
                        <a:latin typeface="Calibri" charset="0"/>
                        <a:ea typeface="Calibri" charset="0"/>
                        <a:cs typeface="Calibri" charset="0"/>
                      </a:endParaRPr>
                    </a:p>
                  </a:txBody>
                  <a:tcPr marL="91440" marR="91440" marT="45720" marB="45720" anchor="t">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indent="0" marL="0">
                        <a:buNone/>
                      </a:pPr>
                      <a:r>
                        <a:rPr lang="en-US" sz="1150" dirty="0">
                          <a:solidFill>
                            <a:srgbClr val="64748B"/>
                          </a:solidFill>
                          <a:latin typeface="Calibri" pitchFamily="34" charset="0"/>
                          <a:ea typeface="Calibri" pitchFamily="34" charset="-122"/>
                          <a:cs typeface="Calibri" pitchFamily="34" charset="-120"/>
                        </a:rPr>
                        <a:t>Apply the seriousness criteria, separate seriousness from severity, and reach a causality category with reasons.</a:t>
                      </a:r>
                      <a:endParaRPr lang="en-US" sz="1150" dirty="0">
                        <a:latin typeface="Calibri" charset="0"/>
                        <a:ea typeface="Calibri" charset="0"/>
                        <a:cs typeface="Calibri" charset="0"/>
                      </a:endParaRPr>
                    </a:p>
                  </a:txBody>
                  <a:tcPr marL="91440" marR="91440" marT="45720" marB="45720" anchor="t">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r>
              <a:tr h="0">
                <a:tc>
                  <a:txBody>
                    <a:bodyPr/>
                    <a:lstStyle/>
                    <a:p>
                      <a:pPr indent="0" marL="0">
                        <a:buNone/>
                      </a:pPr>
                      <a:r>
                        <a:rPr lang="en-US" sz="1150" b="1" dirty="0">
                          <a:solidFill>
                            <a:srgbClr val="0E7490"/>
                          </a:solidFill>
                          <a:latin typeface="Calibri" pitchFamily="34" charset="0"/>
                          <a:ea typeface="Calibri" pitchFamily="34" charset="-122"/>
                          <a:cs typeface="Calibri" pitchFamily="34" charset="-120"/>
                        </a:rPr>
                        <a:t>25 min</a:t>
                      </a:r>
                      <a:endParaRPr lang="en-US" sz="1150" dirty="0">
                        <a:latin typeface="Calibri" charset="0"/>
                        <a:ea typeface="Calibri" charset="0"/>
                        <a:cs typeface="Calibri" charset="0"/>
                      </a:endParaRPr>
                    </a:p>
                  </a:txBody>
                  <a:tcPr marL="91440" marR="91440" marT="45720" marB="45720" anchor="t">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indent="0" marL="0">
                        <a:buNone/>
                      </a:pPr>
                      <a:r>
                        <a:rPr lang="en-US" sz="1150" b="1" dirty="0">
                          <a:solidFill>
                            <a:srgbClr val="1E293B"/>
                          </a:solidFill>
                          <a:latin typeface="Calibri" pitchFamily="34" charset="0"/>
                          <a:ea typeface="Calibri" pitchFamily="34" charset="-122"/>
                          <a:cs typeface="Calibri" pitchFamily="34" charset="-120"/>
                        </a:rPr>
                        <a:t>Coding the reaction</a:t>
                      </a:r>
                      <a:endParaRPr lang="en-US" sz="1150" dirty="0">
                        <a:latin typeface="Calibri" charset="0"/>
                        <a:ea typeface="Calibri" charset="0"/>
                        <a:cs typeface="Calibri" charset="0"/>
                      </a:endParaRPr>
                    </a:p>
                  </a:txBody>
                  <a:tcPr marL="91440" marR="91440" marT="45720" marB="45720" anchor="t">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indent="0" marL="0">
                        <a:buNone/>
                      </a:pPr>
                      <a:r>
                        <a:rPr lang="en-US" sz="1150" dirty="0">
                          <a:solidFill>
                            <a:srgbClr val="64748B"/>
                          </a:solidFill>
                          <a:latin typeface="Calibri" pitchFamily="34" charset="0"/>
                          <a:ea typeface="Calibri" pitchFamily="34" charset="-122"/>
                          <a:cs typeface="Calibri" pitchFamily="34" charset="-120"/>
                        </a:rPr>
                        <a:t>Translate the patient’s words into a reported term and then a standardised term.</a:t>
                      </a:r>
                      <a:endParaRPr lang="en-US" sz="1150" dirty="0">
                        <a:latin typeface="Calibri" charset="0"/>
                        <a:ea typeface="Calibri" charset="0"/>
                        <a:cs typeface="Calibri" charset="0"/>
                      </a:endParaRPr>
                    </a:p>
                  </a:txBody>
                  <a:tcPr marL="91440" marR="91440" marT="45720" marB="45720" anchor="t">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r>
              <a:tr h="0">
                <a:tc>
                  <a:txBody>
                    <a:bodyPr/>
                    <a:lstStyle/>
                    <a:p>
                      <a:pPr indent="0" marL="0">
                        <a:buNone/>
                      </a:pPr>
                      <a:r>
                        <a:rPr lang="en-US" sz="1150" b="1" dirty="0">
                          <a:solidFill>
                            <a:srgbClr val="0E7490"/>
                          </a:solidFill>
                          <a:latin typeface="Calibri" pitchFamily="34" charset="0"/>
                          <a:ea typeface="Calibri" pitchFamily="34" charset="-122"/>
                          <a:cs typeface="Calibri" pitchFamily="34" charset="-120"/>
                        </a:rPr>
                        <a:t>30 min</a:t>
                      </a:r>
                      <a:endParaRPr lang="en-US" sz="1150" dirty="0">
                        <a:latin typeface="Calibri" charset="0"/>
                        <a:ea typeface="Calibri" charset="0"/>
                        <a:cs typeface="Calibri" charset="0"/>
                      </a:endParaRPr>
                    </a:p>
                  </a:txBody>
                  <a:tcPr marL="91440" marR="91440" marT="45720" marB="45720" anchor="t">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indent="0" marL="0">
                        <a:buNone/>
                      </a:pPr>
                      <a:r>
                        <a:rPr lang="en-US" sz="1150" b="1" dirty="0">
                          <a:solidFill>
                            <a:srgbClr val="1E293B"/>
                          </a:solidFill>
                          <a:latin typeface="Calibri" pitchFamily="34" charset="0"/>
                          <a:ea typeface="Calibri" pitchFamily="34" charset="-122"/>
                          <a:cs typeface="Calibri" pitchFamily="34" charset="-120"/>
                        </a:rPr>
                        <a:t>Creating the ICSR</a:t>
                      </a:r>
                      <a:endParaRPr lang="en-US" sz="1150" dirty="0">
                        <a:latin typeface="Calibri" charset="0"/>
                        <a:ea typeface="Calibri" charset="0"/>
                        <a:cs typeface="Calibri" charset="0"/>
                      </a:endParaRPr>
                    </a:p>
                  </a:txBody>
                  <a:tcPr marL="91440" marR="91440" marT="45720" marB="45720" anchor="t">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indent="0" marL="0">
                        <a:buNone/>
                      </a:pPr>
                      <a:r>
                        <a:rPr lang="en-US" sz="1150" dirty="0">
                          <a:solidFill>
                            <a:srgbClr val="64748B"/>
                          </a:solidFill>
                          <a:latin typeface="Calibri" pitchFamily="34" charset="0"/>
                          <a:ea typeface="Calibri" pitchFamily="34" charset="-122"/>
                          <a:cs typeface="Calibri" pitchFamily="34" charset="-120"/>
                        </a:rPr>
                        <a:t>Build a report that would pass a quality check, and know why each field is there.</a:t>
                      </a:r>
                      <a:endParaRPr lang="en-US" sz="1150" dirty="0">
                        <a:latin typeface="Calibri" charset="0"/>
                        <a:ea typeface="Calibri" charset="0"/>
                        <a:cs typeface="Calibri" charset="0"/>
                      </a:endParaRPr>
                    </a:p>
                  </a:txBody>
                  <a:tcPr marL="91440" marR="91440" marT="45720" marB="45720" anchor="t">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r>
              <a:tr h="0">
                <a:tc>
                  <a:txBody>
                    <a:bodyPr/>
                    <a:lstStyle/>
                    <a:p>
                      <a:pPr indent="0" marL="0">
                        <a:buNone/>
                      </a:pPr>
                      <a:r>
                        <a:rPr lang="en-US" sz="1150" b="1" dirty="0">
                          <a:solidFill>
                            <a:srgbClr val="0E7490"/>
                          </a:solidFill>
                          <a:latin typeface="Calibri" pitchFamily="34" charset="0"/>
                          <a:ea typeface="Calibri" pitchFamily="34" charset="-122"/>
                          <a:cs typeface="Calibri" pitchFamily="34" charset="-120"/>
                        </a:rPr>
                        <a:t>20 min</a:t>
                      </a:r>
                      <a:endParaRPr lang="en-US" sz="1150" dirty="0">
                        <a:latin typeface="Calibri" charset="0"/>
                        <a:ea typeface="Calibri" charset="0"/>
                        <a:cs typeface="Calibri" charset="0"/>
                      </a:endParaRPr>
                    </a:p>
                  </a:txBody>
                  <a:tcPr marL="91440" marR="91440" marT="45720" marB="45720" anchor="t">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indent="0" marL="0">
                        <a:buNone/>
                      </a:pPr>
                      <a:r>
                        <a:rPr lang="en-US" sz="1150" b="1" dirty="0">
                          <a:solidFill>
                            <a:srgbClr val="1E293B"/>
                          </a:solidFill>
                          <a:latin typeface="Calibri" pitchFamily="34" charset="0"/>
                          <a:ea typeface="Calibri" pitchFamily="34" charset="-122"/>
                          <a:cs typeface="Calibri" pitchFamily="34" charset="-120"/>
                        </a:rPr>
                        <a:t>Follow-up and quality check</a:t>
                      </a:r>
                      <a:endParaRPr lang="en-US" sz="1150" dirty="0">
                        <a:latin typeface="Calibri" charset="0"/>
                        <a:ea typeface="Calibri" charset="0"/>
                        <a:cs typeface="Calibri" charset="0"/>
                      </a:endParaRPr>
                    </a:p>
                  </a:txBody>
                  <a:tcPr marL="91440" marR="91440" marT="45720" marB="45720" anchor="t">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indent="0" marL="0">
                        <a:buNone/>
                      </a:pPr>
                      <a:r>
                        <a:rPr lang="en-US" sz="1150" dirty="0">
                          <a:solidFill>
                            <a:srgbClr val="64748B"/>
                          </a:solidFill>
                          <a:latin typeface="Calibri" pitchFamily="34" charset="0"/>
                          <a:ea typeface="Calibri" pitchFamily="34" charset="-122"/>
                          <a:cs typeface="Calibri" pitchFamily="34" charset="-120"/>
                        </a:rPr>
                        <a:t>Decide what to chase, in what order, and inside what timeline.</a:t>
                      </a:r>
                      <a:endParaRPr lang="en-US" sz="1150" dirty="0">
                        <a:latin typeface="Calibri" charset="0"/>
                        <a:ea typeface="Calibri" charset="0"/>
                        <a:cs typeface="Calibri" charset="0"/>
                      </a:endParaRPr>
                    </a:p>
                  </a:txBody>
                  <a:tcPr marL="91440" marR="91440" marT="45720" marB="45720" anchor="t">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r>
              <a:tr h="0">
                <a:tc>
                  <a:txBody>
                    <a:bodyPr/>
                    <a:lstStyle/>
                    <a:p>
                      <a:pPr indent="0" marL="0">
                        <a:buNone/>
                      </a:pPr>
                      <a:r>
                        <a:rPr lang="en-US" sz="1150" b="1" dirty="0">
                          <a:solidFill>
                            <a:srgbClr val="0E7490"/>
                          </a:solidFill>
                          <a:latin typeface="Calibri" pitchFamily="34" charset="0"/>
                          <a:ea typeface="Calibri" pitchFamily="34" charset="-122"/>
                          <a:cs typeface="Calibri" pitchFamily="34" charset="-120"/>
                        </a:rPr>
                        <a:t>30 min</a:t>
                      </a:r>
                      <a:endParaRPr lang="en-US" sz="1150" dirty="0">
                        <a:latin typeface="Calibri" charset="0"/>
                        <a:ea typeface="Calibri" charset="0"/>
                        <a:cs typeface="Calibri" charset="0"/>
                      </a:endParaRPr>
                    </a:p>
                  </a:txBody>
                  <a:tcPr marL="91440" marR="91440" marT="45720" marB="45720" anchor="t">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indent="0" marL="0">
                        <a:buNone/>
                      </a:pPr>
                      <a:r>
                        <a:rPr lang="en-US" sz="1150" b="1" dirty="0">
                          <a:solidFill>
                            <a:srgbClr val="1E293B"/>
                          </a:solidFill>
                          <a:latin typeface="Calibri" pitchFamily="34" charset="0"/>
                          <a:ea typeface="Calibri" pitchFamily="34" charset="-122"/>
                          <a:cs typeface="Calibri" pitchFamily="34" charset="-120"/>
                        </a:rPr>
                        <a:t>Final team challenge</a:t>
                      </a:r>
                      <a:endParaRPr lang="en-US" sz="1150" dirty="0">
                        <a:latin typeface="Calibri" charset="0"/>
                        <a:ea typeface="Calibri" charset="0"/>
                        <a:cs typeface="Calibri" charset="0"/>
                      </a:endParaRPr>
                    </a:p>
                  </a:txBody>
                  <a:tcPr marL="91440" marR="91440" marT="45720" marB="45720" anchor="t">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indent="0" marL="0">
                        <a:buNone/>
                      </a:pPr>
                      <a:r>
                        <a:rPr lang="en-US" sz="1150" dirty="0">
                          <a:solidFill>
                            <a:srgbClr val="64748B"/>
                          </a:solidFill>
                          <a:latin typeface="Calibri" pitchFamily="34" charset="0"/>
                          <a:ea typeface="Calibri" pitchFamily="34" charset="-122"/>
                          <a:cs typeface="Calibri" pitchFamily="34" charset="-120"/>
                        </a:rPr>
                        <a:t>An incomplete case. Work out what is missing, get it, and take the case to a decision.</a:t>
                      </a:r>
                      <a:endParaRPr lang="en-US" sz="1150" dirty="0">
                        <a:latin typeface="Calibri" charset="0"/>
                        <a:ea typeface="Calibri" charset="0"/>
                        <a:cs typeface="Calibri" charset="0"/>
                      </a:endParaRPr>
                    </a:p>
                  </a:txBody>
                  <a:tcPr marL="91440" marR="91440" marT="45720" marB="45720" anchor="t">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F2B3D"/>
        </a:solidFill>
      </p:bgPr>
    </p:bg>
    <p:spTree>
      <p:nvGrpSpPr>
        <p:cNvPr id="1" name=""/>
        <p:cNvGrpSpPr/>
        <p:nvPr/>
      </p:nvGrpSpPr>
      <p:grpSpPr>
        <a:xfrm>
          <a:off x="0" y="0"/>
          <a:ext cx="0" cy="0"/>
          <a:chOff x="0" y="0"/>
          <a:chExt cx="0" cy="0"/>
        </a:xfrm>
      </p:grpSpPr>
      <p:sp>
        <p:nvSpPr>
          <p:cNvPr id="2" name="Shape 0"/>
          <p:cNvSpPr/>
          <p:nvPr/>
        </p:nvSpPr>
        <p:spPr>
          <a:xfrm>
            <a:off x="566928" y="2057400"/>
            <a:ext cx="1051560" cy="1051560"/>
          </a:xfrm>
          <a:prstGeom prst="ellipse">
            <a:avLst/>
          </a:prstGeom>
          <a:solidFill>
            <a:srgbClr val="0E7490"/>
          </a:solidFill>
          <a:ln/>
        </p:spPr>
      </p:sp>
      <p:sp>
        <p:nvSpPr>
          <p:cNvPr id="3" name="Text 1"/>
          <p:cNvSpPr txBox="1"/>
          <p:nvPr/>
        </p:nvSpPr>
        <p:spPr>
          <a:xfrm>
            <a:off x="566928" y="2057400"/>
            <a:ext cx="1051560" cy="1051560"/>
          </a:xfrm>
          <a:prstGeom prst="rect">
            <a:avLst/>
          </a:prstGeom>
          <a:noFill/>
          <a:ln/>
        </p:spPr>
        <p:txBody>
          <a:bodyPr wrap="square" lIns="0" tIns="0" rIns="0" bIns="0" rtlCol="0" anchor="ctr"/>
          <a:lstStyle/>
          <a:p>
            <a:pPr algn="ctr" indent="0" marL="0">
              <a:buNone/>
            </a:pPr>
            <a:r>
              <a:rPr lang="en-US" sz="3400" b="1" dirty="0">
                <a:solidFill>
                  <a:srgbClr val="FFFFFF"/>
                </a:solidFill>
                <a:latin typeface="Cambria" pitchFamily="34" charset="0"/>
                <a:ea typeface="Cambria" pitchFamily="34" charset="-122"/>
                <a:cs typeface="Cambria" pitchFamily="34" charset="-120"/>
              </a:rPr>
              <a:t>1</a:t>
            </a:r>
            <a:endParaRPr lang="en-US" sz="3400" dirty="0"/>
          </a:p>
        </p:txBody>
      </p:sp>
      <p:sp>
        <p:nvSpPr>
          <p:cNvPr id="4" name="Text 2"/>
          <p:cNvSpPr txBox="1"/>
          <p:nvPr/>
        </p:nvSpPr>
        <p:spPr>
          <a:xfrm>
            <a:off x="1874520" y="2121408"/>
            <a:ext cx="8229600" cy="274320"/>
          </a:xfrm>
          <a:prstGeom prst="rect">
            <a:avLst/>
          </a:prstGeom>
          <a:noFill/>
          <a:ln/>
        </p:spPr>
        <p:txBody>
          <a:bodyPr wrap="square" lIns="0" tIns="0" rIns="0" bIns="0" rtlCol="0" anchor="ctr"/>
          <a:lstStyle/>
          <a:p>
            <a:pPr indent="0" marL="0">
              <a:buNone/>
            </a:pPr>
            <a:r>
              <a:rPr lang="en-US" sz="1200" b="1" spc="300" kern="0" dirty="0">
                <a:solidFill>
                  <a:srgbClr val="0891B2"/>
                </a:solidFill>
                <a:latin typeface="Calibri" pitchFamily="34" charset="0"/>
                <a:ea typeface="Calibri" pitchFamily="34" charset="-122"/>
                <a:cs typeface="Calibri" pitchFamily="34" charset="-120"/>
              </a:rPr>
              <a:t>Part one</a:t>
            </a:r>
            <a:endParaRPr lang="en-US" sz="1200" dirty="0"/>
          </a:p>
        </p:txBody>
      </p:sp>
      <p:sp>
        <p:nvSpPr>
          <p:cNvPr id="5" name="Text 3"/>
          <p:cNvSpPr txBox="1"/>
          <p:nvPr/>
        </p:nvSpPr>
        <p:spPr>
          <a:xfrm>
            <a:off x="1874520" y="2395728"/>
            <a:ext cx="9326880" cy="621792"/>
          </a:xfrm>
          <a:prstGeom prst="rect">
            <a:avLst/>
          </a:prstGeom>
          <a:noFill/>
          <a:ln/>
        </p:spPr>
        <p:txBody>
          <a:bodyPr wrap="square" lIns="0" tIns="0" rIns="0" bIns="0" rtlCol="0" anchor="t"/>
          <a:lstStyle/>
          <a:p>
            <a:pPr indent="0" marL="0">
              <a:lnSpc>
                <a:spcPts val="4600"/>
              </a:lnSpc>
              <a:buNone/>
            </a:pPr>
            <a:r>
              <a:rPr lang="en-US" sz="4000" b="1" dirty="0">
                <a:solidFill>
                  <a:srgbClr val="FFFFFF"/>
                </a:solidFill>
                <a:latin typeface="Cambria" pitchFamily="34" charset="0"/>
                <a:ea typeface="Cambria" pitchFamily="34" charset="-122"/>
                <a:cs typeface="Cambria" pitchFamily="34" charset="-120"/>
              </a:rPr>
              <a:t>What pharmacovigilance is</a:t>
            </a:r>
            <a:endParaRPr lang="en-US" sz="4000" dirty="0"/>
          </a:p>
        </p:txBody>
      </p:sp>
      <p:sp>
        <p:nvSpPr>
          <p:cNvPr id="6" name="Text 4"/>
          <p:cNvSpPr txBox="1"/>
          <p:nvPr/>
        </p:nvSpPr>
        <p:spPr>
          <a:xfrm>
            <a:off x="1874520" y="3154680"/>
            <a:ext cx="8778240" cy="822960"/>
          </a:xfrm>
          <a:prstGeom prst="rect">
            <a:avLst/>
          </a:prstGeom>
          <a:noFill/>
          <a:ln/>
        </p:spPr>
        <p:txBody>
          <a:bodyPr wrap="square" lIns="0" tIns="0" rIns="0" bIns="0" rtlCol="0" anchor="t"/>
          <a:lstStyle/>
          <a:p>
            <a:pPr indent="0" marL="0">
              <a:lnSpc>
                <a:spcPts val="2400"/>
              </a:lnSpc>
              <a:buNone/>
            </a:pPr>
            <a:r>
              <a:rPr lang="en-US" sz="1550" dirty="0">
                <a:solidFill>
                  <a:srgbClr val="CBD5E1"/>
                </a:solidFill>
                <a:latin typeface="Calibri" pitchFamily="34" charset="0"/>
                <a:ea typeface="Calibri" pitchFamily="34" charset="-122"/>
                <a:cs typeface="Calibri" pitchFamily="34" charset="-120"/>
              </a:rPr>
              <a:t>And why a system built on voluntary reports is the best tool we have.</a:t>
            </a:r>
            <a:endParaRPr lang="en-US" sz="15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84048"/>
            <a:ext cx="10058400" cy="256032"/>
          </a:xfrm>
          <a:prstGeom prst="rect">
            <a:avLst/>
          </a:prstGeom>
          <a:noFill/>
          <a:ln/>
        </p:spPr>
        <p:txBody>
          <a:bodyPr wrap="square" lIns="0" tIns="0" rIns="0" bIns="0" rtlCol="0" anchor="ctr"/>
          <a:lstStyle/>
          <a:p>
            <a:pPr indent="0" marL="0">
              <a:buNone/>
            </a:pPr>
            <a:r>
              <a:rPr lang="en-US" sz="1100" b="1" spc="250" kern="0" dirty="0">
                <a:solidFill>
                  <a:srgbClr val="0E7490"/>
                </a:solidFill>
                <a:latin typeface="Calibri" pitchFamily="34" charset="0"/>
                <a:ea typeface="Calibri" pitchFamily="34" charset="-122"/>
                <a:cs typeface="Calibri" pitchFamily="34" charset="-120"/>
              </a:rPr>
              <a:t>What is pharmacovigilance?</a:t>
            </a:r>
            <a:endParaRPr lang="en-US" sz="1100" dirty="0"/>
          </a:p>
        </p:txBody>
      </p:sp>
      <p:sp>
        <p:nvSpPr>
          <p:cNvPr id="3" name="Text 1"/>
          <p:cNvSpPr txBox="1"/>
          <p:nvPr/>
        </p:nvSpPr>
        <p:spPr>
          <a:xfrm>
            <a:off x="566928" y="640080"/>
            <a:ext cx="11064240" cy="786384"/>
          </a:xfrm>
          <a:prstGeom prst="rect">
            <a:avLst/>
          </a:prstGeom>
          <a:noFill/>
          <a:ln/>
        </p:spPr>
        <p:txBody>
          <a:bodyPr wrap="square" lIns="0" tIns="0" rIns="0" bIns="0" rtlCol="0" anchor="t"/>
          <a:lstStyle/>
          <a:p>
            <a:pPr indent="0" marL="0">
              <a:lnSpc>
                <a:spcPts val="3200"/>
              </a:lnSpc>
              <a:buNone/>
            </a:pPr>
            <a:r>
              <a:rPr lang="en-US" sz="2500" b="1" dirty="0">
                <a:solidFill>
                  <a:srgbClr val="0F2B3D"/>
                </a:solidFill>
                <a:latin typeface="Cambria" pitchFamily="34" charset="0"/>
                <a:ea typeface="Cambria" pitchFamily="34" charset="-122"/>
                <a:cs typeface="Cambria" pitchFamily="34" charset="-120"/>
              </a:rPr>
              <a:t>The definition, and the half of it everyone forgets</a:t>
            </a:r>
            <a:endParaRPr lang="en-US" sz="2500" dirty="0"/>
          </a:p>
        </p:txBody>
      </p:sp>
      <p:sp>
        <p:nvSpPr>
          <p:cNvPr id="4" name="Shape 2"/>
          <p:cNvSpPr/>
          <p:nvPr/>
        </p:nvSpPr>
        <p:spPr>
          <a:xfrm>
            <a:off x="566928" y="1463040"/>
            <a:ext cx="11027664" cy="1371600"/>
          </a:xfrm>
          <a:prstGeom prst="roundRect">
            <a:avLst>
              <a:gd name="adj" fmla="val 4000"/>
            </a:avLst>
          </a:prstGeom>
          <a:solidFill>
            <a:srgbClr val="ECFEFF"/>
          </a:solidFill>
          <a:ln w="12700">
            <a:solidFill>
              <a:srgbClr val="E2E8F0"/>
            </a:solidFill>
            <a:prstDash val="solid"/>
          </a:ln>
        </p:spPr>
      </p:sp>
      <p:sp>
        <p:nvSpPr>
          <p:cNvPr id="5" name="Text 3"/>
          <p:cNvSpPr txBox="1"/>
          <p:nvPr/>
        </p:nvSpPr>
        <p:spPr>
          <a:xfrm>
            <a:off x="886968" y="1664208"/>
            <a:ext cx="10424160" cy="1005840"/>
          </a:xfrm>
          <a:prstGeom prst="rect">
            <a:avLst/>
          </a:prstGeom>
          <a:noFill/>
          <a:ln/>
        </p:spPr>
        <p:txBody>
          <a:bodyPr wrap="square" lIns="0" tIns="0" rIns="0" bIns="0" rtlCol="0" anchor="ctr"/>
          <a:lstStyle/>
          <a:p>
            <a:pPr indent="0" marL="0">
              <a:lnSpc>
                <a:spcPts val="2600"/>
              </a:lnSpc>
              <a:buNone/>
            </a:pPr>
            <a:r>
              <a:rPr lang="en-US" sz="1700" i="1" dirty="0">
                <a:solidFill>
                  <a:srgbClr val="0F2B3D"/>
                </a:solidFill>
                <a:latin typeface="Cambria" pitchFamily="34" charset="0"/>
                <a:ea typeface="Cambria" pitchFamily="34" charset="-122"/>
                <a:cs typeface="Cambria" pitchFamily="34" charset="-120"/>
              </a:rPr>
              <a:t>"The science and activities relating to the detection, assessment, understanding and prevention of adverse effects or any other medicine-related problem."</a:t>
            </a:r>
            <a:endParaRPr lang="en-US" sz="1700" dirty="0"/>
          </a:p>
        </p:txBody>
      </p:sp>
      <p:sp>
        <p:nvSpPr>
          <p:cNvPr id="6" name="Text 4"/>
          <p:cNvSpPr txBox="1"/>
          <p:nvPr/>
        </p:nvSpPr>
        <p:spPr>
          <a:xfrm>
            <a:off x="566928" y="3035808"/>
            <a:ext cx="10972800" cy="310896"/>
          </a:xfrm>
          <a:prstGeom prst="rect">
            <a:avLst/>
          </a:prstGeom>
          <a:noFill/>
          <a:ln/>
        </p:spPr>
        <p:txBody>
          <a:bodyPr wrap="square" lIns="0" tIns="0" rIns="0" bIns="0" rtlCol="0" anchor="ctr"/>
          <a:lstStyle/>
          <a:p>
            <a:pPr indent="0" marL="0">
              <a:buNone/>
            </a:pPr>
            <a:r>
              <a:rPr lang="en-US" sz="1400" b="1" dirty="0">
                <a:solidFill>
                  <a:srgbClr val="0F2B3D"/>
                </a:solidFill>
                <a:latin typeface="Calibri" pitchFamily="34" charset="0"/>
                <a:ea typeface="Calibri" pitchFamily="34" charset="-122"/>
                <a:cs typeface="Calibri" pitchFamily="34" charset="-120"/>
              </a:rPr>
              <a:t>Students assume this means side effects. Look again at the last six words.</a:t>
            </a:r>
            <a:endParaRPr lang="en-US" sz="1400" dirty="0"/>
          </a:p>
        </p:txBody>
      </p:sp>
      <p:sp>
        <p:nvSpPr>
          <p:cNvPr id="7" name="Shape 5"/>
          <p:cNvSpPr/>
          <p:nvPr/>
        </p:nvSpPr>
        <p:spPr>
          <a:xfrm>
            <a:off x="566928" y="3520440"/>
            <a:ext cx="3456432" cy="1207008"/>
          </a:xfrm>
          <a:prstGeom prst="roundRect">
            <a:avLst>
              <a:gd name="adj" fmla="val 4545"/>
            </a:avLst>
          </a:prstGeom>
          <a:solidFill>
            <a:srgbClr val="F1F5F9"/>
          </a:solidFill>
          <a:ln w="12700">
            <a:solidFill>
              <a:srgbClr val="E2E8F0"/>
            </a:solidFill>
            <a:prstDash val="solid"/>
          </a:ln>
        </p:spPr>
      </p:sp>
      <p:sp>
        <p:nvSpPr>
          <p:cNvPr id="8" name="Text 6"/>
          <p:cNvSpPr txBox="1"/>
          <p:nvPr/>
        </p:nvSpPr>
        <p:spPr>
          <a:xfrm>
            <a:off x="795528" y="3703320"/>
            <a:ext cx="3017520" cy="457200"/>
          </a:xfrm>
          <a:prstGeom prst="rect">
            <a:avLst/>
          </a:prstGeom>
          <a:noFill/>
          <a:ln/>
        </p:spPr>
        <p:txBody>
          <a:bodyPr wrap="square" lIns="0" tIns="0" rIns="0" bIns="0" rtlCol="0" anchor="ctr"/>
          <a:lstStyle/>
          <a:p>
            <a:pPr indent="0" marL="0">
              <a:buNone/>
            </a:pPr>
            <a:r>
              <a:rPr lang="en-US" sz="1350" b="1" dirty="0">
                <a:solidFill>
                  <a:srgbClr val="0E7490"/>
                </a:solidFill>
                <a:latin typeface="Cambria" pitchFamily="34" charset="0"/>
                <a:ea typeface="Cambria" pitchFamily="34" charset="-122"/>
                <a:cs typeface="Cambria" pitchFamily="34" charset="-120"/>
              </a:rPr>
              <a:t>Medication errors</a:t>
            </a:r>
            <a:endParaRPr lang="en-US" sz="1350" dirty="0"/>
          </a:p>
        </p:txBody>
      </p:sp>
      <p:sp>
        <p:nvSpPr>
          <p:cNvPr id="9" name="Text 7"/>
          <p:cNvSpPr txBox="1"/>
          <p:nvPr/>
        </p:nvSpPr>
        <p:spPr>
          <a:xfrm>
            <a:off x="795528" y="4160520"/>
            <a:ext cx="3035808" cy="457200"/>
          </a:xfrm>
          <a:prstGeom prst="rect">
            <a:avLst/>
          </a:prstGeom>
          <a:noFill/>
          <a:ln/>
        </p:spPr>
        <p:txBody>
          <a:bodyPr wrap="square" lIns="0" tIns="0" rIns="0" bIns="0" rtlCol="0" anchor="ctr"/>
          <a:lstStyle/>
          <a:p>
            <a:pPr indent="0" marL="0">
              <a:lnSpc>
                <a:spcPts val="1500"/>
              </a:lnSpc>
              <a:buNone/>
            </a:pPr>
            <a:r>
              <a:rPr lang="en-US" sz="1150" dirty="0">
                <a:solidFill>
                  <a:srgbClr val="64748B"/>
                </a:solidFill>
                <a:latin typeface="Calibri" pitchFamily="34" charset="0"/>
                <a:ea typeface="Calibri" pitchFamily="34" charset="-122"/>
                <a:cs typeface="Calibri" pitchFamily="34" charset="-120"/>
              </a:rPr>
              <a:t>The wrong dose, the wrong route, the wrong patient.</a:t>
            </a:r>
            <a:endParaRPr lang="en-US" sz="1150" dirty="0"/>
          </a:p>
        </p:txBody>
      </p:sp>
      <p:sp>
        <p:nvSpPr>
          <p:cNvPr id="10" name="Shape 8"/>
          <p:cNvSpPr/>
          <p:nvPr/>
        </p:nvSpPr>
        <p:spPr>
          <a:xfrm>
            <a:off x="4251960" y="3520440"/>
            <a:ext cx="3456432" cy="1207008"/>
          </a:xfrm>
          <a:prstGeom prst="roundRect">
            <a:avLst>
              <a:gd name="adj" fmla="val 4545"/>
            </a:avLst>
          </a:prstGeom>
          <a:solidFill>
            <a:srgbClr val="F1F5F9"/>
          </a:solidFill>
          <a:ln w="12700">
            <a:solidFill>
              <a:srgbClr val="E2E8F0"/>
            </a:solidFill>
            <a:prstDash val="solid"/>
          </a:ln>
        </p:spPr>
      </p:sp>
      <p:sp>
        <p:nvSpPr>
          <p:cNvPr id="11" name="Text 9"/>
          <p:cNvSpPr txBox="1"/>
          <p:nvPr/>
        </p:nvSpPr>
        <p:spPr>
          <a:xfrm>
            <a:off x="4480560" y="3703320"/>
            <a:ext cx="3017520" cy="457200"/>
          </a:xfrm>
          <a:prstGeom prst="rect">
            <a:avLst/>
          </a:prstGeom>
          <a:noFill/>
          <a:ln/>
        </p:spPr>
        <p:txBody>
          <a:bodyPr wrap="square" lIns="0" tIns="0" rIns="0" bIns="0" rtlCol="0" anchor="ctr"/>
          <a:lstStyle/>
          <a:p>
            <a:pPr indent="0" marL="0">
              <a:buNone/>
            </a:pPr>
            <a:r>
              <a:rPr lang="en-US" sz="1350" b="1" dirty="0">
                <a:solidFill>
                  <a:srgbClr val="0E7490"/>
                </a:solidFill>
                <a:latin typeface="Cambria" pitchFamily="34" charset="0"/>
                <a:ea typeface="Cambria" pitchFamily="34" charset="-122"/>
                <a:cs typeface="Cambria" pitchFamily="34" charset="-120"/>
              </a:rPr>
              <a:t>Substandard or falsified medicines</a:t>
            </a:r>
            <a:endParaRPr lang="en-US" sz="1350" dirty="0"/>
          </a:p>
        </p:txBody>
      </p:sp>
      <p:sp>
        <p:nvSpPr>
          <p:cNvPr id="12" name="Text 10"/>
          <p:cNvSpPr txBox="1"/>
          <p:nvPr/>
        </p:nvSpPr>
        <p:spPr>
          <a:xfrm>
            <a:off x="4480560" y="4160520"/>
            <a:ext cx="3035808" cy="457200"/>
          </a:xfrm>
          <a:prstGeom prst="rect">
            <a:avLst/>
          </a:prstGeom>
          <a:noFill/>
          <a:ln/>
        </p:spPr>
        <p:txBody>
          <a:bodyPr wrap="square" lIns="0" tIns="0" rIns="0" bIns="0" rtlCol="0" anchor="ctr"/>
          <a:lstStyle/>
          <a:p>
            <a:pPr indent="0" marL="0">
              <a:lnSpc>
                <a:spcPts val="1500"/>
              </a:lnSpc>
              <a:buNone/>
            </a:pPr>
            <a:r>
              <a:rPr lang="en-US" sz="1150" dirty="0">
                <a:solidFill>
                  <a:srgbClr val="64748B"/>
                </a:solidFill>
                <a:latin typeface="Calibri" pitchFamily="34" charset="0"/>
                <a:ea typeface="Calibri" pitchFamily="34" charset="-122"/>
                <a:cs typeface="Calibri" pitchFamily="34" charset="-120"/>
              </a:rPr>
              <a:t>A quality defect is a safety problem.</a:t>
            </a:r>
            <a:endParaRPr lang="en-US" sz="1150" dirty="0"/>
          </a:p>
        </p:txBody>
      </p:sp>
      <p:sp>
        <p:nvSpPr>
          <p:cNvPr id="13" name="Shape 11"/>
          <p:cNvSpPr/>
          <p:nvPr/>
        </p:nvSpPr>
        <p:spPr>
          <a:xfrm>
            <a:off x="7936992" y="3520440"/>
            <a:ext cx="3456432" cy="1207008"/>
          </a:xfrm>
          <a:prstGeom prst="roundRect">
            <a:avLst>
              <a:gd name="adj" fmla="val 4545"/>
            </a:avLst>
          </a:prstGeom>
          <a:solidFill>
            <a:srgbClr val="F1F5F9"/>
          </a:solidFill>
          <a:ln w="12700">
            <a:solidFill>
              <a:srgbClr val="E2E8F0"/>
            </a:solidFill>
            <a:prstDash val="solid"/>
          </a:ln>
        </p:spPr>
      </p:sp>
      <p:sp>
        <p:nvSpPr>
          <p:cNvPr id="14" name="Text 12"/>
          <p:cNvSpPr txBox="1"/>
          <p:nvPr/>
        </p:nvSpPr>
        <p:spPr>
          <a:xfrm>
            <a:off x="8165592" y="3703320"/>
            <a:ext cx="3017520" cy="457200"/>
          </a:xfrm>
          <a:prstGeom prst="rect">
            <a:avLst/>
          </a:prstGeom>
          <a:noFill/>
          <a:ln/>
        </p:spPr>
        <p:txBody>
          <a:bodyPr wrap="square" lIns="0" tIns="0" rIns="0" bIns="0" rtlCol="0" anchor="ctr"/>
          <a:lstStyle/>
          <a:p>
            <a:pPr indent="0" marL="0">
              <a:buNone/>
            </a:pPr>
            <a:r>
              <a:rPr lang="en-US" sz="1350" b="1" dirty="0">
                <a:solidFill>
                  <a:srgbClr val="0E7490"/>
                </a:solidFill>
                <a:latin typeface="Cambria" pitchFamily="34" charset="0"/>
                <a:ea typeface="Cambria" pitchFamily="34" charset="-122"/>
                <a:cs typeface="Cambria" pitchFamily="34" charset="-120"/>
              </a:rPr>
              <a:t>Misuse, abuse and overdose</a:t>
            </a:r>
            <a:endParaRPr lang="en-US" sz="1350" dirty="0"/>
          </a:p>
        </p:txBody>
      </p:sp>
      <p:sp>
        <p:nvSpPr>
          <p:cNvPr id="15" name="Text 13"/>
          <p:cNvSpPr txBox="1"/>
          <p:nvPr/>
        </p:nvSpPr>
        <p:spPr>
          <a:xfrm>
            <a:off x="8165592" y="4160520"/>
            <a:ext cx="3035808" cy="457200"/>
          </a:xfrm>
          <a:prstGeom prst="rect">
            <a:avLst/>
          </a:prstGeom>
          <a:noFill/>
          <a:ln/>
        </p:spPr>
        <p:txBody>
          <a:bodyPr wrap="square" lIns="0" tIns="0" rIns="0" bIns="0" rtlCol="0" anchor="ctr"/>
          <a:lstStyle/>
          <a:p>
            <a:pPr indent="0" marL="0">
              <a:lnSpc>
                <a:spcPts val="1500"/>
              </a:lnSpc>
              <a:buNone/>
            </a:pPr>
            <a:r>
              <a:rPr lang="en-US" sz="1150" dirty="0">
                <a:solidFill>
                  <a:srgbClr val="64748B"/>
                </a:solidFill>
                <a:latin typeface="Calibri" pitchFamily="34" charset="0"/>
                <a:ea typeface="Calibri" pitchFamily="34" charset="-122"/>
                <a:cs typeface="Calibri" pitchFamily="34" charset="-120"/>
              </a:rPr>
              <a:t>Including deliberate and accidental.</a:t>
            </a:r>
            <a:endParaRPr lang="en-US" sz="1150" dirty="0"/>
          </a:p>
        </p:txBody>
      </p:sp>
      <p:sp>
        <p:nvSpPr>
          <p:cNvPr id="16" name="Shape 14"/>
          <p:cNvSpPr/>
          <p:nvPr/>
        </p:nvSpPr>
        <p:spPr>
          <a:xfrm>
            <a:off x="566928" y="4892040"/>
            <a:ext cx="3456432" cy="1207008"/>
          </a:xfrm>
          <a:prstGeom prst="roundRect">
            <a:avLst>
              <a:gd name="adj" fmla="val 4545"/>
            </a:avLst>
          </a:prstGeom>
          <a:solidFill>
            <a:srgbClr val="F1F5F9"/>
          </a:solidFill>
          <a:ln w="12700">
            <a:solidFill>
              <a:srgbClr val="E2E8F0"/>
            </a:solidFill>
            <a:prstDash val="solid"/>
          </a:ln>
        </p:spPr>
      </p:sp>
      <p:sp>
        <p:nvSpPr>
          <p:cNvPr id="17" name="Text 15"/>
          <p:cNvSpPr txBox="1"/>
          <p:nvPr/>
        </p:nvSpPr>
        <p:spPr>
          <a:xfrm>
            <a:off x="795528" y="5074920"/>
            <a:ext cx="3017520" cy="457200"/>
          </a:xfrm>
          <a:prstGeom prst="rect">
            <a:avLst/>
          </a:prstGeom>
          <a:noFill/>
          <a:ln/>
        </p:spPr>
        <p:txBody>
          <a:bodyPr wrap="square" lIns="0" tIns="0" rIns="0" bIns="0" rtlCol="0" anchor="ctr"/>
          <a:lstStyle/>
          <a:p>
            <a:pPr indent="0" marL="0">
              <a:buNone/>
            </a:pPr>
            <a:r>
              <a:rPr lang="en-US" sz="1350" b="1" dirty="0">
                <a:solidFill>
                  <a:srgbClr val="0E7490"/>
                </a:solidFill>
                <a:latin typeface="Cambria" pitchFamily="34" charset="0"/>
                <a:ea typeface="Cambria" pitchFamily="34" charset="-122"/>
                <a:cs typeface="Cambria" pitchFamily="34" charset="-120"/>
              </a:rPr>
              <a:t>Treatment failure</a:t>
            </a:r>
            <a:endParaRPr lang="en-US" sz="1350" dirty="0"/>
          </a:p>
        </p:txBody>
      </p:sp>
      <p:sp>
        <p:nvSpPr>
          <p:cNvPr id="18" name="Text 16"/>
          <p:cNvSpPr txBox="1"/>
          <p:nvPr/>
        </p:nvSpPr>
        <p:spPr>
          <a:xfrm>
            <a:off x="795528" y="5532120"/>
            <a:ext cx="3035808" cy="457200"/>
          </a:xfrm>
          <a:prstGeom prst="rect">
            <a:avLst/>
          </a:prstGeom>
          <a:noFill/>
          <a:ln/>
        </p:spPr>
        <p:txBody>
          <a:bodyPr wrap="square" lIns="0" tIns="0" rIns="0" bIns="0" rtlCol="0" anchor="ctr"/>
          <a:lstStyle/>
          <a:p>
            <a:pPr indent="0" marL="0">
              <a:lnSpc>
                <a:spcPts val="1500"/>
              </a:lnSpc>
              <a:buNone/>
            </a:pPr>
            <a:r>
              <a:rPr lang="en-US" sz="1150" dirty="0">
                <a:solidFill>
                  <a:srgbClr val="64748B"/>
                </a:solidFill>
                <a:latin typeface="Calibri" pitchFamily="34" charset="0"/>
                <a:ea typeface="Calibri" pitchFamily="34" charset="-122"/>
                <a:cs typeface="Calibri" pitchFamily="34" charset="-120"/>
              </a:rPr>
              <a:t>A medicine that did not work when it should have.</a:t>
            </a:r>
            <a:endParaRPr lang="en-US" sz="1150" dirty="0"/>
          </a:p>
        </p:txBody>
      </p:sp>
      <p:sp>
        <p:nvSpPr>
          <p:cNvPr id="19" name="Shape 17"/>
          <p:cNvSpPr/>
          <p:nvPr/>
        </p:nvSpPr>
        <p:spPr>
          <a:xfrm>
            <a:off x="4251960" y="4892040"/>
            <a:ext cx="3456432" cy="1207008"/>
          </a:xfrm>
          <a:prstGeom prst="roundRect">
            <a:avLst>
              <a:gd name="adj" fmla="val 4545"/>
            </a:avLst>
          </a:prstGeom>
          <a:solidFill>
            <a:srgbClr val="F1F5F9"/>
          </a:solidFill>
          <a:ln w="12700">
            <a:solidFill>
              <a:srgbClr val="E2E8F0"/>
            </a:solidFill>
            <a:prstDash val="solid"/>
          </a:ln>
        </p:spPr>
      </p:sp>
      <p:sp>
        <p:nvSpPr>
          <p:cNvPr id="20" name="Text 18"/>
          <p:cNvSpPr txBox="1"/>
          <p:nvPr/>
        </p:nvSpPr>
        <p:spPr>
          <a:xfrm>
            <a:off x="4480560" y="5074920"/>
            <a:ext cx="3017520" cy="457200"/>
          </a:xfrm>
          <a:prstGeom prst="rect">
            <a:avLst/>
          </a:prstGeom>
          <a:noFill/>
          <a:ln/>
        </p:spPr>
        <p:txBody>
          <a:bodyPr wrap="square" lIns="0" tIns="0" rIns="0" bIns="0" rtlCol="0" anchor="ctr"/>
          <a:lstStyle/>
          <a:p>
            <a:pPr indent="0" marL="0">
              <a:buNone/>
            </a:pPr>
            <a:r>
              <a:rPr lang="en-US" sz="1350" b="1" dirty="0">
                <a:solidFill>
                  <a:srgbClr val="0E7490"/>
                </a:solidFill>
                <a:latin typeface="Cambria" pitchFamily="34" charset="0"/>
                <a:ea typeface="Cambria" pitchFamily="34" charset="-122"/>
                <a:cs typeface="Cambria" pitchFamily="34" charset="-120"/>
              </a:rPr>
              <a:t>Interactions</a:t>
            </a:r>
            <a:endParaRPr lang="en-US" sz="1350" dirty="0"/>
          </a:p>
        </p:txBody>
      </p:sp>
      <p:sp>
        <p:nvSpPr>
          <p:cNvPr id="21" name="Text 19"/>
          <p:cNvSpPr txBox="1"/>
          <p:nvPr/>
        </p:nvSpPr>
        <p:spPr>
          <a:xfrm>
            <a:off x="4480560" y="5532120"/>
            <a:ext cx="3035808" cy="457200"/>
          </a:xfrm>
          <a:prstGeom prst="rect">
            <a:avLst/>
          </a:prstGeom>
          <a:noFill/>
          <a:ln/>
        </p:spPr>
        <p:txBody>
          <a:bodyPr wrap="square" lIns="0" tIns="0" rIns="0" bIns="0" rtlCol="0" anchor="ctr"/>
          <a:lstStyle/>
          <a:p>
            <a:pPr indent="0" marL="0">
              <a:lnSpc>
                <a:spcPts val="1500"/>
              </a:lnSpc>
              <a:buNone/>
            </a:pPr>
            <a:r>
              <a:rPr lang="en-US" sz="1150" dirty="0">
                <a:solidFill>
                  <a:srgbClr val="64748B"/>
                </a:solidFill>
                <a:latin typeface="Calibri" pitchFamily="34" charset="0"/>
                <a:ea typeface="Calibri" pitchFamily="34" charset="-122"/>
                <a:cs typeface="Calibri" pitchFamily="34" charset="-120"/>
              </a:rPr>
              <a:t>Harm that belongs to the combination, not either drug.</a:t>
            </a:r>
            <a:endParaRPr lang="en-US" sz="1150" dirty="0"/>
          </a:p>
        </p:txBody>
      </p:sp>
      <p:sp>
        <p:nvSpPr>
          <p:cNvPr id="22" name="Shape 20"/>
          <p:cNvSpPr/>
          <p:nvPr/>
        </p:nvSpPr>
        <p:spPr>
          <a:xfrm>
            <a:off x="7936992" y="4892040"/>
            <a:ext cx="3456432" cy="1207008"/>
          </a:xfrm>
          <a:prstGeom prst="roundRect">
            <a:avLst>
              <a:gd name="adj" fmla="val 4545"/>
            </a:avLst>
          </a:prstGeom>
          <a:solidFill>
            <a:srgbClr val="F1F5F9"/>
          </a:solidFill>
          <a:ln w="12700">
            <a:solidFill>
              <a:srgbClr val="E2E8F0"/>
            </a:solidFill>
            <a:prstDash val="solid"/>
          </a:ln>
        </p:spPr>
      </p:sp>
      <p:sp>
        <p:nvSpPr>
          <p:cNvPr id="23" name="Text 21"/>
          <p:cNvSpPr txBox="1"/>
          <p:nvPr/>
        </p:nvSpPr>
        <p:spPr>
          <a:xfrm>
            <a:off x="8165592" y="5074920"/>
            <a:ext cx="3017520" cy="457200"/>
          </a:xfrm>
          <a:prstGeom prst="rect">
            <a:avLst/>
          </a:prstGeom>
          <a:noFill/>
          <a:ln/>
        </p:spPr>
        <p:txBody>
          <a:bodyPr wrap="square" lIns="0" tIns="0" rIns="0" bIns="0" rtlCol="0" anchor="ctr"/>
          <a:lstStyle/>
          <a:p>
            <a:pPr indent="0" marL="0">
              <a:buNone/>
            </a:pPr>
            <a:r>
              <a:rPr lang="en-US" sz="1350" b="1" dirty="0">
                <a:solidFill>
                  <a:srgbClr val="0E7490"/>
                </a:solidFill>
                <a:latin typeface="Cambria" pitchFamily="34" charset="0"/>
                <a:ea typeface="Cambria" pitchFamily="34" charset="-122"/>
                <a:cs typeface="Cambria" pitchFamily="34" charset="-120"/>
              </a:rPr>
              <a:t>Exposure in pregnancy and breastfeeding</a:t>
            </a:r>
            <a:endParaRPr lang="en-US" sz="1350" dirty="0"/>
          </a:p>
        </p:txBody>
      </p:sp>
      <p:sp>
        <p:nvSpPr>
          <p:cNvPr id="24" name="Text 22"/>
          <p:cNvSpPr txBox="1"/>
          <p:nvPr/>
        </p:nvSpPr>
        <p:spPr>
          <a:xfrm>
            <a:off x="8165592" y="5532120"/>
            <a:ext cx="3035808" cy="457200"/>
          </a:xfrm>
          <a:prstGeom prst="rect">
            <a:avLst/>
          </a:prstGeom>
          <a:noFill/>
          <a:ln/>
        </p:spPr>
        <p:txBody>
          <a:bodyPr wrap="square" lIns="0" tIns="0" rIns="0" bIns="0" rtlCol="0" anchor="ctr"/>
          <a:lstStyle/>
          <a:p>
            <a:pPr indent="0" marL="0">
              <a:lnSpc>
                <a:spcPts val="1500"/>
              </a:lnSpc>
              <a:buNone/>
            </a:pPr>
            <a:r>
              <a:rPr lang="en-US" sz="1150" dirty="0">
                <a:solidFill>
                  <a:srgbClr val="64748B"/>
                </a:solidFill>
                <a:latin typeface="Calibri" pitchFamily="34" charset="0"/>
                <a:ea typeface="Calibri" pitchFamily="34" charset="-122"/>
                <a:cs typeface="Calibri" pitchFamily="34" charset="-120"/>
              </a:rPr>
              <a:t>And occupational exposure.</a:t>
            </a:r>
            <a:endParaRPr lang="en-US" sz="11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84048"/>
            <a:ext cx="10058400" cy="256032"/>
          </a:xfrm>
          <a:prstGeom prst="rect">
            <a:avLst/>
          </a:prstGeom>
          <a:noFill/>
          <a:ln/>
        </p:spPr>
        <p:txBody>
          <a:bodyPr wrap="square" lIns="0" tIns="0" rIns="0" bIns="0" rtlCol="0" anchor="ctr"/>
          <a:lstStyle/>
          <a:p>
            <a:pPr indent="0" marL="0">
              <a:buNone/>
            </a:pPr>
            <a:r>
              <a:rPr lang="en-US" sz="1100" b="1" spc="250" kern="0" dirty="0">
                <a:solidFill>
                  <a:srgbClr val="0E7490"/>
                </a:solidFill>
                <a:latin typeface="Calibri" pitchFamily="34" charset="0"/>
                <a:ea typeface="Calibri" pitchFamily="34" charset="-122"/>
                <a:cs typeface="Calibri" pitchFamily="34" charset="-120"/>
              </a:rPr>
              <a:t>The problem this system has</a:t>
            </a:r>
            <a:endParaRPr lang="en-US" sz="1100" dirty="0"/>
          </a:p>
        </p:txBody>
      </p:sp>
      <p:sp>
        <p:nvSpPr>
          <p:cNvPr id="3" name="Text 1"/>
          <p:cNvSpPr txBox="1"/>
          <p:nvPr/>
        </p:nvSpPr>
        <p:spPr>
          <a:xfrm>
            <a:off x="566928" y="640080"/>
            <a:ext cx="11064240" cy="548640"/>
          </a:xfrm>
          <a:prstGeom prst="rect">
            <a:avLst/>
          </a:prstGeom>
          <a:noFill/>
          <a:ln/>
        </p:spPr>
        <p:txBody>
          <a:bodyPr wrap="square" lIns="0" tIns="0" rIns="0" bIns="0" rtlCol="0" anchor="t"/>
          <a:lstStyle/>
          <a:p>
            <a:pPr indent="0" marL="0">
              <a:lnSpc>
                <a:spcPts val="3800"/>
              </a:lnSpc>
              <a:buNone/>
            </a:pPr>
            <a:r>
              <a:rPr lang="en-US" sz="3100" b="1" dirty="0">
                <a:solidFill>
                  <a:srgbClr val="0F2B3D"/>
                </a:solidFill>
                <a:latin typeface="Cambria" pitchFamily="34" charset="0"/>
                <a:ea typeface="Cambria" pitchFamily="34" charset="-122"/>
                <a:cs typeface="Cambria" pitchFamily="34" charset="-120"/>
              </a:rPr>
              <a:t>Why one more report matters</a:t>
            </a:r>
            <a:endParaRPr lang="en-US" sz="3100" dirty="0"/>
          </a:p>
        </p:txBody>
      </p:sp>
      <p:sp>
        <p:nvSpPr>
          <p:cNvPr id="4" name="Text 2"/>
          <p:cNvSpPr txBox="1"/>
          <p:nvPr/>
        </p:nvSpPr>
        <p:spPr>
          <a:xfrm>
            <a:off x="566928" y="1554480"/>
            <a:ext cx="3291840" cy="868680"/>
          </a:xfrm>
          <a:prstGeom prst="rect">
            <a:avLst/>
          </a:prstGeom>
          <a:noFill/>
          <a:ln/>
        </p:spPr>
        <p:txBody>
          <a:bodyPr wrap="square" lIns="0" tIns="0" rIns="0" bIns="0" rtlCol="0" anchor="ctr"/>
          <a:lstStyle/>
          <a:p>
            <a:pPr algn="ctr" indent="0" marL="0">
              <a:buNone/>
            </a:pPr>
            <a:r>
              <a:rPr lang="en-US" sz="5200" b="1" dirty="0">
                <a:solidFill>
                  <a:srgbClr val="C40D16"/>
                </a:solidFill>
                <a:latin typeface="Cambria" pitchFamily="34" charset="0"/>
                <a:ea typeface="Cambria" pitchFamily="34" charset="-122"/>
                <a:cs typeface="Cambria" pitchFamily="34" charset="-120"/>
              </a:rPr>
              <a:t>&lt; 10%</a:t>
            </a:r>
            <a:endParaRPr lang="en-US" sz="5200" dirty="0"/>
          </a:p>
        </p:txBody>
      </p:sp>
      <p:sp>
        <p:nvSpPr>
          <p:cNvPr id="5" name="Text 3"/>
          <p:cNvSpPr txBox="1"/>
          <p:nvPr/>
        </p:nvSpPr>
        <p:spPr>
          <a:xfrm>
            <a:off x="566928" y="2423160"/>
            <a:ext cx="3291840" cy="548640"/>
          </a:xfrm>
          <a:prstGeom prst="rect">
            <a:avLst/>
          </a:prstGeom>
          <a:noFill/>
          <a:ln/>
        </p:spPr>
        <p:txBody>
          <a:bodyPr wrap="square" lIns="0" tIns="0" rIns="0" bIns="0" rtlCol="0" anchor="ctr"/>
          <a:lstStyle/>
          <a:p>
            <a:pPr algn="ctr" indent="0" marL="0">
              <a:lnSpc>
                <a:spcPts val="1700"/>
              </a:lnSpc>
              <a:buNone/>
            </a:pPr>
            <a:r>
              <a:rPr lang="en-US" sz="1250" dirty="0">
                <a:solidFill>
                  <a:srgbClr val="64748B"/>
                </a:solidFill>
                <a:latin typeface="Calibri" pitchFamily="34" charset="0"/>
                <a:ea typeface="Calibri" pitchFamily="34" charset="-122"/>
                <a:cs typeface="Calibri" pitchFamily="34" charset="-120"/>
              </a:rPr>
              <a:t>of adverse reactions are ever reported through spontaneous systems</a:t>
            </a:r>
            <a:endParaRPr lang="en-US" sz="1250" dirty="0"/>
          </a:p>
        </p:txBody>
      </p:sp>
      <p:sp>
        <p:nvSpPr>
          <p:cNvPr id="6" name="Text 4"/>
          <p:cNvSpPr txBox="1"/>
          <p:nvPr/>
        </p:nvSpPr>
        <p:spPr>
          <a:xfrm>
            <a:off x="4407408" y="1554480"/>
            <a:ext cx="3291840" cy="868680"/>
          </a:xfrm>
          <a:prstGeom prst="rect">
            <a:avLst/>
          </a:prstGeom>
          <a:noFill/>
          <a:ln/>
        </p:spPr>
        <p:txBody>
          <a:bodyPr wrap="square" lIns="0" tIns="0" rIns="0" bIns="0" rtlCol="0" anchor="ctr"/>
          <a:lstStyle/>
          <a:p>
            <a:pPr algn="ctr" indent="0" marL="0">
              <a:buNone/>
            </a:pPr>
            <a:r>
              <a:rPr lang="en-US" sz="5200" b="1" dirty="0">
                <a:solidFill>
                  <a:srgbClr val="C40D16"/>
                </a:solidFill>
                <a:latin typeface="Cambria" pitchFamily="34" charset="0"/>
                <a:ea typeface="Cambria" pitchFamily="34" charset="-122"/>
                <a:cs typeface="Cambria" pitchFamily="34" charset="-120"/>
              </a:rPr>
              <a:t>~ 5%</a:t>
            </a:r>
            <a:endParaRPr lang="en-US" sz="5200" dirty="0"/>
          </a:p>
        </p:txBody>
      </p:sp>
      <p:sp>
        <p:nvSpPr>
          <p:cNvPr id="7" name="Text 5"/>
          <p:cNvSpPr txBox="1"/>
          <p:nvPr/>
        </p:nvSpPr>
        <p:spPr>
          <a:xfrm>
            <a:off x="4407408" y="2423160"/>
            <a:ext cx="3291840" cy="548640"/>
          </a:xfrm>
          <a:prstGeom prst="rect">
            <a:avLst/>
          </a:prstGeom>
          <a:noFill/>
          <a:ln/>
        </p:spPr>
        <p:txBody>
          <a:bodyPr wrap="square" lIns="0" tIns="0" rIns="0" bIns="0" rtlCol="0" anchor="ctr"/>
          <a:lstStyle/>
          <a:p>
            <a:pPr algn="ctr" indent="0" marL="0">
              <a:lnSpc>
                <a:spcPts val="1700"/>
              </a:lnSpc>
              <a:buNone/>
            </a:pPr>
            <a:r>
              <a:rPr lang="en-US" sz="1250" dirty="0">
                <a:solidFill>
                  <a:srgbClr val="64748B"/>
                </a:solidFill>
                <a:latin typeface="Calibri" pitchFamily="34" charset="0"/>
                <a:ea typeface="Calibri" pitchFamily="34" charset="-122"/>
                <a:cs typeface="Calibri" pitchFamily="34" charset="-120"/>
              </a:rPr>
              <a:t>is the figure most published reviews settle near</a:t>
            </a:r>
            <a:endParaRPr lang="en-US" sz="1250" dirty="0"/>
          </a:p>
        </p:txBody>
      </p:sp>
      <p:sp>
        <p:nvSpPr>
          <p:cNvPr id="8" name="Text 6"/>
          <p:cNvSpPr txBox="1"/>
          <p:nvPr/>
        </p:nvSpPr>
        <p:spPr>
          <a:xfrm>
            <a:off x="8247888" y="1554480"/>
            <a:ext cx="3310128" cy="868680"/>
          </a:xfrm>
          <a:prstGeom prst="rect">
            <a:avLst/>
          </a:prstGeom>
          <a:noFill/>
          <a:ln/>
        </p:spPr>
        <p:txBody>
          <a:bodyPr wrap="square" lIns="0" tIns="0" rIns="0" bIns="0" rtlCol="0" anchor="ctr"/>
          <a:lstStyle/>
          <a:p>
            <a:pPr algn="ctr" indent="0" marL="0">
              <a:buNone/>
            </a:pPr>
            <a:r>
              <a:rPr lang="en-US" sz="5200" b="1" dirty="0">
                <a:solidFill>
                  <a:srgbClr val="0E7490"/>
                </a:solidFill>
                <a:latin typeface="Cambria" pitchFamily="34" charset="0"/>
                <a:ea typeface="Cambria" pitchFamily="34" charset="-122"/>
                <a:cs typeface="Cambria" pitchFamily="34" charset="-120"/>
              </a:rPr>
              <a:t>15</a:t>
            </a:r>
            <a:endParaRPr lang="en-US" sz="5200" dirty="0"/>
          </a:p>
        </p:txBody>
      </p:sp>
      <p:sp>
        <p:nvSpPr>
          <p:cNvPr id="9" name="Text 7"/>
          <p:cNvSpPr txBox="1"/>
          <p:nvPr/>
        </p:nvSpPr>
        <p:spPr>
          <a:xfrm>
            <a:off x="8247888" y="2423160"/>
            <a:ext cx="3310128" cy="548640"/>
          </a:xfrm>
          <a:prstGeom prst="rect">
            <a:avLst/>
          </a:prstGeom>
          <a:noFill/>
          <a:ln/>
        </p:spPr>
        <p:txBody>
          <a:bodyPr wrap="square" lIns="0" tIns="0" rIns="0" bIns="0" rtlCol="0" anchor="ctr"/>
          <a:lstStyle/>
          <a:p>
            <a:pPr algn="ctr" indent="0" marL="0">
              <a:lnSpc>
                <a:spcPts val="1700"/>
              </a:lnSpc>
              <a:buNone/>
            </a:pPr>
            <a:r>
              <a:rPr lang="en-US" sz="1250" dirty="0">
                <a:solidFill>
                  <a:srgbClr val="64748B"/>
                </a:solidFill>
                <a:latin typeface="Calibri" pitchFamily="34" charset="0"/>
                <a:ea typeface="Calibri" pitchFamily="34" charset="-122"/>
                <a:cs typeface="Calibri" pitchFamily="34" charset="-120"/>
              </a:rPr>
              <a:t>calendar days to report a serious case, from first receipt</a:t>
            </a:r>
            <a:endParaRPr lang="en-US" sz="1250" dirty="0"/>
          </a:p>
        </p:txBody>
      </p:sp>
      <p:sp>
        <p:nvSpPr>
          <p:cNvPr id="10" name="Shape 8"/>
          <p:cNvSpPr/>
          <p:nvPr/>
        </p:nvSpPr>
        <p:spPr>
          <a:xfrm>
            <a:off x="566928" y="3794760"/>
            <a:ext cx="11027664" cy="1143000"/>
          </a:xfrm>
          <a:prstGeom prst="roundRect">
            <a:avLst>
              <a:gd name="adj" fmla="val 4800"/>
            </a:avLst>
          </a:prstGeom>
          <a:solidFill>
            <a:srgbClr val="FEF2F2"/>
          </a:solidFill>
          <a:ln w="12700">
            <a:solidFill>
              <a:srgbClr val="E2E8F0"/>
            </a:solidFill>
            <a:prstDash val="solid"/>
          </a:ln>
        </p:spPr>
      </p:sp>
      <p:sp>
        <p:nvSpPr>
          <p:cNvPr id="11" name="Text 9"/>
          <p:cNvSpPr txBox="1"/>
          <p:nvPr/>
        </p:nvSpPr>
        <p:spPr>
          <a:xfrm>
            <a:off x="886968" y="4005072"/>
            <a:ext cx="10424160" cy="777240"/>
          </a:xfrm>
          <a:prstGeom prst="rect">
            <a:avLst/>
          </a:prstGeom>
          <a:noFill/>
          <a:ln/>
        </p:spPr>
        <p:txBody>
          <a:bodyPr wrap="square" lIns="0" tIns="0" rIns="0" bIns="0" rtlCol="0" anchor="ctr"/>
          <a:lstStyle/>
          <a:p>
            <a:pPr indent="0" marL="0">
              <a:lnSpc>
                <a:spcPts val="2100"/>
              </a:lnSpc>
              <a:buNone/>
            </a:pPr>
            <a:r>
              <a:rPr lang="en-US" sz="1400" dirty="0">
                <a:solidFill>
                  <a:srgbClr val="7F1D1D"/>
                </a:solidFill>
                <a:latin typeface="Calibri" pitchFamily="34" charset="0"/>
                <a:ea typeface="Calibri" pitchFamily="34" charset="-122"/>
                <a:cs typeface="Calibri" pitchFamily="34" charset="-120"/>
              </a:rPr>
              <a:t>At a reporting rate of a few per cent, every form you send in stands for many that were never sent. That is why "somebody else will have reported it" is the most expensive sentence in pharmacovigilance.</a:t>
            </a:r>
            <a:endParaRPr lang="en-US" sz="1400" dirty="0"/>
          </a:p>
        </p:txBody>
      </p:sp>
      <p:sp>
        <p:nvSpPr>
          <p:cNvPr id="12" name="Text 10"/>
          <p:cNvSpPr txBox="1"/>
          <p:nvPr/>
        </p:nvSpPr>
        <p:spPr>
          <a:xfrm>
            <a:off x="566928" y="5166360"/>
            <a:ext cx="11027664" cy="640080"/>
          </a:xfrm>
          <a:prstGeom prst="rect">
            <a:avLst/>
          </a:prstGeom>
          <a:noFill/>
          <a:ln/>
        </p:spPr>
        <p:txBody>
          <a:bodyPr wrap="square" lIns="0" tIns="0" rIns="0" bIns="0" rtlCol="0" anchor="ctr"/>
          <a:lstStyle/>
          <a:p>
            <a:pPr indent="0" marL="0">
              <a:lnSpc>
                <a:spcPts val="2000"/>
              </a:lnSpc>
              <a:buNone/>
            </a:pPr>
            <a:r>
              <a:rPr lang="en-US" sz="1350" dirty="0">
                <a:solidFill>
                  <a:srgbClr val="64748B"/>
                </a:solidFill>
                <a:latin typeface="Calibri" pitchFamily="34" charset="0"/>
                <a:ea typeface="Calibri" pitchFamily="34" charset="-122"/>
                <a:cs typeface="Calibri" pitchFamily="34" charset="-120"/>
              </a:rPr>
              <a:t>Under-reporting is why spontaneous reporting can only ever generate hypotheses — never measure incidence. It is a hypothesis machine, and a very good one.</a:t>
            </a:r>
            <a:endParaRPr lang="en-US" sz="13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84048"/>
            <a:ext cx="10058400" cy="256032"/>
          </a:xfrm>
          <a:prstGeom prst="rect">
            <a:avLst/>
          </a:prstGeom>
          <a:noFill/>
          <a:ln/>
        </p:spPr>
        <p:txBody>
          <a:bodyPr wrap="square" lIns="0" tIns="0" rIns="0" bIns="0" rtlCol="0" anchor="ctr"/>
          <a:lstStyle/>
          <a:p>
            <a:pPr indent="0" marL="0">
              <a:buNone/>
            </a:pPr>
            <a:r>
              <a:rPr lang="en-US" sz="1100" b="1" spc="250" kern="0" dirty="0">
                <a:solidFill>
                  <a:srgbClr val="0E7490"/>
                </a:solidFill>
                <a:latin typeface="Calibri" pitchFamily="34" charset="0"/>
                <a:ea typeface="Calibri" pitchFamily="34" charset="-122"/>
                <a:cs typeface="Calibri" pitchFamily="34" charset="-120"/>
              </a:rPr>
              <a:t>Reporting in India</a:t>
            </a:r>
            <a:endParaRPr lang="en-US" sz="1100" dirty="0"/>
          </a:p>
        </p:txBody>
      </p:sp>
      <p:sp>
        <p:nvSpPr>
          <p:cNvPr id="3" name="Text 1"/>
          <p:cNvSpPr txBox="1"/>
          <p:nvPr/>
        </p:nvSpPr>
        <p:spPr>
          <a:xfrm>
            <a:off x="566928" y="640080"/>
            <a:ext cx="11064240" cy="548640"/>
          </a:xfrm>
          <a:prstGeom prst="rect">
            <a:avLst/>
          </a:prstGeom>
          <a:noFill/>
          <a:ln/>
        </p:spPr>
        <p:txBody>
          <a:bodyPr wrap="square" lIns="0" tIns="0" rIns="0" bIns="0" rtlCol="0" anchor="t"/>
          <a:lstStyle/>
          <a:p>
            <a:pPr indent="0" marL="0">
              <a:lnSpc>
                <a:spcPts val="3800"/>
              </a:lnSpc>
              <a:buNone/>
            </a:pPr>
            <a:r>
              <a:rPr lang="en-US" sz="3100" b="1" dirty="0">
                <a:solidFill>
                  <a:srgbClr val="0F2B3D"/>
                </a:solidFill>
                <a:latin typeface="Cambria" pitchFamily="34" charset="0"/>
                <a:ea typeface="Cambria" pitchFamily="34" charset="-122"/>
                <a:cs typeface="Cambria" pitchFamily="34" charset="-120"/>
              </a:rPr>
              <a:t>Who may report, and where it goes</a:t>
            </a:r>
            <a:endParaRPr lang="en-US" sz="3100" dirty="0"/>
          </a:p>
        </p:txBody>
      </p:sp>
      <p:sp>
        <p:nvSpPr>
          <p:cNvPr id="4" name="Text 2"/>
          <p:cNvSpPr txBox="1"/>
          <p:nvPr/>
        </p:nvSpPr>
        <p:spPr>
          <a:xfrm>
            <a:off x="566928" y="1481328"/>
            <a:ext cx="5029200" cy="320040"/>
          </a:xfrm>
          <a:prstGeom prst="rect">
            <a:avLst/>
          </a:prstGeom>
          <a:noFill/>
          <a:ln/>
        </p:spPr>
        <p:txBody>
          <a:bodyPr wrap="square" lIns="0" tIns="0" rIns="0" bIns="0" rtlCol="0" anchor="t"/>
          <a:lstStyle/>
          <a:p>
            <a:pPr indent="0" marL="0">
              <a:buNone/>
            </a:pPr>
            <a:r>
              <a:rPr lang="en-US" sz="1700" b="1" dirty="0">
                <a:solidFill>
                  <a:srgbClr val="0F2B3D"/>
                </a:solidFill>
                <a:latin typeface="Cambria" pitchFamily="34" charset="0"/>
                <a:ea typeface="Cambria" pitchFamily="34" charset="-122"/>
                <a:cs typeface="Cambria" pitchFamily="34" charset="-120"/>
              </a:rPr>
              <a:t>Who can report</a:t>
            </a:r>
            <a:endParaRPr lang="en-US" sz="1700" dirty="0"/>
          </a:p>
        </p:txBody>
      </p:sp>
      <p:sp>
        <p:nvSpPr>
          <p:cNvPr id="5" name="Text 3"/>
          <p:cNvSpPr txBox="1"/>
          <p:nvPr/>
        </p:nvSpPr>
        <p:spPr>
          <a:xfrm>
            <a:off x="566928" y="1874520"/>
            <a:ext cx="5029200" cy="1737360"/>
          </a:xfrm>
          <a:prstGeom prst="rect">
            <a:avLst/>
          </a:prstGeom>
          <a:noFill/>
          <a:ln/>
        </p:spPr>
        <p:txBody>
          <a:bodyPr wrap="square" lIns="0" tIns="0" rIns="0" bIns="0" rtlCol="0" anchor="t"/>
          <a:lstStyle/>
          <a:p>
            <a:pPr marL="342900" indent="-342900">
              <a:lnSpc>
                <a:spcPts val="1900"/>
              </a:lnSpc>
              <a:spcAft>
                <a:spcPts val="600"/>
              </a:spcAft>
              <a:buSzPct val="100000"/>
              <a:buChar char="•"/>
            </a:pPr>
            <a:r>
              <a:rPr lang="en-US" sz="1350" dirty="0">
                <a:solidFill>
                  <a:srgbClr val="1E293B"/>
                </a:solidFill>
                <a:latin typeface="Calibri" pitchFamily="34" charset="0"/>
                <a:ea typeface="Calibri" pitchFamily="34" charset="-122"/>
                <a:cs typeface="Calibri" pitchFamily="34" charset="-120"/>
              </a:rPr>
              <a:t>Any healthcare professional — doctor, dentist, pharmacist, nurse</a:t>
            </a:r>
            <a:endParaRPr lang="en-US" sz="1350" dirty="0"/>
          </a:p>
          <a:p>
            <a:pPr marL="342900" indent="-342900">
              <a:lnSpc>
                <a:spcPts val="1900"/>
              </a:lnSpc>
              <a:spcAft>
                <a:spcPts val="600"/>
              </a:spcAft>
              <a:buSzPct val="100000"/>
              <a:buChar char="•"/>
            </a:pPr>
            <a:r>
              <a:rPr lang="en-US" sz="1350" dirty="0">
                <a:solidFill>
                  <a:srgbClr val="1E293B"/>
                </a:solidFill>
                <a:latin typeface="Calibri" pitchFamily="34" charset="0"/>
                <a:ea typeface="Calibri" pitchFamily="34" charset="-122"/>
                <a:cs typeface="Calibri" pitchFamily="34" charset="-120"/>
              </a:rPr>
              <a:t>Pharmacy students and interns, under supervision</a:t>
            </a:r>
            <a:endParaRPr lang="en-US" sz="1350" dirty="0"/>
          </a:p>
          <a:p>
            <a:pPr marL="342900" indent="-342900">
              <a:lnSpc>
                <a:spcPts val="1900"/>
              </a:lnSpc>
              <a:spcAft>
                <a:spcPts val="600"/>
              </a:spcAft>
              <a:buSzPct val="100000"/>
              <a:buChar char="•"/>
            </a:pPr>
            <a:r>
              <a:rPr lang="en-US" sz="1350" dirty="0">
                <a:solidFill>
                  <a:srgbClr val="1E293B"/>
                </a:solidFill>
                <a:latin typeface="Calibri" pitchFamily="34" charset="0"/>
                <a:ea typeface="Calibri" pitchFamily="34" charset="-122"/>
                <a:cs typeface="Calibri" pitchFamily="34" charset="-120"/>
              </a:rPr>
              <a:t>Patients and consumers, directly</a:t>
            </a:r>
            <a:endParaRPr lang="en-US" sz="1350" dirty="0"/>
          </a:p>
          <a:p>
            <a:pPr marL="342900" indent="-342900">
              <a:lnSpc>
                <a:spcPts val="1900"/>
              </a:lnSpc>
              <a:spcAft>
                <a:spcPts val="600"/>
              </a:spcAft>
              <a:buSzPct val="100000"/>
              <a:buChar char="•"/>
            </a:pPr>
            <a:r>
              <a:rPr lang="en-US" sz="1350" dirty="0">
                <a:solidFill>
                  <a:srgbClr val="1E293B"/>
                </a:solidFill>
                <a:latin typeface="Calibri" pitchFamily="34" charset="0"/>
                <a:ea typeface="Calibri" pitchFamily="34" charset="-122"/>
                <a:cs typeface="Calibri" pitchFamily="34" charset="-120"/>
              </a:rPr>
              <a:t>Marketing authorisation holders — for whom it is a legal duty with timelines</a:t>
            </a:r>
            <a:endParaRPr lang="en-US" sz="1350" dirty="0"/>
          </a:p>
        </p:txBody>
      </p:sp>
      <p:sp>
        <p:nvSpPr>
          <p:cNvPr id="6" name="Shape 4"/>
          <p:cNvSpPr/>
          <p:nvPr/>
        </p:nvSpPr>
        <p:spPr>
          <a:xfrm>
            <a:off x="566928" y="3794760"/>
            <a:ext cx="5212080" cy="1234440"/>
          </a:xfrm>
          <a:prstGeom prst="roundRect">
            <a:avLst>
              <a:gd name="adj" fmla="val 4444"/>
            </a:avLst>
          </a:prstGeom>
          <a:solidFill>
            <a:srgbClr val="FEF2F2"/>
          </a:solidFill>
          <a:ln w="12700">
            <a:solidFill>
              <a:srgbClr val="E2E8F0"/>
            </a:solidFill>
            <a:prstDash val="solid"/>
          </a:ln>
        </p:spPr>
      </p:sp>
      <p:sp>
        <p:nvSpPr>
          <p:cNvPr id="7" name="Text 5"/>
          <p:cNvSpPr txBox="1"/>
          <p:nvPr/>
        </p:nvSpPr>
        <p:spPr>
          <a:xfrm>
            <a:off x="841248" y="3794760"/>
            <a:ext cx="4663440" cy="1234440"/>
          </a:xfrm>
          <a:prstGeom prst="rect">
            <a:avLst/>
          </a:prstGeom>
          <a:noFill/>
          <a:ln/>
        </p:spPr>
        <p:txBody>
          <a:bodyPr wrap="square" lIns="0" tIns="0" rIns="0" bIns="0" rtlCol="0" anchor="ctr"/>
          <a:lstStyle/>
          <a:p>
            <a:pPr indent="0" marL="0">
              <a:lnSpc>
                <a:spcPts val="1900"/>
              </a:lnSpc>
              <a:buNone/>
            </a:pPr>
            <a:r>
              <a:rPr lang="en-US" sz="1300" b="1" dirty="0">
                <a:solidFill>
                  <a:srgbClr val="7F1D1D"/>
                </a:solidFill>
                <a:latin typeface="Calibri" pitchFamily="34" charset="0"/>
                <a:ea typeface="Calibri" pitchFamily="34" charset="-122"/>
                <a:cs typeface="Calibri" pitchFamily="34" charset="-120"/>
              </a:rPr>
              <a:t>The belief that only a doctor may report suppresses a great many reports that should have been made.</a:t>
            </a:r>
            <a:endParaRPr lang="en-US" sz="1300" dirty="0"/>
          </a:p>
        </p:txBody>
      </p:sp>
      <p:sp>
        <p:nvSpPr>
          <p:cNvPr id="8" name="Shape 6"/>
          <p:cNvSpPr/>
          <p:nvPr/>
        </p:nvSpPr>
        <p:spPr>
          <a:xfrm>
            <a:off x="566928" y="5212080"/>
            <a:ext cx="5212080" cy="1078992"/>
          </a:xfrm>
          <a:prstGeom prst="roundRect">
            <a:avLst>
              <a:gd name="adj" fmla="val 5085"/>
            </a:avLst>
          </a:prstGeom>
          <a:solidFill>
            <a:srgbClr val="ECFEFF"/>
          </a:solidFill>
          <a:ln w="12700">
            <a:solidFill>
              <a:srgbClr val="E2E8F0"/>
            </a:solidFill>
            <a:prstDash val="solid"/>
          </a:ln>
        </p:spPr>
      </p:sp>
      <p:sp>
        <p:nvSpPr>
          <p:cNvPr id="9" name="Text 7"/>
          <p:cNvSpPr txBox="1"/>
          <p:nvPr/>
        </p:nvSpPr>
        <p:spPr>
          <a:xfrm>
            <a:off x="841248" y="5212080"/>
            <a:ext cx="4663440" cy="1078992"/>
          </a:xfrm>
          <a:prstGeom prst="rect">
            <a:avLst/>
          </a:prstGeom>
          <a:noFill/>
          <a:ln/>
        </p:spPr>
        <p:txBody>
          <a:bodyPr wrap="square" lIns="0" tIns="0" rIns="0" bIns="0" rtlCol="0" anchor="ctr"/>
          <a:lstStyle/>
          <a:p>
            <a:pPr indent="0" marL="0">
              <a:lnSpc>
                <a:spcPts val="1900"/>
              </a:lnSpc>
              <a:buNone/>
            </a:pPr>
            <a:r>
              <a:rPr lang="en-US" sz="1300" dirty="0">
                <a:solidFill>
                  <a:srgbClr val="0C4A6E"/>
                </a:solidFill>
                <a:latin typeface="Calibri" pitchFamily="34" charset="0"/>
                <a:ea typeface="Calibri" pitchFamily="34" charset="-122"/>
                <a:cs typeface="Calibri" pitchFamily="34" charset="-120"/>
              </a:rPr>
              <a:t>Suspicion is the threshold, not proof. You are not being asked to be sure — you are being asked to say what you saw.</a:t>
            </a:r>
            <a:endParaRPr lang="en-US" sz="1300" dirty="0"/>
          </a:p>
        </p:txBody>
      </p:sp>
      <p:sp>
        <p:nvSpPr>
          <p:cNvPr id="10" name="Text 8"/>
          <p:cNvSpPr txBox="1"/>
          <p:nvPr/>
        </p:nvSpPr>
        <p:spPr>
          <a:xfrm>
            <a:off x="6172200" y="1481328"/>
            <a:ext cx="5486400" cy="320040"/>
          </a:xfrm>
          <a:prstGeom prst="rect">
            <a:avLst/>
          </a:prstGeom>
          <a:noFill/>
          <a:ln/>
        </p:spPr>
        <p:txBody>
          <a:bodyPr wrap="square" lIns="0" tIns="0" rIns="0" bIns="0" rtlCol="0" anchor="t"/>
          <a:lstStyle/>
          <a:p>
            <a:pPr indent="0" marL="0">
              <a:buNone/>
            </a:pPr>
            <a:r>
              <a:rPr lang="en-US" sz="1700" b="1" dirty="0">
                <a:solidFill>
                  <a:srgbClr val="0F2B3D"/>
                </a:solidFill>
                <a:latin typeface="Cambria" pitchFamily="34" charset="0"/>
                <a:ea typeface="Cambria" pitchFamily="34" charset="-122"/>
                <a:cs typeface="Cambria" pitchFamily="34" charset="-120"/>
              </a:rPr>
              <a:t>What happens next</a:t>
            </a:r>
            <a:endParaRPr lang="en-US" sz="1700" dirty="0"/>
          </a:p>
        </p:txBody>
      </p:sp>
      <p:sp>
        <p:nvSpPr>
          <p:cNvPr id="11" name="Shape 9"/>
          <p:cNvSpPr/>
          <p:nvPr/>
        </p:nvSpPr>
        <p:spPr>
          <a:xfrm>
            <a:off x="6172200" y="1847088"/>
            <a:ext cx="310896" cy="310896"/>
          </a:xfrm>
          <a:prstGeom prst="ellipse">
            <a:avLst/>
          </a:prstGeom>
          <a:solidFill>
            <a:srgbClr val="0E7490"/>
          </a:solidFill>
          <a:ln/>
        </p:spPr>
      </p:sp>
      <p:sp>
        <p:nvSpPr>
          <p:cNvPr id="12" name="Text 10"/>
          <p:cNvSpPr txBox="1"/>
          <p:nvPr/>
        </p:nvSpPr>
        <p:spPr>
          <a:xfrm>
            <a:off x="6172200" y="1847088"/>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3" name="Text 11"/>
          <p:cNvSpPr txBox="1"/>
          <p:nvPr/>
        </p:nvSpPr>
        <p:spPr>
          <a:xfrm>
            <a:off x="6620256" y="1801368"/>
            <a:ext cx="4974336" cy="603504"/>
          </a:xfrm>
          <a:prstGeom prst="rect">
            <a:avLst/>
          </a:prstGeom>
          <a:noFill/>
          <a:ln/>
        </p:spPr>
        <p:txBody>
          <a:bodyPr wrap="square" lIns="0" tIns="0" rIns="0" bIns="0" rtlCol="0" anchor="t"/>
          <a:lstStyle/>
          <a:p>
            <a:pPr indent="0" marL="0">
              <a:lnSpc>
                <a:spcPts val="1600"/>
              </a:lnSpc>
              <a:buNone/>
            </a:pPr>
            <a:r>
              <a:rPr lang="en-US" sz="1200" dirty="0">
                <a:solidFill>
                  <a:srgbClr val="1E293B"/>
                </a:solidFill>
                <a:latin typeface="Calibri" pitchFamily="34" charset="0"/>
                <a:ea typeface="Calibri" pitchFamily="34" charset="-122"/>
                <a:cs typeface="Calibri" pitchFamily="34" charset="-120"/>
              </a:rPr>
              <a:t>You notice a suspected reaction. Suspicion is the threshold — never proof.</a:t>
            </a:r>
            <a:endParaRPr lang="en-US" sz="1200" dirty="0"/>
          </a:p>
        </p:txBody>
      </p:sp>
      <p:sp>
        <p:nvSpPr>
          <p:cNvPr id="14" name="Shape 12"/>
          <p:cNvSpPr/>
          <p:nvPr/>
        </p:nvSpPr>
        <p:spPr>
          <a:xfrm>
            <a:off x="6172200" y="2487168"/>
            <a:ext cx="310896" cy="310896"/>
          </a:xfrm>
          <a:prstGeom prst="ellipse">
            <a:avLst/>
          </a:prstGeom>
          <a:solidFill>
            <a:srgbClr val="0E7490"/>
          </a:solidFill>
          <a:ln/>
        </p:spPr>
      </p:sp>
      <p:sp>
        <p:nvSpPr>
          <p:cNvPr id="15" name="Text 13"/>
          <p:cNvSpPr txBox="1"/>
          <p:nvPr/>
        </p:nvSpPr>
        <p:spPr>
          <a:xfrm>
            <a:off x="6172200" y="2487168"/>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6" name="Text 14"/>
          <p:cNvSpPr txBox="1"/>
          <p:nvPr/>
        </p:nvSpPr>
        <p:spPr>
          <a:xfrm>
            <a:off x="6620256" y="2441448"/>
            <a:ext cx="4974336" cy="603504"/>
          </a:xfrm>
          <a:prstGeom prst="rect">
            <a:avLst/>
          </a:prstGeom>
          <a:noFill/>
          <a:ln/>
        </p:spPr>
        <p:txBody>
          <a:bodyPr wrap="square" lIns="0" tIns="0" rIns="0" bIns="0" rtlCol="0" anchor="t"/>
          <a:lstStyle/>
          <a:p>
            <a:pPr indent="0" marL="0">
              <a:lnSpc>
                <a:spcPts val="1600"/>
              </a:lnSpc>
              <a:buNone/>
            </a:pPr>
            <a:r>
              <a:rPr lang="en-US" sz="1200" dirty="0">
                <a:solidFill>
                  <a:srgbClr val="1E293B"/>
                </a:solidFill>
                <a:latin typeface="Calibri" pitchFamily="34" charset="0"/>
                <a:ea typeface="Calibri" pitchFamily="34" charset="-122"/>
                <a:cs typeface="Calibri" pitchFamily="34" charset="-120"/>
              </a:rPr>
              <a:t>You record it on the Suspected ADR Reporting Form.</a:t>
            </a:r>
            <a:endParaRPr lang="en-US" sz="1200" dirty="0"/>
          </a:p>
        </p:txBody>
      </p:sp>
      <p:sp>
        <p:nvSpPr>
          <p:cNvPr id="17" name="Shape 15"/>
          <p:cNvSpPr/>
          <p:nvPr/>
        </p:nvSpPr>
        <p:spPr>
          <a:xfrm>
            <a:off x="6172200" y="3127248"/>
            <a:ext cx="310896" cy="310896"/>
          </a:xfrm>
          <a:prstGeom prst="ellipse">
            <a:avLst/>
          </a:prstGeom>
          <a:solidFill>
            <a:srgbClr val="0E7490"/>
          </a:solidFill>
          <a:ln/>
        </p:spPr>
      </p:sp>
      <p:sp>
        <p:nvSpPr>
          <p:cNvPr id="18" name="Text 16"/>
          <p:cNvSpPr txBox="1"/>
          <p:nvPr/>
        </p:nvSpPr>
        <p:spPr>
          <a:xfrm>
            <a:off x="6172200" y="3127248"/>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9" name="Text 17"/>
          <p:cNvSpPr txBox="1"/>
          <p:nvPr/>
        </p:nvSpPr>
        <p:spPr>
          <a:xfrm>
            <a:off x="6620256" y="3081528"/>
            <a:ext cx="4974336" cy="603504"/>
          </a:xfrm>
          <a:prstGeom prst="rect">
            <a:avLst/>
          </a:prstGeom>
          <a:noFill/>
          <a:ln/>
        </p:spPr>
        <p:txBody>
          <a:bodyPr wrap="square" lIns="0" tIns="0" rIns="0" bIns="0" rtlCol="0" anchor="t"/>
          <a:lstStyle/>
          <a:p>
            <a:pPr indent="0" marL="0">
              <a:lnSpc>
                <a:spcPts val="1600"/>
              </a:lnSpc>
              <a:buNone/>
            </a:pPr>
            <a:r>
              <a:rPr lang="en-US" sz="1200" dirty="0">
                <a:solidFill>
                  <a:srgbClr val="1E293B"/>
                </a:solidFill>
                <a:latin typeface="Calibri" pitchFamily="34" charset="0"/>
                <a:ea typeface="Calibri" pitchFamily="34" charset="-122"/>
                <a:cs typeface="Calibri" pitchFamily="34" charset="-120"/>
              </a:rPr>
              <a:t>It goes to an ADR Monitoring Centre, then to the National Coordination Centre at the IPC, Ghaziabad.</a:t>
            </a:r>
            <a:endParaRPr lang="en-US" sz="1200" dirty="0"/>
          </a:p>
        </p:txBody>
      </p:sp>
      <p:sp>
        <p:nvSpPr>
          <p:cNvPr id="20" name="Shape 18"/>
          <p:cNvSpPr/>
          <p:nvPr/>
        </p:nvSpPr>
        <p:spPr>
          <a:xfrm>
            <a:off x="6172200" y="3767328"/>
            <a:ext cx="310896" cy="310896"/>
          </a:xfrm>
          <a:prstGeom prst="ellipse">
            <a:avLst/>
          </a:prstGeom>
          <a:solidFill>
            <a:srgbClr val="0E7490"/>
          </a:solidFill>
          <a:ln/>
        </p:spPr>
      </p:sp>
      <p:sp>
        <p:nvSpPr>
          <p:cNvPr id="21" name="Text 19"/>
          <p:cNvSpPr txBox="1"/>
          <p:nvPr/>
        </p:nvSpPr>
        <p:spPr>
          <a:xfrm>
            <a:off x="6172200" y="3767328"/>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22" name="Text 20"/>
          <p:cNvSpPr txBox="1"/>
          <p:nvPr/>
        </p:nvSpPr>
        <p:spPr>
          <a:xfrm>
            <a:off x="6620256" y="3721608"/>
            <a:ext cx="4974336" cy="603504"/>
          </a:xfrm>
          <a:prstGeom prst="rect">
            <a:avLst/>
          </a:prstGeom>
          <a:noFill/>
          <a:ln/>
        </p:spPr>
        <p:txBody>
          <a:bodyPr wrap="square" lIns="0" tIns="0" rIns="0" bIns="0" rtlCol="0" anchor="t"/>
          <a:lstStyle/>
          <a:p>
            <a:pPr indent="0" marL="0">
              <a:lnSpc>
                <a:spcPts val="1600"/>
              </a:lnSpc>
              <a:buNone/>
            </a:pPr>
            <a:r>
              <a:rPr lang="en-US" sz="1200" dirty="0">
                <a:solidFill>
                  <a:srgbClr val="1E293B"/>
                </a:solidFill>
                <a:latin typeface="Calibri" pitchFamily="34" charset="0"/>
                <a:ea typeface="Calibri" pitchFamily="34" charset="-122"/>
                <a:cs typeface="Calibri" pitchFamily="34" charset="-120"/>
              </a:rPr>
              <a:t>It is entered into VigiFlow, the WHO case management system.</a:t>
            </a:r>
            <a:endParaRPr lang="en-US" sz="1200" dirty="0"/>
          </a:p>
        </p:txBody>
      </p:sp>
      <p:sp>
        <p:nvSpPr>
          <p:cNvPr id="23" name="Shape 21"/>
          <p:cNvSpPr/>
          <p:nvPr/>
        </p:nvSpPr>
        <p:spPr>
          <a:xfrm>
            <a:off x="6172200" y="4407408"/>
            <a:ext cx="310896" cy="310896"/>
          </a:xfrm>
          <a:prstGeom prst="ellipse">
            <a:avLst/>
          </a:prstGeom>
          <a:solidFill>
            <a:srgbClr val="0E7490"/>
          </a:solidFill>
          <a:ln/>
        </p:spPr>
      </p:sp>
      <p:sp>
        <p:nvSpPr>
          <p:cNvPr id="24" name="Text 22"/>
          <p:cNvSpPr txBox="1"/>
          <p:nvPr/>
        </p:nvSpPr>
        <p:spPr>
          <a:xfrm>
            <a:off x="6172200" y="4407408"/>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25" name="Text 23"/>
          <p:cNvSpPr txBox="1"/>
          <p:nvPr/>
        </p:nvSpPr>
        <p:spPr>
          <a:xfrm>
            <a:off x="6620256" y="4361688"/>
            <a:ext cx="4974336" cy="603504"/>
          </a:xfrm>
          <a:prstGeom prst="rect">
            <a:avLst/>
          </a:prstGeom>
          <a:noFill/>
          <a:ln/>
        </p:spPr>
        <p:txBody>
          <a:bodyPr wrap="square" lIns="0" tIns="0" rIns="0" bIns="0" rtlCol="0" anchor="t"/>
          <a:lstStyle/>
          <a:p>
            <a:pPr indent="0" marL="0">
              <a:lnSpc>
                <a:spcPts val="1600"/>
              </a:lnSpc>
              <a:buNone/>
            </a:pPr>
            <a:r>
              <a:rPr lang="en-US" sz="1200" dirty="0">
                <a:solidFill>
                  <a:srgbClr val="1E293B"/>
                </a:solidFill>
                <a:latin typeface="Calibri" pitchFamily="34" charset="0"/>
                <a:ea typeface="Calibri" pitchFamily="34" charset="-122"/>
                <a:cs typeface="Calibri" pitchFamily="34" charset="-120"/>
              </a:rPr>
              <a:t>It joins VigiBase at the Uppsala Monitoring Centre — tens of millions of reports from 150+ countries.</a:t>
            </a:r>
            <a:endParaRPr lang="en-US" sz="1200" dirty="0"/>
          </a:p>
        </p:txBody>
      </p:sp>
      <p:sp>
        <p:nvSpPr>
          <p:cNvPr id="26" name="Shape 24"/>
          <p:cNvSpPr/>
          <p:nvPr/>
        </p:nvSpPr>
        <p:spPr>
          <a:xfrm>
            <a:off x="6172200" y="5047488"/>
            <a:ext cx="310896" cy="310896"/>
          </a:xfrm>
          <a:prstGeom prst="ellipse">
            <a:avLst/>
          </a:prstGeom>
          <a:solidFill>
            <a:srgbClr val="0E7490"/>
          </a:solidFill>
          <a:ln/>
        </p:spPr>
      </p:sp>
      <p:sp>
        <p:nvSpPr>
          <p:cNvPr id="27" name="Text 25"/>
          <p:cNvSpPr txBox="1"/>
          <p:nvPr/>
        </p:nvSpPr>
        <p:spPr>
          <a:xfrm>
            <a:off x="6172200" y="5047488"/>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6</a:t>
            </a:r>
            <a:endParaRPr lang="en-US" sz="1200" dirty="0"/>
          </a:p>
        </p:txBody>
      </p:sp>
      <p:sp>
        <p:nvSpPr>
          <p:cNvPr id="28" name="Text 26"/>
          <p:cNvSpPr txBox="1"/>
          <p:nvPr/>
        </p:nvSpPr>
        <p:spPr>
          <a:xfrm>
            <a:off x="6620256" y="5001768"/>
            <a:ext cx="4974336" cy="603504"/>
          </a:xfrm>
          <a:prstGeom prst="rect">
            <a:avLst/>
          </a:prstGeom>
          <a:noFill/>
          <a:ln/>
        </p:spPr>
        <p:txBody>
          <a:bodyPr wrap="square" lIns="0" tIns="0" rIns="0" bIns="0" rtlCol="0" anchor="t"/>
          <a:lstStyle/>
          <a:p>
            <a:pPr indent="0" marL="0">
              <a:lnSpc>
                <a:spcPts val="1600"/>
              </a:lnSpc>
              <a:buNone/>
            </a:pPr>
            <a:r>
              <a:rPr lang="en-US" sz="1200" dirty="0">
                <a:solidFill>
                  <a:srgbClr val="1E293B"/>
                </a:solidFill>
                <a:latin typeface="Calibri" pitchFamily="34" charset="0"/>
                <a:ea typeface="Calibri" pitchFamily="34" charset="-122"/>
                <a:cs typeface="Calibri" pitchFamily="34" charset="-120"/>
              </a:rPr>
              <a:t>It is screened against every similar report worldwide.</a:t>
            </a:r>
            <a:endParaRPr lang="en-US" sz="1200" dirty="0"/>
          </a:p>
        </p:txBody>
      </p:sp>
      <p:sp>
        <p:nvSpPr>
          <p:cNvPr id="29" name="Shape 27"/>
          <p:cNvSpPr/>
          <p:nvPr/>
        </p:nvSpPr>
        <p:spPr>
          <a:xfrm>
            <a:off x="6172200" y="5687568"/>
            <a:ext cx="310896" cy="310896"/>
          </a:xfrm>
          <a:prstGeom prst="ellipse">
            <a:avLst/>
          </a:prstGeom>
          <a:solidFill>
            <a:srgbClr val="C40D16"/>
          </a:solidFill>
          <a:ln/>
        </p:spPr>
      </p:sp>
      <p:sp>
        <p:nvSpPr>
          <p:cNvPr id="30" name="Text 28"/>
          <p:cNvSpPr txBox="1"/>
          <p:nvPr/>
        </p:nvSpPr>
        <p:spPr>
          <a:xfrm>
            <a:off x="6172200" y="5687568"/>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7</a:t>
            </a:r>
            <a:endParaRPr lang="en-US" sz="1200" dirty="0"/>
          </a:p>
        </p:txBody>
      </p:sp>
      <p:sp>
        <p:nvSpPr>
          <p:cNvPr id="31" name="Text 29"/>
          <p:cNvSpPr txBox="1"/>
          <p:nvPr/>
        </p:nvSpPr>
        <p:spPr>
          <a:xfrm>
            <a:off x="6620256" y="5641848"/>
            <a:ext cx="4974336" cy="603504"/>
          </a:xfrm>
          <a:prstGeom prst="rect">
            <a:avLst/>
          </a:prstGeom>
          <a:noFill/>
          <a:ln/>
        </p:spPr>
        <p:txBody>
          <a:bodyPr wrap="square" lIns="0" tIns="0" rIns="0" bIns="0" rtlCol="0" anchor="t"/>
          <a:lstStyle/>
          <a:p>
            <a:pPr indent="0" marL="0">
              <a:lnSpc>
                <a:spcPts val="1600"/>
              </a:lnSpc>
              <a:buNone/>
            </a:pPr>
            <a:r>
              <a:rPr lang="en-US" sz="1200" dirty="0">
                <a:solidFill>
                  <a:srgbClr val="1E293B"/>
                </a:solidFill>
                <a:latin typeface="Calibri" pitchFamily="34" charset="0"/>
                <a:ea typeface="Calibri" pitchFamily="34" charset="-122"/>
                <a:cs typeface="Calibri" pitchFamily="34" charset="-120"/>
              </a:rPr>
              <a:t>Something changes: a label, a restriction, a communication, a withdrawal.</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F2B3D"/>
        </a:solidFill>
      </p:bgPr>
    </p:bg>
    <p:spTree>
      <p:nvGrpSpPr>
        <p:cNvPr id="1" name=""/>
        <p:cNvGrpSpPr/>
        <p:nvPr/>
      </p:nvGrpSpPr>
      <p:grpSpPr>
        <a:xfrm>
          <a:off x="0" y="0"/>
          <a:ext cx="0" cy="0"/>
          <a:chOff x="0" y="0"/>
          <a:chExt cx="0" cy="0"/>
        </a:xfrm>
      </p:grpSpPr>
      <p:sp>
        <p:nvSpPr>
          <p:cNvPr id="2" name="Shape 0"/>
          <p:cNvSpPr/>
          <p:nvPr/>
        </p:nvSpPr>
        <p:spPr>
          <a:xfrm>
            <a:off x="566928" y="2057400"/>
            <a:ext cx="1051560" cy="1051560"/>
          </a:xfrm>
          <a:prstGeom prst="ellipse">
            <a:avLst/>
          </a:prstGeom>
          <a:solidFill>
            <a:srgbClr val="0E7490"/>
          </a:solidFill>
          <a:ln/>
        </p:spPr>
      </p:sp>
      <p:sp>
        <p:nvSpPr>
          <p:cNvPr id="3" name="Text 1"/>
          <p:cNvSpPr txBox="1"/>
          <p:nvPr/>
        </p:nvSpPr>
        <p:spPr>
          <a:xfrm>
            <a:off x="566928" y="2057400"/>
            <a:ext cx="1051560" cy="1051560"/>
          </a:xfrm>
          <a:prstGeom prst="rect">
            <a:avLst/>
          </a:prstGeom>
          <a:noFill/>
          <a:ln/>
        </p:spPr>
        <p:txBody>
          <a:bodyPr wrap="square" lIns="0" tIns="0" rIns="0" bIns="0" rtlCol="0" anchor="ctr"/>
          <a:lstStyle/>
          <a:p>
            <a:pPr algn="ctr" indent="0" marL="0">
              <a:buNone/>
            </a:pPr>
            <a:r>
              <a:rPr lang="en-US" sz="3400" b="1" dirty="0">
                <a:solidFill>
                  <a:srgbClr val="FFFFFF"/>
                </a:solidFill>
                <a:latin typeface="Cambria" pitchFamily="34" charset="0"/>
                <a:ea typeface="Cambria" pitchFamily="34" charset="-122"/>
                <a:cs typeface="Cambria" pitchFamily="34" charset="-120"/>
              </a:rPr>
              <a:t>2</a:t>
            </a:r>
            <a:endParaRPr lang="en-US" sz="3400" dirty="0"/>
          </a:p>
        </p:txBody>
      </p:sp>
      <p:sp>
        <p:nvSpPr>
          <p:cNvPr id="4" name="Text 2"/>
          <p:cNvSpPr txBox="1"/>
          <p:nvPr/>
        </p:nvSpPr>
        <p:spPr>
          <a:xfrm>
            <a:off x="1874520" y="2121408"/>
            <a:ext cx="8229600" cy="274320"/>
          </a:xfrm>
          <a:prstGeom prst="rect">
            <a:avLst/>
          </a:prstGeom>
          <a:noFill/>
          <a:ln/>
        </p:spPr>
        <p:txBody>
          <a:bodyPr wrap="square" lIns="0" tIns="0" rIns="0" bIns="0" rtlCol="0" anchor="ctr"/>
          <a:lstStyle/>
          <a:p>
            <a:pPr indent="0" marL="0">
              <a:buNone/>
            </a:pPr>
            <a:r>
              <a:rPr lang="en-US" sz="1200" b="1" spc="300" kern="0" dirty="0">
                <a:solidFill>
                  <a:srgbClr val="0891B2"/>
                </a:solidFill>
                <a:latin typeface="Calibri" pitchFamily="34" charset="0"/>
                <a:ea typeface="Calibri" pitchFamily="34" charset="-122"/>
                <a:cs typeface="Calibri" pitchFamily="34" charset="-120"/>
              </a:rPr>
              <a:t>Part two</a:t>
            </a:r>
            <a:endParaRPr lang="en-US" sz="1200" dirty="0"/>
          </a:p>
        </p:txBody>
      </p:sp>
      <p:sp>
        <p:nvSpPr>
          <p:cNvPr id="5" name="Text 3"/>
          <p:cNvSpPr txBox="1"/>
          <p:nvPr/>
        </p:nvSpPr>
        <p:spPr>
          <a:xfrm>
            <a:off x="1874520" y="2395728"/>
            <a:ext cx="9326880" cy="621792"/>
          </a:xfrm>
          <a:prstGeom prst="rect">
            <a:avLst/>
          </a:prstGeom>
          <a:noFill/>
          <a:ln/>
        </p:spPr>
        <p:txBody>
          <a:bodyPr wrap="square" lIns="0" tIns="0" rIns="0" bIns="0" rtlCol="0" anchor="t"/>
          <a:lstStyle/>
          <a:p>
            <a:pPr indent="0" marL="0">
              <a:lnSpc>
                <a:spcPts val="4600"/>
              </a:lnSpc>
              <a:buNone/>
            </a:pPr>
            <a:r>
              <a:rPr lang="en-US" sz="4000" b="1" dirty="0">
                <a:solidFill>
                  <a:srgbClr val="FFFFFF"/>
                </a:solidFill>
                <a:latin typeface="Cambria" pitchFamily="34" charset="0"/>
                <a:ea typeface="Cambria" pitchFamily="34" charset="-122"/>
                <a:cs typeface="Cambria" pitchFamily="34" charset="-120"/>
              </a:rPr>
              <a:t>How to read a safety case</a:t>
            </a:r>
            <a:endParaRPr lang="en-US" sz="4000" dirty="0"/>
          </a:p>
        </p:txBody>
      </p:sp>
      <p:sp>
        <p:nvSpPr>
          <p:cNvPr id="6" name="Text 4"/>
          <p:cNvSpPr txBox="1"/>
          <p:nvPr/>
        </p:nvSpPr>
        <p:spPr>
          <a:xfrm>
            <a:off x="1874520" y="3154680"/>
            <a:ext cx="8778240" cy="822960"/>
          </a:xfrm>
          <a:prstGeom prst="rect">
            <a:avLst/>
          </a:prstGeom>
          <a:noFill/>
          <a:ln/>
        </p:spPr>
        <p:txBody>
          <a:bodyPr wrap="square" lIns="0" tIns="0" rIns="0" bIns="0" rtlCol="0" anchor="t"/>
          <a:lstStyle/>
          <a:p>
            <a:pPr indent="0" marL="0">
              <a:lnSpc>
                <a:spcPts val="2400"/>
              </a:lnSpc>
              <a:buNone/>
            </a:pPr>
            <a:r>
              <a:rPr lang="en-US" sz="1550" dirty="0">
                <a:solidFill>
                  <a:srgbClr val="CBD5E1"/>
                </a:solidFill>
                <a:latin typeface="Calibri" pitchFamily="34" charset="0"/>
                <a:ea typeface="Calibri" pitchFamily="34" charset="-122"/>
                <a:cs typeface="Calibri" pitchFamily="34" charset="-120"/>
              </a:rPr>
              <a:t>Nobody hands you a form with the boxes filled in. You get a story.</a:t>
            </a:r>
            <a:endParaRPr lang="en-US" sz="15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84048"/>
            <a:ext cx="10058400" cy="256032"/>
          </a:xfrm>
          <a:prstGeom prst="rect">
            <a:avLst/>
          </a:prstGeom>
          <a:noFill/>
          <a:ln/>
        </p:spPr>
        <p:txBody>
          <a:bodyPr wrap="square" lIns="0" tIns="0" rIns="0" bIns="0" rtlCol="0" anchor="ctr"/>
          <a:lstStyle/>
          <a:p>
            <a:pPr indent="0" marL="0">
              <a:buNone/>
            </a:pPr>
            <a:r>
              <a:rPr lang="en-US" sz="1100" b="1" spc="250" kern="0" dirty="0">
                <a:solidFill>
                  <a:srgbClr val="0E7490"/>
                </a:solidFill>
                <a:latin typeface="Calibri" pitchFamily="34" charset="0"/>
                <a:ea typeface="Calibri" pitchFamily="34" charset="-122"/>
                <a:cs typeface="Calibri" pitchFamily="34" charset="-120"/>
              </a:rPr>
              <a:t>The shape of every case</a:t>
            </a:r>
            <a:endParaRPr lang="en-US" sz="1100" dirty="0"/>
          </a:p>
        </p:txBody>
      </p:sp>
      <p:sp>
        <p:nvSpPr>
          <p:cNvPr id="3" name="Text 1"/>
          <p:cNvSpPr txBox="1"/>
          <p:nvPr/>
        </p:nvSpPr>
        <p:spPr>
          <a:xfrm>
            <a:off x="566928" y="640080"/>
            <a:ext cx="11064240" cy="548640"/>
          </a:xfrm>
          <a:prstGeom prst="rect">
            <a:avLst/>
          </a:prstGeom>
          <a:noFill/>
          <a:ln/>
        </p:spPr>
        <p:txBody>
          <a:bodyPr wrap="square" lIns="0" tIns="0" rIns="0" bIns="0" rtlCol="0" anchor="t"/>
          <a:lstStyle/>
          <a:p>
            <a:pPr indent="0" marL="0">
              <a:lnSpc>
                <a:spcPts val="3800"/>
              </a:lnSpc>
              <a:buNone/>
            </a:pPr>
            <a:r>
              <a:rPr lang="en-US" sz="3100" b="1" dirty="0">
                <a:solidFill>
                  <a:srgbClr val="0F2B3D"/>
                </a:solidFill>
                <a:latin typeface="Cambria" pitchFamily="34" charset="0"/>
                <a:ea typeface="Cambria" pitchFamily="34" charset="-122"/>
                <a:cs typeface="Cambria" pitchFamily="34" charset="-120"/>
              </a:rPr>
              <a:t>Seven things, in this order</a:t>
            </a:r>
            <a:endParaRPr lang="en-US" sz="3100" dirty="0"/>
          </a:p>
        </p:txBody>
      </p:sp>
      <p:sp>
        <p:nvSpPr>
          <p:cNvPr id="4" name="Shape 2"/>
          <p:cNvSpPr/>
          <p:nvPr/>
        </p:nvSpPr>
        <p:spPr>
          <a:xfrm>
            <a:off x="566928" y="1554480"/>
            <a:ext cx="1463040" cy="2743200"/>
          </a:xfrm>
          <a:prstGeom prst="roundRect">
            <a:avLst>
              <a:gd name="adj" fmla="val 3750"/>
            </a:avLst>
          </a:prstGeom>
          <a:solidFill>
            <a:srgbClr val="F1F5F9"/>
          </a:solidFill>
          <a:ln w="12700">
            <a:solidFill>
              <a:srgbClr val="E2E8F0"/>
            </a:solidFill>
            <a:prstDash val="solid"/>
          </a:ln>
        </p:spPr>
      </p:sp>
      <p:sp>
        <p:nvSpPr>
          <p:cNvPr id="5" name="Shape 3"/>
          <p:cNvSpPr/>
          <p:nvPr/>
        </p:nvSpPr>
        <p:spPr>
          <a:xfrm>
            <a:off x="1097280" y="1755648"/>
            <a:ext cx="402336" cy="402336"/>
          </a:xfrm>
          <a:prstGeom prst="ellipse">
            <a:avLst/>
          </a:prstGeom>
          <a:solidFill>
            <a:srgbClr val="0E7490"/>
          </a:solidFill>
          <a:ln/>
        </p:spPr>
      </p:sp>
      <p:sp>
        <p:nvSpPr>
          <p:cNvPr id="6" name="Text 4"/>
          <p:cNvSpPr txBox="1"/>
          <p:nvPr/>
        </p:nvSpPr>
        <p:spPr>
          <a:xfrm>
            <a:off x="1097280" y="1755648"/>
            <a:ext cx="402336" cy="40233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7" name="Text 5"/>
          <p:cNvSpPr txBox="1"/>
          <p:nvPr/>
        </p:nvSpPr>
        <p:spPr>
          <a:xfrm>
            <a:off x="640080" y="2267712"/>
            <a:ext cx="1316736" cy="310896"/>
          </a:xfrm>
          <a:prstGeom prst="rect">
            <a:avLst/>
          </a:prstGeom>
          <a:noFill/>
          <a:ln/>
        </p:spPr>
        <p:txBody>
          <a:bodyPr wrap="square" lIns="0" tIns="0" rIns="0" bIns="0" rtlCol="0" anchor="ctr"/>
          <a:lstStyle/>
          <a:p>
            <a:pPr algn="ctr" indent="0" marL="0">
              <a:buNone/>
            </a:pPr>
            <a:r>
              <a:rPr lang="en-US" sz="1500" b="1" dirty="0">
                <a:solidFill>
                  <a:srgbClr val="0F2B3D"/>
                </a:solidFill>
                <a:latin typeface="Cambria" pitchFamily="34" charset="0"/>
                <a:ea typeface="Cambria" pitchFamily="34" charset="-122"/>
                <a:cs typeface="Cambria" pitchFamily="34" charset="-120"/>
              </a:rPr>
              <a:t>Patient</a:t>
            </a:r>
            <a:endParaRPr lang="en-US" sz="1500" dirty="0"/>
          </a:p>
        </p:txBody>
      </p:sp>
      <p:sp>
        <p:nvSpPr>
          <p:cNvPr id="8" name="Text 6"/>
          <p:cNvSpPr txBox="1"/>
          <p:nvPr/>
        </p:nvSpPr>
        <p:spPr>
          <a:xfrm>
            <a:off x="676656" y="2615184"/>
            <a:ext cx="1243584" cy="731520"/>
          </a:xfrm>
          <a:prstGeom prst="rect">
            <a:avLst/>
          </a:prstGeom>
          <a:noFill/>
          <a:ln/>
        </p:spPr>
        <p:txBody>
          <a:bodyPr wrap="square" lIns="0" tIns="0" rIns="0" bIns="0" rtlCol="0" anchor="ctr"/>
          <a:lstStyle/>
          <a:p>
            <a:pPr algn="ctr" indent="0" marL="0">
              <a:lnSpc>
                <a:spcPts val="1400"/>
              </a:lnSpc>
              <a:buNone/>
            </a:pPr>
            <a:r>
              <a:rPr lang="en-US" sz="1100" dirty="0">
                <a:solidFill>
                  <a:srgbClr val="1E293B"/>
                </a:solidFill>
                <a:latin typeface="Calibri" pitchFamily="34" charset="0"/>
                <a:ea typeface="Calibri" pitchFamily="34" charset="-122"/>
                <a:cs typeface="Calibri" pitchFamily="34" charset="-120"/>
              </a:rPr>
              <a:t>Age, sex, identifier</a:t>
            </a:r>
            <a:endParaRPr lang="en-US" sz="1100" dirty="0"/>
          </a:p>
        </p:txBody>
      </p:sp>
      <p:sp>
        <p:nvSpPr>
          <p:cNvPr id="9" name="Text 7"/>
          <p:cNvSpPr txBox="1"/>
          <p:nvPr/>
        </p:nvSpPr>
        <p:spPr>
          <a:xfrm>
            <a:off x="676656" y="3401568"/>
            <a:ext cx="1243584" cy="777240"/>
          </a:xfrm>
          <a:prstGeom prst="rect">
            <a:avLst/>
          </a:prstGeom>
          <a:noFill/>
          <a:ln/>
        </p:spPr>
        <p:txBody>
          <a:bodyPr wrap="square" lIns="0" tIns="0" rIns="0" bIns="0" rtlCol="0" anchor="ctr"/>
          <a:lstStyle/>
          <a:p>
            <a:pPr algn="ctr" indent="0" marL="0">
              <a:lnSpc>
                <a:spcPts val="1300"/>
              </a:lnSpc>
              <a:buNone/>
            </a:pPr>
            <a:r>
              <a:rPr lang="en-US" sz="1000" i="1" dirty="0">
                <a:solidFill>
                  <a:srgbClr val="64748B"/>
                </a:solidFill>
                <a:latin typeface="Calibri" pitchFamily="34" charset="0"/>
                <a:ea typeface="Calibri" pitchFamily="34" charset="-122"/>
                <a:cs typeface="Calibri" pitchFamily="34" charset="-120"/>
              </a:rPr>
              <a:t>One of the four minimum elements</a:t>
            </a:r>
            <a:endParaRPr lang="en-US" sz="1000" dirty="0"/>
          </a:p>
        </p:txBody>
      </p:sp>
      <p:sp>
        <p:nvSpPr>
          <p:cNvPr id="10" name="Text 8"/>
          <p:cNvSpPr txBox="1"/>
          <p:nvPr/>
        </p:nvSpPr>
        <p:spPr>
          <a:xfrm>
            <a:off x="2011680" y="2651760"/>
            <a:ext cx="182880" cy="274320"/>
          </a:xfrm>
          <a:prstGeom prst="rect">
            <a:avLst/>
          </a:prstGeom>
          <a:noFill/>
          <a:ln/>
        </p:spPr>
        <p:txBody>
          <a:bodyPr wrap="square" lIns="0" tIns="0" rIns="0" bIns="0" rtlCol="0" anchor="ctr"/>
          <a:lstStyle/>
          <a:p>
            <a:pPr algn="ctr" indent="0" marL="0">
              <a:buNone/>
            </a:pPr>
            <a:r>
              <a:rPr lang="en-US" sz="1800" dirty="0">
                <a:solidFill>
                  <a:srgbClr val="94A3B8"/>
                </a:solidFill>
                <a:latin typeface="Calibri" pitchFamily="34" charset="0"/>
                <a:ea typeface="Calibri" pitchFamily="34" charset="-122"/>
                <a:cs typeface="Calibri" pitchFamily="34" charset="-120"/>
              </a:rPr>
              <a:t>›</a:t>
            </a:r>
            <a:endParaRPr lang="en-US" sz="1800" dirty="0"/>
          </a:p>
        </p:txBody>
      </p:sp>
      <p:sp>
        <p:nvSpPr>
          <p:cNvPr id="11" name="Shape 9"/>
          <p:cNvSpPr/>
          <p:nvPr/>
        </p:nvSpPr>
        <p:spPr>
          <a:xfrm>
            <a:off x="2148840" y="1554480"/>
            <a:ext cx="1463040" cy="2743200"/>
          </a:xfrm>
          <a:prstGeom prst="roundRect">
            <a:avLst>
              <a:gd name="adj" fmla="val 3750"/>
            </a:avLst>
          </a:prstGeom>
          <a:solidFill>
            <a:srgbClr val="F1F5F9"/>
          </a:solidFill>
          <a:ln w="12700">
            <a:solidFill>
              <a:srgbClr val="E2E8F0"/>
            </a:solidFill>
            <a:prstDash val="solid"/>
          </a:ln>
        </p:spPr>
      </p:sp>
      <p:sp>
        <p:nvSpPr>
          <p:cNvPr id="12" name="Shape 10"/>
          <p:cNvSpPr/>
          <p:nvPr/>
        </p:nvSpPr>
        <p:spPr>
          <a:xfrm>
            <a:off x="2679192" y="1755648"/>
            <a:ext cx="402336" cy="402336"/>
          </a:xfrm>
          <a:prstGeom prst="ellipse">
            <a:avLst/>
          </a:prstGeom>
          <a:solidFill>
            <a:srgbClr val="0E7490"/>
          </a:solidFill>
          <a:ln/>
        </p:spPr>
      </p:sp>
      <p:sp>
        <p:nvSpPr>
          <p:cNvPr id="13" name="Text 11"/>
          <p:cNvSpPr txBox="1"/>
          <p:nvPr/>
        </p:nvSpPr>
        <p:spPr>
          <a:xfrm>
            <a:off x="2679192" y="1755648"/>
            <a:ext cx="402336" cy="40233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4" name="Text 12"/>
          <p:cNvSpPr txBox="1"/>
          <p:nvPr/>
        </p:nvSpPr>
        <p:spPr>
          <a:xfrm>
            <a:off x="2221992" y="2267712"/>
            <a:ext cx="1316736" cy="310896"/>
          </a:xfrm>
          <a:prstGeom prst="rect">
            <a:avLst/>
          </a:prstGeom>
          <a:noFill/>
          <a:ln/>
        </p:spPr>
        <p:txBody>
          <a:bodyPr wrap="square" lIns="0" tIns="0" rIns="0" bIns="0" rtlCol="0" anchor="ctr"/>
          <a:lstStyle/>
          <a:p>
            <a:pPr algn="ctr" indent="0" marL="0">
              <a:buNone/>
            </a:pPr>
            <a:r>
              <a:rPr lang="en-US" sz="1500" b="1" dirty="0">
                <a:solidFill>
                  <a:srgbClr val="0F2B3D"/>
                </a:solidFill>
                <a:latin typeface="Cambria" pitchFamily="34" charset="0"/>
                <a:ea typeface="Cambria" pitchFamily="34" charset="-122"/>
                <a:cs typeface="Cambria" pitchFamily="34" charset="-120"/>
              </a:rPr>
              <a:t>Drug</a:t>
            </a:r>
            <a:endParaRPr lang="en-US" sz="1500" dirty="0"/>
          </a:p>
        </p:txBody>
      </p:sp>
      <p:sp>
        <p:nvSpPr>
          <p:cNvPr id="15" name="Text 13"/>
          <p:cNvSpPr txBox="1"/>
          <p:nvPr/>
        </p:nvSpPr>
        <p:spPr>
          <a:xfrm>
            <a:off x="2258568" y="2615184"/>
            <a:ext cx="1243584" cy="731520"/>
          </a:xfrm>
          <a:prstGeom prst="rect">
            <a:avLst/>
          </a:prstGeom>
          <a:noFill/>
          <a:ln/>
        </p:spPr>
        <p:txBody>
          <a:bodyPr wrap="square" lIns="0" tIns="0" rIns="0" bIns="0" rtlCol="0" anchor="ctr"/>
          <a:lstStyle/>
          <a:p>
            <a:pPr algn="ctr" indent="0" marL="0">
              <a:lnSpc>
                <a:spcPts val="1400"/>
              </a:lnSpc>
              <a:buNone/>
            </a:pPr>
            <a:r>
              <a:rPr lang="en-US" sz="1100" dirty="0">
                <a:solidFill>
                  <a:srgbClr val="1E293B"/>
                </a:solidFill>
                <a:latin typeface="Calibri" pitchFamily="34" charset="0"/>
                <a:ea typeface="Calibri" pitchFamily="34" charset="-122"/>
                <a:cs typeface="Calibri" pitchFamily="34" charset="-120"/>
              </a:rPr>
              <a:t>Name, dose, route, frequency</a:t>
            </a:r>
            <a:endParaRPr lang="en-US" sz="1100" dirty="0"/>
          </a:p>
        </p:txBody>
      </p:sp>
      <p:sp>
        <p:nvSpPr>
          <p:cNvPr id="16" name="Text 14"/>
          <p:cNvSpPr txBox="1"/>
          <p:nvPr/>
        </p:nvSpPr>
        <p:spPr>
          <a:xfrm>
            <a:off x="2258568" y="3401568"/>
            <a:ext cx="1243584" cy="777240"/>
          </a:xfrm>
          <a:prstGeom prst="rect">
            <a:avLst/>
          </a:prstGeom>
          <a:noFill/>
          <a:ln/>
        </p:spPr>
        <p:txBody>
          <a:bodyPr wrap="square" lIns="0" tIns="0" rIns="0" bIns="0" rtlCol="0" anchor="ctr"/>
          <a:lstStyle/>
          <a:p>
            <a:pPr algn="ctr" indent="0" marL="0">
              <a:lnSpc>
                <a:spcPts val="1300"/>
              </a:lnSpc>
              <a:buNone/>
            </a:pPr>
            <a:r>
              <a:rPr lang="en-US" sz="1000" i="1" dirty="0">
                <a:solidFill>
                  <a:srgbClr val="64748B"/>
                </a:solidFill>
                <a:latin typeface="Calibri" pitchFamily="34" charset="0"/>
                <a:ea typeface="Calibri" pitchFamily="34" charset="-122"/>
                <a:cs typeface="Calibri" pitchFamily="34" charset="-120"/>
              </a:rPr>
              <a:t>Name alone is not enough</a:t>
            </a:r>
            <a:endParaRPr lang="en-US" sz="1000" dirty="0"/>
          </a:p>
        </p:txBody>
      </p:sp>
      <p:sp>
        <p:nvSpPr>
          <p:cNvPr id="17" name="Text 15"/>
          <p:cNvSpPr txBox="1"/>
          <p:nvPr/>
        </p:nvSpPr>
        <p:spPr>
          <a:xfrm>
            <a:off x="3593592" y="2651760"/>
            <a:ext cx="182880" cy="274320"/>
          </a:xfrm>
          <a:prstGeom prst="rect">
            <a:avLst/>
          </a:prstGeom>
          <a:noFill/>
          <a:ln/>
        </p:spPr>
        <p:txBody>
          <a:bodyPr wrap="square" lIns="0" tIns="0" rIns="0" bIns="0" rtlCol="0" anchor="ctr"/>
          <a:lstStyle/>
          <a:p>
            <a:pPr algn="ctr" indent="0" marL="0">
              <a:buNone/>
            </a:pPr>
            <a:r>
              <a:rPr lang="en-US" sz="1800" dirty="0">
                <a:solidFill>
                  <a:srgbClr val="94A3B8"/>
                </a:solidFill>
                <a:latin typeface="Calibri" pitchFamily="34" charset="0"/>
                <a:ea typeface="Calibri" pitchFamily="34" charset="-122"/>
                <a:cs typeface="Calibri" pitchFamily="34" charset="-120"/>
              </a:rPr>
              <a:t>›</a:t>
            </a:r>
            <a:endParaRPr lang="en-US" sz="1800" dirty="0"/>
          </a:p>
        </p:txBody>
      </p:sp>
      <p:sp>
        <p:nvSpPr>
          <p:cNvPr id="18" name="Shape 16"/>
          <p:cNvSpPr/>
          <p:nvPr/>
        </p:nvSpPr>
        <p:spPr>
          <a:xfrm>
            <a:off x="3730752" y="1554480"/>
            <a:ext cx="1463040" cy="2743200"/>
          </a:xfrm>
          <a:prstGeom prst="roundRect">
            <a:avLst>
              <a:gd name="adj" fmla="val 3750"/>
            </a:avLst>
          </a:prstGeom>
          <a:solidFill>
            <a:srgbClr val="F1F5F9"/>
          </a:solidFill>
          <a:ln w="12700">
            <a:solidFill>
              <a:srgbClr val="E2E8F0"/>
            </a:solidFill>
            <a:prstDash val="solid"/>
          </a:ln>
        </p:spPr>
      </p:sp>
      <p:sp>
        <p:nvSpPr>
          <p:cNvPr id="19" name="Shape 17"/>
          <p:cNvSpPr/>
          <p:nvPr/>
        </p:nvSpPr>
        <p:spPr>
          <a:xfrm>
            <a:off x="4261104" y="1755648"/>
            <a:ext cx="402336" cy="402336"/>
          </a:xfrm>
          <a:prstGeom prst="ellipse">
            <a:avLst/>
          </a:prstGeom>
          <a:solidFill>
            <a:srgbClr val="0E7490"/>
          </a:solidFill>
          <a:ln/>
        </p:spPr>
      </p:sp>
      <p:sp>
        <p:nvSpPr>
          <p:cNvPr id="20" name="Text 18"/>
          <p:cNvSpPr txBox="1"/>
          <p:nvPr/>
        </p:nvSpPr>
        <p:spPr>
          <a:xfrm>
            <a:off x="4261104" y="1755648"/>
            <a:ext cx="402336" cy="40233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21" name="Text 19"/>
          <p:cNvSpPr txBox="1"/>
          <p:nvPr/>
        </p:nvSpPr>
        <p:spPr>
          <a:xfrm>
            <a:off x="3803904" y="2267712"/>
            <a:ext cx="1316736" cy="310896"/>
          </a:xfrm>
          <a:prstGeom prst="rect">
            <a:avLst/>
          </a:prstGeom>
          <a:noFill/>
          <a:ln/>
        </p:spPr>
        <p:txBody>
          <a:bodyPr wrap="square" lIns="0" tIns="0" rIns="0" bIns="0" rtlCol="0" anchor="ctr"/>
          <a:lstStyle/>
          <a:p>
            <a:pPr algn="ctr" indent="0" marL="0">
              <a:buNone/>
            </a:pPr>
            <a:r>
              <a:rPr lang="en-US" sz="1500" b="1" dirty="0">
                <a:solidFill>
                  <a:srgbClr val="0F2B3D"/>
                </a:solidFill>
                <a:latin typeface="Cambria" pitchFamily="34" charset="0"/>
                <a:ea typeface="Cambria" pitchFamily="34" charset="-122"/>
                <a:cs typeface="Cambria" pitchFamily="34" charset="-120"/>
              </a:rPr>
              <a:t>Indication</a:t>
            </a:r>
            <a:endParaRPr lang="en-US" sz="1500" dirty="0"/>
          </a:p>
        </p:txBody>
      </p:sp>
      <p:sp>
        <p:nvSpPr>
          <p:cNvPr id="22" name="Text 20"/>
          <p:cNvSpPr txBox="1"/>
          <p:nvPr/>
        </p:nvSpPr>
        <p:spPr>
          <a:xfrm>
            <a:off x="3840480" y="2615184"/>
            <a:ext cx="1243584" cy="731520"/>
          </a:xfrm>
          <a:prstGeom prst="rect">
            <a:avLst/>
          </a:prstGeom>
          <a:noFill/>
          <a:ln/>
        </p:spPr>
        <p:txBody>
          <a:bodyPr wrap="square" lIns="0" tIns="0" rIns="0" bIns="0" rtlCol="0" anchor="ctr"/>
          <a:lstStyle/>
          <a:p>
            <a:pPr algn="ctr" indent="0" marL="0">
              <a:lnSpc>
                <a:spcPts val="1400"/>
              </a:lnSpc>
              <a:buNone/>
            </a:pPr>
            <a:r>
              <a:rPr lang="en-US" sz="1100" dirty="0">
                <a:solidFill>
                  <a:srgbClr val="1E293B"/>
                </a:solidFill>
                <a:latin typeface="Calibri" pitchFamily="34" charset="0"/>
                <a:ea typeface="Calibri" pitchFamily="34" charset="-122"/>
                <a:cs typeface="Calibri" pitchFamily="34" charset="-120"/>
              </a:rPr>
              <a:t>Why it was given</a:t>
            </a:r>
            <a:endParaRPr lang="en-US" sz="1100" dirty="0"/>
          </a:p>
        </p:txBody>
      </p:sp>
      <p:sp>
        <p:nvSpPr>
          <p:cNvPr id="23" name="Text 21"/>
          <p:cNvSpPr txBox="1"/>
          <p:nvPr/>
        </p:nvSpPr>
        <p:spPr>
          <a:xfrm>
            <a:off x="3840480" y="3401568"/>
            <a:ext cx="1243584" cy="777240"/>
          </a:xfrm>
          <a:prstGeom prst="rect">
            <a:avLst/>
          </a:prstGeom>
          <a:noFill/>
          <a:ln/>
        </p:spPr>
        <p:txBody>
          <a:bodyPr wrap="square" lIns="0" tIns="0" rIns="0" bIns="0" rtlCol="0" anchor="ctr"/>
          <a:lstStyle/>
          <a:p>
            <a:pPr algn="ctr" indent="0" marL="0">
              <a:lnSpc>
                <a:spcPts val="1300"/>
              </a:lnSpc>
              <a:buNone/>
            </a:pPr>
            <a:r>
              <a:rPr lang="en-US" sz="1000" i="1" dirty="0">
                <a:solidFill>
                  <a:srgbClr val="64748B"/>
                </a:solidFill>
                <a:latin typeface="Calibri" pitchFamily="34" charset="0"/>
                <a:ea typeface="Calibri" pitchFamily="34" charset="-122"/>
                <a:cs typeface="Calibri" pitchFamily="34" charset="-120"/>
              </a:rPr>
              <a:t>The illness can cause the event too</a:t>
            </a:r>
            <a:endParaRPr lang="en-US" sz="1000" dirty="0"/>
          </a:p>
        </p:txBody>
      </p:sp>
      <p:sp>
        <p:nvSpPr>
          <p:cNvPr id="24" name="Text 22"/>
          <p:cNvSpPr txBox="1"/>
          <p:nvPr/>
        </p:nvSpPr>
        <p:spPr>
          <a:xfrm>
            <a:off x="5175504" y="2651760"/>
            <a:ext cx="182880" cy="274320"/>
          </a:xfrm>
          <a:prstGeom prst="rect">
            <a:avLst/>
          </a:prstGeom>
          <a:noFill/>
          <a:ln/>
        </p:spPr>
        <p:txBody>
          <a:bodyPr wrap="square" lIns="0" tIns="0" rIns="0" bIns="0" rtlCol="0" anchor="ctr"/>
          <a:lstStyle/>
          <a:p>
            <a:pPr algn="ctr" indent="0" marL="0">
              <a:buNone/>
            </a:pPr>
            <a:r>
              <a:rPr lang="en-US" sz="1800" dirty="0">
                <a:solidFill>
                  <a:srgbClr val="94A3B8"/>
                </a:solidFill>
                <a:latin typeface="Calibri" pitchFamily="34" charset="0"/>
                <a:ea typeface="Calibri" pitchFamily="34" charset="-122"/>
                <a:cs typeface="Calibri" pitchFamily="34" charset="-120"/>
              </a:rPr>
              <a:t>›</a:t>
            </a:r>
            <a:endParaRPr lang="en-US" sz="1800" dirty="0"/>
          </a:p>
        </p:txBody>
      </p:sp>
      <p:sp>
        <p:nvSpPr>
          <p:cNvPr id="25" name="Shape 23"/>
          <p:cNvSpPr/>
          <p:nvPr/>
        </p:nvSpPr>
        <p:spPr>
          <a:xfrm>
            <a:off x="5312664" y="1554480"/>
            <a:ext cx="1463040" cy="2743200"/>
          </a:xfrm>
          <a:prstGeom prst="roundRect">
            <a:avLst>
              <a:gd name="adj" fmla="val 3750"/>
            </a:avLst>
          </a:prstGeom>
          <a:solidFill>
            <a:srgbClr val="F1F5F9"/>
          </a:solidFill>
          <a:ln w="12700">
            <a:solidFill>
              <a:srgbClr val="E2E8F0"/>
            </a:solidFill>
            <a:prstDash val="solid"/>
          </a:ln>
        </p:spPr>
      </p:sp>
      <p:sp>
        <p:nvSpPr>
          <p:cNvPr id="26" name="Shape 24"/>
          <p:cNvSpPr/>
          <p:nvPr/>
        </p:nvSpPr>
        <p:spPr>
          <a:xfrm>
            <a:off x="5843016" y="1755648"/>
            <a:ext cx="402336" cy="402336"/>
          </a:xfrm>
          <a:prstGeom prst="ellipse">
            <a:avLst/>
          </a:prstGeom>
          <a:solidFill>
            <a:srgbClr val="0E7490"/>
          </a:solidFill>
          <a:ln/>
        </p:spPr>
      </p:sp>
      <p:sp>
        <p:nvSpPr>
          <p:cNvPr id="27" name="Text 25"/>
          <p:cNvSpPr txBox="1"/>
          <p:nvPr/>
        </p:nvSpPr>
        <p:spPr>
          <a:xfrm>
            <a:off x="5843016" y="1755648"/>
            <a:ext cx="402336" cy="40233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28" name="Text 26"/>
          <p:cNvSpPr txBox="1"/>
          <p:nvPr/>
        </p:nvSpPr>
        <p:spPr>
          <a:xfrm>
            <a:off x="5385816" y="2267712"/>
            <a:ext cx="1316736" cy="310896"/>
          </a:xfrm>
          <a:prstGeom prst="rect">
            <a:avLst/>
          </a:prstGeom>
          <a:noFill/>
          <a:ln/>
        </p:spPr>
        <p:txBody>
          <a:bodyPr wrap="square" lIns="0" tIns="0" rIns="0" bIns="0" rtlCol="0" anchor="ctr"/>
          <a:lstStyle/>
          <a:p>
            <a:pPr algn="ctr" indent="0" marL="0">
              <a:buNone/>
            </a:pPr>
            <a:r>
              <a:rPr lang="en-US" sz="1500" b="1" dirty="0">
                <a:solidFill>
                  <a:srgbClr val="0F2B3D"/>
                </a:solidFill>
                <a:latin typeface="Cambria" pitchFamily="34" charset="0"/>
                <a:ea typeface="Cambria" pitchFamily="34" charset="-122"/>
                <a:cs typeface="Cambria" pitchFamily="34" charset="-120"/>
              </a:rPr>
              <a:t>Time</a:t>
            </a:r>
            <a:endParaRPr lang="en-US" sz="1500" dirty="0"/>
          </a:p>
        </p:txBody>
      </p:sp>
      <p:sp>
        <p:nvSpPr>
          <p:cNvPr id="29" name="Text 27"/>
          <p:cNvSpPr txBox="1"/>
          <p:nvPr/>
        </p:nvSpPr>
        <p:spPr>
          <a:xfrm>
            <a:off x="5422392" y="2615184"/>
            <a:ext cx="1243584" cy="731520"/>
          </a:xfrm>
          <a:prstGeom prst="rect">
            <a:avLst/>
          </a:prstGeom>
          <a:noFill/>
          <a:ln/>
        </p:spPr>
        <p:txBody>
          <a:bodyPr wrap="square" lIns="0" tIns="0" rIns="0" bIns="0" rtlCol="0" anchor="ctr"/>
          <a:lstStyle/>
          <a:p>
            <a:pPr algn="ctr" indent="0" marL="0">
              <a:lnSpc>
                <a:spcPts val="1400"/>
              </a:lnSpc>
              <a:buNone/>
            </a:pPr>
            <a:r>
              <a:rPr lang="en-US" sz="1100" dirty="0">
                <a:solidFill>
                  <a:srgbClr val="1E293B"/>
                </a:solidFill>
                <a:latin typeface="Calibri" pitchFamily="34" charset="0"/>
                <a:ea typeface="Calibri" pitchFamily="34" charset="-122"/>
                <a:cs typeface="Calibri" pitchFamily="34" charset="-120"/>
              </a:rPr>
              <a:t>Drug start → event onset</a:t>
            </a:r>
            <a:endParaRPr lang="en-US" sz="1100" dirty="0"/>
          </a:p>
        </p:txBody>
      </p:sp>
      <p:sp>
        <p:nvSpPr>
          <p:cNvPr id="30" name="Text 28"/>
          <p:cNvSpPr txBox="1"/>
          <p:nvPr/>
        </p:nvSpPr>
        <p:spPr>
          <a:xfrm>
            <a:off x="5422392" y="3401568"/>
            <a:ext cx="1243584" cy="777240"/>
          </a:xfrm>
          <a:prstGeom prst="rect">
            <a:avLst/>
          </a:prstGeom>
          <a:noFill/>
          <a:ln/>
        </p:spPr>
        <p:txBody>
          <a:bodyPr wrap="square" lIns="0" tIns="0" rIns="0" bIns="0" rtlCol="0" anchor="ctr"/>
          <a:lstStyle/>
          <a:p>
            <a:pPr algn="ctr" indent="0" marL="0">
              <a:lnSpc>
                <a:spcPts val="1300"/>
              </a:lnSpc>
              <a:buNone/>
            </a:pPr>
            <a:r>
              <a:rPr lang="en-US" sz="1000" i="1" dirty="0">
                <a:solidFill>
                  <a:srgbClr val="64748B"/>
                </a:solidFill>
                <a:latin typeface="Calibri" pitchFamily="34" charset="0"/>
                <a:ea typeface="Calibri" pitchFamily="34" charset="-122"/>
                <a:cs typeface="Calibri" pitchFamily="34" charset="-120"/>
              </a:rPr>
              <a:t>Does more work than anything else</a:t>
            </a:r>
            <a:endParaRPr lang="en-US" sz="1000" dirty="0"/>
          </a:p>
        </p:txBody>
      </p:sp>
      <p:sp>
        <p:nvSpPr>
          <p:cNvPr id="31" name="Text 29"/>
          <p:cNvSpPr txBox="1"/>
          <p:nvPr/>
        </p:nvSpPr>
        <p:spPr>
          <a:xfrm>
            <a:off x="6757416" y="2651760"/>
            <a:ext cx="182880" cy="274320"/>
          </a:xfrm>
          <a:prstGeom prst="rect">
            <a:avLst/>
          </a:prstGeom>
          <a:noFill/>
          <a:ln/>
        </p:spPr>
        <p:txBody>
          <a:bodyPr wrap="square" lIns="0" tIns="0" rIns="0" bIns="0" rtlCol="0" anchor="ctr"/>
          <a:lstStyle/>
          <a:p>
            <a:pPr algn="ctr" indent="0" marL="0">
              <a:buNone/>
            </a:pPr>
            <a:r>
              <a:rPr lang="en-US" sz="1800" dirty="0">
                <a:solidFill>
                  <a:srgbClr val="94A3B8"/>
                </a:solidFill>
                <a:latin typeface="Calibri" pitchFamily="34" charset="0"/>
                <a:ea typeface="Calibri" pitchFamily="34" charset="-122"/>
                <a:cs typeface="Calibri" pitchFamily="34" charset="-120"/>
              </a:rPr>
              <a:t>›</a:t>
            </a:r>
            <a:endParaRPr lang="en-US" sz="1800" dirty="0"/>
          </a:p>
        </p:txBody>
      </p:sp>
      <p:sp>
        <p:nvSpPr>
          <p:cNvPr id="32" name="Shape 30"/>
          <p:cNvSpPr/>
          <p:nvPr/>
        </p:nvSpPr>
        <p:spPr>
          <a:xfrm>
            <a:off x="6894576" y="1554480"/>
            <a:ext cx="1463040" cy="2743200"/>
          </a:xfrm>
          <a:prstGeom prst="roundRect">
            <a:avLst>
              <a:gd name="adj" fmla="val 3750"/>
            </a:avLst>
          </a:prstGeom>
          <a:solidFill>
            <a:srgbClr val="F1F5F9"/>
          </a:solidFill>
          <a:ln w="12700">
            <a:solidFill>
              <a:srgbClr val="E2E8F0"/>
            </a:solidFill>
            <a:prstDash val="solid"/>
          </a:ln>
        </p:spPr>
      </p:sp>
      <p:sp>
        <p:nvSpPr>
          <p:cNvPr id="33" name="Shape 31"/>
          <p:cNvSpPr/>
          <p:nvPr/>
        </p:nvSpPr>
        <p:spPr>
          <a:xfrm>
            <a:off x="7424928" y="1755648"/>
            <a:ext cx="402336" cy="402336"/>
          </a:xfrm>
          <a:prstGeom prst="ellipse">
            <a:avLst/>
          </a:prstGeom>
          <a:solidFill>
            <a:srgbClr val="0E7490"/>
          </a:solidFill>
          <a:ln/>
        </p:spPr>
      </p:sp>
      <p:sp>
        <p:nvSpPr>
          <p:cNvPr id="34" name="Text 32"/>
          <p:cNvSpPr txBox="1"/>
          <p:nvPr/>
        </p:nvSpPr>
        <p:spPr>
          <a:xfrm>
            <a:off x="7424928" y="1755648"/>
            <a:ext cx="402336" cy="40233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35" name="Text 33"/>
          <p:cNvSpPr txBox="1"/>
          <p:nvPr/>
        </p:nvSpPr>
        <p:spPr>
          <a:xfrm>
            <a:off x="6967728" y="2267712"/>
            <a:ext cx="1316736" cy="310896"/>
          </a:xfrm>
          <a:prstGeom prst="rect">
            <a:avLst/>
          </a:prstGeom>
          <a:noFill/>
          <a:ln/>
        </p:spPr>
        <p:txBody>
          <a:bodyPr wrap="square" lIns="0" tIns="0" rIns="0" bIns="0" rtlCol="0" anchor="ctr"/>
          <a:lstStyle/>
          <a:p>
            <a:pPr algn="ctr" indent="0" marL="0">
              <a:buNone/>
            </a:pPr>
            <a:r>
              <a:rPr lang="en-US" sz="1500" b="1" dirty="0">
                <a:solidFill>
                  <a:srgbClr val="0F2B3D"/>
                </a:solidFill>
                <a:latin typeface="Cambria" pitchFamily="34" charset="0"/>
                <a:ea typeface="Cambria" pitchFamily="34" charset="-122"/>
                <a:cs typeface="Cambria" pitchFamily="34" charset="-120"/>
              </a:rPr>
              <a:t>Event</a:t>
            </a:r>
            <a:endParaRPr lang="en-US" sz="1500" dirty="0"/>
          </a:p>
        </p:txBody>
      </p:sp>
      <p:sp>
        <p:nvSpPr>
          <p:cNvPr id="36" name="Text 34"/>
          <p:cNvSpPr txBox="1"/>
          <p:nvPr/>
        </p:nvSpPr>
        <p:spPr>
          <a:xfrm>
            <a:off x="7004304" y="2615184"/>
            <a:ext cx="1243584" cy="731520"/>
          </a:xfrm>
          <a:prstGeom prst="rect">
            <a:avLst/>
          </a:prstGeom>
          <a:noFill/>
          <a:ln/>
        </p:spPr>
        <p:txBody>
          <a:bodyPr wrap="square" lIns="0" tIns="0" rIns="0" bIns="0" rtlCol="0" anchor="ctr"/>
          <a:lstStyle/>
          <a:p>
            <a:pPr algn="ctr" indent="0" marL="0">
              <a:lnSpc>
                <a:spcPts val="1400"/>
              </a:lnSpc>
              <a:buNone/>
            </a:pPr>
            <a:r>
              <a:rPr lang="en-US" sz="1100" dirty="0">
                <a:solidFill>
                  <a:srgbClr val="1E293B"/>
                </a:solidFill>
                <a:latin typeface="Calibri" pitchFamily="34" charset="0"/>
                <a:ea typeface="Calibri" pitchFamily="34" charset="-122"/>
                <a:cs typeface="Calibri" pitchFamily="34" charset="-120"/>
              </a:rPr>
              <a:t>What happened, verbatim</a:t>
            </a:r>
            <a:endParaRPr lang="en-US" sz="1100" dirty="0"/>
          </a:p>
        </p:txBody>
      </p:sp>
      <p:sp>
        <p:nvSpPr>
          <p:cNvPr id="37" name="Text 35"/>
          <p:cNvSpPr txBox="1"/>
          <p:nvPr/>
        </p:nvSpPr>
        <p:spPr>
          <a:xfrm>
            <a:off x="7004304" y="3401568"/>
            <a:ext cx="1243584" cy="777240"/>
          </a:xfrm>
          <a:prstGeom prst="rect">
            <a:avLst/>
          </a:prstGeom>
          <a:noFill/>
          <a:ln/>
        </p:spPr>
        <p:txBody>
          <a:bodyPr wrap="square" lIns="0" tIns="0" rIns="0" bIns="0" rtlCol="0" anchor="ctr"/>
          <a:lstStyle/>
          <a:p>
            <a:pPr algn="ctr" indent="0" marL="0">
              <a:lnSpc>
                <a:spcPts val="1300"/>
              </a:lnSpc>
              <a:buNone/>
            </a:pPr>
            <a:r>
              <a:rPr lang="en-US" sz="1000" i="1" dirty="0">
                <a:solidFill>
                  <a:srgbClr val="64748B"/>
                </a:solidFill>
                <a:latin typeface="Calibri" pitchFamily="34" charset="0"/>
                <a:ea typeface="Calibri" pitchFamily="34" charset="-122"/>
                <a:cs typeface="Calibri" pitchFamily="34" charset="-120"/>
              </a:rPr>
              <a:t>Record the words before you code them</a:t>
            </a:r>
            <a:endParaRPr lang="en-US" sz="1000" dirty="0"/>
          </a:p>
        </p:txBody>
      </p:sp>
      <p:sp>
        <p:nvSpPr>
          <p:cNvPr id="38" name="Text 36"/>
          <p:cNvSpPr txBox="1"/>
          <p:nvPr/>
        </p:nvSpPr>
        <p:spPr>
          <a:xfrm>
            <a:off x="8339328" y="2651760"/>
            <a:ext cx="182880" cy="274320"/>
          </a:xfrm>
          <a:prstGeom prst="rect">
            <a:avLst/>
          </a:prstGeom>
          <a:noFill/>
          <a:ln/>
        </p:spPr>
        <p:txBody>
          <a:bodyPr wrap="square" lIns="0" tIns="0" rIns="0" bIns="0" rtlCol="0" anchor="ctr"/>
          <a:lstStyle/>
          <a:p>
            <a:pPr algn="ctr" indent="0" marL="0">
              <a:buNone/>
            </a:pPr>
            <a:r>
              <a:rPr lang="en-US" sz="1800" dirty="0">
                <a:solidFill>
                  <a:srgbClr val="94A3B8"/>
                </a:solidFill>
                <a:latin typeface="Calibri" pitchFamily="34" charset="0"/>
                <a:ea typeface="Calibri" pitchFamily="34" charset="-122"/>
                <a:cs typeface="Calibri" pitchFamily="34" charset="-120"/>
              </a:rPr>
              <a:t>›</a:t>
            </a:r>
            <a:endParaRPr lang="en-US" sz="1800" dirty="0"/>
          </a:p>
        </p:txBody>
      </p:sp>
      <p:sp>
        <p:nvSpPr>
          <p:cNvPr id="39" name="Shape 37"/>
          <p:cNvSpPr/>
          <p:nvPr/>
        </p:nvSpPr>
        <p:spPr>
          <a:xfrm>
            <a:off x="8476488" y="1554480"/>
            <a:ext cx="1463040" cy="2743200"/>
          </a:xfrm>
          <a:prstGeom prst="roundRect">
            <a:avLst>
              <a:gd name="adj" fmla="val 3750"/>
            </a:avLst>
          </a:prstGeom>
          <a:solidFill>
            <a:srgbClr val="F1F5F9"/>
          </a:solidFill>
          <a:ln w="12700">
            <a:solidFill>
              <a:srgbClr val="E2E8F0"/>
            </a:solidFill>
            <a:prstDash val="solid"/>
          </a:ln>
        </p:spPr>
      </p:sp>
      <p:sp>
        <p:nvSpPr>
          <p:cNvPr id="40" name="Shape 38"/>
          <p:cNvSpPr/>
          <p:nvPr/>
        </p:nvSpPr>
        <p:spPr>
          <a:xfrm>
            <a:off x="9006840" y="1755648"/>
            <a:ext cx="402336" cy="402336"/>
          </a:xfrm>
          <a:prstGeom prst="ellipse">
            <a:avLst/>
          </a:prstGeom>
          <a:solidFill>
            <a:srgbClr val="0E7490"/>
          </a:solidFill>
          <a:ln/>
        </p:spPr>
      </p:sp>
      <p:sp>
        <p:nvSpPr>
          <p:cNvPr id="41" name="Text 39"/>
          <p:cNvSpPr txBox="1"/>
          <p:nvPr/>
        </p:nvSpPr>
        <p:spPr>
          <a:xfrm>
            <a:off x="9006840" y="1755648"/>
            <a:ext cx="402336" cy="40233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6</a:t>
            </a:r>
            <a:endParaRPr lang="en-US" sz="1200" dirty="0"/>
          </a:p>
        </p:txBody>
      </p:sp>
      <p:sp>
        <p:nvSpPr>
          <p:cNvPr id="42" name="Text 40"/>
          <p:cNvSpPr txBox="1"/>
          <p:nvPr/>
        </p:nvSpPr>
        <p:spPr>
          <a:xfrm>
            <a:off x="8549640" y="2267712"/>
            <a:ext cx="1316736" cy="310896"/>
          </a:xfrm>
          <a:prstGeom prst="rect">
            <a:avLst/>
          </a:prstGeom>
          <a:noFill/>
          <a:ln/>
        </p:spPr>
        <p:txBody>
          <a:bodyPr wrap="square" lIns="0" tIns="0" rIns="0" bIns="0" rtlCol="0" anchor="ctr"/>
          <a:lstStyle/>
          <a:p>
            <a:pPr algn="ctr" indent="0" marL="0">
              <a:buNone/>
            </a:pPr>
            <a:r>
              <a:rPr lang="en-US" sz="1500" b="1" dirty="0">
                <a:solidFill>
                  <a:srgbClr val="0F2B3D"/>
                </a:solidFill>
                <a:latin typeface="Cambria" pitchFamily="34" charset="0"/>
                <a:ea typeface="Cambria" pitchFamily="34" charset="-122"/>
                <a:cs typeface="Cambria" pitchFamily="34" charset="-120"/>
              </a:rPr>
              <a:t>Action</a:t>
            </a:r>
            <a:endParaRPr lang="en-US" sz="1500" dirty="0"/>
          </a:p>
        </p:txBody>
      </p:sp>
      <p:sp>
        <p:nvSpPr>
          <p:cNvPr id="43" name="Text 41"/>
          <p:cNvSpPr txBox="1"/>
          <p:nvPr/>
        </p:nvSpPr>
        <p:spPr>
          <a:xfrm>
            <a:off x="8586216" y="2615184"/>
            <a:ext cx="1243584" cy="731520"/>
          </a:xfrm>
          <a:prstGeom prst="rect">
            <a:avLst/>
          </a:prstGeom>
          <a:noFill/>
          <a:ln/>
        </p:spPr>
        <p:txBody>
          <a:bodyPr wrap="square" lIns="0" tIns="0" rIns="0" bIns="0" rtlCol="0" anchor="ctr"/>
          <a:lstStyle/>
          <a:p>
            <a:pPr algn="ctr" indent="0" marL="0">
              <a:lnSpc>
                <a:spcPts val="1400"/>
              </a:lnSpc>
              <a:buNone/>
            </a:pPr>
            <a:r>
              <a:rPr lang="en-US" sz="1100" dirty="0">
                <a:solidFill>
                  <a:srgbClr val="1E293B"/>
                </a:solidFill>
                <a:latin typeface="Calibri" pitchFamily="34" charset="0"/>
                <a:ea typeface="Calibri" pitchFamily="34" charset="-122"/>
                <a:cs typeface="Calibri" pitchFamily="34" charset="-120"/>
              </a:rPr>
              <a:t>Withdrawn, reduced, unchanged</a:t>
            </a:r>
            <a:endParaRPr lang="en-US" sz="1100" dirty="0"/>
          </a:p>
        </p:txBody>
      </p:sp>
      <p:sp>
        <p:nvSpPr>
          <p:cNvPr id="44" name="Text 42"/>
          <p:cNvSpPr txBox="1"/>
          <p:nvPr/>
        </p:nvSpPr>
        <p:spPr>
          <a:xfrm>
            <a:off x="8586216" y="3401568"/>
            <a:ext cx="1243584" cy="777240"/>
          </a:xfrm>
          <a:prstGeom prst="rect">
            <a:avLst/>
          </a:prstGeom>
          <a:noFill/>
          <a:ln/>
        </p:spPr>
        <p:txBody>
          <a:bodyPr wrap="square" lIns="0" tIns="0" rIns="0" bIns="0" rtlCol="0" anchor="ctr"/>
          <a:lstStyle/>
          <a:p>
            <a:pPr algn="ctr" indent="0" marL="0">
              <a:lnSpc>
                <a:spcPts val="1300"/>
              </a:lnSpc>
              <a:buNone/>
            </a:pPr>
            <a:r>
              <a:rPr lang="en-US" sz="1000" i="1" dirty="0">
                <a:solidFill>
                  <a:srgbClr val="64748B"/>
                </a:solidFill>
                <a:latin typeface="Calibri" pitchFamily="34" charset="0"/>
                <a:ea typeface="Calibri" pitchFamily="34" charset="-122"/>
                <a:cs typeface="Calibri" pitchFamily="34" charset="-120"/>
              </a:rPr>
              <a:t>Sets up the dechallenge</a:t>
            </a:r>
            <a:endParaRPr lang="en-US" sz="1000" dirty="0"/>
          </a:p>
        </p:txBody>
      </p:sp>
      <p:sp>
        <p:nvSpPr>
          <p:cNvPr id="45" name="Text 43"/>
          <p:cNvSpPr txBox="1"/>
          <p:nvPr/>
        </p:nvSpPr>
        <p:spPr>
          <a:xfrm>
            <a:off x="9921240" y="2651760"/>
            <a:ext cx="182880" cy="274320"/>
          </a:xfrm>
          <a:prstGeom prst="rect">
            <a:avLst/>
          </a:prstGeom>
          <a:noFill/>
          <a:ln/>
        </p:spPr>
        <p:txBody>
          <a:bodyPr wrap="square" lIns="0" tIns="0" rIns="0" bIns="0" rtlCol="0" anchor="ctr"/>
          <a:lstStyle/>
          <a:p>
            <a:pPr algn="ctr" indent="0" marL="0">
              <a:buNone/>
            </a:pPr>
            <a:r>
              <a:rPr lang="en-US" sz="1800" dirty="0">
                <a:solidFill>
                  <a:srgbClr val="94A3B8"/>
                </a:solidFill>
                <a:latin typeface="Calibri" pitchFamily="34" charset="0"/>
                <a:ea typeface="Calibri" pitchFamily="34" charset="-122"/>
                <a:cs typeface="Calibri" pitchFamily="34" charset="-120"/>
              </a:rPr>
              <a:t>›</a:t>
            </a:r>
            <a:endParaRPr lang="en-US" sz="1800" dirty="0"/>
          </a:p>
        </p:txBody>
      </p:sp>
      <p:sp>
        <p:nvSpPr>
          <p:cNvPr id="46" name="Shape 44"/>
          <p:cNvSpPr/>
          <p:nvPr/>
        </p:nvSpPr>
        <p:spPr>
          <a:xfrm>
            <a:off x="10058400" y="1554480"/>
            <a:ext cx="1463040" cy="2743200"/>
          </a:xfrm>
          <a:prstGeom prst="roundRect">
            <a:avLst>
              <a:gd name="adj" fmla="val 3750"/>
            </a:avLst>
          </a:prstGeom>
          <a:solidFill>
            <a:srgbClr val="F1F5F9"/>
          </a:solidFill>
          <a:ln w="12700">
            <a:solidFill>
              <a:srgbClr val="E2E8F0"/>
            </a:solidFill>
            <a:prstDash val="solid"/>
          </a:ln>
        </p:spPr>
      </p:sp>
      <p:sp>
        <p:nvSpPr>
          <p:cNvPr id="47" name="Shape 45"/>
          <p:cNvSpPr/>
          <p:nvPr/>
        </p:nvSpPr>
        <p:spPr>
          <a:xfrm>
            <a:off x="10588752" y="1755648"/>
            <a:ext cx="402336" cy="402336"/>
          </a:xfrm>
          <a:prstGeom prst="ellipse">
            <a:avLst/>
          </a:prstGeom>
          <a:solidFill>
            <a:srgbClr val="0E7490"/>
          </a:solidFill>
          <a:ln/>
        </p:spPr>
      </p:sp>
      <p:sp>
        <p:nvSpPr>
          <p:cNvPr id="48" name="Text 46"/>
          <p:cNvSpPr txBox="1"/>
          <p:nvPr/>
        </p:nvSpPr>
        <p:spPr>
          <a:xfrm>
            <a:off x="10588752" y="1755648"/>
            <a:ext cx="402336" cy="40233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7</a:t>
            </a:r>
            <a:endParaRPr lang="en-US" sz="1200" dirty="0"/>
          </a:p>
        </p:txBody>
      </p:sp>
      <p:sp>
        <p:nvSpPr>
          <p:cNvPr id="49" name="Text 47"/>
          <p:cNvSpPr txBox="1"/>
          <p:nvPr/>
        </p:nvSpPr>
        <p:spPr>
          <a:xfrm>
            <a:off x="10131552" y="2267712"/>
            <a:ext cx="1316736" cy="310896"/>
          </a:xfrm>
          <a:prstGeom prst="rect">
            <a:avLst/>
          </a:prstGeom>
          <a:noFill/>
          <a:ln/>
        </p:spPr>
        <p:txBody>
          <a:bodyPr wrap="square" lIns="0" tIns="0" rIns="0" bIns="0" rtlCol="0" anchor="ctr"/>
          <a:lstStyle/>
          <a:p>
            <a:pPr algn="ctr" indent="0" marL="0">
              <a:buNone/>
            </a:pPr>
            <a:r>
              <a:rPr lang="en-US" sz="1500" b="1" dirty="0">
                <a:solidFill>
                  <a:srgbClr val="0F2B3D"/>
                </a:solidFill>
                <a:latin typeface="Cambria" pitchFamily="34" charset="0"/>
                <a:ea typeface="Cambria" pitchFamily="34" charset="-122"/>
                <a:cs typeface="Cambria" pitchFamily="34" charset="-120"/>
              </a:rPr>
              <a:t>Outcome</a:t>
            </a:r>
            <a:endParaRPr lang="en-US" sz="1500" dirty="0"/>
          </a:p>
        </p:txBody>
      </p:sp>
      <p:sp>
        <p:nvSpPr>
          <p:cNvPr id="50" name="Text 48"/>
          <p:cNvSpPr txBox="1"/>
          <p:nvPr/>
        </p:nvSpPr>
        <p:spPr>
          <a:xfrm>
            <a:off x="10168128" y="2615184"/>
            <a:ext cx="1243584" cy="731520"/>
          </a:xfrm>
          <a:prstGeom prst="rect">
            <a:avLst/>
          </a:prstGeom>
          <a:noFill/>
          <a:ln/>
        </p:spPr>
        <p:txBody>
          <a:bodyPr wrap="square" lIns="0" tIns="0" rIns="0" bIns="0" rtlCol="0" anchor="ctr"/>
          <a:lstStyle/>
          <a:p>
            <a:pPr algn="ctr" indent="0" marL="0">
              <a:lnSpc>
                <a:spcPts val="1400"/>
              </a:lnSpc>
              <a:buNone/>
            </a:pPr>
            <a:r>
              <a:rPr lang="en-US" sz="1100" dirty="0">
                <a:solidFill>
                  <a:srgbClr val="1E293B"/>
                </a:solidFill>
                <a:latin typeface="Calibri" pitchFamily="34" charset="0"/>
                <a:ea typeface="Calibri" pitchFamily="34" charset="-122"/>
                <a:cs typeface="Calibri" pitchFamily="34" charset="-120"/>
              </a:rPr>
              <a:t>Recovered, recovering, fatal…</a:t>
            </a:r>
            <a:endParaRPr lang="en-US" sz="1100" dirty="0"/>
          </a:p>
        </p:txBody>
      </p:sp>
      <p:sp>
        <p:nvSpPr>
          <p:cNvPr id="51" name="Text 49"/>
          <p:cNvSpPr txBox="1"/>
          <p:nvPr/>
        </p:nvSpPr>
        <p:spPr>
          <a:xfrm>
            <a:off x="10168128" y="3401568"/>
            <a:ext cx="1243584" cy="777240"/>
          </a:xfrm>
          <a:prstGeom prst="rect">
            <a:avLst/>
          </a:prstGeom>
          <a:noFill/>
          <a:ln/>
        </p:spPr>
        <p:txBody>
          <a:bodyPr wrap="square" lIns="0" tIns="0" rIns="0" bIns="0" rtlCol="0" anchor="ctr"/>
          <a:lstStyle/>
          <a:p>
            <a:pPr algn="ctr" indent="0" marL="0">
              <a:lnSpc>
                <a:spcPts val="1300"/>
              </a:lnSpc>
              <a:buNone/>
            </a:pPr>
            <a:r>
              <a:rPr lang="en-US" sz="1000" i="1" dirty="0">
                <a:solidFill>
                  <a:srgbClr val="64748B"/>
                </a:solidFill>
                <a:latin typeface="Calibri" pitchFamily="34" charset="0"/>
                <a:ea typeface="Calibri" pitchFamily="34" charset="-122"/>
                <a:cs typeface="Calibri" pitchFamily="34" charset="-120"/>
              </a:rPr>
              <a:t>The field most often left blank</a:t>
            </a:r>
            <a:endParaRPr lang="en-US" sz="1000" dirty="0"/>
          </a:p>
        </p:txBody>
      </p:sp>
      <p:sp>
        <p:nvSpPr>
          <p:cNvPr id="52" name="Shape 50"/>
          <p:cNvSpPr/>
          <p:nvPr/>
        </p:nvSpPr>
        <p:spPr>
          <a:xfrm>
            <a:off x="566928" y="4572000"/>
            <a:ext cx="11027664" cy="1051560"/>
          </a:xfrm>
          <a:prstGeom prst="roundRect">
            <a:avLst>
              <a:gd name="adj" fmla="val 5217"/>
            </a:avLst>
          </a:prstGeom>
          <a:solidFill>
            <a:srgbClr val="ECFEFF"/>
          </a:solidFill>
          <a:ln w="12700">
            <a:solidFill>
              <a:srgbClr val="E2E8F0"/>
            </a:solidFill>
            <a:prstDash val="solid"/>
          </a:ln>
        </p:spPr>
      </p:sp>
      <p:sp>
        <p:nvSpPr>
          <p:cNvPr id="53" name="Text 51"/>
          <p:cNvSpPr txBox="1"/>
          <p:nvPr/>
        </p:nvSpPr>
        <p:spPr>
          <a:xfrm>
            <a:off x="886968" y="4800600"/>
            <a:ext cx="10424160" cy="640080"/>
          </a:xfrm>
          <a:prstGeom prst="rect">
            <a:avLst/>
          </a:prstGeom>
          <a:noFill/>
          <a:ln/>
        </p:spPr>
        <p:txBody>
          <a:bodyPr wrap="square" lIns="0" tIns="0" rIns="0" bIns="0" rtlCol="0" anchor="ctr"/>
          <a:lstStyle/>
          <a:p>
            <a:pPr indent="0" marL="0">
              <a:lnSpc>
                <a:spcPts val="2000"/>
              </a:lnSpc>
              <a:buNone/>
            </a:pPr>
            <a:r>
              <a:rPr lang="en-US" sz="1400" dirty="0">
                <a:solidFill>
                  <a:srgbClr val="0C4A6E"/>
                </a:solidFill>
                <a:latin typeface="Calibri" pitchFamily="34" charset="0"/>
                <a:ea typeface="Calibri" pitchFamily="34" charset="-122"/>
                <a:cs typeface="Calibri" pitchFamily="34" charset="-120"/>
              </a:rPr>
              <a:t>Learn that sequence. It is the order a report is built in, the order you should ask questions in, and the order the rest of this workshop follows.</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84048"/>
            <a:ext cx="10058400" cy="256032"/>
          </a:xfrm>
          <a:prstGeom prst="rect">
            <a:avLst/>
          </a:prstGeom>
          <a:noFill/>
          <a:ln/>
        </p:spPr>
        <p:txBody>
          <a:bodyPr wrap="square" lIns="0" tIns="0" rIns="0" bIns="0" rtlCol="0" anchor="ctr"/>
          <a:lstStyle/>
          <a:p>
            <a:pPr indent="0" marL="0">
              <a:buNone/>
            </a:pPr>
            <a:r>
              <a:rPr lang="en-US" sz="1100" b="1" spc="250" kern="0" dirty="0">
                <a:solidFill>
                  <a:srgbClr val="0E7490"/>
                </a:solidFill>
                <a:latin typeface="Calibri" pitchFamily="34" charset="0"/>
                <a:ea typeface="Calibri" pitchFamily="34" charset="-122"/>
                <a:cs typeface="Calibri" pitchFamily="34" charset="-120"/>
              </a:rPr>
              <a:t>A worked narrative</a:t>
            </a:r>
            <a:endParaRPr lang="en-US" sz="1100" dirty="0"/>
          </a:p>
        </p:txBody>
      </p:sp>
      <p:sp>
        <p:nvSpPr>
          <p:cNvPr id="3" name="Text 1"/>
          <p:cNvSpPr txBox="1"/>
          <p:nvPr/>
        </p:nvSpPr>
        <p:spPr>
          <a:xfrm>
            <a:off x="566928" y="640080"/>
            <a:ext cx="11064240" cy="548640"/>
          </a:xfrm>
          <a:prstGeom prst="rect">
            <a:avLst/>
          </a:prstGeom>
          <a:noFill/>
          <a:ln/>
        </p:spPr>
        <p:txBody>
          <a:bodyPr wrap="square" lIns="0" tIns="0" rIns="0" bIns="0" rtlCol="0" anchor="t"/>
          <a:lstStyle/>
          <a:p>
            <a:pPr indent="0" marL="0">
              <a:lnSpc>
                <a:spcPts val="3800"/>
              </a:lnSpc>
              <a:buNone/>
            </a:pPr>
            <a:r>
              <a:rPr lang="en-US" sz="3100" b="1" dirty="0">
                <a:solidFill>
                  <a:srgbClr val="0F2B3D"/>
                </a:solidFill>
                <a:latin typeface="Cambria" pitchFamily="34" charset="0"/>
                <a:ea typeface="Cambria" pitchFamily="34" charset="-122"/>
                <a:cs typeface="Cambria" pitchFamily="34" charset="-120"/>
              </a:rPr>
              <a:t>Pull the seven elements out of this</a:t>
            </a:r>
            <a:endParaRPr lang="en-US" sz="3100" dirty="0"/>
          </a:p>
        </p:txBody>
      </p:sp>
      <p:sp>
        <p:nvSpPr>
          <p:cNvPr id="4" name="Shape 2"/>
          <p:cNvSpPr/>
          <p:nvPr/>
        </p:nvSpPr>
        <p:spPr>
          <a:xfrm>
            <a:off x="566928" y="1463040"/>
            <a:ext cx="11027664" cy="1371600"/>
          </a:xfrm>
          <a:prstGeom prst="roundRect">
            <a:avLst>
              <a:gd name="adj" fmla="val 4000"/>
            </a:avLst>
          </a:prstGeom>
          <a:solidFill>
            <a:srgbClr val="F1F5F9"/>
          </a:solidFill>
          <a:ln w="12700">
            <a:solidFill>
              <a:srgbClr val="E2E8F0"/>
            </a:solidFill>
            <a:prstDash val="solid"/>
          </a:ln>
        </p:spPr>
      </p:sp>
      <p:sp>
        <p:nvSpPr>
          <p:cNvPr id="5" name="Text 3"/>
          <p:cNvSpPr txBox="1"/>
          <p:nvPr/>
        </p:nvSpPr>
        <p:spPr>
          <a:xfrm>
            <a:off x="886968" y="1664208"/>
            <a:ext cx="10424160" cy="1005840"/>
          </a:xfrm>
          <a:prstGeom prst="rect">
            <a:avLst/>
          </a:prstGeom>
          <a:noFill/>
          <a:ln/>
        </p:spPr>
        <p:txBody>
          <a:bodyPr wrap="square" lIns="0" tIns="0" rIns="0" bIns="0" rtlCol="0" anchor="ctr"/>
          <a:lstStyle/>
          <a:p>
            <a:pPr indent="0" marL="0">
              <a:lnSpc>
                <a:spcPts val="2700"/>
              </a:lnSpc>
              <a:buNone/>
            </a:pPr>
            <a:r>
              <a:rPr lang="en-US" sz="1600" b="1" dirty="0">
                <a:solidFill>
                  <a:srgbClr val="C40D16"/>
                </a:solidFill>
                <a:latin typeface="Calibri" pitchFamily="34" charset="0"/>
                <a:ea typeface="Calibri" pitchFamily="34" charset="-122"/>
                <a:cs typeface="Calibri" pitchFamily="34" charset="-120"/>
              </a:rPr>
              <a:t>A 22-year-old female </a:t>
            </a:r>
            <a:pPr indent="0" marL="0">
              <a:lnSpc>
                <a:spcPts val="2700"/>
              </a:lnSpc>
              <a:buNone/>
            </a:pPr>
            <a:r>
              <a:rPr lang="en-US" sz="1600" dirty="0">
                <a:solidFill>
                  <a:srgbClr val="1E293B"/>
                </a:solidFill>
                <a:latin typeface="Calibri" pitchFamily="34" charset="0"/>
                <a:ea typeface="Calibri" pitchFamily="34" charset="-122"/>
                <a:cs typeface="Calibri" pitchFamily="34" charset="-120"/>
              </a:rPr>
              <a:t>was prescribed </a:t>
            </a:r>
            <a:pPr indent="0" marL="0">
              <a:lnSpc>
                <a:spcPts val="2700"/>
              </a:lnSpc>
              <a:buNone/>
            </a:pPr>
            <a:r>
              <a:rPr lang="en-US" sz="1600" b="1" dirty="0">
                <a:solidFill>
                  <a:srgbClr val="0E7490"/>
                </a:solidFill>
                <a:latin typeface="Calibri" pitchFamily="34" charset="0"/>
                <a:ea typeface="Calibri" pitchFamily="34" charset="-122"/>
                <a:cs typeface="Calibri" pitchFamily="34" charset="-120"/>
              </a:rPr>
              <a:t>amoxicillin 500 mg three times a day </a:t>
            </a:r>
            <a:pPr indent="0" marL="0">
              <a:lnSpc>
                <a:spcPts val="2700"/>
              </a:lnSpc>
              <a:buNone/>
            </a:pPr>
            <a:r>
              <a:rPr lang="en-US" sz="1600" b="1" dirty="0">
                <a:solidFill>
                  <a:srgbClr val="7C3AED"/>
                </a:solidFill>
                <a:latin typeface="Calibri" pitchFamily="34" charset="0"/>
                <a:ea typeface="Calibri" pitchFamily="34" charset="-122"/>
                <a:cs typeface="Calibri" pitchFamily="34" charset="-120"/>
              </a:rPr>
              <a:t>for a throat infection. </a:t>
            </a:r>
            <a:pPr indent="0" marL="0">
              <a:lnSpc>
                <a:spcPts val="2700"/>
              </a:lnSpc>
              <a:buNone/>
            </a:pPr>
            <a:r>
              <a:rPr lang="en-US" sz="1600" b="1" dirty="0">
                <a:solidFill>
                  <a:srgbClr val="B45309"/>
                </a:solidFill>
                <a:latin typeface="Calibri" pitchFamily="34" charset="0"/>
                <a:ea typeface="Calibri" pitchFamily="34" charset="-122"/>
                <a:cs typeface="Calibri" pitchFamily="34" charset="-120"/>
              </a:rPr>
              <a:t>Two days after starting treatment, </a:t>
            </a:r>
            <a:pPr indent="0" marL="0">
              <a:lnSpc>
                <a:spcPts val="2700"/>
              </a:lnSpc>
              <a:buNone/>
            </a:pPr>
            <a:r>
              <a:rPr lang="en-US" sz="1600" dirty="0">
                <a:solidFill>
                  <a:srgbClr val="1E293B"/>
                </a:solidFill>
                <a:latin typeface="Calibri" pitchFamily="34" charset="0"/>
                <a:ea typeface="Calibri" pitchFamily="34" charset="-122"/>
                <a:cs typeface="Calibri" pitchFamily="34" charset="-120"/>
              </a:rPr>
              <a:t>she developed </a:t>
            </a:r>
            <a:pPr indent="0" marL="0">
              <a:lnSpc>
                <a:spcPts val="2700"/>
              </a:lnSpc>
              <a:buNone/>
            </a:pPr>
            <a:r>
              <a:rPr lang="en-US" sz="1600" b="1" dirty="0">
                <a:solidFill>
                  <a:srgbClr val="B91C1C"/>
                </a:solidFill>
                <a:latin typeface="Calibri" pitchFamily="34" charset="0"/>
                <a:ea typeface="Calibri" pitchFamily="34" charset="-122"/>
                <a:cs typeface="Calibri" pitchFamily="34" charset="-120"/>
              </a:rPr>
              <a:t>a widespread itchy rash. </a:t>
            </a:r>
            <a:pPr indent="0" marL="0">
              <a:lnSpc>
                <a:spcPts val="2700"/>
              </a:lnSpc>
              <a:buNone/>
            </a:pPr>
            <a:r>
              <a:rPr lang="en-US" sz="1600" b="1" dirty="0">
                <a:solidFill>
                  <a:srgbClr val="15803D"/>
                </a:solidFill>
                <a:latin typeface="Calibri" pitchFamily="34" charset="0"/>
                <a:ea typeface="Calibri" pitchFamily="34" charset="-122"/>
                <a:cs typeface="Calibri" pitchFamily="34" charset="-120"/>
              </a:rPr>
              <a:t>She stopped the medicine </a:t>
            </a:r>
            <a:pPr indent="0" marL="0">
              <a:lnSpc>
                <a:spcPts val="2700"/>
              </a:lnSpc>
              <a:buNone/>
            </a:pPr>
            <a:r>
              <a:rPr lang="en-US" sz="1600" dirty="0">
                <a:solidFill>
                  <a:srgbClr val="1E293B"/>
                </a:solidFill>
                <a:latin typeface="Calibri" pitchFamily="34" charset="0"/>
                <a:ea typeface="Calibri" pitchFamily="34" charset="-122"/>
                <a:cs typeface="Calibri" pitchFamily="34" charset="-120"/>
              </a:rPr>
              <a:t>after consulting her physician. </a:t>
            </a:r>
            <a:pPr indent="0" marL="0">
              <a:lnSpc>
                <a:spcPts val="2700"/>
              </a:lnSpc>
              <a:buNone/>
            </a:pPr>
            <a:r>
              <a:rPr lang="en-US" sz="1600" b="1" dirty="0">
                <a:solidFill>
                  <a:srgbClr val="0F2B3D"/>
                </a:solidFill>
                <a:latin typeface="Calibri" pitchFamily="34" charset="0"/>
                <a:ea typeface="Calibri" pitchFamily="34" charset="-122"/>
                <a:cs typeface="Calibri" pitchFamily="34" charset="-120"/>
              </a:rPr>
              <a:t>The rash gradually disappeared </a:t>
            </a:r>
            <a:pPr indent="0" marL="0">
              <a:lnSpc>
                <a:spcPts val="2700"/>
              </a:lnSpc>
              <a:buNone/>
            </a:pPr>
            <a:r>
              <a:rPr lang="en-US" sz="1600" dirty="0">
                <a:solidFill>
                  <a:srgbClr val="1E293B"/>
                </a:solidFill>
                <a:latin typeface="Calibri" pitchFamily="34" charset="0"/>
                <a:ea typeface="Calibri" pitchFamily="34" charset="-122"/>
                <a:cs typeface="Calibri" pitchFamily="34" charset="-120"/>
              </a:rPr>
              <a:t>over four days.</a:t>
            </a:r>
            <a:endParaRPr lang="en-US" sz="1600" dirty="0"/>
          </a:p>
        </p:txBody>
      </p:sp>
      <p:sp>
        <p:nvSpPr>
          <p:cNvPr id="6" name="Shape 4"/>
          <p:cNvSpPr/>
          <p:nvPr/>
        </p:nvSpPr>
        <p:spPr>
          <a:xfrm>
            <a:off x="566928" y="3127248"/>
            <a:ext cx="201168" cy="201168"/>
          </a:xfrm>
          <a:prstGeom prst="ellipse">
            <a:avLst/>
          </a:prstGeom>
          <a:solidFill>
            <a:srgbClr val="C40D16"/>
          </a:solidFill>
          <a:ln/>
        </p:spPr>
      </p:sp>
      <p:sp>
        <p:nvSpPr>
          <p:cNvPr id="7" name="Text 5"/>
          <p:cNvSpPr txBox="1"/>
          <p:nvPr/>
        </p:nvSpPr>
        <p:spPr>
          <a:xfrm>
            <a:off x="877824" y="3035808"/>
            <a:ext cx="2377440" cy="274320"/>
          </a:xfrm>
          <a:prstGeom prst="rect">
            <a:avLst/>
          </a:prstGeom>
          <a:noFill/>
          <a:ln/>
        </p:spPr>
        <p:txBody>
          <a:bodyPr wrap="square" lIns="0" tIns="0" rIns="0" bIns="0" rtlCol="0" anchor="ctr"/>
          <a:lstStyle/>
          <a:p>
            <a:pPr indent="0" marL="0">
              <a:buNone/>
            </a:pPr>
            <a:r>
              <a:rPr lang="en-US" sz="1350" b="1" dirty="0">
                <a:solidFill>
                  <a:srgbClr val="0F2B3D"/>
                </a:solidFill>
                <a:latin typeface="Cambria" pitchFamily="34" charset="0"/>
                <a:ea typeface="Cambria" pitchFamily="34" charset="-122"/>
                <a:cs typeface="Cambria" pitchFamily="34" charset="-120"/>
              </a:rPr>
              <a:t>Patient</a:t>
            </a:r>
            <a:endParaRPr lang="en-US" sz="1350" dirty="0"/>
          </a:p>
        </p:txBody>
      </p:sp>
      <p:sp>
        <p:nvSpPr>
          <p:cNvPr id="8" name="Text 6"/>
          <p:cNvSpPr txBox="1"/>
          <p:nvPr/>
        </p:nvSpPr>
        <p:spPr>
          <a:xfrm>
            <a:off x="877824" y="3328416"/>
            <a:ext cx="2377440" cy="457200"/>
          </a:xfrm>
          <a:prstGeom prst="rect">
            <a:avLst/>
          </a:prstGeom>
          <a:noFill/>
          <a:ln/>
        </p:spPr>
        <p:txBody>
          <a:bodyPr wrap="square" lIns="0" tIns="0" rIns="0" bIns="0" rtlCol="0" anchor="ctr"/>
          <a:lstStyle/>
          <a:p>
            <a:pPr indent="0" marL="0">
              <a:lnSpc>
                <a:spcPts val="1500"/>
              </a:lnSpc>
              <a:buNone/>
            </a:pPr>
            <a:r>
              <a:rPr lang="en-US" sz="1150" dirty="0">
                <a:solidFill>
                  <a:srgbClr val="64748B"/>
                </a:solidFill>
                <a:latin typeface="Calibri" pitchFamily="34" charset="0"/>
                <a:ea typeface="Calibri" pitchFamily="34" charset="-122"/>
                <a:cs typeface="Calibri" pitchFamily="34" charset="-120"/>
              </a:rPr>
              <a:t>A 22-year-old female</a:t>
            </a:r>
            <a:endParaRPr lang="en-US" sz="1150" dirty="0"/>
          </a:p>
        </p:txBody>
      </p:sp>
      <p:sp>
        <p:nvSpPr>
          <p:cNvPr id="9" name="Shape 7"/>
          <p:cNvSpPr/>
          <p:nvPr/>
        </p:nvSpPr>
        <p:spPr>
          <a:xfrm>
            <a:off x="3337560" y="3127248"/>
            <a:ext cx="201168" cy="201168"/>
          </a:xfrm>
          <a:prstGeom prst="ellipse">
            <a:avLst/>
          </a:prstGeom>
          <a:solidFill>
            <a:srgbClr val="0E7490"/>
          </a:solidFill>
          <a:ln/>
        </p:spPr>
      </p:sp>
      <p:sp>
        <p:nvSpPr>
          <p:cNvPr id="10" name="Text 8"/>
          <p:cNvSpPr txBox="1"/>
          <p:nvPr/>
        </p:nvSpPr>
        <p:spPr>
          <a:xfrm>
            <a:off x="3648456" y="3035808"/>
            <a:ext cx="2377440" cy="274320"/>
          </a:xfrm>
          <a:prstGeom prst="rect">
            <a:avLst/>
          </a:prstGeom>
          <a:noFill/>
          <a:ln/>
        </p:spPr>
        <p:txBody>
          <a:bodyPr wrap="square" lIns="0" tIns="0" rIns="0" bIns="0" rtlCol="0" anchor="ctr"/>
          <a:lstStyle/>
          <a:p>
            <a:pPr indent="0" marL="0">
              <a:buNone/>
            </a:pPr>
            <a:r>
              <a:rPr lang="en-US" sz="1350" b="1" dirty="0">
                <a:solidFill>
                  <a:srgbClr val="0F2B3D"/>
                </a:solidFill>
                <a:latin typeface="Cambria" pitchFamily="34" charset="0"/>
                <a:ea typeface="Cambria" pitchFamily="34" charset="-122"/>
                <a:cs typeface="Cambria" pitchFamily="34" charset="-120"/>
              </a:rPr>
              <a:t>Drug</a:t>
            </a:r>
            <a:endParaRPr lang="en-US" sz="1350" dirty="0"/>
          </a:p>
        </p:txBody>
      </p:sp>
      <p:sp>
        <p:nvSpPr>
          <p:cNvPr id="11" name="Text 9"/>
          <p:cNvSpPr txBox="1"/>
          <p:nvPr/>
        </p:nvSpPr>
        <p:spPr>
          <a:xfrm>
            <a:off x="3648456" y="3328416"/>
            <a:ext cx="2377440" cy="457200"/>
          </a:xfrm>
          <a:prstGeom prst="rect">
            <a:avLst/>
          </a:prstGeom>
          <a:noFill/>
          <a:ln/>
        </p:spPr>
        <p:txBody>
          <a:bodyPr wrap="square" lIns="0" tIns="0" rIns="0" bIns="0" rtlCol="0" anchor="ctr"/>
          <a:lstStyle/>
          <a:p>
            <a:pPr indent="0" marL="0">
              <a:lnSpc>
                <a:spcPts val="1500"/>
              </a:lnSpc>
              <a:buNone/>
            </a:pPr>
            <a:r>
              <a:rPr lang="en-US" sz="1150" dirty="0">
                <a:solidFill>
                  <a:srgbClr val="64748B"/>
                </a:solidFill>
                <a:latin typeface="Calibri" pitchFamily="34" charset="0"/>
                <a:ea typeface="Calibri" pitchFamily="34" charset="-122"/>
                <a:cs typeface="Calibri" pitchFamily="34" charset="-120"/>
              </a:rPr>
              <a:t>amoxicillin 500 mg t.d.s.</a:t>
            </a:r>
            <a:endParaRPr lang="en-US" sz="1150" dirty="0"/>
          </a:p>
        </p:txBody>
      </p:sp>
      <p:sp>
        <p:nvSpPr>
          <p:cNvPr id="12" name="Shape 10"/>
          <p:cNvSpPr/>
          <p:nvPr/>
        </p:nvSpPr>
        <p:spPr>
          <a:xfrm>
            <a:off x="6108192" y="3127248"/>
            <a:ext cx="201168" cy="201168"/>
          </a:xfrm>
          <a:prstGeom prst="ellipse">
            <a:avLst/>
          </a:prstGeom>
          <a:solidFill>
            <a:srgbClr val="7C3AED"/>
          </a:solidFill>
          <a:ln/>
        </p:spPr>
      </p:sp>
      <p:sp>
        <p:nvSpPr>
          <p:cNvPr id="13" name="Text 11"/>
          <p:cNvSpPr txBox="1"/>
          <p:nvPr/>
        </p:nvSpPr>
        <p:spPr>
          <a:xfrm>
            <a:off x="6419088" y="3035808"/>
            <a:ext cx="2377440" cy="274320"/>
          </a:xfrm>
          <a:prstGeom prst="rect">
            <a:avLst/>
          </a:prstGeom>
          <a:noFill/>
          <a:ln/>
        </p:spPr>
        <p:txBody>
          <a:bodyPr wrap="square" lIns="0" tIns="0" rIns="0" bIns="0" rtlCol="0" anchor="ctr"/>
          <a:lstStyle/>
          <a:p>
            <a:pPr indent="0" marL="0">
              <a:buNone/>
            </a:pPr>
            <a:r>
              <a:rPr lang="en-US" sz="1350" b="1" dirty="0">
                <a:solidFill>
                  <a:srgbClr val="0F2B3D"/>
                </a:solidFill>
                <a:latin typeface="Cambria" pitchFamily="34" charset="0"/>
                <a:ea typeface="Cambria" pitchFamily="34" charset="-122"/>
                <a:cs typeface="Cambria" pitchFamily="34" charset="-120"/>
              </a:rPr>
              <a:t>Indication</a:t>
            </a:r>
            <a:endParaRPr lang="en-US" sz="1350" dirty="0"/>
          </a:p>
        </p:txBody>
      </p:sp>
      <p:sp>
        <p:nvSpPr>
          <p:cNvPr id="14" name="Text 12"/>
          <p:cNvSpPr txBox="1"/>
          <p:nvPr/>
        </p:nvSpPr>
        <p:spPr>
          <a:xfrm>
            <a:off x="6419088" y="3328416"/>
            <a:ext cx="2377440" cy="457200"/>
          </a:xfrm>
          <a:prstGeom prst="rect">
            <a:avLst/>
          </a:prstGeom>
          <a:noFill/>
          <a:ln/>
        </p:spPr>
        <p:txBody>
          <a:bodyPr wrap="square" lIns="0" tIns="0" rIns="0" bIns="0" rtlCol="0" anchor="ctr"/>
          <a:lstStyle/>
          <a:p>
            <a:pPr indent="0" marL="0">
              <a:lnSpc>
                <a:spcPts val="1500"/>
              </a:lnSpc>
              <a:buNone/>
            </a:pPr>
            <a:r>
              <a:rPr lang="en-US" sz="1150" dirty="0">
                <a:solidFill>
                  <a:srgbClr val="64748B"/>
                </a:solidFill>
                <a:latin typeface="Calibri" pitchFamily="34" charset="0"/>
                <a:ea typeface="Calibri" pitchFamily="34" charset="-122"/>
                <a:cs typeface="Calibri" pitchFamily="34" charset="-120"/>
              </a:rPr>
              <a:t>for a throat infection</a:t>
            </a:r>
            <a:endParaRPr lang="en-US" sz="1150" dirty="0"/>
          </a:p>
        </p:txBody>
      </p:sp>
      <p:sp>
        <p:nvSpPr>
          <p:cNvPr id="15" name="Shape 13"/>
          <p:cNvSpPr/>
          <p:nvPr/>
        </p:nvSpPr>
        <p:spPr>
          <a:xfrm>
            <a:off x="8878824" y="3127248"/>
            <a:ext cx="201168" cy="201168"/>
          </a:xfrm>
          <a:prstGeom prst="ellipse">
            <a:avLst/>
          </a:prstGeom>
          <a:solidFill>
            <a:srgbClr val="B45309"/>
          </a:solidFill>
          <a:ln/>
        </p:spPr>
      </p:sp>
      <p:sp>
        <p:nvSpPr>
          <p:cNvPr id="16" name="Text 14"/>
          <p:cNvSpPr txBox="1"/>
          <p:nvPr/>
        </p:nvSpPr>
        <p:spPr>
          <a:xfrm>
            <a:off x="9189720" y="3035808"/>
            <a:ext cx="2377440" cy="274320"/>
          </a:xfrm>
          <a:prstGeom prst="rect">
            <a:avLst/>
          </a:prstGeom>
          <a:noFill/>
          <a:ln/>
        </p:spPr>
        <p:txBody>
          <a:bodyPr wrap="square" lIns="0" tIns="0" rIns="0" bIns="0" rtlCol="0" anchor="ctr"/>
          <a:lstStyle/>
          <a:p>
            <a:pPr indent="0" marL="0">
              <a:buNone/>
            </a:pPr>
            <a:r>
              <a:rPr lang="en-US" sz="1350" b="1" dirty="0">
                <a:solidFill>
                  <a:srgbClr val="0F2B3D"/>
                </a:solidFill>
                <a:latin typeface="Cambria" pitchFamily="34" charset="0"/>
                <a:ea typeface="Cambria" pitchFamily="34" charset="-122"/>
                <a:cs typeface="Cambria" pitchFamily="34" charset="-120"/>
              </a:rPr>
              <a:t>Time</a:t>
            </a:r>
            <a:endParaRPr lang="en-US" sz="1350" dirty="0"/>
          </a:p>
        </p:txBody>
      </p:sp>
      <p:sp>
        <p:nvSpPr>
          <p:cNvPr id="17" name="Text 15"/>
          <p:cNvSpPr txBox="1"/>
          <p:nvPr/>
        </p:nvSpPr>
        <p:spPr>
          <a:xfrm>
            <a:off x="9189720" y="3328416"/>
            <a:ext cx="2377440" cy="457200"/>
          </a:xfrm>
          <a:prstGeom prst="rect">
            <a:avLst/>
          </a:prstGeom>
          <a:noFill/>
          <a:ln/>
        </p:spPr>
        <p:txBody>
          <a:bodyPr wrap="square" lIns="0" tIns="0" rIns="0" bIns="0" rtlCol="0" anchor="ctr"/>
          <a:lstStyle/>
          <a:p>
            <a:pPr indent="0" marL="0">
              <a:lnSpc>
                <a:spcPts val="1500"/>
              </a:lnSpc>
              <a:buNone/>
            </a:pPr>
            <a:r>
              <a:rPr lang="en-US" sz="1150" dirty="0">
                <a:solidFill>
                  <a:srgbClr val="64748B"/>
                </a:solidFill>
                <a:latin typeface="Calibri" pitchFamily="34" charset="0"/>
                <a:ea typeface="Calibri" pitchFamily="34" charset="-122"/>
                <a:cs typeface="Calibri" pitchFamily="34" charset="-120"/>
              </a:rPr>
              <a:t>two days after starting</a:t>
            </a:r>
            <a:endParaRPr lang="en-US" sz="1150" dirty="0"/>
          </a:p>
        </p:txBody>
      </p:sp>
      <p:sp>
        <p:nvSpPr>
          <p:cNvPr id="18" name="Shape 16"/>
          <p:cNvSpPr/>
          <p:nvPr/>
        </p:nvSpPr>
        <p:spPr>
          <a:xfrm>
            <a:off x="566928" y="3995928"/>
            <a:ext cx="201168" cy="201168"/>
          </a:xfrm>
          <a:prstGeom prst="ellipse">
            <a:avLst/>
          </a:prstGeom>
          <a:solidFill>
            <a:srgbClr val="B91C1C"/>
          </a:solidFill>
          <a:ln/>
        </p:spPr>
      </p:sp>
      <p:sp>
        <p:nvSpPr>
          <p:cNvPr id="19" name="Text 17"/>
          <p:cNvSpPr txBox="1"/>
          <p:nvPr/>
        </p:nvSpPr>
        <p:spPr>
          <a:xfrm>
            <a:off x="877824" y="3904488"/>
            <a:ext cx="2377440" cy="274320"/>
          </a:xfrm>
          <a:prstGeom prst="rect">
            <a:avLst/>
          </a:prstGeom>
          <a:noFill/>
          <a:ln/>
        </p:spPr>
        <p:txBody>
          <a:bodyPr wrap="square" lIns="0" tIns="0" rIns="0" bIns="0" rtlCol="0" anchor="ctr"/>
          <a:lstStyle/>
          <a:p>
            <a:pPr indent="0" marL="0">
              <a:buNone/>
            </a:pPr>
            <a:r>
              <a:rPr lang="en-US" sz="1350" b="1" dirty="0">
                <a:solidFill>
                  <a:srgbClr val="0F2B3D"/>
                </a:solidFill>
                <a:latin typeface="Cambria" pitchFamily="34" charset="0"/>
                <a:ea typeface="Cambria" pitchFamily="34" charset="-122"/>
                <a:cs typeface="Cambria" pitchFamily="34" charset="-120"/>
              </a:rPr>
              <a:t>Event</a:t>
            </a:r>
            <a:endParaRPr lang="en-US" sz="1350" dirty="0"/>
          </a:p>
        </p:txBody>
      </p:sp>
      <p:sp>
        <p:nvSpPr>
          <p:cNvPr id="20" name="Text 18"/>
          <p:cNvSpPr txBox="1"/>
          <p:nvPr/>
        </p:nvSpPr>
        <p:spPr>
          <a:xfrm>
            <a:off x="877824" y="4197096"/>
            <a:ext cx="2377440" cy="457200"/>
          </a:xfrm>
          <a:prstGeom prst="rect">
            <a:avLst/>
          </a:prstGeom>
          <a:noFill/>
          <a:ln/>
        </p:spPr>
        <p:txBody>
          <a:bodyPr wrap="square" lIns="0" tIns="0" rIns="0" bIns="0" rtlCol="0" anchor="ctr"/>
          <a:lstStyle/>
          <a:p>
            <a:pPr indent="0" marL="0">
              <a:lnSpc>
                <a:spcPts val="1500"/>
              </a:lnSpc>
              <a:buNone/>
            </a:pPr>
            <a:r>
              <a:rPr lang="en-US" sz="1150" dirty="0">
                <a:solidFill>
                  <a:srgbClr val="64748B"/>
                </a:solidFill>
                <a:latin typeface="Calibri" pitchFamily="34" charset="0"/>
                <a:ea typeface="Calibri" pitchFamily="34" charset="-122"/>
                <a:cs typeface="Calibri" pitchFamily="34" charset="-120"/>
              </a:rPr>
              <a:t>widespread itchy rash</a:t>
            </a:r>
            <a:endParaRPr lang="en-US" sz="1150" dirty="0"/>
          </a:p>
        </p:txBody>
      </p:sp>
      <p:sp>
        <p:nvSpPr>
          <p:cNvPr id="21" name="Shape 19"/>
          <p:cNvSpPr/>
          <p:nvPr/>
        </p:nvSpPr>
        <p:spPr>
          <a:xfrm>
            <a:off x="3337560" y="3995928"/>
            <a:ext cx="201168" cy="201168"/>
          </a:xfrm>
          <a:prstGeom prst="ellipse">
            <a:avLst/>
          </a:prstGeom>
          <a:solidFill>
            <a:srgbClr val="15803D"/>
          </a:solidFill>
          <a:ln/>
        </p:spPr>
      </p:sp>
      <p:sp>
        <p:nvSpPr>
          <p:cNvPr id="22" name="Text 20"/>
          <p:cNvSpPr txBox="1"/>
          <p:nvPr/>
        </p:nvSpPr>
        <p:spPr>
          <a:xfrm>
            <a:off x="3648456" y="3904488"/>
            <a:ext cx="2377440" cy="274320"/>
          </a:xfrm>
          <a:prstGeom prst="rect">
            <a:avLst/>
          </a:prstGeom>
          <a:noFill/>
          <a:ln/>
        </p:spPr>
        <p:txBody>
          <a:bodyPr wrap="square" lIns="0" tIns="0" rIns="0" bIns="0" rtlCol="0" anchor="ctr"/>
          <a:lstStyle/>
          <a:p>
            <a:pPr indent="0" marL="0">
              <a:buNone/>
            </a:pPr>
            <a:r>
              <a:rPr lang="en-US" sz="1350" b="1" dirty="0">
                <a:solidFill>
                  <a:srgbClr val="0F2B3D"/>
                </a:solidFill>
                <a:latin typeface="Cambria" pitchFamily="34" charset="0"/>
                <a:ea typeface="Cambria" pitchFamily="34" charset="-122"/>
                <a:cs typeface="Cambria" pitchFamily="34" charset="-120"/>
              </a:rPr>
              <a:t>Action</a:t>
            </a:r>
            <a:endParaRPr lang="en-US" sz="1350" dirty="0"/>
          </a:p>
        </p:txBody>
      </p:sp>
      <p:sp>
        <p:nvSpPr>
          <p:cNvPr id="23" name="Text 21"/>
          <p:cNvSpPr txBox="1"/>
          <p:nvPr/>
        </p:nvSpPr>
        <p:spPr>
          <a:xfrm>
            <a:off x="3648456" y="4197096"/>
            <a:ext cx="2377440" cy="457200"/>
          </a:xfrm>
          <a:prstGeom prst="rect">
            <a:avLst/>
          </a:prstGeom>
          <a:noFill/>
          <a:ln/>
        </p:spPr>
        <p:txBody>
          <a:bodyPr wrap="square" lIns="0" tIns="0" rIns="0" bIns="0" rtlCol="0" anchor="ctr"/>
          <a:lstStyle/>
          <a:p>
            <a:pPr indent="0" marL="0">
              <a:lnSpc>
                <a:spcPts val="1500"/>
              </a:lnSpc>
              <a:buNone/>
            </a:pPr>
            <a:r>
              <a:rPr lang="en-US" sz="1150" dirty="0">
                <a:solidFill>
                  <a:srgbClr val="64748B"/>
                </a:solidFill>
                <a:latin typeface="Calibri" pitchFamily="34" charset="0"/>
                <a:ea typeface="Calibri" pitchFamily="34" charset="-122"/>
                <a:cs typeface="Calibri" pitchFamily="34" charset="-120"/>
              </a:rPr>
              <a:t>she stopped the medicine</a:t>
            </a:r>
            <a:endParaRPr lang="en-US" sz="1150" dirty="0"/>
          </a:p>
        </p:txBody>
      </p:sp>
      <p:sp>
        <p:nvSpPr>
          <p:cNvPr id="24" name="Shape 22"/>
          <p:cNvSpPr/>
          <p:nvPr/>
        </p:nvSpPr>
        <p:spPr>
          <a:xfrm>
            <a:off x="6108192" y="3995928"/>
            <a:ext cx="201168" cy="201168"/>
          </a:xfrm>
          <a:prstGeom prst="ellipse">
            <a:avLst/>
          </a:prstGeom>
          <a:solidFill>
            <a:srgbClr val="0F2B3D"/>
          </a:solidFill>
          <a:ln/>
        </p:spPr>
      </p:sp>
      <p:sp>
        <p:nvSpPr>
          <p:cNvPr id="25" name="Text 23"/>
          <p:cNvSpPr txBox="1"/>
          <p:nvPr/>
        </p:nvSpPr>
        <p:spPr>
          <a:xfrm>
            <a:off x="6419088" y="3904488"/>
            <a:ext cx="2377440" cy="274320"/>
          </a:xfrm>
          <a:prstGeom prst="rect">
            <a:avLst/>
          </a:prstGeom>
          <a:noFill/>
          <a:ln/>
        </p:spPr>
        <p:txBody>
          <a:bodyPr wrap="square" lIns="0" tIns="0" rIns="0" bIns="0" rtlCol="0" anchor="ctr"/>
          <a:lstStyle/>
          <a:p>
            <a:pPr indent="0" marL="0">
              <a:buNone/>
            </a:pPr>
            <a:r>
              <a:rPr lang="en-US" sz="1350" b="1" dirty="0">
                <a:solidFill>
                  <a:srgbClr val="0F2B3D"/>
                </a:solidFill>
                <a:latin typeface="Cambria" pitchFamily="34" charset="0"/>
                <a:ea typeface="Cambria" pitchFamily="34" charset="-122"/>
                <a:cs typeface="Cambria" pitchFamily="34" charset="-120"/>
              </a:rPr>
              <a:t>Outcome</a:t>
            </a:r>
            <a:endParaRPr lang="en-US" sz="1350" dirty="0"/>
          </a:p>
        </p:txBody>
      </p:sp>
      <p:sp>
        <p:nvSpPr>
          <p:cNvPr id="26" name="Text 24"/>
          <p:cNvSpPr txBox="1"/>
          <p:nvPr/>
        </p:nvSpPr>
        <p:spPr>
          <a:xfrm>
            <a:off x="6419088" y="4197096"/>
            <a:ext cx="2377440" cy="457200"/>
          </a:xfrm>
          <a:prstGeom prst="rect">
            <a:avLst/>
          </a:prstGeom>
          <a:noFill/>
          <a:ln/>
        </p:spPr>
        <p:txBody>
          <a:bodyPr wrap="square" lIns="0" tIns="0" rIns="0" bIns="0" rtlCol="0" anchor="ctr"/>
          <a:lstStyle/>
          <a:p>
            <a:pPr indent="0" marL="0">
              <a:lnSpc>
                <a:spcPts val="1500"/>
              </a:lnSpc>
              <a:buNone/>
            </a:pPr>
            <a:r>
              <a:rPr lang="en-US" sz="1150" dirty="0">
                <a:solidFill>
                  <a:srgbClr val="64748B"/>
                </a:solidFill>
                <a:latin typeface="Calibri" pitchFamily="34" charset="0"/>
                <a:ea typeface="Calibri" pitchFamily="34" charset="-122"/>
                <a:cs typeface="Calibri" pitchFamily="34" charset="-120"/>
              </a:rPr>
              <a:t>the rash disappeared</a:t>
            </a:r>
            <a:endParaRPr lang="en-US" sz="1150" dirty="0"/>
          </a:p>
        </p:txBody>
      </p:sp>
      <p:sp>
        <p:nvSpPr>
          <p:cNvPr id="27" name="Shape 25"/>
          <p:cNvSpPr/>
          <p:nvPr/>
        </p:nvSpPr>
        <p:spPr>
          <a:xfrm>
            <a:off x="566928" y="4892040"/>
            <a:ext cx="11027664" cy="1371600"/>
          </a:xfrm>
          <a:prstGeom prst="roundRect">
            <a:avLst>
              <a:gd name="adj" fmla="val 4000"/>
            </a:avLst>
          </a:prstGeom>
          <a:solidFill>
            <a:srgbClr val="FEF3C7"/>
          </a:solidFill>
          <a:ln w="12700">
            <a:solidFill>
              <a:srgbClr val="E2E8F0"/>
            </a:solidFill>
            <a:prstDash val="solid"/>
          </a:ln>
        </p:spPr>
      </p:sp>
      <p:sp>
        <p:nvSpPr>
          <p:cNvPr id="28" name="Text 26"/>
          <p:cNvSpPr txBox="1"/>
          <p:nvPr/>
        </p:nvSpPr>
        <p:spPr>
          <a:xfrm>
            <a:off x="886968" y="5047488"/>
            <a:ext cx="10332720" cy="274320"/>
          </a:xfrm>
          <a:prstGeom prst="rect">
            <a:avLst/>
          </a:prstGeom>
          <a:noFill/>
          <a:ln/>
        </p:spPr>
        <p:txBody>
          <a:bodyPr wrap="square" lIns="0" tIns="0" rIns="0" bIns="0" rtlCol="0" anchor="ctr"/>
          <a:lstStyle/>
          <a:p>
            <a:pPr indent="0" marL="0">
              <a:buNone/>
            </a:pPr>
            <a:r>
              <a:rPr lang="en-US" sz="1400" b="1" dirty="0">
                <a:solidFill>
                  <a:srgbClr val="78350F"/>
                </a:solidFill>
                <a:latin typeface="Cambria" pitchFamily="34" charset="0"/>
                <a:ea typeface="Cambria" pitchFamily="34" charset="-122"/>
                <a:cs typeface="Cambria" pitchFamily="34" charset="-120"/>
              </a:rPr>
              <a:t>What the story did NOT tell you</a:t>
            </a:r>
            <a:endParaRPr lang="en-US" sz="1400" dirty="0"/>
          </a:p>
        </p:txBody>
      </p:sp>
      <p:sp>
        <p:nvSpPr>
          <p:cNvPr id="29" name="Text 27"/>
          <p:cNvSpPr txBox="1"/>
          <p:nvPr/>
        </p:nvSpPr>
        <p:spPr>
          <a:xfrm>
            <a:off x="886968" y="5376672"/>
            <a:ext cx="10424160" cy="777240"/>
          </a:xfrm>
          <a:prstGeom prst="rect">
            <a:avLst/>
          </a:prstGeom>
          <a:noFill/>
          <a:ln/>
        </p:spPr>
        <p:txBody>
          <a:bodyPr wrap="square" lIns="0" tIns="0" rIns="0" bIns="0" rtlCol="0" anchor="ctr"/>
          <a:lstStyle/>
          <a:p>
            <a:pPr indent="0" marL="0">
              <a:lnSpc>
                <a:spcPts val="1800"/>
              </a:lnSpc>
              <a:buNone/>
            </a:pPr>
            <a:r>
              <a:rPr lang="en-US" sz="1250" dirty="0">
                <a:solidFill>
                  <a:srgbClr val="78350F"/>
                </a:solidFill>
                <a:latin typeface="Calibri" pitchFamily="34" charset="0"/>
                <a:ea typeface="Calibri" pitchFamily="34" charset="-122"/>
                <a:cs typeface="Calibri" pitchFamily="34" charset="-120"/>
              </a:rPr>
              <a:t>Has she ever reacted to a penicillin before?  ·  What did the rash actually look like — flat, raised, blistered, any mouth or eye involvement, any fever?  ·  What else was she taking, including anything bought over the counter?  ·  Who is reporting, and how do we reach them?</a:t>
            </a:r>
            <a:endParaRPr lang="en-US" sz="12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F2B3D"/>
        </a:solidFill>
      </p:bgPr>
    </p:bg>
    <p:spTree>
      <p:nvGrpSpPr>
        <p:cNvPr id="1" name=""/>
        <p:cNvGrpSpPr/>
        <p:nvPr/>
      </p:nvGrpSpPr>
      <p:grpSpPr>
        <a:xfrm>
          <a:off x="0" y="0"/>
          <a:ext cx="0" cy="0"/>
          <a:chOff x="0" y="0"/>
          <a:chExt cx="0" cy="0"/>
        </a:xfrm>
      </p:grpSpPr>
      <p:sp>
        <p:nvSpPr>
          <p:cNvPr id="2" name="Shape 0"/>
          <p:cNvSpPr/>
          <p:nvPr/>
        </p:nvSpPr>
        <p:spPr>
          <a:xfrm>
            <a:off x="566928" y="2057400"/>
            <a:ext cx="1051560" cy="1051560"/>
          </a:xfrm>
          <a:prstGeom prst="ellipse">
            <a:avLst/>
          </a:prstGeom>
          <a:solidFill>
            <a:srgbClr val="0E7490"/>
          </a:solidFill>
          <a:ln/>
        </p:spPr>
      </p:sp>
      <p:sp>
        <p:nvSpPr>
          <p:cNvPr id="3" name="Text 1"/>
          <p:cNvSpPr txBox="1"/>
          <p:nvPr/>
        </p:nvSpPr>
        <p:spPr>
          <a:xfrm>
            <a:off x="566928" y="2057400"/>
            <a:ext cx="1051560" cy="1051560"/>
          </a:xfrm>
          <a:prstGeom prst="rect">
            <a:avLst/>
          </a:prstGeom>
          <a:noFill/>
          <a:ln/>
        </p:spPr>
        <p:txBody>
          <a:bodyPr wrap="square" lIns="0" tIns="0" rIns="0" bIns="0" rtlCol="0" anchor="ctr"/>
          <a:lstStyle/>
          <a:p>
            <a:pPr algn="ctr" indent="0" marL="0">
              <a:buNone/>
            </a:pPr>
            <a:r>
              <a:rPr lang="en-US" sz="3400" b="1" dirty="0">
                <a:solidFill>
                  <a:srgbClr val="FFFFFF"/>
                </a:solidFill>
                <a:latin typeface="Cambria" pitchFamily="34" charset="0"/>
                <a:ea typeface="Cambria" pitchFamily="34" charset="-122"/>
                <a:cs typeface="Cambria" pitchFamily="34" charset="-120"/>
              </a:rPr>
              <a:t>3</a:t>
            </a:r>
            <a:endParaRPr lang="en-US" sz="3400" dirty="0"/>
          </a:p>
        </p:txBody>
      </p:sp>
      <p:sp>
        <p:nvSpPr>
          <p:cNvPr id="4" name="Text 2"/>
          <p:cNvSpPr txBox="1"/>
          <p:nvPr/>
        </p:nvSpPr>
        <p:spPr>
          <a:xfrm>
            <a:off x="1874520" y="2121408"/>
            <a:ext cx="8229600" cy="274320"/>
          </a:xfrm>
          <a:prstGeom prst="rect">
            <a:avLst/>
          </a:prstGeom>
          <a:noFill/>
          <a:ln/>
        </p:spPr>
        <p:txBody>
          <a:bodyPr wrap="square" lIns="0" tIns="0" rIns="0" bIns="0" rtlCol="0" anchor="ctr"/>
          <a:lstStyle/>
          <a:p>
            <a:pPr indent="0" marL="0">
              <a:buNone/>
            </a:pPr>
            <a:r>
              <a:rPr lang="en-US" sz="1200" b="1" spc="300" kern="0" dirty="0">
                <a:solidFill>
                  <a:srgbClr val="0891B2"/>
                </a:solidFill>
                <a:latin typeface="Calibri" pitchFamily="34" charset="0"/>
                <a:ea typeface="Calibri" pitchFamily="34" charset="-122"/>
                <a:cs typeface="Calibri" pitchFamily="34" charset="-120"/>
              </a:rPr>
              <a:t>Part three</a:t>
            </a:r>
            <a:endParaRPr lang="en-US" sz="1200" dirty="0"/>
          </a:p>
        </p:txBody>
      </p:sp>
      <p:sp>
        <p:nvSpPr>
          <p:cNvPr id="5" name="Text 3"/>
          <p:cNvSpPr txBox="1"/>
          <p:nvPr/>
        </p:nvSpPr>
        <p:spPr>
          <a:xfrm>
            <a:off x="1874520" y="2395728"/>
            <a:ext cx="9326880" cy="621792"/>
          </a:xfrm>
          <a:prstGeom prst="rect">
            <a:avLst/>
          </a:prstGeom>
          <a:noFill/>
          <a:ln/>
        </p:spPr>
        <p:txBody>
          <a:bodyPr wrap="square" lIns="0" tIns="0" rIns="0" bIns="0" rtlCol="0" anchor="t"/>
          <a:lstStyle/>
          <a:p>
            <a:pPr indent="0" marL="0">
              <a:lnSpc>
                <a:spcPts val="4600"/>
              </a:lnSpc>
              <a:buNone/>
            </a:pPr>
            <a:r>
              <a:rPr lang="en-US" sz="4000" b="1" dirty="0">
                <a:solidFill>
                  <a:srgbClr val="FFFFFF"/>
                </a:solidFill>
                <a:latin typeface="Cambria" pitchFamily="34" charset="0"/>
                <a:ea typeface="Cambria" pitchFamily="34" charset="-122"/>
                <a:cs typeface="Cambria" pitchFamily="34" charset="-120"/>
              </a:rPr>
              <a:t>Understand the drug first</a:t>
            </a:r>
            <a:endParaRPr lang="en-US" sz="4000" dirty="0"/>
          </a:p>
        </p:txBody>
      </p:sp>
      <p:sp>
        <p:nvSpPr>
          <p:cNvPr id="6" name="Text 4"/>
          <p:cNvSpPr txBox="1"/>
          <p:nvPr/>
        </p:nvSpPr>
        <p:spPr>
          <a:xfrm>
            <a:off x="1874520" y="3154680"/>
            <a:ext cx="8778240" cy="822960"/>
          </a:xfrm>
          <a:prstGeom prst="rect">
            <a:avLst/>
          </a:prstGeom>
          <a:noFill/>
          <a:ln/>
        </p:spPr>
        <p:txBody>
          <a:bodyPr wrap="square" lIns="0" tIns="0" rIns="0" bIns="0" rtlCol="0" anchor="t"/>
          <a:lstStyle/>
          <a:p>
            <a:pPr indent="0" marL="0">
              <a:lnSpc>
                <a:spcPts val="2400"/>
              </a:lnSpc>
              <a:buNone/>
            </a:pPr>
            <a:r>
              <a:rPr lang="en-US" sz="1550" dirty="0">
                <a:solidFill>
                  <a:srgbClr val="CBD5E1"/>
                </a:solidFill>
                <a:latin typeface="Calibri" pitchFamily="34" charset="0"/>
                <a:ea typeface="Calibri" pitchFamily="34" charset="-122"/>
                <a:cs typeface="Calibri" pitchFamily="34" charset="-120"/>
              </a:rPr>
              <a:t>Assessing a reaction without reading about the medicine is guessing.</a:t>
            </a:r>
            <a:endParaRPr lang="en-US" sz="15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84048"/>
            <a:ext cx="10058400" cy="256032"/>
          </a:xfrm>
          <a:prstGeom prst="rect">
            <a:avLst/>
          </a:prstGeom>
          <a:noFill/>
          <a:ln/>
        </p:spPr>
        <p:txBody>
          <a:bodyPr wrap="square" lIns="0" tIns="0" rIns="0" bIns="0" rtlCol="0" anchor="ctr"/>
          <a:lstStyle/>
          <a:p>
            <a:pPr indent="0" marL="0">
              <a:buNone/>
            </a:pPr>
            <a:r>
              <a:rPr lang="en-US" sz="1100" b="1" spc="250" kern="0" dirty="0">
                <a:solidFill>
                  <a:srgbClr val="0E7490"/>
                </a:solidFill>
                <a:latin typeface="Calibri" pitchFamily="34" charset="0"/>
                <a:ea typeface="Calibri" pitchFamily="34" charset="-122"/>
                <a:cs typeface="Calibri" pitchFamily="34" charset="-120"/>
              </a:rPr>
              <a:t>Worked drug card — diclofenac</a:t>
            </a:r>
            <a:endParaRPr lang="en-US" sz="1100" dirty="0"/>
          </a:p>
        </p:txBody>
      </p:sp>
      <p:sp>
        <p:nvSpPr>
          <p:cNvPr id="3" name="Text 1"/>
          <p:cNvSpPr txBox="1"/>
          <p:nvPr/>
        </p:nvSpPr>
        <p:spPr>
          <a:xfrm>
            <a:off x="566928" y="640080"/>
            <a:ext cx="11064240" cy="786384"/>
          </a:xfrm>
          <a:prstGeom prst="rect">
            <a:avLst/>
          </a:prstGeom>
          <a:noFill/>
          <a:ln/>
        </p:spPr>
        <p:txBody>
          <a:bodyPr wrap="square" lIns="0" tIns="0" rIns="0" bIns="0" rtlCol="0" anchor="t"/>
          <a:lstStyle/>
          <a:p>
            <a:pPr indent="0" marL="0">
              <a:lnSpc>
                <a:spcPts val="3200"/>
              </a:lnSpc>
              <a:buNone/>
            </a:pPr>
            <a:r>
              <a:rPr lang="en-US" sz="2500" b="1" dirty="0">
                <a:solidFill>
                  <a:srgbClr val="0F2B3D"/>
                </a:solidFill>
                <a:latin typeface="Cambria" pitchFamily="34" charset="0"/>
                <a:ea typeface="Cambria" pitchFamily="34" charset="-122"/>
                <a:cs typeface="Cambria" pitchFamily="34" charset="-120"/>
              </a:rPr>
              <a:t>One sentence of mechanism explains every adverse effect</a:t>
            </a:r>
            <a:endParaRPr lang="en-US" sz="2500" dirty="0"/>
          </a:p>
        </p:txBody>
      </p:sp>
      <p:sp>
        <p:nvSpPr>
          <p:cNvPr id="4" name="Shape 2"/>
          <p:cNvSpPr/>
          <p:nvPr/>
        </p:nvSpPr>
        <p:spPr>
          <a:xfrm>
            <a:off x="566928" y="1444752"/>
            <a:ext cx="11027664" cy="1188720"/>
          </a:xfrm>
          <a:prstGeom prst="roundRect">
            <a:avLst>
              <a:gd name="adj" fmla="val 4615"/>
            </a:avLst>
          </a:prstGeom>
          <a:solidFill>
            <a:srgbClr val="ECFEFF"/>
          </a:solidFill>
          <a:ln w="12700">
            <a:solidFill>
              <a:srgbClr val="E2E8F0"/>
            </a:solidFill>
            <a:prstDash val="solid"/>
          </a:ln>
        </p:spPr>
      </p:sp>
      <p:sp>
        <p:nvSpPr>
          <p:cNvPr id="5" name="Text 3"/>
          <p:cNvSpPr txBox="1"/>
          <p:nvPr/>
        </p:nvSpPr>
        <p:spPr>
          <a:xfrm>
            <a:off x="886968" y="1572768"/>
            <a:ext cx="2743200" cy="256032"/>
          </a:xfrm>
          <a:prstGeom prst="rect">
            <a:avLst/>
          </a:prstGeom>
          <a:noFill/>
          <a:ln/>
        </p:spPr>
        <p:txBody>
          <a:bodyPr wrap="square" lIns="0" tIns="0" rIns="0" bIns="0" rtlCol="0" anchor="t"/>
          <a:lstStyle/>
          <a:p>
            <a:pPr indent="0" marL="0">
              <a:buNone/>
            </a:pPr>
            <a:r>
              <a:rPr lang="en-US" sz="1100" b="1" spc="200" kern="0" dirty="0">
                <a:solidFill>
                  <a:srgbClr val="0E7490"/>
                </a:solidFill>
                <a:latin typeface="Calibri" pitchFamily="34" charset="0"/>
                <a:ea typeface="Calibri" pitchFamily="34" charset="-122"/>
                <a:cs typeface="Calibri" pitchFamily="34" charset="-120"/>
              </a:rPr>
              <a:t>How it works</a:t>
            </a:r>
            <a:endParaRPr lang="en-US" sz="1100" dirty="0"/>
          </a:p>
        </p:txBody>
      </p:sp>
      <p:sp>
        <p:nvSpPr>
          <p:cNvPr id="6" name="Text 4"/>
          <p:cNvSpPr txBox="1"/>
          <p:nvPr/>
        </p:nvSpPr>
        <p:spPr>
          <a:xfrm>
            <a:off x="886968" y="1847088"/>
            <a:ext cx="10424160" cy="713232"/>
          </a:xfrm>
          <a:prstGeom prst="rect">
            <a:avLst/>
          </a:prstGeom>
          <a:noFill/>
          <a:ln/>
        </p:spPr>
        <p:txBody>
          <a:bodyPr wrap="square" lIns="0" tIns="0" rIns="0" bIns="0" rtlCol="0" anchor="t"/>
          <a:lstStyle/>
          <a:p>
            <a:pPr indent="0" marL="0">
              <a:lnSpc>
                <a:spcPts val="1900"/>
              </a:lnSpc>
              <a:buNone/>
            </a:pPr>
            <a:r>
              <a:rPr lang="en-US" sz="1350" dirty="0">
                <a:solidFill>
                  <a:srgbClr val="0C4A6E"/>
                </a:solidFill>
                <a:latin typeface="Calibri" pitchFamily="34" charset="0"/>
                <a:ea typeface="Calibri" pitchFamily="34" charset="-122"/>
                <a:cs typeface="Calibri" pitchFamily="34" charset="-120"/>
              </a:rPr>
              <a:t>It blocks the enzyme that makes the chemicals which cause pain and swelling. Those same chemicals protect the stomach lining and help the kidneys keep their blood flow — which is why blocking them causes the trouble it does.</a:t>
            </a:r>
            <a:endParaRPr lang="en-US" sz="1350" dirty="0"/>
          </a:p>
        </p:txBody>
      </p:sp>
      <p:sp>
        <p:nvSpPr>
          <p:cNvPr id="7" name="Shape 5"/>
          <p:cNvSpPr/>
          <p:nvPr/>
        </p:nvSpPr>
        <p:spPr>
          <a:xfrm>
            <a:off x="566928" y="2788920"/>
            <a:ext cx="2606040" cy="2651760"/>
          </a:xfrm>
          <a:prstGeom prst="roundRect">
            <a:avLst>
              <a:gd name="adj" fmla="val 2105"/>
            </a:avLst>
          </a:prstGeom>
          <a:solidFill>
            <a:srgbClr val="F1F5F9"/>
          </a:solidFill>
          <a:ln w="12700">
            <a:solidFill>
              <a:srgbClr val="E2E8F0"/>
            </a:solidFill>
            <a:prstDash val="solid"/>
          </a:ln>
        </p:spPr>
      </p:sp>
      <p:sp>
        <p:nvSpPr>
          <p:cNvPr id="8" name="Text 6"/>
          <p:cNvSpPr txBox="1"/>
          <p:nvPr/>
        </p:nvSpPr>
        <p:spPr>
          <a:xfrm>
            <a:off x="768096" y="2926080"/>
            <a:ext cx="2194560" cy="274320"/>
          </a:xfrm>
          <a:prstGeom prst="rect">
            <a:avLst/>
          </a:prstGeom>
          <a:noFill/>
          <a:ln/>
        </p:spPr>
        <p:txBody>
          <a:bodyPr wrap="square" lIns="0" tIns="0" rIns="0" bIns="0" rtlCol="0" anchor="t"/>
          <a:lstStyle/>
          <a:p>
            <a:pPr indent="0" marL="0">
              <a:buNone/>
            </a:pPr>
            <a:r>
              <a:rPr lang="en-US" sz="1400" b="1" dirty="0">
                <a:solidFill>
                  <a:srgbClr val="0E7490"/>
                </a:solidFill>
                <a:latin typeface="Cambria" pitchFamily="34" charset="0"/>
                <a:ea typeface="Cambria" pitchFamily="34" charset="-122"/>
                <a:cs typeface="Cambria" pitchFamily="34" charset="-120"/>
              </a:rPr>
              <a:t>Common</a:t>
            </a:r>
            <a:endParaRPr lang="en-US" sz="1400" dirty="0"/>
          </a:p>
        </p:txBody>
      </p:sp>
      <p:sp>
        <p:nvSpPr>
          <p:cNvPr id="9" name="Text 7"/>
          <p:cNvSpPr txBox="1"/>
          <p:nvPr/>
        </p:nvSpPr>
        <p:spPr>
          <a:xfrm>
            <a:off x="768096" y="3291840"/>
            <a:ext cx="2240280" cy="2057400"/>
          </a:xfrm>
          <a:prstGeom prst="rect">
            <a:avLst/>
          </a:prstGeom>
          <a:noFill/>
          <a:ln/>
        </p:spPr>
        <p:txBody>
          <a:bodyPr wrap="square" lIns="0" tIns="0" rIns="0" bIns="0" rtlCol="0" anchor="t"/>
          <a:lstStyle/>
          <a:p>
            <a:pPr marL="342900" indent="-342900">
              <a:lnSpc>
                <a:spcPts val="1500"/>
              </a:lnSpc>
              <a:spcAft>
                <a:spcPts val="600"/>
              </a:spcAft>
              <a:buSzPct val="100000"/>
              <a:buChar char="•"/>
            </a:pPr>
            <a:r>
              <a:rPr lang="en-US" sz="1050" dirty="0">
                <a:solidFill>
                  <a:srgbClr val="1E293B"/>
                </a:solidFill>
                <a:latin typeface="Calibri" pitchFamily="34" charset="0"/>
                <a:ea typeface="Calibri" pitchFamily="34" charset="-122"/>
                <a:cs typeface="Calibri" pitchFamily="34" charset="-120"/>
              </a:rPr>
              <a:t>Indigestion, heartburn, stomach pain</a:t>
            </a:r>
            <a:endParaRPr lang="en-US" sz="1050" dirty="0"/>
          </a:p>
          <a:p>
            <a:pPr marL="342900" indent="-342900">
              <a:lnSpc>
                <a:spcPts val="1500"/>
              </a:lnSpc>
              <a:spcAft>
                <a:spcPts val="600"/>
              </a:spcAft>
              <a:buSzPct val="100000"/>
              <a:buChar char="•"/>
            </a:pPr>
            <a:r>
              <a:rPr lang="en-US" sz="1050" dirty="0">
                <a:solidFill>
                  <a:srgbClr val="1E293B"/>
                </a:solidFill>
                <a:latin typeface="Calibri" pitchFamily="34" charset="0"/>
                <a:ea typeface="Calibri" pitchFamily="34" charset="-122"/>
                <a:cs typeface="Calibri" pitchFamily="34" charset="-120"/>
              </a:rPr>
              <a:t>Nausea</a:t>
            </a:r>
            <a:endParaRPr lang="en-US" sz="1050" dirty="0"/>
          </a:p>
          <a:p>
            <a:pPr marL="342900" indent="-342900">
              <a:lnSpc>
                <a:spcPts val="1500"/>
              </a:lnSpc>
              <a:spcAft>
                <a:spcPts val="600"/>
              </a:spcAft>
              <a:buSzPct val="100000"/>
              <a:buChar char="•"/>
            </a:pPr>
            <a:r>
              <a:rPr lang="en-US" sz="1050" dirty="0">
                <a:solidFill>
                  <a:srgbClr val="1E293B"/>
                </a:solidFill>
                <a:latin typeface="Calibri" pitchFamily="34" charset="0"/>
                <a:ea typeface="Calibri" pitchFamily="34" charset="-122"/>
                <a:cs typeface="Calibri" pitchFamily="34" charset="-120"/>
              </a:rPr>
              <a:t>Headache, dizziness</a:t>
            </a:r>
            <a:endParaRPr lang="en-US" sz="1050" dirty="0"/>
          </a:p>
          <a:p>
            <a:pPr marL="342900" indent="-342900">
              <a:lnSpc>
                <a:spcPts val="1500"/>
              </a:lnSpc>
              <a:spcAft>
                <a:spcPts val="600"/>
              </a:spcAft>
              <a:buSzPct val="100000"/>
              <a:buChar char="•"/>
            </a:pPr>
            <a:r>
              <a:rPr lang="en-US" sz="1050" dirty="0">
                <a:solidFill>
                  <a:srgbClr val="1E293B"/>
                </a:solidFill>
                <a:latin typeface="Calibri" pitchFamily="34" charset="0"/>
                <a:ea typeface="Calibri" pitchFamily="34" charset="-122"/>
                <a:cs typeface="Calibri" pitchFamily="34" charset="-120"/>
              </a:rPr>
              <a:t>Fluid retention, ankle swelling</a:t>
            </a:r>
            <a:endParaRPr lang="en-US" sz="1050" dirty="0"/>
          </a:p>
          <a:p>
            <a:pPr marL="342900" indent="-342900">
              <a:lnSpc>
                <a:spcPts val="1500"/>
              </a:lnSpc>
              <a:spcAft>
                <a:spcPts val="600"/>
              </a:spcAft>
              <a:buSzPct val="100000"/>
              <a:buChar char="•"/>
            </a:pPr>
            <a:r>
              <a:rPr lang="en-US" sz="1050" dirty="0">
                <a:solidFill>
                  <a:srgbClr val="1E293B"/>
                </a:solidFill>
                <a:latin typeface="Calibri" pitchFamily="34" charset="0"/>
                <a:ea typeface="Calibri" pitchFamily="34" charset="-122"/>
                <a:cs typeface="Calibri" pitchFamily="34" charset="-120"/>
              </a:rPr>
              <a:t>Rise in blood pressure</a:t>
            </a:r>
            <a:endParaRPr lang="en-US" sz="1050" dirty="0"/>
          </a:p>
        </p:txBody>
      </p:sp>
      <p:sp>
        <p:nvSpPr>
          <p:cNvPr id="10" name="Shape 8"/>
          <p:cNvSpPr/>
          <p:nvPr/>
        </p:nvSpPr>
        <p:spPr>
          <a:xfrm>
            <a:off x="3337560" y="2788920"/>
            <a:ext cx="2606040" cy="2651760"/>
          </a:xfrm>
          <a:prstGeom prst="roundRect">
            <a:avLst>
              <a:gd name="adj" fmla="val 2105"/>
            </a:avLst>
          </a:prstGeom>
          <a:solidFill>
            <a:srgbClr val="F1F5F9"/>
          </a:solidFill>
          <a:ln w="12700">
            <a:solidFill>
              <a:srgbClr val="E2E8F0"/>
            </a:solidFill>
            <a:prstDash val="solid"/>
          </a:ln>
        </p:spPr>
      </p:sp>
      <p:sp>
        <p:nvSpPr>
          <p:cNvPr id="11" name="Text 9"/>
          <p:cNvSpPr txBox="1"/>
          <p:nvPr/>
        </p:nvSpPr>
        <p:spPr>
          <a:xfrm>
            <a:off x="3538728" y="2926080"/>
            <a:ext cx="2194560" cy="274320"/>
          </a:xfrm>
          <a:prstGeom prst="rect">
            <a:avLst/>
          </a:prstGeom>
          <a:noFill/>
          <a:ln/>
        </p:spPr>
        <p:txBody>
          <a:bodyPr wrap="square" lIns="0" tIns="0" rIns="0" bIns="0" rtlCol="0" anchor="t"/>
          <a:lstStyle/>
          <a:p>
            <a:pPr indent="0" marL="0">
              <a:buNone/>
            </a:pPr>
            <a:r>
              <a:rPr lang="en-US" sz="1400" b="1" dirty="0">
                <a:solidFill>
                  <a:srgbClr val="B91C1C"/>
                </a:solidFill>
                <a:latin typeface="Cambria" pitchFamily="34" charset="0"/>
                <a:ea typeface="Cambria" pitchFamily="34" charset="-122"/>
                <a:cs typeface="Cambria" pitchFamily="34" charset="-120"/>
              </a:rPr>
              <a:t>Serious</a:t>
            </a:r>
            <a:endParaRPr lang="en-US" sz="1400" dirty="0"/>
          </a:p>
        </p:txBody>
      </p:sp>
      <p:sp>
        <p:nvSpPr>
          <p:cNvPr id="12" name="Text 10"/>
          <p:cNvSpPr txBox="1"/>
          <p:nvPr/>
        </p:nvSpPr>
        <p:spPr>
          <a:xfrm>
            <a:off x="3538728" y="3291840"/>
            <a:ext cx="2240280" cy="2057400"/>
          </a:xfrm>
          <a:prstGeom prst="rect">
            <a:avLst/>
          </a:prstGeom>
          <a:noFill/>
          <a:ln/>
        </p:spPr>
        <p:txBody>
          <a:bodyPr wrap="square" lIns="0" tIns="0" rIns="0" bIns="0" rtlCol="0" anchor="t"/>
          <a:lstStyle/>
          <a:p>
            <a:pPr marL="342900" indent="-342900">
              <a:lnSpc>
                <a:spcPts val="1500"/>
              </a:lnSpc>
              <a:spcAft>
                <a:spcPts val="600"/>
              </a:spcAft>
              <a:buSzPct val="100000"/>
              <a:buChar char="•"/>
            </a:pPr>
            <a:r>
              <a:rPr lang="en-US" sz="1050" dirty="0">
                <a:solidFill>
                  <a:srgbClr val="1E293B"/>
                </a:solidFill>
                <a:latin typeface="Calibri" pitchFamily="34" charset="0"/>
                <a:ea typeface="Calibri" pitchFamily="34" charset="-122"/>
                <a:cs typeface="Calibri" pitchFamily="34" charset="-120"/>
              </a:rPr>
              <a:t>GI bleeding or perforation</a:t>
            </a:r>
            <a:endParaRPr lang="en-US" sz="1050" dirty="0"/>
          </a:p>
          <a:p>
            <a:pPr marL="342900" indent="-342900">
              <a:lnSpc>
                <a:spcPts val="1500"/>
              </a:lnSpc>
              <a:spcAft>
                <a:spcPts val="600"/>
              </a:spcAft>
              <a:buSzPct val="100000"/>
              <a:buChar char="•"/>
            </a:pPr>
            <a:r>
              <a:rPr lang="en-US" sz="1050" dirty="0">
                <a:solidFill>
                  <a:srgbClr val="1E293B"/>
                </a:solidFill>
                <a:latin typeface="Calibri" pitchFamily="34" charset="0"/>
                <a:ea typeface="Calibri" pitchFamily="34" charset="-122"/>
                <a:cs typeface="Calibri" pitchFamily="34" charset="-120"/>
              </a:rPr>
              <a:t>Acute kidney injury</a:t>
            </a:r>
            <a:endParaRPr lang="en-US" sz="1050" dirty="0"/>
          </a:p>
          <a:p>
            <a:pPr marL="342900" indent="-342900">
              <a:lnSpc>
                <a:spcPts val="1500"/>
              </a:lnSpc>
              <a:spcAft>
                <a:spcPts val="600"/>
              </a:spcAft>
              <a:buSzPct val="100000"/>
              <a:buChar char="•"/>
            </a:pPr>
            <a:r>
              <a:rPr lang="en-US" sz="1050" dirty="0">
                <a:solidFill>
                  <a:srgbClr val="1E293B"/>
                </a:solidFill>
                <a:latin typeface="Calibri" pitchFamily="34" charset="0"/>
                <a:ea typeface="Calibri" pitchFamily="34" charset="-122"/>
                <a:cs typeface="Calibri" pitchFamily="34" charset="-120"/>
              </a:rPr>
              <a:t>Heart attack and stroke</a:t>
            </a:r>
            <a:endParaRPr lang="en-US" sz="1050" dirty="0"/>
          </a:p>
          <a:p>
            <a:pPr marL="342900" indent="-342900">
              <a:lnSpc>
                <a:spcPts val="1500"/>
              </a:lnSpc>
              <a:spcAft>
                <a:spcPts val="600"/>
              </a:spcAft>
              <a:buSzPct val="100000"/>
              <a:buChar char="•"/>
            </a:pPr>
            <a:r>
              <a:rPr lang="en-US" sz="1050" dirty="0">
                <a:solidFill>
                  <a:srgbClr val="1E293B"/>
                </a:solidFill>
                <a:latin typeface="Calibri" pitchFamily="34" charset="0"/>
                <a:ea typeface="Calibri" pitchFamily="34" charset="-122"/>
                <a:cs typeface="Calibri" pitchFamily="34" charset="-120"/>
              </a:rPr>
              <a:t>Bronchospasm in asthmatics</a:t>
            </a:r>
            <a:endParaRPr lang="en-US" sz="1050" dirty="0"/>
          </a:p>
          <a:p>
            <a:pPr marL="342900" indent="-342900">
              <a:lnSpc>
                <a:spcPts val="1500"/>
              </a:lnSpc>
              <a:spcAft>
                <a:spcPts val="600"/>
              </a:spcAft>
              <a:buSzPct val="100000"/>
              <a:buChar char="•"/>
            </a:pPr>
            <a:r>
              <a:rPr lang="en-US" sz="1050" dirty="0">
                <a:solidFill>
                  <a:srgbClr val="1E293B"/>
                </a:solidFill>
                <a:latin typeface="Calibri" pitchFamily="34" charset="0"/>
                <a:ea typeface="Calibri" pitchFamily="34" charset="-122"/>
                <a:cs typeface="Calibri" pitchFamily="34" charset="-120"/>
              </a:rPr>
              <a:t>Heart failure decompensation</a:t>
            </a:r>
            <a:endParaRPr lang="en-US" sz="1050" dirty="0"/>
          </a:p>
        </p:txBody>
      </p:sp>
      <p:sp>
        <p:nvSpPr>
          <p:cNvPr id="13" name="Shape 11"/>
          <p:cNvSpPr/>
          <p:nvPr/>
        </p:nvSpPr>
        <p:spPr>
          <a:xfrm>
            <a:off x="6108192" y="2788920"/>
            <a:ext cx="2606040" cy="2651760"/>
          </a:xfrm>
          <a:prstGeom prst="roundRect">
            <a:avLst>
              <a:gd name="adj" fmla="val 2105"/>
            </a:avLst>
          </a:prstGeom>
          <a:solidFill>
            <a:srgbClr val="F1F5F9"/>
          </a:solidFill>
          <a:ln w="12700">
            <a:solidFill>
              <a:srgbClr val="E2E8F0"/>
            </a:solidFill>
            <a:prstDash val="solid"/>
          </a:ln>
        </p:spPr>
      </p:sp>
      <p:sp>
        <p:nvSpPr>
          <p:cNvPr id="14" name="Text 12"/>
          <p:cNvSpPr txBox="1"/>
          <p:nvPr/>
        </p:nvSpPr>
        <p:spPr>
          <a:xfrm>
            <a:off x="6309360" y="2926080"/>
            <a:ext cx="2194560" cy="274320"/>
          </a:xfrm>
          <a:prstGeom prst="rect">
            <a:avLst/>
          </a:prstGeom>
          <a:noFill/>
          <a:ln/>
        </p:spPr>
        <p:txBody>
          <a:bodyPr wrap="square" lIns="0" tIns="0" rIns="0" bIns="0" rtlCol="0" anchor="t"/>
          <a:lstStyle/>
          <a:p>
            <a:pPr indent="0" marL="0">
              <a:buNone/>
            </a:pPr>
            <a:r>
              <a:rPr lang="en-US" sz="1400" b="1" dirty="0">
                <a:solidFill>
                  <a:srgbClr val="B45309"/>
                </a:solidFill>
                <a:latin typeface="Cambria" pitchFamily="34" charset="0"/>
                <a:ea typeface="Cambria" pitchFamily="34" charset="-122"/>
                <a:cs typeface="Cambria" pitchFamily="34" charset="-120"/>
              </a:rPr>
              <a:t>Do not give if</a:t>
            </a:r>
            <a:endParaRPr lang="en-US" sz="1400" dirty="0"/>
          </a:p>
        </p:txBody>
      </p:sp>
      <p:sp>
        <p:nvSpPr>
          <p:cNvPr id="15" name="Text 13"/>
          <p:cNvSpPr txBox="1"/>
          <p:nvPr/>
        </p:nvSpPr>
        <p:spPr>
          <a:xfrm>
            <a:off x="6309360" y="3291840"/>
            <a:ext cx="2240280" cy="2057400"/>
          </a:xfrm>
          <a:prstGeom prst="rect">
            <a:avLst/>
          </a:prstGeom>
          <a:noFill/>
          <a:ln/>
        </p:spPr>
        <p:txBody>
          <a:bodyPr wrap="square" lIns="0" tIns="0" rIns="0" bIns="0" rtlCol="0" anchor="t"/>
          <a:lstStyle/>
          <a:p>
            <a:pPr marL="342900" indent="-342900">
              <a:lnSpc>
                <a:spcPts val="1500"/>
              </a:lnSpc>
              <a:spcAft>
                <a:spcPts val="600"/>
              </a:spcAft>
              <a:buSzPct val="100000"/>
              <a:buChar char="•"/>
            </a:pPr>
            <a:r>
              <a:rPr lang="en-US" sz="1050" dirty="0">
                <a:solidFill>
                  <a:srgbClr val="1E293B"/>
                </a:solidFill>
                <a:latin typeface="Calibri" pitchFamily="34" charset="0"/>
                <a:ea typeface="Calibri" pitchFamily="34" charset="-122"/>
                <a:cs typeface="Calibri" pitchFamily="34" charset="-120"/>
              </a:rPr>
              <a:t>Active peptic ulcer or GI bleed</a:t>
            </a:r>
            <a:endParaRPr lang="en-US" sz="1050" dirty="0"/>
          </a:p>
          <a:p>
            <a:pPr marL="342900" indent="-342900">
              <a:lnSpc>
                <a:spcPts val="1500"/>
              </a:lnSpc>
              <a:spcAft>
                <a:spcPts val="600"/>
              </a:spcAft>
              <a:buSzPct val="100000"/>
              <a:buChar char="•"/>
            </a:pPr>
            <a:r>
              <a:rPr lang="en-US" sz="1050" dirty="0">
                <a:solidFill>
                  <a:srgbClr val="1E293B"/>
                </a:solidFill>
                <a:latin typeface="Calibri" pitchFamily="34" charset="0"/>
                <a:ea typeface="Calibri" pitchFamily="34" charset="-122"/>
                <a:cs typeface="Calibri" pitchFamily="34" charset="-120"/>
              </a:rPr>
              <a:t>Heart failure, ischaemic heart or vascular disease</a:t>
            </a:r>
            <a:endParaRPr lang="en-US" sz="1050" dirty="0"/>
          </a:p>
          <a:p>
            <a:pPr marL="342900" indent="-342900">
              <a:lnSpc>
                <a:spcPts val="1500"/>
              </a:lnSpc>
              <a:spcAft>
                <a:spcPts val="600"/>
              </a:spcAft>
              <a:buSzPct val="100000"/>
              <a:buChar char="•"/>
            </a:pPr>
            <a:r>
              <a:rPr lang="en-US" sz="1050" dirty="0">
                <a:solidFill>
                  <a:srgbClr val="1E293B"/>
                </a:solidFill>
                <a:latin typeface="Calibri" pitchFamily="34" charset="0"/>
                <a:ea typeface="Calibri" pitchFamily="34" charset="-122"/>
                <a:cs typeface="Calibri" pitchFamily="34" charset="-120"/>
              </a:rPr>
              <a:t>Severe kidney or liver impairment</a:t>
            </a:r>
            <a:endParaRPr lang="en-US" sz="1050" dirty="0"/>
          </a:p>
          <a:p>
            <a:pPr marL="342900" indent="-342900">
              <a:lnSpc>
                <a:spcPts val="1500"/>
              </a:lnSpc>
              <a:spcAft>
                <a:spcPts val="600"/>
              </a:spcAft>
              <a:buSzPct val="100000"/>
              <a:buChar char="•"/>
            </a:pPr>
            <a:r>
              <a:rPr lang="en-US" sz="1050" dirty="0">
                <a:solidFill>
                  <a:srgbClr val="1E293B"/>
                </a:solidFill>
                <a:latin typeface="Calibri" pitchFamily="34" charset="0"/>
                <a:ea typeface="Calibri" pitchFamily="34" charset="-122"/>
                <a:cs typeface="Calibri" pitchFamily="34" charset="-120"/>
              </a:rPr>
              <a:t>Third trimester of pregnancy</a:t>
            </a:r>
            <a:endParaRPr lang="en-US" sz="1050" dirty="0"/>
          </a:p>
        </p:txBody>
      </p:sp>
      <p:sp>
        <p:nvSpPr>
          <p:cNvPr id="16" name="Shape 14"/>
          <p:cNvSpPr/>
          <p:nvPr/>
        </p:nvSpPr>
        <p:spPr>
          <a:xfrm>
            <a:off x="8878824" y="2788920"/>
            <a:ext cx="2606040" cy="2651760"/>
          </a:xfrm>
          <a:prstGeom prst="roundRect">
            <a:avLst>
              <a:gd name="adj" fmla="val 2105"/>
            </a:avLst>
          </a:prstGeom>
          <a:solidFill>
            <a:srgbClr val="F1F5F9"/>
          </a:solidFill>
          <a:ln w="12700">
            <a:solidFill>
              <a:srgbClr val="E2E8F0"/>
            </a:solidFill>
            <a:prstDash val="solid"/>
          </a:ln>
        </p:spPr>
      </p:sp>
      <p:sp>
        <p:nvSpPr>
          <p:cNvPr id="17" name="Text 15"/>
          <p:cNvSpPr txBox="1"/>
          <p:nvPr/>
        </p:nvSpPr>
        <p:spPr>
          <a:xfrm>
            <a:off x="9079992" y="2926080"/>
            <a:ext cx="2194560" cy="274320"/>
          </a:xfrm>
          <a:prstGeom prst="rect">
            <a:avLst/>
          </a:prstGeom>
          <a:noFill/>
          <a:ln/>
        </p:spPr>
        <p:txBody>
          <a:bodyPr wrap="square" lIns="0" tIns="0" rIns="0" bIns="0" rtlCol="0" anchor="t"/>
          <a:lstStyle/>
          <a:p>
            <a:pPr indent="0" marL="0">
              <a:buNone/>
            </a:pPr>
            <a:r>
              <a:rPr lang="en-US" sz="1400" b="1" dirty="0">
                <a:solidFill>
                  <a:srgbClr val="15803D"/>
                </a:solidFill>
                <a:latin typeface="Cambria" pitchFamily="34" charset="0"/>
                <a:ea typeface="Cambria" pitchFamily="34" charset="-122"/>
                <a:cs typeface="Cambria" pitchFamily="34" charset="-120"/>
              </a:rPr>
              <a:t>Ask / monitor</a:t>
            </a:r>
            <a:endParaRPr lang="en-US" sz="1400" dirty="0"/>
          </a:p>
        </p:txBody>
      </p:sp>
      <p:sp>
        <p:nvSpPr>
          <p:cNvPr id="18" name="Text 16"/>
          <p:cNvSpPr txBox="1"/>
          <p:nvPr/>
        </p:nvSpPr>
        <p:spPr>
          <a:xfrm>
            <a:off x="9079992" y="3291840"/>
            <a:ext cx="2240280" cy="2057400"/>
          </a:xfrm>
          <a:prstGeom prst="rect">
            <a:avLst/>
          </a:prstGeom>
          <a:noFill/>
          <a:ln/>
        </p:spPr>
        <p:txBody>
          <a:bodyPr wrap="square" lIns="0" tIns="0" rIns="0" bIns="0" rtlCol="0" anchor="t"/>
          <a:lstStyle/>
          <a:p>
            <a:pPr marL="342900" indent="-342900">
              <a:lnSpc>
                <a:spcPts val="1500"/>
              </a:lnSpc>
              <a:spcAft>
                <a:spcPts val="600"/>
              </a:spcAft>
              <a:buSzPct val="100000"/>
              <a:buChar char="•"/>
            </a:pPr>
            <a:r>
              <a:rPr lang="en-US" sz="1050" dirty="0">
                <a:solidFill>
                  <a:srgbClr val="1E293B"/>
                </a:solidFill>
                <a:latin typeface="Calibri" pitchFamily="34" charset="0"/>
                <a:ea typeface="Calibri" pitchFamily="34" charset="-122"/>
                <a:cs typeface="Calibri" pitchFamily="34" charset="-120"/>
              </a:rPr>
              <a:t>Black stools, vomiting blood</a:t>
            </a:r>
            <a:endParaRPr lang="en-US" sz="1050" dirty="0"/>
          </a:p>
          <a:p>
            <a:pPr marL="342900" indent="-342900">
              <a:lnSpc>
                <a:spcPts val="1500"/>
              </a:lnSpc>
              <a:spcAft>
                <a:spcPts val="600"/>
              </a:spcAft>
              <a:buSzPct val="100000"/>
              <a:buChar char="•"/>
            </a:pPr>
            <a:r>
              <a:rPr lang="en-US" sz="1050" dirty="0">
                <a:solidFill>
                  <a:srgbClr val="1E293B"/>
                </a:solidFill>
                <a:latin typeface="Calibri" pitchFamily="34" charset="0"/>
                <a:ea typeface="Calibri" pitchFamily="34" charset="-122"/>
                <a:cs typeface="Calibri" pitchFamily="34" charset="-120"/>
              </a:rPr>
              <a:t>Urine output, swelling, weight</a:t>
            </a:r>
            <a:endParaRPr lang="en-US" sz="1050" dirty="0"/>
          </a:p>
          <a:p>
            <a:pPr marL="342900" indent="-342900">
              <a:lnSpc>
                <a:spcPts val="1500"/>
              </a:lnSpc>
              <a:spcAft>
                <a:spcPts val="600"/>
              </a:spcAft>
              <a:buSzPct val="100000"/>
              <a:buChar char="•"/>
            </a:pPr>
            <a:r>
              <a:rPr lang="en-US" sz="1050" dirty="0">
                <a:solidFill>
                  <a:srgbClr val="1E293B"/>
                </a:solidFill>
                <a:latin typeface="Calibri" pitchFamily="34" charset="0"/>
                <a:ea typeface="Calibri" pitchFamily="34" charset="-122"/>
                <a:cs typeface="Calibri" pitchFamily="34" charset="-120"/>
              </a:rPr>
              <a:t>Blood pressure</a:t>
            </a:r>
            <a:endParaRPr lang="en-US" sz="1050" dirty="0"/>
          </a:p>
          <a:p>
            <a:pPr marL="342900" indent="-342900">
              <a:lnSpc>
                <a:spcPts val="1500"/>
              </a:lnSpc>
              <a:spcAft>
                <a:spcPts val="600"/>
              </a:spcAft>
              <a:buSzPct val="100000"/>
              <a:buChar char="•"/>
            </a:pPr>
            <a:r>
              <a:rPr lang="en-US" sz="1050" dirty="0">
                <a:solidFill>
                  <a:srgbClr val="1E293B"/>
                </a:solidFill>
                <a:latin typeface="Calibri" pitchFamily="34" charset="0"/>
                <a:ea typeface="Calibri" pitchFamily="34" charset="-122"/>
                <a:cs typeface="Calibri" pitchFamily="34" charset="-120"/>
              </a:rPr>
              <a:t>Kidney function and potassium</a:t>
            </a:r>
            <a:endParaRPr lang="en-US" sz="1050" dirty="0"/>
          </a:p>
        </p:txBody>
      </p:sp>
      <p:sp>
        <p:nvSpPr>
          <p:cNvPr id="19" name="Shape 17"/>
          <p:cNvSpPr/>
          <p:nvPr/>
        </p:nvSpPr>
        <p:spPr>
          <a:xfrm>
            <a:off x="566928" y="5559552"/>
            <a:ext cx="11027664" cy="777240"/>
          </a:xfrm>
          <a:prstGeom prst="roundRect">
            <a:avLst>
              <a:gd name="adj" fmla="val 7059"/>
            </a:avLst>
          </a:prstGeom>
          <a:solidFill>
            <a:srgbClr val="FEF3C7"/>
          </a:solidFill>
          <a:ln w="12700">
            <a:solidFill>
              <a:srgbClr val="E2E8F0"/>
            </a:solidFill>
            <a:prstDash val="solid"/>
          </a:ln>
        </p:spPr>
      </p:sp>
      <p:sp>
        <p:nvSpPr>
          <p:cNvPr id="20" name="Text 18"/>
          <p:cNvSpPr txBox="1"/>
          <p:nvPr/>
        </p:nvSpPr>
        <p:spPr>
          <a:xfrm>
            <a:off x="841248" y="5705856"/>
            <a:ext cx="10515600" cy="548640"/>
          </a:xfrm>
          <a:prstGeom prst="rect">
            <a:avLst/>
          </a:prstGeom>
          <a:noFill/>
          <a:ln/>
        </p:spPr>
        <p:txBody>
          <a:bodyPr wrap="square" lIns="0" tIns="0" rIns="0" bIns="0" rtlCol="0" anchor="ctr"/>
          <a:lstStyle/>
          <a:p>
            <a:pPr indent="0" marL="0">
              <a:lnSpc>
                <a:spcPts val="1700"/>
              </a:lnSpc>
              <a:buNone/>
            </a:pPr>
            <a:r>
              <a:rPr lang="en-US" sz="1250" b="1" dirty="0">
                <a:solidFill>
                  <a:srgbClr val="78350F"/>
                </a:solidFill>
                <a:latin typeface="Calibri" pitchFamily="34" charset="0"/>
                <a:ea typeface="Calibri" pitchFamily="34" charset="-122"/>
                <a:cs typeface="Calibri" pitchFamily="34" charset="-120"/>
              </a:rPr>
              <a:t>Block the chemical that signals pain and you also block the one protecting the stomach lining and keeping blood flowing through the kidney. Learn that sentence and you never memorise an NSAID side-effect list again.</a:t>
            </a:r>
            <a:endParaRPr lang="en-US" sz="12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F2B3D"/>
        </a:solidFill>
      </p:bgPr>
    </p:bg>
    <p:spTree>
      <p:nvGrpSpPr>
        <p:cNvPr id="1" name=""/>
        <p:cNvGrpSpPr/>
        <p:nvPr/>
      </p:nvGrpSpPr>
      <p:grpSpPr>
        <a:xfrm>
          <a:off x="0" y="0"/>
          <a:ext cx="0" cy="0"/>
          <a:chOff x="0" y="0"/>
          <a:chExt cx="0" cy="0"/>
        </a:xfrm>
      </p:grpSpPr>
      <p:sp>
        <p:nvSpPr>
          <p:cNvPr id="2" name="Shape 0"/>
          <p:cNvSpPr/>
          <p:nvPr/>
        </p:nvSpPr>
        <p:spPr>
          <a:xfrm>
            <a:off x="566928" y="2057400"/>
            <a:ext cx="1051560" cy="1051560"/>
          </a:xfrm>
          <a:prstGeom prst="ellipse">
            <a:avLst/>
          </a:prstGeom>
          <a:solidFill>
            <a:srgbClr val="0E7490"/>
          </a:solidFill>
          <a:ln/>
        </p:spPr>
      </p:sp>
      <p:sp>
        <p:nvSpPr>
          <p:cNvPr id="3" name="Text 1"/>
          <p:cNvSpPr txBox="1"/>
          <p:nvPr/>
        </p:nvSpPr>
        <p:spPr>
          <a:xfrm>
            <a:off x="566928" y="2057400"/>
            <a:ext cx="1051560" cy="1051560"/>
          </a:xfrm>
          <a:prstGeom prst="rect">
            <a:avLst/>
          </a:prstGeom>
          <a:noFill/>
          <a:ln/>
        </p:spPr>
        <p:txBody>
          <a:bodyPr wrap="square" lIns="0" tIns="0" rIns="0" bIns="0" rtlCol="0" anchor="ctr"/>
          <a:lstStyle/>
          <a:p>
            <a:pPr algn="ctr" indent="0" marL="0">
              <a:buNone/>
            </a:pPr>
            <a:r>
              <a:rPr lang="en-US" sz="3400" b="1" dirty="0">
                <a:solidFill>
                  <a:srgbClr val="FFFFFF"/>
                </a:solidFill>
                <a:latin typeface="Cambria" pitchFamily="34" charset="0"/>
                <a:ea typeface="Cambria" pitchFamily="34" charset="-122"/>
                <a:cs typeface="Cambria" pitchFamily="34" charset="-120"/>
              </a:rPr>
              <a:t>4</a:t>
            </a:r>
            <a:endParaRPr lang="en-US" sz="3400" dirty="0"/>
          </a:p>
        </p:txBody>
      </p:sp>
      <p:sp>
        <p:nvSpPr>
          <p:cNvPr id="4" name="Text 2"/>
          <p:cNvSpPr txBox="1"/>
          <p:nvPr/>
        </p:nvSpPr>
        <p:spPr>
          <a:xfrm>
            <a:off x="1874520" y="2121408"/>
            <a:ext cx="8229600" cy="274320"/>
          </a:xfrm>
          <a:prstGeom prst="rect">
            <a:avLst/>
          </a:prstGeom>
          <a:noFill/>
          <a:ln/>
        </p:spPr>
        <p:txBody>
          <a:bodyPr wrap="square" lIns="0" tIns="0" rIns="0" bIns="0" rtlCol="0" anchor="ctr"/>
          <a:lstStyle/>
          <a:p>
            <a:pPr indent="0" marL="0">
              <a:buNone/>
            </a:pPr>
            <a:r>
              <a:rPr lang="en-US" sz="1200" b="1" spc="300" kern="0" dirty="0">
                <a:solidFill>
                  <a:srgbClr val="0891B2"/>
                </a:solidFill>
                <a:latin typeface="Calibri" pitchFamily="34" charset="0"/>
                <a:ea typeface="Calibri" pitchFamily="34" charset="-122"/>
                <a:cs typeface="Calibri" pitchFamily="34" charset="-120"/>
              </a:rPr>
              <a:t>Part four</a:t>
            </a:r>
            <a:endParaRPr lang="en-US" sz="1200" dirty="0"/>
          </a:p>
        </p:txBody>
      </p:sp>
      <p:sp>
        <p:nvSpPr>
          <p:cNvPr id="5" name="Text 3"/>
          <p:cNvSpPr txBox="1"/>
          <p:nvPr/>
        </p:nvSpPr>
        <p:spPr>
          <a:xfrm>
            <a:off x="1874520" y="2395728"/>
            <a:ext cx="9326880" cy="1143000"/>
          </a:xfrm>
          <a:prstGeom prst="rect">
            <a:avLst/>
          </a:prstGeom>
          <a:noFill/>
          <a:ln/>
        </p:spPr>
        <p:txBody>
          <a:bodyPr wrap="square" lIns="0" tIns="0" rIns="0" bIns="0" rtlCol="0" anchor="t"/>
          <a:lstStyle/>
          <a:p>
            <a:pPr indent="0" marL="0">
              <a:lnSpc>
                <a:spcPts val="4600"/>
              </a:lnSpc>
              <a:buNone/>
            </a:pPr>
            <a:r>
              <a:rPr lang="en-US" sz="4000" b="1" dirty="0">
                <a:solidFill>
                  <a:srgbClr val="FFFFFF"/>
                </a:solidFill>
                <a:latin typeface="Cambria" pitchFamily="34" charset="0"/>
                <a:ea typeface="Cambria" pitchFamily="34" charset="-122"/>
                <a:cs typeface="Cambria" pitchFamily="34" charset="-120"/>
              </a:rPr>
              <a:t>Interactions and patient factors</a:t>
            </a:r>
            <a:endParaRPr lang="en-US" sz="4000" dirty="0"/>
          </a:p>
        </p:txBody>
      </p:sp>
      <p:sp>
        <p:nvSpPr>
          <p:cNvPr id="6" name="Text 4"/>
          <p:cNvSpPr txBox="1"/>
          <p:nvPr/>
        </p:nvSpPr>
        <p:spPr>
          <a:xfrm>
            <a:off x="1874520" y="3639312"/>
            <a:ext cx="8778240" cy="822960"/>
          </a:xfrm>
          <a:prstGeom prst="rect">
            <a:avLst/>
          </a:prstGeom>
          <a:noFill/>
          <a:ln/>
        </p:spPr>
        <p:txBody>
          <a:bodyPr wrap="square" lIns="0" tIns="0" rIns="0" bIns="0" rtlCol="0" anchor="t"/>
          <a:lstStyle/>
          <a:p>
            <a:pPr indent="0" marL="0">
              <a:lnSpc>
                <a:spcPts val="2400"/>
              </a:lnSpc>
              <a:buNone/>
            </a:pPr>
            <a:r>
              <a:rPr lang="en-US" sz="1550" dirty="0">
                <a:solidFill>
                  <a:srgbClr val="CBD5E1"/>
                </a:solidFill>
                <a:latin typeface="Calibri" pitchFamily="34" charset="0"/>
                <a:ea typeface="Calibri" pitchFamily="34" charset="-122"/>
                <a:cs typeface="Calibri" pitchFamily="34" charset="-120"/>
              </a:rPr>
              <a:t>Nobody knows these from memory. What you are expected to do is check.</a:t>
            </a:r>
            <a:endParaRPr lang="en-US" sz="15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84048"/>
            <a:ext cx="10058400" cy="256032"/>
          </a:xfrm>
          <a:prstGeom prst="rect">
            <a:avLst/>
          </a:prstGeom>
          <a:noFill/>
          <a:ln/>
        </p:spPr>
        <p:txBody>
          <a:bodyPr wrap="square" lIns="0" tIns="0" rIns="0" bIns="0" rtlCol="0" anchor="ctr"/>
          <a:lstStyle/>
          <a:p>
            <a:pPr indent="0" marL="0">
              <a:buNone/>
            </a:pPr>
            <a:r>
              <a:rPr lang="en-US" sz="1100" b="1" spc="250" kern="0" dirty="0">
                <a:solidFill>
                  <a:srgbClr val="0E7490"/>
                </a:solidFill>
                <a:latin typeface="Calibri" pitchFamily="34" charset="0"/>
                <a:ea typeface="Calibri" pitchFamily="34" charset="-122"/>
                <a:cs typeface="Calibri" pitchFamily="34" charset="-120"/>
              </a:rPr>
              <a:t>How to read any interaction</a:t>
            </a:r>
            <a:endParaRPr lang="en-US" sz="1100" dirty="0"/>
          </a:p>
        </p:txBody>
      </p:sp>
      <p:sp>
        <p:nvSpPr>
          <p:cNvPr id="3" name="Text 1"/>
          <p:cNvSpPr txBox="1"/>
          <p:nvPr/>
        </p:nvSpPr>
        <p:spPr>
          <a:xfrm>
            <a:off x="566928" y="640080"/>
            <a:ext cx="11064240" cy="548640"/>
          </a:xfrm>
          <a:prstGeom prst="rect">
            <a:avLst/>
          </a:prstGeom>
          <a:noFill/>
          <a:ln/>
        </p:spPr>
        <p:txBody>
          <a:bodyPr wrap="square" lIns="0" tIns="0" rIns="0" bIns="0" rtlCol="0" anchor="t"/>
          <a:lstStyle/>
          <a:p>
            <a:pPr indent="0" marL="0">
              <a:lnSpc>
                <a:spcPts val="3800"/>
              </a:lnSpc>
              <a:buNone/>
            </a:pPr>
            <a:r>
              <a:rPr lang="en-US" sz="3100" b="1" dirty="0">
                <a:solidFill>
                  <a:srgbClr val="0F2B3D"/>
                </a:solidFill>
                <a:latin typeface="Cambria" pitchFamily="34" charset="0"/>
                <a:ea typeface="Cambria" pitchFamily="34" charset="-122"/>
                <a:cs typeface="Cambria" pitchFamily="34" charset="-120"/>
              </a:rPr>
              <a:t>Five steps, every time</a:t>
            </a:r>
            <a:endParaRPr lang="en-US" sz="3100" dirty="0"/>
          </a:p>
        </p:txBody>
      </p:sp>
      <p:sp>
        <p:nvSpPr>
          <p:cNvPr id="4" name="Shape 2"/>
          <p:cNvSpPr/>
          <p:nvPr/>
        </p:nvSpPr>
        <p:spPr>
          <a:xfrm>
            <a:off x="566928" y="1517904"/>
            <a:ext cx="2084832" cy="1536192"/>
          </a:xfrm>
          <a:prstGeom prst="roundRect">
            <a:avLst>
              <a:gd name="adj" fmla="val 3571"/>
            </a:avLst>
          </a:prstGeom>
          <a:solidFill>
            <a:srgbClr val="F1F5F9"/>
          </a:solidFill>
          <a:ln w="12700">
            <a:solidFill>
              <a:srgbClr val="E2E8F0"/>
            </a:solidFill>
            <a:prstDash val="solid"/>
          </a:ln>
        </p:spPr>
      </p:sp>
      <p:sp>
        <p:nvSpPr>
          <p:cNvPr id="5" name="Shape 3"/>
          <p:cNvSpPr/>
          <p:nvPr/>
        </p:nvSpPr>
        <p:spPr>
          <a:xfrm>
            <a:off x="768096" y="1682496"/>
            <a:ext cx="347472" cy="347472"/>
          </a:xfrm>
          <a:prstGeom prst="ellipse">
            <a:avLst/>
          </a:prstGeom>
          <a:solidFill>
            <a:srgbClr val="0E7490"/>
          </a:solidFill>
          <a:ln/>
        </p:spPr>
      </p:sp>
      <p:sp>
        <p:nvSpPr>
          <p:cNvPr id="6" name="Text 4"/>
          <p:cNvSpPr txBox="1"/>
          <p:nvPr/>
        </p:nvSpPr>
        <p:spPr>
          <a:xfrm>
            <a:off x="768096" y="1682496"/>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7" name="Text 5"/>
          <p:cNvSpPr txBox="1"/>
          <p:nvPr/>
        </p:nvSpPr>
        <p:spPr>
          <a:xfrm>
            <a:off x="731520" y="2103120"/>
            <a:ext cx="1783080" cy="420624"/>
          </a:xfrm>
          <a:prstGeom prst="rect">
            <a:avLst/>
          </a:prstGeom>
          <a:noFill/>
          <a:ln/>
        </p:spPr>
        <p:txBody>
          <a:bodyPr wrap="square" lIns="0" tIns="0" rIns="0" bIns="0" rtlCol="0" anchor="t"/>
          <a:lstStyle/>
          <a:p>
            <a:pPr indent="0" marL="0">
              <a:lnSpc>
                <a:spcPts val="1600"/>
              </a:lnSpc>
              <a:buNone/>
            </a:pPr>
            <a:r>
              <a:rPr lang="en-US" sz="1250" b="1" dirty="0">
                <a:solidFill>
                  <a:srgbClr val="0F2B3D"/>
                </a:solidFill>
                <a:latin typeface="Cambria" pitchFamily="34" charset="0"/>
                <a:ea typeface="Cambria" pitchFamily="34" charset="-122"/>
                <a:cs typeface="Cambria" pitchFamily="34" charset="-120"/>
              </a:rPr>
              <a:t>Drug A + Drug B</a:t>
            </a:r>
            <a:endParaRPr lang="en-US" sz="1250" dirty="0"/>
          </a:p>
        </p:txBody>
      </p:sp>
      <p:sp>
        <p:nvSpPr>
          <p:cNvPr id="8" name="Text 6"/>
          <p:cNvSpPr txBox="1"/>
          <p:nvPr/>
        </p:nvSpPr>
        <p:spPr>
          <a:xfrm>
            <a:off x="731520" y="2542032"/>
            <a:ext cx="1783080" cy="438912"/>
          </a:xfrm>
          <a:prstGeom prst="rect">
            <a:avLst/>
          </a:prstGeom>
          <a:noFill/>
          <a:ln/>
        </p:spPr>
        <p:txBody>
          <a:bodyPr wrap="square" lIns="0" tIns="0" rIns="0" bIns="0" rtlCol="0" anchor="t"/>
          <a:lstStyle/>
          <a:p>
            <a:pPr indent="0" marL="0">
              <a:lnSpc>
                <a:spcPts val="1400"/>
              </a:lnSpc>
              <a:buNone/>
            </a:pPr>
            <a:r>
              <a:rPr lang="en-US" sz="1050" dirty="0">
                <a:solidFill>
                  <a:srgbClr val="64748B"/>
                </a:solidFill>
                <a:latin typeface="Calibri" pitchFamily="34" charset="0"/>
                <a:ea typeface="Calibri" pitchFamily="34" charset="-122"/>
                <a:cs typeface="Calibri" pitchFamily="34" charset="-120"/>
              </a:rPr>
              <a:t>the pair in front of you</a:t>
            </a:r>
            <a:endParaRPr lang="en-US" sz="1050" dirty="0"/>
          </a:p>
        </p:txBody>
      </p:sp>
      <p:sp>
        <p:nvSpPr>
          <p:cNvPr id="9" name="Text 7"/>
          <p:cNvSpPr txBox="1"/>
          <p:nvPr/>
        </p:nvSpPr>
        <p:spPr>
          <a:xfrm>
            <a:off x="2633472" y="2139696"/>
            <a:ext cx="182880" cy="274320"/>
          </a:xfrm>
          <a:prstGeom prst="rect">
            <a:avLst/>
          </a:prstGeom>
          <a:noFill/>
          <a:ln/>
        </p:spPr>
        <p:txBody>
          <a:bodyPr wrap="square" lIns="0" tIns="0" rIns="0" bIns="0" rtlCol="0" anchor="ctr"/>
          <a:lstStyle/>
          <a:p>
            <a:pPr algn="ctr" indent="0" marL="0">
              <a:buNone/>
            </a:pPr>
            <a:r>
              <a:rPr lang="en-US" sz="1700" dirty="0">
                <a:solidFill>
                  <a:srgbClr val="94A3B8"/>
                </a:solidFill>
                <a:latin typeface="Calibri" pitchFamily="34" charset="0"/>
                <a:ea typeface="Calibri" pitchFamily="34" charset="-122"/>
                <a:cs typeface="Calibri" pitchFamily="34" charset="-120"/>
              </a:rPr>
              <a:t>›</a:t>
            </a:r>
            <a:endParaRPr lang="en-US" sz="1700" dirty="0"/>
          </a:p>
        </p:txBody>
      </p:sp>
      <p:sp>
        <p:nvSpPr>
          <p:cNvPr id="10" name="Shape 8"/>
          <p:cNvSpPr/>
          <p:nvPr/>
        </p:nvSpPr>
        <p:spPr>
          <a:xfrm>
            <a:off x="2807208" y="1517904"/>
            <a:ext cx="2084832" cy="1536192"/>
          </a:xfrm>
          <a:prstGeom prst="roundRect">
            <a:avLst>
              <a:gd name="adj" fmla="val 3571"/>
            </a:avLst>
          </a:prstGeom>
          <a:solidFill>
            <a:srgbClr val="F1F5F9"/>
          </a:solidFill>
          <a:ln w="12700">
            <a:solidFill>
              <a:srgbClr val="E2E8F0"/>
            </a:solidFill>
            <a:prstDash val="solid"/>
          </a:ln>
        </p:spPr>
      </p:sp>
      <p:sp>
        <p:nvSpPr>
          <p:cNvPr id="11" name="Shape 9"/>
          <p:cNvSpPr/>
          <p:nvPr/>
        </p:nvSpPr>
        <p:spPr>
          <a:xfrm>
            <a:off x="3008376" y="1682496"/>
            <a:ext cx="347472" cy="347472"/>
          </a:xfrm>
          <a:prstGeom prst="ellipse">
            <a:avLst/>
          </a:prstGeom>
          <a:solidFill>
            <a:srgbClr val="0E7490"/>
          </a:solidFill>
          <a:ln/>
        </p:spPr>
      </p:sp>
      <p:sp>
        <p:nvSpPr>
          <p:cNvPr id="12" name="Text 10"/>
          <p:cNvSpPr txBox="1"/>
          <p:nvPr/>
        </p:nvSpPr>
        <p:spPr>
          <a:xfrm>
            <a:off x="3008376" y="1682496"/>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3" name="Text 11"/>
          <p:cNvSpPr txBox="1"/>
          <p:nvPr/>
        </p:nvSpPr>
        <p:spPr>
          <a:xfrm>
            <a:off x="2971800" y="2103120"/>
            <a:ext cx="1783080" cy="420624"/>
          </a:xfrm>
          <a:prstGeom prst="rect">
            <a:avLst/>
          </a:prstGeom>
          <a:noFill/>
          <a:ln/>
        </p:spPr>
        <p:txBody>
          <a:bodyPr wrap="square" lIns="0" tIns="0" rIns="0" bIns="0" rtlCol="0" anchor="t"/>
          <a:lstStyle/>
          <a:p>
            <a:pPr indent="0" marL="0">
              <a:lnSpc>
                <a:spcPts val="1600"/>
              </a:lnSpc>
              <a:buNone/>
            </a:pPr>
            <a:r>
              <a:rPr lang="en-US" sz="1250" b="1" dirty="0">
                <a:solidFill>
                  <a:srgbClr val="0F2B3D"/>
                </a:solidFill>
                <a:latin typeface="Cambria" pitchFamily="34" charset="0"/>
                <a:ea typeface="Cambria" pitchFamily="34" charset="-122"/>
                <a:cs typeface="Cambria" pitchFamily="34" charset="-120"/>
              </a:rPr>
              <a:t>Mechanism</a:t>
            </a:r>
            <a:endParaRPr lang="en-US" sz="1250" dirty="0"/>
          </a:p>
        </p:txBody>
      </p:sp>
      <p:sp>
        <p:nvSpPr>
          <p:cNvPr id="14" name="Text 12"/>
          <p:cNvSpPr txBox="1"/>
          <p:nvPr/>
        </p:nvSpPr>
        <p:spPr>
          <a:xfrm>
            <a:off x="2971800" y="2542032"/>
            <a:ext cx="1783080" cy="438912"/>
          </a:xfrm>
          <a:prstGeom prst="rect">
            <a:avLst/>
          </a:prstGeom>
          <a:noFill/>
          <a:ln/>
        </p:spPr>
        <p:txBody>
          <a:bodyPr wrap="square" lIns="0" tIns="0" rIns="0" bIns="0" rtlCol="0" anchor="t"/>
          <a:lstStyle/>
          <a:p>
            <a:pPr indent="0" marL="0">
              <a:lnSpc>
                <a:spcPts val="1400"/>
              </a:lnSpc>
              <a:buNone/>
            </a:pPr>
            <a:r>
              <a:rPr lang="en-US" sz="1050" dirty="0">
                <a:solidFill>
                  <a:srgbClr val="64748B"/>
                </a:solidFill>
                <a:latin typeface="Calibri" pitchFamily="34" charset="0"/>
                <a:ea typeface="Calibri" pitchFamily="34" charset="-122"/>
                <a:cs typeface="Calibri" pitchFamily="34" charset="-120"/>
              </a:rPr>
              <a:t>what is actually happening</a:t>
            </a:r>
            <a:endParaRPr lang="en-US" sz="1050" dirty="0"/>
          </a:p>
        </p:txBody>
      </p:sp>
      <p:sp>
        <p:nvSpPr>
          <p:cNvPr id="15" name="Text 13"/>
          <p:cNvSpPr txBox="1"/>
          <p:nvPr/>
        </p:nvSpPr>
        <p:spPr>
          <a:xfrm>
            <a:off x="4873752" y="2139696"/>
            <a:ext cx="182880" cy="274320"/>
          </a:xfrm>
          <a:prstGeom prst="rect">
            <a:avLst/>
          </a:prstGeom>
          <a:noFill/>
          <a:ln/>
        </p:spPr>
        <p:txBody>
          <a:bodyPr wrap="square" lIns="0" tIns="0" rIns="0" bIns="0" rtlCol="0" anchor="ctr"/>
          <a:lstStyle/>
          <a:p>
            <a:pPr algn="ctr" indent="0" marL="0">
              <a:buNone/>
            </a:pPr>
            <a:r>
              <a:rPr lang="en-US" sz="1700" dirty="0">
                <a:solidFill>
                  <a:srgbClr val="94A3B8"/>
                </a:solidFill>
                <a:latin typeface="Calibri" pitchFamily="34" charset="0"/>
                <a:ea typeface="Calibri" pitchFamily="34" charset="-122"/>
                <a:cs typeface="Calibri" pitchFamily="34" charset="-120"/>
              </a:rPr>
              <a:t>›</a:t>
            </a:r>
            <a:endParaRPr lang="en-US" sz="1700" dirty="0"/>
          </a:p>
        </p:txBody>
      </p:sp>
      <p:sp>
        <p:nvSpPr>
          <p:cNvPr id="16" name="Shape 14"/>
          <p:cNvSpPr/>
          <p:nvPr/>
        </p:nvSpPr>
        <p:spPr>
          <a:xfrm>
            <a:off x="5047488" y="1517904"/>
            <a:ext cx="2084832" cy="1536192"/>
          </a:xfrm>
          <a:prstGeom prst="roundRect">
            <a:avLst>
              <a:gd name="adj" fmla="val 3571"/>
            </a:avLst>
          </a:prstGeom>
          <a:solidFill>
            <a:srgbClr val="F1F5F9"/>
          </a:solidFill>
          <a:ln w="12700">
            <a:solidFill>
              <a:srgbClr val="E2E8F0"/>
            </a:solidFill>
            <a:prstDash val="solid"/>
          </a:ln>
        </p:spPr>
      </p:sp>
      <p:sp>
        <p:nvSpPr>
          <p:cNvPr id="17" name="Shape 15"/>
          <p:cNvSpPr/>
          <p:nvPr/>
        </p:nvSpPr>
        <p:spPr>
          <a:xfrm>
            <a:off x="5248656" y="1682496"/>
            <a:ext cx="347472" cy="347472"/>
          </a:xfrm>
          <a:prstGeom prst="ellipse">
            <a:avLst/>
          </a:prstGeom>
          <a:solidFill>
            <a:srgbClr val="0E7490"/>
          </a:solidFill>
          <a:ln/>
        </p:spPr>
      </p:sp>
      <p:sp>
        <p:nvSpPr>
          <p:cNvPr id="18" name="Text 16"/>
          <p:cNvSpPr txBox="1"/>
          <p:nvPr/>
        </p:nvSpPr>
        <p:spPr>
          <a:xfrm>
            <a:off x="5248656" y="1682496"/>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9" name="Text 17"/>
          <p:cNvSpPr txBox="1"/>
          <p:nvPr/>
        </p:nvSpPr>
        <p:spPr>
          <a:xfrm>
            <a:off x="5212080" y="2103120"/>
            <a:ext cx="1783080" cy="420624"/>
          </a:xfrm>
          <a:prstGeom prst="rect">
            <a:avLst/>
          </a:prstGeom>
          <a:noFill/>
          <a:ln/>
        </p:spPr>
        <p:txBody>
          <a:bodyPr wrap="square" lIns="0" tIns="0" rIns="0" bIns="0" rtlCol="0" anchor="t"/>
          <a:lstStyle/>
          <a:p>
            <a:pPr indent="0" marL="0">
              <a:lnSpc>
                <a:spcPts val="1600"/>
              </a:lnSpc>
              <a:buNone/>
            </a:pPr>
            <a:r>
              <a:rPr lang="en-US" sz="1250" b="1" dirty="0">
                <a:solidFill>
                  <a:srgbClr val="0F2B3D"/>
                </a:solidFill>
                <a:latin typeface="Cambria" pitchFamily="34" charset="0"/>
                <a:ea typeface="Cambria" pitchFamily="34" charset="-122"/>
                <a:cs typeface="Cambria" pitchFamily="34" charset="-120"/>
              </a:rPr>
              <a:t>Effect</a:t>
            </a:r>
            <a:endParaRPr lang="en-US" sz="1250" dirty="0"/>
          </a:p>
        </p:txBody>
      </p:sp>
      <p:sp>
        <p:nvSpPr>
          <p:cNvPr id="20" name="Text 18"/>
          <p:cNvSpPr txBox="1"/>
          <p:nvPr/>
        </p:nvSpPr>
        <p:spPr>
          <a:xfrm>
            <a:off x="5212080" y="2542032"/>
            <a:ext cx="1783080" cy="438912"/>
          </a:xfrm>
          <a:prstGeom prst="rect">
            <a:avLst/>
          </a:prstGeom>
          <a:noFill/>
          <a:ln/>
        </p:spPr>
        <p:txBody>
          <a:bodyPr wrap="square" lIns="0" tIns="0" rIns="0" bIns="0" rtlCol="0" anchor="t"/>
          <a:lstStyle/>
          <a:p>
            <a:pPr indent="0" marL="0">
              <a:lnSpc>
                <a:spcPts val="1400"/>
              </a:lnSpc>
              <a:buNone/>
            </a:pPr>
            <a:r>
              <a:rPr lang="en-US" sz="1050" dirty="0">
                <a:solidFill>
                  <a:srgbClr val="64748B"/>
                </a:solidFill>
                <a:latin typeface="Calibri" pitchFamily="34" charset="0"/>
                <a:ea typeface="Calibri" pitchFamily="34" charset="-122"/>
                <a:cs typeface="Calibri" pitchFamily="34" charset="-120"/>
              </a:rPr>
              <a:t>what changes</a:t>
            </a:r>
            <a:endParaRPr lang="en-US" sz="1050" dirty="0"/>
          </a:p>
        </p:txBody>
      </p:sp>
      <p:sp>
        <p:nvSpPr>
          <p:cNvPr id="21" name="Text 19"/>
          <p:cNvSpPr txBox="1"/>
          <p:nvPr/>
        </p:nvSpPr>
        <p:spPr>
          <a:xfrm>
            <a:off x="7114032" y="2139696"/>
            <a:ext cx="182880" cy="274320"/>
          </a:xfrm>
          <a:prstGeom prst="rect">
            <a:avLst/>
          </a:prstGeom>
          <a:noFill/>
          <a:ln/>
        </p:spPr>
        <p:txBody>
          <a:bodyPr wrap="square" lIns="0" tIns="0" rIns="0" bIns="0" rtlCol="0" anchor="ctr"/>
          <a:lstStyle/>
          <a:p>
            <a:pPr algn="ctr" indent="0" marL="0">
              <a:buNone/>
            </a:pPr>
            <a:r>
              <a:rPr lang="en-US" sz="1700" dirty="0">
                <a:solidFill>
                  <a:srgbClr val="94A3B8"/>
                </a:solidFill>
                <a:latin typeface="Calibri" pitchFamily="34" charset="0"/>
                <a:ea typeface="Calibri" pitchFamily="34" charset="-122"/>
                <a:cs typeface="Calibri" pitchFamily="34" charset="-120"/>
              </a:rPr>
              <a:t>›</a:t>
            </a:r>
            <a:endParaRPr lang="en-US" sz="1700" dirty="0"/>
          </a:p>
        </p:txBody>
      </p:sp>
      <p:sp>
        <p:nvSpPr>
          <p:cNvPr id="22" name="Shape 20"/>
          <p:cNvSpPr/>
          <p:nvPr/>
        </p:nvSpPr>
        <p:spPr>
          <a:xfrm>
            <a:off x="7287768" y="1517904"/>
            <a:ext cx="2084832" cy="1536192"/>
          </a:xfrm>
          <a:prstGeom prst="roundRect">
            <a:avLst>
              <a:gd name="adj" fmla="val 3571"/>
            </a:avLst>
          </a:prstGeom>
          <a:solidFill>
            <a:srgbClr val="F1F5F9"/>
          </a:solidFill>
          <a:ln w="12700">
            <a:solidFill>
              <a:srgbClr val="E2E8F0"/>
            </a:solidFill>
            <a:prstDash val="solid"/>
          </a:ln>
        </p:spPr>
      </p:sp>
      <p:sp>
        <p:nvSpPr>
          <p:cNvPr id="23" name="Shape 21"/>
          <p:cNvSpPr/>
          <p:nvPr/>
        </p:nvSpPr>
        <p:spPr>
          <a:xfrm>
            <a:off x="7488936" y="1682496"/>
            <a:ext cx="347472" cy="347472"/>
          </a:xfrm>
          <a:prstGeom prst="ellipse">
            <a:avLst/>
          </a:prstGeom>
          <a:solidFill>
            <a:srgbClr val="0E7490"/>
          </a:solidFill>
          <a:ln/>
        </p:spPr>
      </p:sp>
      <p:sp>
        <p:nvSpPr>
          <p:cNvPr id="24" name="Text 22"/>
          <p:cNvSpPr txBox="1"/>
          <p:nvPr/>
        </p:nvSpPr>
        <p:spPr>
          <a:xfrm>
            <a:off x="7488936" y="1682496"/>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25" name="Text 23"/>
          <p:cNvSpPr txBox="1"/>
          <p:nvPr/>
        </p:nvSpPr>
        <p:spPr>
          <a:xfrm>
            <a:off x="7452360" y="2103120"/>
            <a:ext cx="1783080" cy="420624"/>
          </a:xfrm>
          <a:prstGeom prst="rect">
            <a:avLst/>
          </a:prstGeom>
          <a:noFill/>
          <a:ln/>
        </p:spPr>
        <p:txBody>
          <a:bodyPr wrap="square" lIns="0" tIns="0" rIns="0" bIns="0" rtlCol="0" anchor="t"/>
          <a:lstStyle/>
          <a:p>
            <a:pPr indent="0" marL="0">
              <a:lnSpc>
                <a:spcPts val="1600"/>
              </a:lnSpc>
              <a:buNone/>
            </a:pPr>
            <a:r>
              <a:rPr lang="en-US" sz="1250" b="1" dirty="0">
                <a:solidFill>
                  <a:srgbClr val="0F2B3D"/>
                </a:solidFill>
                <a:latin typeface="Cambria" pitchFamily="34" charset="0"/>
                <a:ea typeface="Cambria" pitchFamily="34" charset="-122"/>
                <a:cs typeface="Cambria" pitchFamily="34" charset="-120"/>
              </a:rPr>
              <a:t>Consequence</a:t>
            </a:r>
            <a:endParaRPr lang="en-US" sz="1250" dirty="0"/>
          </a:p>
        </p:txBody>
      </p:sp>
      <p:sp>
        <p:nvSpPr>
          <p:cNvPr id="26" name="Text 24"/>
          <p:cNvSpPr txBox="1"/>
          <p:nvPr/>
        </p:nvSpPr>
        <p:spPr>
          <a:xfrm>
            <a:off x="7452360" y="2542032"/>
            <a:ext cx="1783080" cy="438912"/>
          </a:xfrm>
          <a:prstGeom prst="rect">
            <a:avLst/>
          </a:prstGeom>
          <a:noFill/>
          <a:ln/>
        </p:spPr>
        <p:txBody>
          <a:bodyPr wrap="square" lIns="0" tIns="0" rIns="0" bIns="0" rtlCol="0" anchor="t"/>
          <a:lstStyle/>
          <a:p>
            <a:pPr indent="0" marL="0">
              <a:lnSpc>
                <a:spcPts val="1400"/>
              </a:lnSpc>
              <a:buNone/>
            </a:pPr>
            <a:r>
              <a:rPr lang="en-US" sz="1050" dirty="0">
                <a:solidFill>
                  <a:srgbClr val="64748B"/>
                </a:solidFill>
                <a:latin typeface="Calibri" pitchFamily="34" charset="0"/>
                <a:ea typeface="Calibri" pitchFamily="34" charset="-122"/>
                <a:cs typeface="Calibri" pitchFamily="34" charset="-120"/>
              </a:rPr>
              <a:t>what it does to the patient</a:t>
            </a:r>
            <a:endParaRPr lang="en-US" sz="1050" dirty="0"/>
          </a:p>
        </p:txBody>
      </p:sp>
      <p:sp>
        <p:nvSpPr>
          <p:cNvPr id="27" name="Text 25"/>
          <p:cNvSpPr txBox="1"/>
          <p:nvPr/>
        </p:nvSpPr>
        <p:spPr>
          <a:xfrm>
            <a:off x="9354312" y="2139696"/>
            <a:ext cx="182880" cy="274320"/>
          </a:xfrm>
          <a:prstGeom prst="rect">
            <a:avLst/>
          </a:prstGeom>
          <a:noFill/>
          <a:ln/>
        </p:spPr>
        <p:txBody>
          <a:bodyPr wrap="square" lIns="0" tIns="0" rIns="0" bIns="0" rtlCol="0" anchor="ctr"/>
          <a:lstStyle/>
          <a:p>
            <a:pPr algn="ctr" indent="0" marL="0">
              <a:buNone/>
            </a:pPr>
            <a:r>
              <a:rPr lang="en-US" sz="1700" dirty="0">
                <a:solidFill>
                  <a:srgbClr val="94A3B8"/>
                </a:solidFill>
                <a:latin typeface="Calibri" pitchFamily="34" charset="0"/>
                <a:ea typeface="Calibri" pitchFamily="34" charset="-122"/>
                <a:cs typeface="Calibri" pitchFamily="34" charset="-120"/>
              </a:rPr>
              <a:t>›</a:t>
            </a:r>
            <a:endParaRPr lang="en-US" sz="1700" dirty="0"/>
          </a:p>
        </p:txBody>
      </p:sp>
      <p:sp>
        <p:nvSpPr>
          <p:cNvPr id="28" name="Shape 26"/>
          <p:cNvSpPr/>
          <p:nvPr/>
        </p:nvSpPr>
        <p:spPr>
          <a:xfrm>
            <a:off x="9528048" y="1517904"/>
            <a:ext cx="2084832" cy="1536192"/>
          </a:xfrm>
          <a:prstGeom prst="roundRect">
            <a:avLst>
              <a:gd name="adj" fmla="val 3571"/>
            </a:avLst>
          </a:prstGeom>
          <a:solidFill>
            <a:srgbClr val="DCFCE7"/>
          </a:solidFill>
          <a:ln w="12700">
            <a:solidFill>
              <a:srgbClr val="E2E8F0"/>
            </a:solidFill>
            <a:prstDash val="solid"/>
          </a:ln>
        </p:spPr>
      </p:sp>
      <p:sp>
        <p:nvSpPr>
          <p:cNvPr id="29" name="Shape 27"/>
          <p:cNvSpPr/>
          <p:nvPr/>
        </p:nvSpPr>
        <p:spPr>
          <a:xfrm>
            <a:off x="9729216" y="1682496"/>
            <a:ext cx="347472" cy="347472"/>
          </a:xfrm>
          <a:prstGeom prst="ellipse">
            <a:avLst/>
          </a:prstGeom>
          <a:solidFill>
            <a:srgbClr val="15803D"/>
          </a:solidFill>
          <a:ln/>
        </p:spPr>
      </p:sp>
      <p:sp>
        <p:nvSpPr>
          <p:cNvPr id="30" name="Text 28"/>
          <p:cNvSpPr txBox="1"/>
          <p:nvPr/>
        </p:nvSpPr>
        <p:spPr>
          <a:xfrm>
            <a:off x="9729216" y="1682496"/>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31" name="Text 29"/>
          <p:cNvSpPr txBox="1"/>
          <p:nvPr/>
        </p:nvSpPr>
        <p:spPr>
          <a:xfrm>
            <a:off x="9692640" y="2103120"/>
            <a:ext cx="1783080" cy="420624"/>
          </a:xfrm>
          <a:prstGeom prst="rect">
            <a:avLst/>
          </a:prstGeom>
          <a:noFill/>
          <a:ln/>
        </p:spPr>
        <p:txBody>
          <a:bodyPr wrap="square" lIns="0" tIns="0" rIns="0" bIns="0" rtlCol="0" anchor="t"/>
          <a:lstStyle/>
          <a:p>
            <a:pPr indent="0" marL="0">
              <a:lnSpc>
                <a:spcPts val="1600"/>
              </a:lnSpc>
              <a:buNone/>
            </a:pPr>
            <a:r>
              <a:rPr lang="en-US" sz="1250" b="1" dirty="0">
                <a:solidFill>
                  <a:srgbClr val="0F2B3D"/>
                </a:solidFill>
                <a:latin typeface="Cambria" pitchFamily="34" charset="0"/>
                <a:ea typeface="Cambria" pitchFamily="34" charset="-122"/>
                <a:cs typeface="Cambria" pitchFamily="34" charset="-120"/>
              </a:rPr>
              <a:t>What the pharmacist does</a:t>
            </a:r>
            <a:endParaRPr lang="en-US" sz="1250" dirty="0"/>
          </a:p>
        </p:txBody>
      </p:sp>
      <p:sp>
        <p:nvSpPr>
          <p:cNvPr id="32" name="Text 30"/>
          <p:cNvSpPr txBox="1"/>
          <p:nvPr/>
        </p:nvSpPr>
        <p:spPr>
          <a:xfrm>
            <a:off x="9692640" y="2542032"/>
            <a:ext cx="1783080" cy="438912"/>
          </a:xfrm>
          <a:prstGeom prst="rect">
            <a:avLst/>
          </a:prstGeom>
          <a:noFill/>
          <a:ln/>
        </p:spPr>
        <p:txBody>
          <a:bodyPr wrap="square" lIns="0" tIns="0" rIns="0" bIns="0" rtlCol="0" anchor="t"/>
          <a:lstStyle/>
          <a:p>
            <a:pPr indent="0" marL="0">
              <a:lnSpc>
                <a:spcPts val="1400"/>
              </a:lnSpc>
              <a:buNone/>
            </a:pPr>
            <a:r>
              <a:rPr lang="en-US" sz="1050" dirty="0">
                <a:solidFill>
                  <a:srgbClr val="64748B"/>
                </a:solidFill>
                <a:latin typeface="Calibri" pitchFamily="34" charset="0"/>
                <a:ea typeface="Calibri" pitchFamily="34" charset="-122"/>
                <a:cs typeface="Calibri" pitchFamily="34" charset="-120"/>
              </a:rPr>
              <a:t>the only step that reaches the patient</a:t>
            </a:r>
            <a:endParaRPr lang="en-US" sz="1050" dirty="0"/>
          </a:p>
        </p:txBody>
      </p:sp>
      <p:sp>
        <p:nvSpPr>
          <p:cNvPr id="33" name="Text 31"/>
          <p:cNvSpPr txBox="1"/>
          <p:nvPr/>
        </p:nvSpPr>
        <p:spPr>
          <a:xfrm>
            <a:off x="566928" y="3218688"/>
            <a:ext cx="10972800" cy="292608"/>
          </a:xfrm>
          <a:prstGeom prst="rect">
            <a:avLst/>
          </a:prstGeom>
          <a:noFill/>
          <a:ln/>
        </p:spPr>
        <p:txBody>
          <a:bodyPr wrap="square" lIns="0" tIns="0" rIns="0" bIns="0" rtlCol="0" anchor="ctr"/>
          <a:lstStyle/>
          <a:p>
            <a:pPr indent="0" marL="0">
              <a:buNone/>
            </a:pPr>
            <a:r>
              <a:rPr lang="en-US" sz="1500" b="1" dirty="0">
                <a:solidFill>
                  <a:srgbClr val="0F2B3D"/>
                </a:solidFill>
                <a:latin typeface="Cambria" pitchFamily="34" charset="0"/>
                <a:ea typeface="Cambria" pitchFamily="34" charset="-122"/>
                <a:cs typeface="Cambria" pitchFamily="34" charset="-120"/>
              </a:rPr>
              <a:t>The traffic lights are about what YOU must do, not how interesting the pharmacology is</a:t>
            </a:r>
            <a:endParaRPr lang="en-US" sz="1500" dirty="0"/>
          </a:p>
        </p:txBody>
      </p:sp>
      <p:sp>
        <p:nvSpPr>
          <p:cNvPr id="34" name="Shape 32"/>
          <p:cNvSpPr/>
          <p:nvPr/>
        </p:nvSpPr>
        <p:spPr>
          <a:xfrm>
            <a:off x="566928" y="3611880"/>
            <a:ext cx="3456432" cy="1371600"/>
          </a:xfrm>
          <a:prstGeom prst="roundRect">
            <a:avLst>
              <a:gd name="adj" fmla="val 4000"/>
            </a:avLst>
          </a:prstGeom>
          <a:solidFill>
            <a:srgbClr val="DCFCE7"/>
          </a:solidFill>
          <a:ln w="12700">
            <a:solidFill>
              <a:srgbClr val="E2E8F0"/>
            </a:solidFill>
            <a:prstDash val="solid"/>
          </a:ln>
        </p:spPr>
      </p:sp>
      <p:sp>
        <p:nvSpPr>
          <p:cNvPr id="35" name="Text 33"/>
          <p:cNvSpPr txBox="1"/>
          <p:nvPr/>
        </p:nvSpPr>
        <p:spPr>
          <a:xfrm>
            <a:off x="768096" y="3767328"/>
            <a:ext cx="365760" cy="365760"/>
          </a:xfrm>
          <a:prstGeom prst="rect">
            <a:avLst/>
          </a:prstGeom>
          <a:noFill/>
          <a:ln/>
        </p:spPr>
        <p:txBody>
          <a:bodyPr wrap="square" lIns="0" tIns="0" rIns="0" bIns="0" rtlCol="0" anchor="ctr"/>
          <a:lstStyle/>
          <a:p>
            <a:pPr indent="0" marL="0">
              <a:buNone/>
            </a:pPr>
            <a:r>
              <a:rPr lang="en-US" sz="1700" dirty="0">
                <a:solidFill>
                  <a:srgbClr val="000000"/>
                </a:solidFill>
                <a:latin typeface="Calibri" pitchFamily="34" charset="0"/>
                <a:ea typeface="Calibri" pitchFamily="34" charset="-122"/>
                <a:cs typeface="Calibri" pitchFamily="34" charset="-120"/>
              </a:rPr>
              <a:t>🟢</a:t>
            </a:r>
            <a:endParaRPr lang="en-US" sz="1700" dirty="0"/>
          </a:p>
        </p:txBody>
      </p:sp>
      <p:sp>
        <p:nvSpPr>
          <p:cNvPr id="36" name="Text 34"/>
          <p:cNvSpPr txBox="1"/>
          <p:nvPr/>
        </p:nvSpPr>
        <p:spPr>
          <a:xfrm>
            <a:off x="1207008" y="3785616"/>
            <a:ext cx="2651760" cy="329184"/>
          </a:xfrm>
          <a:prstGeom prst="rect">
            <a:avLst/>
          </a:prstGeom>
          <a:noFill/>
          <a:ln/>
        </p:spPr>
        <p:txBody>
          <a:bodyPr wrap="square" lIns="0" tIns="0" rIns="0" bIns="0" rtlCol="0" anchor="ctr"/>
          <a:lstStyle/>
          <a:p>
            <a:pPr indent="0" marL="0">
              <a:buNone/>
            </a:pPr>
            <a:r>
              <a:rPr lang="en-US" sz="1250" b="1" dirty="0">
                <a:solidFill>
                  <a:srgbClr val="15803D"/>
                </a:solidFill>
                <a:latin typeface="Cambria" pitchFamily="34" charset="0"/>
                <a:ea typeface="Cambria" pitchFamily="34" charset="-122"/>
                <a:cs typeface="Cambria" pitchFamily="34" charset="-120"/>
              </a:rPr>
              <a:t>No significant interaction</a:t>
            </a:r>
            <a:endParaRPr lang="en-US" sz="1250" dirty="0"/>
          </a:p>
        </p:txBody>
      </p:sp>
      <p:sp>
        <p:nvSpPr>
          <p:cNvPr id="37" name="Text 35"/>
          <p:cNvSpPr txBox="1"/>
          <p:nvPr/>
        </p:nvSpPr>
        <p:spPr>
          <a:xfrm>
            <a:off x="768096" y="4224528"/>
            <a:ext cx="3063240" cy="640080"/>
          </a:xfrm>
          <a:prstGeom prst="rect">
            <a:avLst/>
          </a:prstGeom>
          <a:noFill/>
          <a:ln/>
        </p:spPr>
        <p:txBody>
          <a:bodyPr wrap="square" lIns="0" tIns="0" rIns="0" bIns="0" rtlCol="0" anchor="ctr"/>
          <a:lstStyle/>
          <a:p>
            <a:pPr indent="0" marL="0">
              <a:lnSpc>
                <a:spcPts val="1500"/>
              </a:lnSpc>
              <a:buNone/>
            </a:pPr>
            <a:r>
              <a:rPr lang="en-US" sz="1100" dirty="0">
                <a:solidFill>
                  <a:srgbClr val="1E293B"/>
                </a:solidFill>
                <a:latin typeface="Calibri" pitchFamily="34" charset="0"/>
                <a:ea typeface="Calibri" pitchFamily="34" charset="-122"/>
                <a:cs typeface="Calibri" pitchFamily="34" charset="-120"/>
              </a:rPr>
              <a:t>Dispense as prescribed.</a:t>
            </a:r>
            <a:endParaRPr lang="en-US" sz="1100" dirty="0"/>
          </a:p>
        </p:txBody>
      </p:sp>
      <p:sp>
        <p:nvSpPr>
          <p:cNvPr id="38" name="Shape 36"/>
          <p:cNvSpPr/>
          <p:nvPr/>
        </p:nvSpPr>
        <p:spPr>
          <a:xfrm>
            <a:off x="4251960" y="3611880"/>
            <a:ext cx="3456432" cy="1371600"/>
          </a:xfrm>
          <a:prstGeom prst="roundRect">
            <a:avLst>
              <a:gd name="adj" fmla="val 4000"/>
            </a:avLst>
          </a:prstGeom>
          <a:solidFill>
            <a:srgbClr val="FEF3C7"/>
          </a:solidFill>
          <a:ln w="12700">
            <a:solidFill>
              <a:srgbClr val="E2E8F0"/>
            </a:solidFill>
            <a:prstDash val="solid"/>
          </a:ln>
        </p:spPr>
      </p:sp>
      <p:sp>
        <p:nvSpPr>
          <p:cNvPr id="39" name="Text 37"/>
          <p:cNvSpPr txBox="1"/>
          <p:nvPr/>
        </p:nvSpPr>
        <p:spPr>
          <a:xfrm>
            <a:off x="4453128" y="3767328"/>
            <a:ext cx="365760" cy="365760"/>
          </a:xfrm>
          <a:prstGeom prst="rect">
            <a:avLst/>
          </a:prstGeom>
          <a:noFill/>
          <a:ln/>
        </p:spPr>
        <p:txBody>
          <a:bodyPr wrap="square" lIns="0" tIns="0" rIns="0" bIns="0" rtlCol="0" anchor="ctr"/>
          <a:lstStyle/>
          <a:p>
            <a:pPr indent="0" marL="0">
              <a:buNone/>
            </a:pPr>
            <a:r>
              <a:rPr lang="en-US" sz="1700" dirty="0">
                <a:solidFill>
                  <a:srgbClr val="000000"/>
                </a:solidFill>
                <a:latin typeface="Calibri" pitchFamily="34" charset="0"/>
                <a:ea typeface="Calibri" pitchFamily="34" charset="-122"/>
                <a:cs typeface="Calibri" pitchFamily="34" charset="-120"/>
              </a:rPr>
              <a:t>🟡</a:t>
            </a:r>
            <a:endParaRPr lang="en-US" sz="1700" dirty="0"/>
          </a:p>
        </p:txBody>
      </p:sp>
      <p:sp>
        <p:nvSpPr>
          <p:cNvPr id="40" name="Text 38"/>
          <p:cNvSpPr txBox="1"/>
          <p:nvPr/>
        </p:nvSpPr>
        <p:spPr>
          <a:xfrm>
            <a:off x="4892040" y="3785616"/>
            <a:ext cx="2651760" cy="329184"/>
          </a:xfrm>
          <a:prstGeom prst="rect">
            <a:avLst/>
          </a:prstGeom>
          <a:noFill/>
          <a:ln/>
        </p:spPr>
        <p:txBody>
          <a:bodyPr wrap="square" lIns="0" tIns="0" rIns="0" bIns="0" rtlCol="0" anchor="ctr"/>
          <a:lstStyle/>
          <a:p>
            <a:pPr indent="0" marL="0">
              <a:buNone/>
            </a:pPr>
            <a:r>
              <a:rPr lang="en-US" sz="1250" b="1" dirty="0">
                <a:solidFill>
                  <a:srgbClr val="B45309"/>
                </a:solidFill>
                <a:latin typeface="Cambria" pitchFamily="34" charset="0"/>
                <a:ea typeface="Cambria" pitchFamily="34" charset="-122"/>
                <a:cs typeface="Cambria" pitchFamily="34" charset="-120"/>
              </a:rPr>
              <a:t>Monitor — potential interaction</a:t>
            </a:r>
            <a:endParaRPr lang="en-US" sz="1250" dirty="0"/>
          </a:p>
        </p:txBody>
      </p:sp>
      <p:sp>
        <p:nvSpPr>
          <p:cNvPr id="41" name="Text 39"/>
          <p:cNvSpPr txBox="1"/>
          <p:nvPr/>
        </p:nvSpPr>
        <p:spPr>
          <a:xfrm>
            <a:off x="4453128" y="4224528"/>
            <a:ext cx="3063240" cy="640080"/>
          </a:xfrm>
          <a:prstGeom prst="rect">
            <a:avLst/>
          </a:prstGeom>
          <a:noFill/>
          <a:ln/>
        </p:spPr>
        <p:txBody>
          <a:bodyPr wrap="square" lIns="0" tIns="0" rIns="0" bIns="0" rtlCol="0" anchor="ctr"/>
          <a:lstStyle/>
          <a:p>
            <a:pPr indent="0" marL="0">
              <a:lnSpc>
                <a:spcPts val="1500"/>
              </a:lnSpc>
              <a:buNone/>
            </a:pPr>
            <a:r>
              <a:rPr lang="en-US" sz="1100" dirty="0">
                <a:solidFill>
                  <a:srgbClr val="1E293B"/>
                </a:solidFill>
                <a:latin typeface="Calibri" pitchFamily="34" charset="0"/>
                <a:ea typeface="Calibri" pitchFamily="34" charset="-122"/>
                <a:cs typeface="Calibri" pitchFamily="34" charset="-120"/>
              </a:rPr>
              <a:t>It can be used, but something must change: monitoring, a dose, timing, counselling.</a:t>
            </a:r>
            <a:endParaRPr lang="en-US" sz="1100" dirty="0"/>
          </a:p>
        </p:txBody>
      </p:sp>
      <p:sp>
        <p:nvSpPr>
          <p:cNvPr id="42" name="Shape 40"/>
          <p:cNvSpPr/>
          <p:nvPr/>
        </p:nvSpPr>
        <p:spPr>
          <a:xfrm>
            <a:off x="7936992" y="3611880"/>
            <a:ext cx="3456432" cy="1371600"/>
          </a:xfrm>
          <a:prstGeom prst="roundRect">
            <a:avLst>
              <a:gd name="adj" fmla="val 4000"/>
            </a:avLst>
          </a:prstGeom>
          <a:solidFill>
            <a:srgbClr val="FEE2E2"/>
          </a:solidFill>
          <a:ln w="12700">
            <a:solidFill>
              <a:srgbClr val="E2E8F0"/>
            </a:solidFill>
            <a:prstDash val="solid"/>
          </a:ln>
        </p:spPr>
      </p:sp>
      <p:sp>
        <p:nvSpPr>
          <p:cNvPr id="43" name="Text 41"/>
          <p:cNvSpPr txBox="1"/>
          <p:nvPr/>
        </p:nvSpPr>
        <p:spPr>
          <a:xfrm>
            <a:off x="8138160" y="3767328"/>
            <a:ext cx="365760" cy="365760"/>
          </a:xfrm>
          <a:prstGeom prst="rect">
            <a:avLst/>
          </a:prstGeom>
          <a:noFill/>
          <a:ln/>
        </p:spPr>
        <p:txBody>
          <a:bodyPr wrap="square" lIns="0" tIns="0" rIns="0" bIns="0" rtlCol="0" anchor="ctr"/>
          <a:lstStyle/>
          <a:p>
            <a:pPr indent="0" marL="0">
              <a:buNone/>
            </a:pPr>
            <a:r>
              <a:rPr lang="en-US" sz="1700" dirty="0">
                <a:solidFill>
                  <a:srgbClr val="000000"/>
                </a:solidFill>
                <a:latin typeface="Calibri" pitchFamily="34" charset="0"/>
                <a:ea typeface="Calibri" pitchFamily="34" charset="-122"/>
                <a:cs typeface="Calibri" pitchFamily="34" charset="-120"/>
              </a:rPr>
              <a:t>🔴</a:t>
            </a:r>
            <a:endParaRPr lang="en-US" sz="1700" dirty="0"/>
          </a:p>
        </p:txBody>
      </p:sp>
      <p:sp>
        <p:nvSpPr>
          <p:cNvPr id="44" name="Text 42"/>
          <p:cNvSpPr txBox="1"/>
          <p:nvPr/>
        </p:nvSpPr>
        <p:spPr>
          <a:xfrm>
            <a:off x="8577072" y="3785616"/>
            <a:ext cx="2651760" cy="329184"/>
          </a:xfrm>
          <a:prstGeom prst="rect">
            <a:avLst/>
          </a:prstGeom>
          <a:noFill/>
          <a:ln/>
        </p:spPr>
        <p:txBody>
          <a:bodyPr wrap="square" lIns="0" tIns="0" rIns="0" bIns="0" rtlCol="0" anchor="ctr"/>
          <a:lstStyle/>
          <a:p>
            <a:pPr indent="0" marL="0">
              <a:buNone/>
            </a:pPr>
            <a:r>
              <a:rPr lang="en-US" sz="1250" b="1" dirty="0">
                <a:solidFill>
                  <a:srgbClr val="B91C1C"/>
                </a:solidFill>
                <a:latin typeface="Cambria" pitchFamily="34" charset="0"/>
                <a:ea typeface="Cambria" pitchFamily="34" charset="-122"/>
                <a:cs typeface="Cambria" pitchFamily="34" charset="-120"/>
              </a:rPr>
              <a:t>Clinically important</a:t>
            </a:r>
            <a:endParaRPr lang="en-US" sz="1250" dirty="0"/>
          </a:p>
        </p:txBody>
      </p:sp>
      <p:sp>
        <p:nvSpPr>
          <p:cNvPr id="45" name="Text 43"/>
          <p:cNvSpPr txBox="1"/>
          <p:nvPr/>
        </p:nvSpPr>
        <p:spPr>
          <a:xfrm>
            <a:off x="8138160" y="4224528"/>
            <a:ext cx="3063240" cy="640080"/>
          </a:xfrm>
          <a:prstGeom prst="rect">
            <a:avLst/>
          </a:prstGeom>
          <a:noFill/>
          <a:ln/>
        </p:spPr>
        <p:txBody>
          <a:bodyPr wrap="square" lIns="0" tIns="0" rIns="0" bIns="0" rtlCol="0" anchor="ctr"/>
          <a:lstStyle/>
          <a:p>
            <a:pPr indent="0" marL="0">
              <a:lnSpc>
                <a:spcPts val="1500"/>
              </a:lnSpc>
              <a:buNone/>
            </a:pPr>
            <a:r>
              <a:rPr lang="en-US" sz="1100" dirty="0">
                <a:solidFill>
                  <a:srgbClr val="1E293B"/>
                </a:solidFill>
                <a:latin typeface="Calibri" pitchFamily="34" charset="0"/>
                <a:ea typeface="Calibri" pitchFamily="34" charset="-122"/>
                <a:cs typeface="Calibri" pitchFamily="34" charset="-120"/>
              </a:rPr>
              <a:t>Do not dispense without speaking to the prescriber.</a:t>
            </a:r>
            <a:endParaRPr lang="en-US" sz="1100" dirty="0"/>
          </a:p>
        </p:txBody>
      </p:sp>
      <p:sp>
        <p:nvSpPr>
          <p:cNvPr id="46" name="Shape 44"/>
          <p:cNvSpPr/>
          <p:nvPr/>
        </p:nvSpPr>
        <p:spPr>
          <a:xfrm>
            <a:off x="566928" y="5166360"/>
            <a:ext cx="11027664" cy="1005840"/>
          </a:xfrm>
          <a:prstGeom prst="roundRect">
            <a:avLst>
              <a:gd name="adj" fmla="val 5455"/>
            </a:avLst>
          </a:prstGeom>
          <a:solidFill>
            <a:srgbClr val="ECFEFF"/>
          </a:solidFill>
          <a:ln w="12700">
            <a:solidFill>
              <a:srgbClr val="E2E8F0"/>
            </a:solidFill>
            <a:prstDash val="solid"/>
          </a:ln>
        </p:spPr>
      </p:sp>
      <p:sp>
        <p:nvSpPr>
          <p:cNvPr id="47" name="Text 45"/>
          <p:cNvSpPr txBox="1"/>
          <p:nvPr/>
        </p:nvSpPr>
        <p:spPr>
          <a:xfrm>
            <a:off x="886968" y="5349240"/>
            <a:ext cx="10424160" cy="685800"/>
          </a:xfrm>
          <a:prstGeom prst="rect">
            <a:avLst/>
          </a:prstGeom>
          <a:noFill/>
          <a:ln/>
        </p:spPr>
        <p:txBody>
          <a:bodyPr wrap="square" lIns="0" tIns="0" rIns="0" bIns="0" rtlCol="0" anchor="ctr"/>
          <a:lstStyle/>
          <a:p>
            <a:pPr indent="0" marL="0">
              <a:lnSpc>
                <a:spcPts val="1900"/>
              </a:lnSpc>
              <a:buNone/>
            </a:pPr>
            <a:r>
              <a:rPr lang="en-US" sz="1300" dirty="0">
                <a:solidFill>
                  <a:srgbClr val="0C4A6E"/>
                </a:solidFill>
                <a:latin typeface="Calibri" pitchFamily="34" charset="0"/>
                <a:ea typeface="Calibri" pitchFamily="34" charset="-122"/>
                <a:cs typeface="Calibri" pitchFamily="34" charset="-120"/>
              </a:rPr>
              <a:t>A good checker also tells you when NOT to worry. Over-warning has a cost: people stop reading the warnings that matter. Amoxicillin and the contraceptive pill is a myth — rifampicin is not.</a:t>
            </a:r>
            <a:endParaRPr lang="en-US" sz="13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84048"/>
            <a:ext cx="10058400" cy="256032"/>
          </a:xfrm>
          <a:prstGeom prst="rect">
            <a:avLst/>
          </a:prstGeom>
          <a:noFill/>
          <a:ln/>
        </p:spPr>
        <p:txBody>
          <a:bodyPr wrap="square" lIns="0" tIns="0" rIns="0" bIns="0" rtlCol="0" anchor="ctr"/>
          <a:lstStyle/>
          <a:p>
            <a:pPr indent="0" marL="0">
              <a:buNone/>
            </a:pPr>
            <a:r>
              <a:rPr lang="en-US" sz="1100" b="1" spc="250" kern="0" dirty="0">
                <a:solidFill>
                  <a:srgbClr val="0E7490"/>
                </a:solidFill>
                <a:latin typeface="Calibri" pitchFamily="34" charset="0"/>
                <a:ea typeface="Calibri" pitchFamily="34" charset="-122"/>
                <a:cs typeface="Calibri" pitchFamily="34" charset="-120"/>
              </a:rPr>
              <a:t>Worked example — the triple whammy</a:t>
            </a:r>
            <a:endParaRPr lang="en-US" sz="1100" dirty="0"/>
          </a:p>
        </p:txBody>
      </p:sp>
      <p:sp>
        <p:nvSpPr>
          <p:cNvPr id="3" name="Text 1"/>
          <p:cNvSpPr txBox="1"/>
          <p:nvPr/>
        </p:nvSpPr>
        <p:spPr>
          <a:xfrm>
            <a:off x="566928" y="640080"/>
            <a:ext cx="11064240" cy="548640"/>
          </a:xfrm>
          <a:prstGeom prst="rect">
            <a:avLst/>
          </a:prstGeom>
          <a:noFill/>
          <a:ln/>
        </p:spPr>
        <p:txBody>
          <a:bodyPr wrap="square" lIns="0" tIns="0" rIns="0" bIns="0" rtlCol="0" anchor="t"/>
          <a:lstStyle/>
          <a:p>
            <a:pPr indent="0" marL="0">
              <a:lnSpc>
                <a:spcPts val="3800"/>
              </a:lnSpc>
              <a:buNone/>
            </a:pPr>
            <a:r>
              <a:rPr lang="en-US" sz="3100" b="1" dirty="0">
                <a:solidFill>
                  <a:srgbClr val="0F2B3D"/>
                </a:solidFill>
                <a:latin typeface="Cambria" pitchFamily="34" charset="0"/>
                <a:ea typeface="Cambria" pitchFamily="34" charset="-122"/>
                <a:cs typeface="Cambria" pitchFamily="34" charset="-120"/>
              </a:rPr>
              <a:t>Three drugs, one kidney, no defences left</a:t>
            </a:r>
            <a:endParaRPr lang="en-US" sz="3100" dirty="0"/>
          </a:p>
        </p:txBody>
      </p:sp>
      <p:sp>
        <p:nvSpPr>
          <p:cNvPr id="4" name="Shape 2"/>
          <p:cNvSpPr/>
          <p:nvPr/>
        </p:nvSpPr>
        <p:spPr>
          <a:xfrm>
            <a:off x="566928" y="1554480"/>
            <a:ext cx="3456432" cy="1325880"/>
          </a:xfrm>
          <a:prstGeom prst="roundRect">
            <a:avLst>
              <a:gd name="adj" fmla="val 4138"/>
            </a:avLst>
          </a:prstGeom>
          <a:solidFill>
            <a:srgbClr val="FEE2E2"/>
          </a:solidFill>
          <a:ln w="12700">
            <a:solidFill>
              <a:srgbClr val="E2E8F0"/>
            </a:solidFill>
            <a:prstDash val="solid"/>
          </a:ln>
        </p:spPr>
      </p:sp>
      <p:sp>
        <p:nvSpPr>
          <p:cNvPr id="5" name="Text 3"/>
          <p:cNvSpPr txBox="1"/>
          <p:nvPr/>
        </p:nvSpPr>
        <p:spPr>
          <a:xfrm>
            <a:off x="795528" y="1719072"/>
            <a:ext cx="3017520" cy="310896"/>
          </a:xfrm>
          <a:prstGeom prst="rect">
            <a:avLst/>
          </a:prstGeom>
          <a:noFill/>
          <a:ln/>
        </p:spPr>
        <p:txBody>
          <a:bodyPr wrap="square" lIns="0" tIns="0" rIns="0" bIns="0" rtlCol="0" anchor="ctr"/>
          <a:lstStyle/>
          <a:p>
            <a:pPr indent="0" marL="0">
              <a:buNone/>
            </a:pPr>
            <a:r>
              <a:rPr lang="en-US" sz="1500" b="1" dirty="0">
                <a:solidFill>
                  <a:srgbClr val="B91C1C"/>
                </a:solidFill>
                <a:latin typeface="Cambria" pitchFamily="34" charset="0"/>
                <a:ea typeface="Cambria" pitchFamily="34" charset="-122"/>
                <a:cs typeface="Cambria" pitchFamily="34" charset="-120"/>
              </a:rPr>
              <a:t>ACE inhibitor</a:t>
            </a:r>
            <a:endParaRPr lang="en-US" sz="1500" dirty="0"/>
          </a:p>
        </p:txBody>
      </p:sp>
      <p:sp>
        <p:nvSpPr>
          <p:cNvPr id="6" name="Text 4"/>
          <p:cNvSpPr txBox="1"/>
          <p:nvPr/>
        </p:nvSpPr>
        <p:spPr>
          <a:xfrm>
            <a:off x="795528" y="2066544"/>
            <a:ext cx="3035808" cy="685800"/>
          </a:xfrm>
          <a:prstGeom prst="rect">
            <a:avLst/>
          </a:prstGeom>
          <a:noFill/>
          <a:ln/>
        </p:spPr>
        <p:txBody>
          <a:bodyPr wrap="square" lIns="0" tIns="0" rIns="0" bIns="0" rtlCol="0" anchor="ctr"/>
          <a:lstStyle/>
          <a:p>
            <a:pPr indent="0" marL="0">
              <a:lnSpc>
                <a:spcPts val="1600"/>
              </a:lnSpc>
              <a:buNone/>
            </a:pPr>
            <a:r>
              <a:rPr lang="en-US" sz="1200" dirty="0">
                <a:solidFill>
                  <a:srgbClr val="7F1D1D"/>
                </a:solidFill>
                <a:latin typeface="Calibri" pitchFamily="34" charset="0"/>
                <a:ea typeface="Calibri" pitchFamily="34" charset="-122"/>
                <a:cs typeface="Calibri" pitchFamily="34" charset="-120"/>
              </a:rPr>
              <a:t>blocks the vessel LEAVING the glomerulus from narrowing</a:t>
            </a:r>
            <a:endParaRPr lang="en-US" sz="1200" dirty="0"/>
          </a:p>
        </p:txBody>
      </p:sp>
      <p:sp>
        <p:nvSpPr>
          <p:cNvPr id="7" name="Text 5"/>
          <p:cNvSpPr txBox="1"/>
          <p:nvPr/>
        </p:nvSpPr>
        <p:spPr>
          <a:xfrm>
            <a:off x="4005072" y="2011680"/>
            <a:ext cx="274320" cy="274320"/>
          </a:xfrm>
          <a:prstGeom prst="rect">
            <a:avLst/>
          </a:prstGeom>
          <a:noFill/>
          <a:ln/>
        </p:spPr>
        <p:txBody>
          <a:bodyPr wrap="square" lIns="0" tIns="0" rIns="0" bIns="0" rtlCol="0" anchor="ctr"/>
          <a:lstStyle/>
          <a:p>
            <a:pPr algn="ctr" indent="0" marL="0">
              <a:buNone/>
            </a:pPr>
            <a:r>
              <a:rPr lang="en-US" sz="1900" b="1" dirty="0">
                <a:solidFill>
                  <a:srgbClr val="B91C1C"/>
                </a:solidFill>
                <a:latin typeface="Calibri" pitchFamily="34" charset="0"/>
                <a:ea typeface="Calibri" pitchFamily="34" charset="-122"/>
                <a:cs typeface="Calibri" pitchFamily="34" charset="-120"/>
              </a:rPr>
              <a:t>+</a:t>
            </a:r>
            <a:endParaRPr lang="en-US" sz="1900" dirty="0"/>
          </a:p>
        </p:txBody>
      </p:sp>
      <p:sp>
        <p:nvSpPr>
          <p:cNvPr id="8" name="Shape 6"/>
          <p:cNvSpPr/>
          <p:nvPr/>
        </p:nvSpPr>
        <p:spPr>
          <a:xfrm>
            <a:off x="4251960" y="1554480"/>
            <a:ext cx="3456432" cy="1325880"/>
          </a:xfrm>
          <a:prstGeom prst="roundRect">
            <a:avLst>
              <a:gd name="adj" fmla="val 4138"/>
            </a:avLst>
          </a:prstGeom>
          <a:solidFill>
            <a:srgbClr val="FEE2E2"/>
          </a:solidFill>
          <a:ln w="12700">
            <a:solidFill>
              <a:srgbClr val="E2E8F0"/>
            </a:solidFill>
            <a:prstDash val="solid"/>
          </a:ln>
        </p:spPr>
      </p:sp>
      <p:sp>
        <p:nvSpPr>
          <p:cNvPr id="9" name="Text 7"/>
          <p:cNvSpPr txBox="1"/>
          <p:nvPr/>
        </p:nvSpPr>
        <p:spPr>
          <a:xfrm>
            <a:off x="4480560" y="1719072"/>
            <a:ext cx="3017520" cy="310896"/>
          </a:xfrm>
          <a:prstGeom prst="rect">
            <a:avLst/>
          </a:prstGeom>
          <a:noFill/>
          <a:ln/>
        </p:spPr>
        <p:txBody>
          <a:bodyPr wrap="square" lIns="0" tIns="0" rIns="0" bIns="0" rtlCol="0" anchor="ctr"/>
          <a:lstStyle/>
          <a:p>
            <a:pPr indent="0" marL="0">
              <a:buNone/>
            </a:pPr>
            <a:r>
              <a:rPr lang="en-US" sz="1500" b="1" dirty="0">
                <a:solidFill>
                  <a:srgbClr val="B91C1C"/>
                </a:solidFill>
                <a:latin typeface="Cambria" pitchFamily="34" charset="0"/>
                <a:ea typeface="Cambria" pitchFamily="34" charset="-122"/>
                <a:cs typeface="Cambria" pitchFamily="34" charset="-120"/>
              </a:rPr>
              <a:t>NSAID</a:t>
            </a:r>
            <a:endParaRPr lang="en-US" sz="1500" dirty="0"/>
          </a:p>
        </p:txBody>
      </p:sp>
      <p:sp>
        <p:nvSpPr>
          <p:cNvPr id="10" name="Text 8"/>
          <p:cNvSpPr txBox="1"/>
          <p:nvPr/>
        </p:nvSpPr>
        <p:spPr>
          <a:xfrm>
            <a:off x="4480560" y="2066544"/>
            <a:ext cx="3035808" cy="685800"/>
          </a:xfrm>
          <a:prstGeom prst="rect">
            <a:avLst/>
          </a:prstGeom>
          <a:noFill/>
          <a:ln/>
        </p:spPr>
        <p:txBody>
          <a:bodyPr wrap="square" lIns="0" tIns="0" rIns="0" bIns="0" rtlCol="0" anchor="ctr"/>
          <a:lstStyle/>
          <a:p>
            <a:pPr indent="0" marL="0">
              <a:lnSpc>
                <a:spcPts val="1600"/>
              </a:lnSpc>
              <a:buNone/>
            </a:pPr>
            <a:r>
              <a:rPr lang="en-US" sz="1200" dirty="0">
                <a:solidFill>
                  <a:srgbClr val="7F1D1D"/>
                </a:solidFill>
                <a:latin typeface="Calibri" pitchFamily="34" charset="0"/>
                <a:ea typeface="Calibri" pitchFamily="34" charset="-122"/>
                <a:cs typeface="Calibri" pitchFamily="34" charset="-120"/>
              </a:rPr>
              <a:t>blocks the vessel ENTERING it from widening</a:t>
            </a:r>
            <a:endParaRPr lang="en-US" sz="1200" dirty="0"/>
          </a:p>
        </p:txBody>
      </p:sp>
      <p:sp>
        <p:nvSpPr>
          <p:cNvPr id="11" name="Text 9"/>
          <p:cNvSpPr txBox="1"/>
          <p:nvPr/>
        </p:nvSpPr>
        <p:spPr>
          <a:xfrm>
            <a:off x="7690104" y="2011680"/>
            <a:ext cx="274320" cy="274320"/>
          </a:xfrm>
          <a:prstGeom prst="rect">
            <a:avLst/>
          </a:prstGeom>
          <a:noFill/>
          <a:ln/>
        </p:spPr>
        <p:txBody>
          <a:bodyPr wrap="square" lIns="0" tIns="0" rIns="0" bIns="0" rtlCol="0" anchor="ctr"/>
          <a:lstStyle/>
          <a:p>
            <a:pPr algn="ctr" indent="0" marL="0">
              <a:buNone/>
            </a:pPr>
            <a:r>
              <a:rPr lang="en-US" sz="1900" b="1" dirty="0">
                <a:solidFill>
                  <a:srgbClr val="B91C1C"/>
                </a:solidFill>
                <a:latin typeface="Calibri" pitchFamily="34" charset="0"/>
                <a:ea typeface="Calibri" pitchFamily="34" charset="-122"/>
                <a:cs typeface="Calibri" pitchFamily="34" charset="-120"/>
              </a:rPr>
              <a:t>+</a:t>
            </a:r>
            <a:endParaRPr lang="en-US" sz="1900" dirty="0"/>
          </a:p>
        </p:txBody>
      </p:sp>
      <p:sp>
        <p:nvSpPr>
          <p:cNvPr id="12" name="Shape 10"/>
          <p:cNvSpPr/>
          <p:nvPr/>
        </p:nvSpPr>
        <p:spPr>
          <a:xfrm>
            <a:off x="7936992" y="1554480"/>
            <a:ext cx="3456432" cy="1325880"/>
          </a:xfrm>
          <a:prstGeom prst="roundRect">
            <a:avLst>
              <a:gd name="adj" fmla="val 4138"/>
            </a:avLst>
          </a:prstGeom>
          <a:solidFill>
            <a:srgbClr val="FEE2E2"/>
          </a:solidFill>
          <a:ln w="12700">
            <a:solidFill>
              <a:srgbClr val="E2E8F0"/>
            </a:solidFill>
            <a:prstDash val="solid"/>
          </a:ln>
        </p:spPr>
      </p:sp>
      <p:sp>
        <p:nvSpPr>
          <p:cNvPr id="13" name="Text 11"/>
          <p:cNvSpPr txBox="1"/>
          <p:nvPr/>
        </p:nvSpPr>
        <p:spPr>
          <a:xfrm>
            <a:off x="8165592" y="1719072"/>
            <a:ext cx="3017520" cy="310896"/>
          </a:xfrm>
          <a:prstGeom prst="rect">
            <a:avLst/>
          </a:prstGeom>
          <a:noFill/>
          <a:ln/>
        </p:spPr>
        <p:txBody>
          <a:bodyPr wrap="square" lIns="0" tIns="0" rIns="0" bIns="0" rtlCol="0" anchor="ctr"/>
          <a:lstStyle/>
          <a:p>
            <a:pPr indent="0" marL="0">
              <a:buNone/>
            </a:pPr>
            <a:r>
              <a:rPr lang="en-US" sz="1500" b="1" dirty="0">
                <a:solidFill>
                  <a:srgbClr val="B91C1C"/>
                </a:solidFill>
                <a:latin typeface="Cambria" pitchFamily="34" charset="0"/>
                <a:ea typeface="Cambria" pitchFamily="34" charset="-122"/>
                <a:cs typeface="Cambria" pitchFamily="34" charset="-120"/>
              </a:rPr>
              <a:t>Diuretic</a:t>
            </a:r>
            <a:endParaRPr lang="en-US" sz="1500" dirty="0"/>
          </a:p>
        </p:txBody>
      </p:sp>
      <p:sp>
        <p:nvSpPr>
          <p:cNvPr id="14" name="Text 12"/>
          <p:cNvSpPr txBox="1"/>
          <p:nvPr/>
        </p:nvSpPr>
        <p:spPr>
          <a:xfrm>
            <a:off x="8165592" y="2066544"/>
            <a:ext cx="3035808" cy="685800"/>
          </a:xfrm>
          <a:prstGeom prst="rect">
            <a:avLst/>
          </a:prstGeom>
          <a:noFill/>
          <a:ln/>
        </p:spPr>
        <p:txBody>
          <a:bodyPr wrap="square" lIns="0" tIns="0" rIns="0" bIns="0" rtlCol="0" anchor="ctr"/>
          <a:lstStyle/>
          <a:p>
            <a:pPr indent="0" marL="0">
              <a:lnSpc>
                <a:spcPts val="1600"/>
              </a:lnSpc>
              <a:buNone/>
            </a:pPr>
            <a:r>
              <a:rPr lang="en-US" sz="1200" dirty="0">
                <a:solidFill>
                  <a:srgbClr val="7F1D1D"/>
                </a:solidFill>
                <a:latin typeface="Calibri" pitchFamily="34" charset="0"/>
                <a:ea typeface="Calibri" pitchFamily="34" charset="-122"/>
                <a:cs typeface="Calibri" pitchFamily="34" charset="-120"/>
              </a:rPr>
              <a:t>removes the circulating volume the kidney needed</a:t>
            </a:r>
            <a:endParaRPr lang="en-US" sz="1200" dirty="0"/>
          </a:p>
        </p:txBody>
      </p:sp>
      <p:sp>
        <p:nvSpPr>
          <p:cNvPr id="15" name="Text 13"/>
          <p:cNvSpPr txBox="1"/>
          <p:nvPr/>
        </p:nvSpPr>
        <p:spPr>
          <a:xfrm>
            <a:off x="5852160" y="2907792"/>
            <a:ext cx="457200" cy="329184"/>
          </a:xfrm>
          <a:prstGeom prst="rect">
            <a:avLst/>
          </a:prstGeom>
          <a:noFill/>
          <a:ln/>
        </p:spPr>
        <p:txBody>
          <a:bodyPr wrap="square" lIns="0" tIns="0" rIns="0" bIns="0" rtlCol="0" anchor="ctr"/>
          <a:lstStyle/>
          <a:p>
            <a:pPr algn="ctr" indent="0" marL="0">
              <a:buNone/>
            </a:pPr>
            <a:r>
              <a:rPr lang="en-US" sz="2200" dirty="0">
                <a:solidFill>
                  <a:srgbClr val="B91C1C"/>
                </a:solidFill>
                <a:latin typeface="Calibri" pitchFamily="34" charset="0"/>
                <a:ea typeface="Calibri" pitchFamily="34" charset="-122"/>
                <a:cs typeface="Calibri" pitchFamily="34" charset="-120"/>
              </a:rPr>
              <a:t>↓</a:t>
            </a:r>
            <a:endParaRPr lang="en-US" sz="2200" dirty="0"/>
          </a:p>
        </p:txBody>
      </p:sp>
      <p:sp>
        <p:nvSpPr>
          <p:cNvPr id="16" name="Shape 14"/>
          <p:cNvSpPr/>
          <p:nvPr/>
        </p:nvSpPr>
        <p:spPr>
          <a:xfrm>
            <a:off x="566928" y="3255264"/>
            <a:ext cx="11027664" cy="822960"/>
          </a:xfrm>
          <a:prstGeom prst="roundRect">
            <a:avLst>
              <a:gd name="adj" fmla="val 6667"/>
            </a:avLst>
          </a:prstGeom>
          <a:solidFill>
            <a:srgbClr val="0F2B3D"/>
          </a:solidFill>
          <a:ln w="12700">
            <a:solidFill>
              <a:srgbClr val="E2E8F0"/>
            </a:solidFill>
            <a:prstDash val="solid"/>
          </a:ln>
        </p:spPr>
      </p:sp>
      <p:sp>
        <p:nvSpPr>
          <p:cNvPr id="17" name="Text 15"/>
          <p:cNvSpPr txBox="1"/>
          <p:nvPr/>
        </p:nvSpPr>
        <p:spPr>
          <a:xfrm>
            <a:off x="566928" y="3255264"/>
            <a:ext cx="11027664" cy="822960"/>
          </a:xfrm>
          <a:prstGeom prst="rect">
            <a:avLst/>
          </a:prstGeom>
          <a:noFill/>
          <a:ln/>
        </p:spPr>
        <p:txBody>
          <a:bodyPr wrap="square" lIns="0" tIns="0" rIns="0" bIns="0" rtlCol="0" anchor="ctr"/>
          <a:lstStyle/>
          <a:p>
            <a:pPr algn="ctr" indent="0" marL="0">
              <a:buNone/>
            </a:pPr>
            <a:r>
              <a:rPr lang="en-US" sz="1900" b="1" dirty="0">
                <a:solidFill>
                  <a:srgbClr val="FFFFFF"/>
                </a:solidFill>
                <a:latin typeface="Cambria" pitchFamily="34" charset="0"/>
                <a:ea typeface="Cambria" pitchFamily="34" charset="-122"/>
                <a:cs typeface="Cambria" pitchFamily="34" charset="-120"/>
              </a:rPr>
              <a:t>Acute kidney injury — one of the most preventable causes in general practice</a:t>
            </a:r>
            <a:endParaRPr lang="en-US" sz="1900" dirty="0"/>
          </a:p>
        </p:txBody>
      </p:sp>
      <p:sp>
        <p:nvSpPr>
          <p:cNvPr id="18" name="Text 16"/>
          <p:cNvSpPr txBox="1"/>
          <p:nvPr/>
        </p:nvSpPr>
        <p:spPr>
          <a:xfrm>
            <a:off x="566928" y="4224528"/>
            <a:ext cx="5486400" cy="292608"/>
          </a:xfrm>
          <a:prstGeom prst="rect">
            <a:avLst/>
          </a:prstGeom>
          <a:noFill/>
          <a:ln/>
        </p:spPr>
        <p:txBody>
          <a:bodyPr wrap="square" lIns="0" tIns="0" rIns="0" bIns="0" rtlCol="0" anchor="t"/>
          <a:lstStyle/>
          <a:p>
            <a:pPr indent="0" marL="0">
              <a:buNone/>
            </a:pPr>
            <a:r>
              <a:rPr lang="en-US" sz="1500" b="1" dirty="0">
                <a:solidFill>
                  <a:srgbClr val="15803D"/>
                </a:solidFill>
                <a:latin typeface="Cambria" pitchFamily="34" charset="0"/>
                <a:ea typeface="Cambria" pitchFamily="34" charset="-122"/>
                <a:cs typeface="Cambria" pitchFamily="34" charset="-120"/>
              </a:rPr>
              <a:t>What the pharmacist does</a:t>
            </a:r>
            <a:endParaRPr lang="en-US" sz="1500" dirty="0"/>
          </a:p>
        </p:txBody>
      </p:sp>
      <p:sp>
        <p:nvSpPr>
          <p:cNvPr id="19" name="Text 17"/>
          <p:cNvSpPr txBox="1"/>
          <p:nvPr/>
        </p:nvSpPr>
        <p:spPr>
          <a:xfrm>
            <a:off x="566928" y="4572000"/>
            <a:ext cx="5486400" cy="1783080"/>
          </a:xfrm>
          <a:prstGeom prst="rect">
            <a:avLst/>
          </a:prstGeom>
          <a:noFill/>
          <a:ln/>
        </p:spPr>
        <p:txBody>
          <a:bodyPr wrap="square" lIns="0" tIns="0" rIns="0" bIns="0" rtlCol="0" anchor="t"/>
          <a:lstStyle/>
          <a:p>
            <a:pPr marL="342900" indent="-342900">
              <a:lnSpc>
                <a:spcPts val="1700"/>
              </a:lnSpc>
              <a:spcAft>
                <a:spcPts val="600"/>
              </a:spcAft>
              <a:buSzPct val="100000"/>
              <a:buChar char="•"/>
            </a:pPr>
            <a:r>
              <a:rPr lang="en-US" sz="1180" dirty="0">
                <a:solidFill>
                  <a:srgbClr val="1E293B"/>
                </a:solidFill>
                <a:latin typeface="Calibri" pitchFamily="34" charset="0"/>
                <a:ea typeface="Calibri" pitchFamily="34" charset="-122"/>
                <a:cs typeface="Calibri" pitchFamily="34" charset="-120"/>
              </a:rPr>
              <a:t>Check for the third drug. Two of the three are often already on the repeat.</a:t>
            </a:r>
            <a:endParaRPr lang="en-US" sz="1180" dirty="0"/>
          </a:p>
          <a:p>
            <a:pPr marL="342900" indent="-342900">
              <a:lnSpc>
                <a:spcPts val="1700"/>
              </a:lnSpc>
              <a:spcAft>
                <a:spcPts val="600"/>
              </a:spcAft>
              <a:buSzPct val="100000"/>
              <a:buChar char="•"/>
            </a:pPr>
            <a:r>
              <a:rPr lang="en-US" sz="1180" dirty="0">
                <a:solidFill>
                  <a:srgbClr val="1E293B"/>
                </a:solidFill>
                <a:latin typeface="Calibri" pitchFamily="34" charset="0"/>
                <a:ea typeface="Calibri" pitchFamily="34" charset="-122"/>
                <a:cs typeface="Calibri" pitchFamily="34" charset="-120"/>
              </a:rPr>
              <a:t>The third is usually bought over the counter — ask by name, not "any other medicines?".</a:t>
            </a:r>
            <a:endParaRPr lang="en-US" sz="1180" dirty="0"/>
          </a:p>
          <a:p>
            <a:pPr marL="342900" indent="-342900">
              <a:lnSpc>
                <a:spcPts val="1700"/>
              </a:lnSpc>
              <a:spcAft>
                <a:spcPts val="600"/>
              </a:spcAft>
              <a:buSzPct val="100000"/>
              <a:buChar char="•"/>
            </a:pPr>
            <a:r>
              <a:rPr lang="en-US" sz="1180" dirty="0">
                <a:solidFill>
                  <a:srgbClr val="1E293B"/>
                </a:solidFill>
                <a:latin typeface="Calibri" pitchFamily="34" charset="0"/>
                <a:ea typeface="Calibri" pitchFamily="34" charset="-122"/>
                <a:cs typeface="Calibri" pitchFamily="34" charset="-120"/>
              </a:rPr>
              <a:t>Check creatinine, eGFR and potassium.</a:t>
            </a:r>
            <a:endParaRPr lang="en-US" sz="1180" dirty="0"/>
          </a:p>
          <a:p>
            <a:pPr marL="342900" indent="-342900">
              <a:lnSpc>
                <a:spcPts val="1700"/>
              </a:lnSpc>
              <a:spcAft>
                <a:spcPts val="600"/>
              </a:spcAft>
              <a:buSzPct val="100000"/>
              <a:buChar char="•"/>
            </a:pPr>
            <a:r>
              <a:rPr lang="en-US" sz="1180" dirty="0">
                <a:solidFill>
                  <a:srgbClr val="1E293B"/>
                </a:solidFill>
                <a:latin typeface="Calibri" pitchFamily="34" charset="0"/>
                <a:ea typeface="Calibri" pitchFamily="34" charset="-122"/>
                <a:cs typeface="Calibri" pitchFamily="34" charset="-120"/>
              </a:rPr>
              <a:t>Sick-day rules: hold all three if the patient becomes dehydrated.</a:t>
            </a:r>
            <a:endParaRPr lang="en-US" sz="1180" dirty="0"/>
          </a:p>
          <a:p>
            <a:pPr marL="342900" indent="-342900">
              <a:lnSpc>
                <a:spcPts val="1700"/>
              </a:lnSpc>
              <a:spcAft>
                <a:spcPts val="600"/>
              </a:spcAft>
              <a:buSzPct val="100000"/>
              <a:buChar char="•"/>
            </a:pPr>
            <a:r>
              <a:rPr lang="en-US" sz="1180" dirty="0">
                <a:solidFill>
                  <a:srgbClr val="1E293B"/>
                </a:solidFill>
                <a:latin typeface="Calibri" pitchFamily="34" charset="0"/>
                <a:ea typeface="Calibri" pitchFamily="34" charset="-122"/>
                <a:cs typeface="Calibri" pitchFamily="34" charset="-120"/>
              </a:rPr>
              <a:t>Paracetamol instead, wherever the indication allows.</a:t>
            </a:r>
            <a:endParaRPr lang="en-US" sz="1180" dirty="0"/>
          </a:p>
        </p:txBody>
      </p:sp>
      <p:sp>
        <p:nvSpPr>
          <p:cNvPr id="20" name="Shape 18"/>
          <p:cNvSpPr/>
          <p:nvPr/>
        </p:nvSpPr>
        <p:spPr>
          <a:xfrm>
            <a:off x="6309360" y="4206240"/>
            <a:ext cx="5285232" cy="2157984"/>
          </a:xfrm>
          <a:prstGeom prst="roundRect">
            <a:avLst>
              <a:gd name="adj" fmla="val 2542"/>
            </a:avLst>
          </a:prstGeom>
          <a:solidFill>
            <a:srgbClr val="FEF3C7"/>
          </a:solidFill>
          <a:ln w="12700">
            <a:solidFill>
              <a:srgbClr val="E2E8F0"/>
            </a:solidFill>
            <a:prstDash val="solid"/>
          </a:ln>
        </p:spPr>
      </p:sp>
      <p:sp>
        <p:nvSpPr>
          <p:cNvPr id="21" name="Text 19"/>
          <p:cNvSpPr txBox="1"/>
          <p:nvPr/>
        </p:nvSpPr>
        <p:spPr>
          <a:xfrm>
            <a:off x="6565392" y="4389120"/>
            <a:ext cx="4754880" cy="292608"/>
          </a:xfrm>
          <a:prstGeom prst="rect">
            <a:avLst/>
          </a:prstGeom>
          <a:noFill/>
          <a:ln/>
        </p:spPr>
        <p:txBody>
          <a:bodyPr wrap="square" lIns="0" tIns="0" rIns="0" bIns="0" rtlCol="0" anchor="t"/>
          <a:lstStyle/>
          <a:p>
            <a:pPr indent="0" marL="0">
              <a:buNone/>
            </a:pPr>
            <a:r>
              <a:rPr lang="en-US" sz="1350" b="1" dirty="0">
                <a:solidFill>
                  <a:srgbClr val="78350F"/>
                </a:solidFill>
                <a:latin typeface="Cambria" pitchFamily="34" charset="0"/>
                <a:ea typeface="Cambria" pitchFamily="34" charset="-122"/>
                <a:cs typeface="Cambria" pitchFamily="34" charset="-120"/>
              </a:rPr>
              <a:t>Why patients assemble this themselves</a:t>
            </a:r>
            <a:endParaRPr lang="en-US" sz="1350" dirty="0"/>
          </a:p>
        </p:txBody>
      </p:sp>
      <p:sp>
        <p:nvSpPr>
          <p:cNvPr id="22" name="Text 20"/>
          <p:cNvSpPr txBox="1"/>
          <p:nvPr/>
        </p:nvSpPr>
        <p:spPr>
          <a:xfrm>
            <a:off x="6565392" y="4754880"/>
            <a:ext cx="4791456" cy="1463040"/>
          </a:xfrm>
          <a:prstGeom prst="rect">
            <a:avLst/>
          </a:prstGeom>
          <a:noFill/>
          <a:ln/>
        </p:spPr>
        <p:txBody>
          <a:bodyPr wrap="square" lIns="0" tIns="0" rIns="0" bIns="0" rtlCol="0" anchor="t"/>
          <a:lstStyle/>
          <a:p>
            <a:pPr indent="0" marL="0">
              <a:lnSpc>
                <a:spcPts val="1700"/>
              </a:lnSpc>
              <a:buNone/>
            </a:pPr>
            <a:r>
              <a:rPr lang="en-US" sz="1200" dirty="0">
                <a:solidFill>
                  <a:srgbClr val="78350F"/>
                </a:solidFill>
                <a:latin typeface="Calibri" pitchFamily="34" charset="0"/>
                <a:ea typeface="Calibri" pitchFamily="34" charset="-122"/>
                <a:cs typeface="Calibri" pitchFamily="34" charset="-120"/>
              </a:rPr>
              <a:t>The blood pressure tablets came from the surgery. The painkiller came from a shop, for a bad knee, and does not feel like a medicine. Neither prescriber ever saw all three together. You might be the only person who does.</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84048"/>
            <a:ext cx="10058400" cy="256032"/>
          </a:xfrm>
          <a:prstGeom prst="rect">
            <a:avLst/>
          </a:prstGeom>
          <a:noFill/>
          <a:ln/>
        </p:spPr>
        <p:txBody>
          <a:bodyPr wrap="square" lIns="0" tIns="0" rIns="0" bIns="0" rtlCol="0" anchor="ctr"/>
          <a:lstStyle/>
          <a:p>
            <a:pPr indent="0" marL="0">
              <a:buNone/>
            </a:pPr>
            <a:r>
              <a:rPr lang="en-US" sz="1100" b="1" spc="250" kern="0" dirty="0">
                <a:solidFill>
                  <a:srgbClr val="0E7490"/>
                </a:solidFill>
                <a:latin typeface="Calibri" pitchFamily="34" charset="0"/>
                <a:ea typeface="Calibri" pitchFamily="34" charset="-122"/>
                <a:cs typeface="Calibri" pitchFamily="34" charset="-120"/>
              </a:rPr>
              <a:t>Drug–disease and patient factors</a:t>
            </a:r>
            <a:endParaRPr lang="en-US" sz="1100" dirty="0"/>
          </a:p>
        </p:txBody>
      </p:sp>
      <p:sp>
        <p:nvSpPr>
          <p:cNvPr id="3" name="Text 1"/>
          <p:cNvSpPr txBox="1"/>
          <p:nvPr/>
        </p:nvSpPr>
        <p:spPr>
          <a:xfrm>
            <a:off x="566928" y="640080"/>
            <a:ext cx="11064240" cy="786384"/>
          </a:xfrm>
          <a:prstGeom prst="rect">
            <a:avLst/>
          </a:prstGeom>
          <a:noFill/>
          <a:ln/>
        </p:spPr>
        <p:txBody>
          <a:bodyPr wrap="square" lIns="0" tIns="0" rIns="0" bIns="0" rtlCol="0" anchor="t"/>
          <a:lstStyle/>
          <a:p>
            <a:pPr indent="0" marL="0">
              <a:lnSpc>
                <a:spcPts val="3200"/>
              </a:lnSpc>
              <a:buNone/>
            </a:pPr>
            <a:r>
              <a:rPr lang="en-US" sz="2500" b="1" dirty="0">
                <a:solidFill>
                  <a:srgbClr val="0F2B3D"/>
                </a:solidFill>
                <a:latin typeface="Cambria" pitchFamily="34" charset="0"/>
                <a:ea typeface="Cambria" pitchFamily="34" charset="-122"/>
                <a:cs typeface="Cambria" pitchFamily="34" charset="-120"/>
              </a:rPr>
              <a:t>Same prescription. Different patient. Different answer.</a:t>
            </a:r>
            <a:endParaRPr lang="en-US" sz="2500" dirty="0"/>
          </a:p>
        </p:txBody>
      </p:sp>
      <p:sp>
        <p:nvSpPr>
          <p:cNvPr id="4" name="Shape 2"/>
          <p:cNvSpPr/>
          <p:nvPr/>
        </p:nvSpPr>
        <p:spPr>
          <a:xfrm>
            <a:off x="566928" y="1298448"/>
            <a:ext cx="11027664" cy="777240"/>
          </a:xfrm>
          <a:prstGeom prst="roundRect">
            <a:avLst>
              <a:gd name="adj" fmla="val 7059"/>
            </a:avLst>
          </a:prstGeom>
          <a:solidFill>
            <a:srgbClr val="0F2B3D"/>
          </a:solidFill>
          <a:ln w="12700">
            <a:solidFill>
              <a:srgbClr val="E2E8F0"/>
            </a:solidFill>
            <a:prstDash val="solid"/>
          </a:ln>
        </p:spPr>
      </p:sp>
      <p:sp>
        <p:nvSpPr>
          <p:cNvPr id="5" name="Text 3"/>
          <p:cNvSpPr txBox="1"/>
          <p:nvPr/>
        </p:nvSpPr>
        <p:spPr>
          <a:xfrm>
            <a:off x="566928" y="1298448"/>
            <a:ext cx="11027664" cy="77724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Never assess a medicine on its own. Assess  drug + patient + disease + other drugs.</a:t>
            </a:r>
            <a:endParaRPr lang="en-US" sz="1800" dirty="0"/>
          </a:p>
        </p:txBody>
      </p:sp>
      <p:sp>
        <p:nvSpPr>
          <p:cNvPr id="6" name="Shape 4"/>
          <p:cNvSpPr/>
          <p:nvPr/>
        </p:nvSpPr>
        <p:spPr>
          <a:xfrm>
            <a:off x="566928" y="2231136"/>
            <a:ext cx="5349240" cy="1152144"/>
          </a:xfrm>
          <a:prstGeom prst="roundRect">
            <a:avLst>
              <a:gd name="adj" fmla="val 4762"/>
            </a:avLst>
          </a:prstGeom>
          <a:solidFill>
            <a:srgbClr val="FEE2E2"/>
          </a:solidFill>
          <a:ln w="12700">
            <a:solidFill>
              <a:srgbClr val="E2E8F0"/>
            </a:solidFill>
            <a:prstDash val="solid"/>
          </a:ln>
        </p:spPr>
      </p:sp>
      <p:sp>
        <p:nvSpPr>
          <p:cNvPr id="7" name="Text 5"/>
          <p:cNvSpPr txBox="1"/>
          <p:nvPr/>
        </p:nvSpPr>
        <p:spPr>
          <a:xfrm>
            <a:off x="795528" y="2359152"/>
            <a:ext cx="4892040" cy="329184"/>
          </a:xfrm>
          <a:prstGeom prst="rect">
            <a:avLst/>
          </a:prstGeom>
          <a:noFill/>
          <a:ln/>
        </p:spPr>
        <p:txBody>
          <a:bodyPr wrap="square" lIns="0" tIns="0" rIns="0" bIns="0" rtlCol="0" anchor="t"/>
          <a:lstStyle/>
          <a:p>
            <a:pPr indent="0" marL="0">
              <a:buNone/>
            </a:pPr>
            <a:r>
              <a:rPr lang="en-US" sz="1300" b="1" dirty="0">
                <a:solidFill>
                  <a:srgbClr val="B91C1C"/>
                </a:solidFill>
                <a:latin typeface="Cambria" pitchFamily="34" charset="0"/>
                <a:ea typeface="Cambria" pitchFamily="34" charset="-122"/>
                <a:cs typeface="Cambria" pitchFamily="34" charset="-120"/>
              </a:rPr>
              <a:t>Diclofenac  +  Asthma</a:t>
            </a:r>
            <a:endParaRPr lang="en-US" sz="1300" dirty="0"/>
          </a:p>
        </p:txBody>
      </p:sp>
      <p:sp>
        <p:nvSpPr>
          <p:cNvPr id="8" name="Text 6"/>
          <p:cNvSpPr txBox="1"/>
          <p:nvPr/>
        </p:nvSpPr>
        <p:spPr>
          <a:xfrm>
            <a:off x="795528" y="2724912"/>
            <a:ext cx="4892040" cy="548640"/>
          </a:xfrm>
          <a:prstGeom prst="rect">
            <a:avLst/>
          </a:prstGeom>
          <a:noFill/>
          <a:ln/>
        </p:spPr>
        <p:txBody>
          <a:bodyPr wrap="square" lIns="0" tIns="0" rIns="0" bIns="0" rtlCol="0" anchor="t"/>
          <a:lstStyle/>
          <a:p>
            <a:pPr indent="0" marL="0">
              <a:lnSpc>
                <a:spcPts val="1500"/>
              </a:lnSpc>
              <a:buNone/>
            </a:pPr>
            <a:r>
              <a:rPr lang="en-US" sz="1150" dirty="0">
                <a:solidFill>
                  <a:srgbClr val="1E293B"/>
                </a:solidFill>
                <a:latin typeface="Calibri" pitchFamily="34" charset="0"/>
                <a:ea typeface="Calibri" pitchFamily="34" charset="-122"/>
                <a:cs typeface="Calibri" pitchFamily="34" charset="-120"/>
              </a:rPr>
              <a:t>Severe, occasionally fatal asthma attack. Cross-reacts across the whole NSAID class.</a:t>
            </a:r>
            <a:endParaRPr lang="en-US" sz="1150" dirty="0"/>
          </a:p>
        </p:txBody>
      </p:sp>
      <p:sp>
        <p:nvSpPr>
          <p:cNvPr id="9" name="Shape 7"/>
          <p:cNvSpPr/>
          <p:nvPr/>
        </p:nvSpPr>
        <p:spPr>
          <a:xfrm>
            <a:off x="6190488" y="2231136"/>
            <a:ext cx="5349240" cy="1152144"/>
          </a:xfrm>
          <a:prstGeom prst="roundRect">
            <a:avLst>
              <a:gd name="adj" fmla="val 4762"/>
            </a:avLst>
          </a:prstGeom>
          <a:solidFill>
            <a:srgbClr val="FEE2E2"/>
          </a:solidFill>
          <a:ln w="12700">
            <a:solidFill>
              <a:srgbClr val="E2E8F0"/>
            </a:solidFill>
            <a:prstDash val="solid"/>
          </a:ln>
        </p:spPr>
      </p:sp>
      <p:sp>
        <p:nvSpPr>
          <p:cNvPr id="10" name="Text 8"/>
          <p:cNvSpPr txBox="1"/>
          <p:nvPr/>
        </p:nvSpPr>
        <p:spPr>
          <a:xfrm>
            <a:off x="6419088" y="2359152"/>
            <a:ext cx="4892040" cy="329184"/>
          </a:xfrm>
          <a:prstGeom prst="rect">
            <a:avLst/>
          </a:prstGeom>
          <a:noFill/>
          <a:ln/>
        </p:spPr>
        <p:txBody>
          <a:bodyPr wrap="square" lIns="0" tIns="0" rIns="0" bIns="0" rtlCol="0" anchor="t"/>
          <a:lstStyle/>
          <a:p>
            <a:pPr indent="0" marL="0">
              <a:buNone/>
            </a:pPr>
            <a:r>
              <a:rPr lang="en-US" sz="1300" b="1" dirty="0">
                <a:solidFill>
                  <a:srgbClr val="B91C1C"/>
                </a:solidFill>
                <a:latin typeface="Cambria" pitchFamily="34" charset="0"/>
                <a:ea typeface="Cambria" pitchFamily="34" charset="-122"/>
                <a:cs typeface="Cambria" pitchFamily="34" charset="-120"/>
              </a:rPr>
              <a:t>Diclofenac  +  Chronic kidney disease</a:t>
            </a:r>
            <a:endParaRPr lang="en-US" sz="1300" dirty="0"/>
          </a:p>
        </p:txBody>
      </p:sp>
      <p:sp>
        <p:nvSpPr>
          <p:cNvPr id="11" name="Text 9"/>
          <p:cNvSpPr txBox="1"/>
          <p:nvPr/>
        </p:nvSpPr>
        <p:spPr>
          <a:xfrm>
            <a:off x="6419088" y="2724912"/>
            <a:ext cx="4892040" cy="548640"/>
          </a:xfrm>
          <a:prstGeom prst="rect">
            <a:avLst/>
          </a:prstGeom>
          <a:noFill/>
          <a:ln/>
        </p:spPr>
        <p:txBody>
          <a:bodyPr wrap="square" lIns="0" tIns="0" rIns="0" bIns="0" rtlCol="0" anchor="t"/>
          <a:lstStyle/>
          <a:p>
            <a:pPr indent="0" marL="0">
              <a:lnSpc>
                <a:spcPts val="1500"/>
              </a:lnSpc>
              <a:buNone/>
            </a:pPr>
            <a:r>
              <a:rPr lang="en-US" sz="1150" dirty="0">
                <a:solidFill>
                  <a:srgbClr val="1E293B"/>
                </a:solidFill>
                <a:latin typeface="Calibri" pitchFamily="34" charset="0"/>
                <a:ea typeface="Calibri" pitchFamily="34" charset="-122"/>
                <a:cs typeface="Calibri" pitchFamily="34" charset="-120"/>
              </a:rPr>
              <a:t>Acute kidney injury, sometimes needing dialysis, and sometimes permanent.</a:t>
            </a:r>
            <a:endParaRPr lang="en-US" sz="1150" dirty="0"/>
          </a:p>
        </p:txBody>
      </p:sp>
      <p:sp>
        <p:nvSpPr>
          <p:cNvPr id="12" name="Shape 10"/>
          <p:cNvSpPr/>
          <p:nvPr/>
        </p:nvSpPr>
        <p:spPr>
          <a:xfrm>
            <a:off x="566928" y="3511296"/>
            <a:ext cx="5349240" cy="1152144"/>
          </a:xfrm>
          <a:prstGeom prst="roundRect">
            <a:avLst>
              <a:gd name="adj" fmla="val 4762"/>
            </a:avLst>
          </a:prstGeom>
          <a:solidFill>
            <a:srgbClr val="FEE2E2"/>
          </a:solidFill>
          <a:ln w="12700">
            <a:solidFill>
              <a:srgbClr val="E2E8F0"/>
            </a:solidFill>
            <a:prstDash val="solid"/>
          </a:ln>
        </p:spPr>
      </p:sp>
      <p:sp>
        <p:nvSpPr>
          <p:cNvPr id="13" name="Text 11"/>
          <p:cNvSpPr txBox="1"/>
          <p:nvPr/>
        </p:nvSpPr>
        <p:spPr>
          <a:xfrm>
            <a:off x="795528" y="3639312"/>
            <a:ext cx="4892040" cy="329184"/>
          </a:xfrm>
          <a:prstGeom prst="rect">
            <a:avLst/>
          </a:prstGeom>
          <a:noFill/>
          <a:ln/>
        </p:spPr>
        <p:txBody>
          <a:bodyPr wrap="square" lIns="0" tIns="0" rIns="0" bIns="0" rtlCol="0" anchor="t"/>
          <a:lstStyle/>
          <a:p>
            <a:pPr indent="0" marL="0">
              <a:buNone/>
            </a:pPr>
            <a:r>
              <a:rPr lang="en-US" sz="1300" b="1" dirty="0">
                <a:solidFill>
                  <a:srgbClr val="B91C1C"/>
                </a:solidFill>
                <a:latin typeface="Cambria" pitchFamily="34" charset="0"/>
                <a:ea typeface="Cambria" pitchFamily="34" charset="-122"/>
                <a:cs typeface="Cambria" pitchFamily="34" charset="-120"/>
              </a:rPr>
              <a:t>Diclofenac  +  Heart failure</a:t>
            </a:r>
            <a:endParaRPr lang="en-US" sz="1300" dirty="0"/>
          </a:p>
        </p:txBody>
      </p:sp>
      <p:sp>
        <p:nvSpPr>
          <p:cNvPr id="14" name="Text 12"/>
          <p:cNvSpPr txBox="1"/>
          <p:nvPr/>
        </p:nvSpPr>
        <p:spPr>
          <a:xfrm>
            <a:off x="795528" y="4005072"/>
            <a:ext cx="4892040" cy="548640"/>
          </a:xfrm>
          <a:prstGeom prst="rect">
            <a:avLst/>
          </a:prstGeom>
          <a:noFill/>
          <a:ln/>
        </p:spPr>
        <p:txBody>
          <a:bodyPr wrap="square" lIns="0" tIns="0" rIns="0" bIns="0" rtlCol="0" anchor="t"/>
          <a:lstStyle/>
          <a:p>
            <a:pPr indent="0" marL="0">
              <a:lnSpc>
                <a:spcPts val="1500"/>
              </a:lnSpc>
              <a:buNone/>
            </a:pPr>
            <a:r>
              <a:rPr lang="en-US" sz="1150" dirty="0">
                <a:solidFill>
                  <a:srgbClr val="1E293B"/>
                </a:solidFill>
                <a:latin typeface="Calibri" pitchFamily="34" charset="0"/>
                <a:ea typeface="Calibri" pitchFamily="34" charset="-122"/>
                <a:cs typeface="Calibri" pitchFamily="34" charset="-120"/>
              </a:rPr>
              <a:t>Breathlessness, ankle and leg swelling, weight gain, admission for decompensated heart failure.</a:t>
            </a:r>
            <a:endParaRPr lang="en-US" sz="1150" dirty="0"/>
          </a:p>
        </p:txBody>
      </p:sp>
      <p:sp>
        <p:nvSpPr>
          <p:cNvPr id="15" name="Shape 13"/>
          <p:cNvSpPr/>
          <p:nvPr/>
        </p:nvSpPr>
        <p:spPr>
          <a:xfrm>
            <a:off x="6190488" y="3511296"/>
            <a:ext cx="5349240" cy="1152144"/>
          </a:xfrm>
          <a:prstGeom prst="roundRect">
            <a:avLst>
              <a:gd name="adj" fmla="val 4762"/>
            </a:avLst>
          </a:prstGeom>
          <a:solidFill>
            <a:srgbClr val="FEE2E2"/>
          </a:solidFill>
          <a:ln w="12700">
            <a:solidFill>
              <a:srgbClr val="E2E8F0"/>
            </a:solidFill>
            <a:prstDash val="solid"/>
          </a:ln>
        </p:spPr>
      </p:sp>
      <p:sp>
        <p:nvSpPr>
          <p:cNvPr id="16" name="Text 14"/>
          <p:cNvSpPr txBox="1"/>
          <p:nvPr/>
        </p:nvSpPr>
        <p:spPr>
          <a:xfrm>
            <a:off x="6419088" y="3639312"/>
            <a:ext cx="4892040" cy="329184"/>
          </a:xfrm>
          <a:prstGeom prst="rect">
            <a:avLst/>
          </a:prstGeom>
          <a:noFill/>
          <a:ln/>
        </p:spPr>
        <p:txBody>
          <a:bodyPr wrap="square" lIns="0" tIns="0" rIns="0" bIns="0" rtlCol="0" anchor="t"/>
          <a:lstStyle/>
          <a:p>
            <a:pPr indent="0" marL="0">
              <a:buNone/>
            </a:pPr>
            <a:r>
              <a:rPr lang="en-US" sz="1300" b="1" dirty="0">
                <a:solidFill>
                  <a:srgbClr val="B91C1C"/>
                </a:solidFill>
                <a:latin typeface="Cambria" pitchFamily="34" charset="0"/>
                <a:ea typeface="Cambria" pitchFamily="34" charset="-122"/>
                <a:cs typeface="Cambria" pitchFamily="34" charset="-120"/>
              </a:rPr>
              <a:t>Diclofenac  +  Peptic ulcer disease</a:t>
            </a:r>
            <a:endParaRPr lang="en-US" sz="1300" dirty="0"/>
          </a:p>
        </p:txBody>
      </p:sp>
      <p:sp>
        <p:nvSpPr>
          <p:cNvPr id="17" name="Text 15"/>
          <p:cNvSpPr txBox="1"/>
          <p:nvPr/>
        </p:nvSpPr>
        <p:spPr>
          <a:xfrm>
            <a:off x="6419088" y="4005072"/>
            <a:ext cx="4892040" cy="548640"/>
          </a:xfrm>
          <a:prstGeom prst="rect">
            <a:avLst/>
          </a:prstGeom>
          <a:noFill/>
          <a:ln/>
        </p:spPr>
        <p:txBody>
          <a:bodyPr wrap="square" lIns="0" tIns="0" rIns="0" bIns="0" rtlCol="0" anchor="t"/>
          <a:lstStyle/>
          <a:p>
            <a:pPr indent="0" marL="0">
              <a:lnSpc>
                <a:spcPts val="1500"/>
              </a:lnSpc>
              <a:buNone/>
            </a:pPr>
            <a:r>
              <a:rPr lang="en-US" sz="1150" dirty="0">
                <a:solidFill>
                  <a:srgbClr val="1E293B"/>
                </a:solidFill>
                <a:latin typeface="Calibri" pitchFamily="34" charset="0"/>
                <a:ea typeface="Calibri" pitchFamily="34" charset="-122"/>
                <a:cs typeface="Calibri" pitchFamily="34" charset="-120"/>
              </a:rPr>
              <a:t>Gastrointestinal haemorrhage or perforation.</a:t>
            </a:r>
            <a:endParaRPr lang="en-US" sz="1150" dirty="0"/>
          </a:p>
        </p:txBody>
      </p:sp>
      <p:sp>
        <p:nvSpPr>
          <p:cNvPr id="18" name="Shape 16"/>
          <p:cNvSpPr/>
          <p:nvPr/>
        </p:nvSpPr>
        <p:spPr>
          <a:xfrm>
            <a:off x="566928" y="4791456"/>
            <a:ext cx="5349240" cy="1152144"/>
          </a:xfrm>
          <a:prstGeom prst="roundRect">
            <a:avLst>
              <a:gd name="adj" fmla="val 4762"/>
            </a:avLst>
          </a:prstGeom>
          <a:solidFill>
            <a:srgbClr val="FEE2E2"/>
          </a:solidFill>
          <a:ln w="12700">
            <a:solidFill>
              <a:srgbClr val="E2E8F0"/>
            </a:solidFill>
            <a:prstDash val="solid"/>
          </a:ln>
        </p:spPr>
      </p:sp>
      <p:sp>
        <p:nvSpPr>
          <p:cNvPr id="19" name="Text 17"/>
          <p:cNvSpPr txBox="1"/>
          <p:nvPr/>
        </p:nvSpPr>
        <p:spPr>
          <a:xfrm>
            <a:off x="795528" y="4919472"/>
            <a:ext cx="4892040" cy="329184"/>
          </a:xfrm>
          <a:prstGeom prst="rect">
            <a:avLst/>
          </a:prstGeom>
          <a:noFill/>
          <a:ln/>
        </p:spPr>
        <p:txBody>
          <a:bodyPr wrap="square" lIns="0" tIns="0" rIns="0" bIns="0" rtlCol="0" anchor="t"/>
          <a:lstStyle/>
          <a:p>
            <a:pPr indent="0" marL="0">
              <a:buNone/>
            </a:pPr>
            <a:r>
              <a:rPr lang="en-US" sz="1300" b="1" dirty="0">
                <a:solidFill>
                  <a:srgbClr val="B91C1C"/>
                </a:solidFill>
                <a:latin typeface="Cambria" pitchFamily="34" charset="0"/>
                <a:ea typeface="Cambria" pitchFamily="34" charset="-122"/>
                <a:cs typeface="Cambria" pitchFamily="34" charset="-120"/>
              </a:rPr>
              <a:t>Propranolol  +  Asthma</a:t>
            </a:r>
            <a:endParaRPr lang="en-US" sz="1300" dirty="0"/>
          </a:p>
        </p:txBody>
      </p:sp>
      <p:sp>
        <p:nvSpPr>
          <p:cNvPr id="20" name="Text 18"/>
          <p:cNvSpPr txBox="1"/>
          <p:nvPr/>
        </p:nvSpPr>
        <p:spPr>
          <a:xfrm>
            <a:off x="795528" y="5285232"/>
            <a:ext cx="4892040" cy="548640"/>
          </a:xfrm>
          <a:prstGeom prst="rect">
            <a:avLst/>
          </a:prstGeom>
          <a:noFill/>
          <a:ln/>
        </p:spPr>
        <p:txBody>
          <a:bodyPr wrap="square" lIns="0" tIns="0" rIns="0" bIns="0" rtlCol="0" anchor="t"/>
          <a:lstStyle/>
          <a:p>
            <a:pPr indent="0" marL="0">
              <a:lnSpc>
                <a:spcPts val="1500"/>
              </a:lnSpc>
              <a:buNone/>
            </a:pPr>
            <a:r>
              <a:rPr lang="en-US" sz="1150" dirty="0">
                <a:solidFill>
                  <a:srgbClr val="1E293B"/>
                </a:solidFill>
                <a:latin typeface="Calibri" pitchFamily="34" charset="0"/>
                <a:ea typeface="Calibri" pitchFamily="34" charset="-122"/>
                <a:cs typeface="Calibri" pitchFamily="34" charset="-120"/>
              </a:rPr>
              <a:t>Severe, potentially fatal asthma attack that resists rescue treatment.</a:t>
            </a:r>
            <a:endParaRPr lang="en-US" sz="1150" dirty="0"/>
          </a:p>
        </p:txBody>
      </p:sp>
      <p:sp>
        <p:nvSpPr>
          <p:cNvPr id="21" name="Shape 19"/>
          <p:cNvSpPr/>
          <p:nvPr/>
        </p:nvSpPr>
        <p:spPr>
          <a:xfrm>
            <a:off x="6190488" y="4791456"/>
            <a:ext cx="5349240" cy="1152144"/>
          </a:xfrm>
          <a:prstGeom prst="roundRect">
            <a:avLst>
              <a:gd name="adj" fmla="val 4762"/>
            </a:avLst>
          </a:prstGeom>
          <a:solidFill>
            <a:srgbClr val="FEE2E2"/>
          </a:solidFill>
          <a:ln w="12700">
            <a:solidFill>
              <a:srgbClr val="E2E8F0"/>
            </a:solidFill>
            <a:prstDash val="solid"/>
          </a:ln>
        </p:spPr>
      </p:sp>
      <p:sp>
        <p:nvSpPr>
          <p:cNvPr id="22" name="Text 20"/>
          <p:cNvSpPr txBox="1"/>
          <p:nvPr/>
        </p:nvSpPr>
        <p:spPr>
          <a:xfrm>
            <a:off x="6419088" y="4919472"/>
            <a:ext cx="4892040" cy="329184"/>
          </a:xfrm>
          <a:prstGeom prst="rect">
            <a:avLst/>
          </a:prstGeom>
          <a:noFill/>
          <a:ln/>
        </p:spPr>
        <p:txBody>
          <a:bodyPr wrap="square" lIns="0" tIns="0" rIns="0" bIns="0" rtlCol="0" anchor="t"/>
          <a:lstStyle/>
          <a:p>
            <a:pPr indent="0" marL="0">
              <a:buNone/>
            </a:pPr>
            <a:r>
              <a:rPr lang="en-US" sz="1300" b="1" dirty="0">
                <a:solidFill>
                  <a:srgbClr val="B91C1C"/>
                </a:solidFill>
                <a:latin typeface="Cambria" pitchFamily="34" charset="0"/>
                <a:ea typeface="Cambria" pitchFamily="34" charset="-122"/>
                <a:cs typeface="Cambria" pitchFamily="34" charset="-120"/>
              </a:rPr>
              <a:t>Metformin  +  Acute kidney injury or eGFR below 30</a:t>
            </a:r>
            <a:endParaRPr lang="en-US" sz="1300" dirty="0"/>
          </a:p>
        </p:txBody>
      </p:sp>
      <p:sp>
        <p:nvSpPr>
          <p:cNvPr id="23" name="Text 21"/>
          <p:cNvSpPr txBox="1"/>
          <p:nvPr/>
        </p:nvSpPr>
        <p:spPr>
          <a:xfrm>
            <a:off x="6419088" y="5285232"/>
            <a:ext cx="4892040" cy="548640"/>
          </a:xfrm>
          <a:prstGeom prst="rect">
            <a:avLst/>
          </a:prstGeom>
          <a:noFill/>
          <a:ln/>
        </p:spPr>
        <p:txBody>
          <a:bodyPr wrap="square" lIns="0" tIns="0" rIns="0" bIns="0" rtlCol="0" anchor="t"/>
          <a:lstStyle/>
          <a:p>
            <a:pPr indent="0" marL="0">
              <a:lnSpc>
                <a:spcPts val="1500"/>
              </a:lnSpc>
              <a:buNone/>
            </a:pPr>
            <a:r>
              <a:rPr lang="en-US" sz="1150" dirty="0">
                <a:solidFill>
                  <a:srgbClr val="1E293B"/>
                </a:solidFill>
                <a:latin typeface="Calibri" pitchFamily="34" charset="0"/>
                <a:ea typeface="Calibri" pitchFamily="34" charset="-122"/>
                <a:cs typeface="Calibri" pitchFamily="34" charset="-120"/>
              </a:rPr>
              <a:t>Lactic acidosis: deep rapid breathing, vomiting, muscle pain, drowsiness. Mortality is high.</a:t>
            </a:r>
            <a:endParaRPr lang="en-US" sz="1150" dirty="0"/>
          </a:p>
        </p:txBody>
      </p:sp>
      <p:sp>
        <p:nvSpPr>
          <p:cNvPr id="24" name="Text 22"/>
          <p:cNvSpPr txBox="1"/>
          <p:nvPr/>
        </p:nvSpPr>
        <p:spPr>
          <a:xfrm>
            <a:off x="566928" y="6144768"/>
            <a:ext cx="11027664" cy="320040"/>
          </a:xfrm>
          <a:prstGeom prst="rect">
            <a:avLst/>
          </a:prstGeom>
          <a:noFill/>
          <a:ln/>
        </p:spPr>
        <p:txBody>
          <a:bodyPr wrap="square" lIns="0" tIns="0" rIns="0" bIns="0" rtlCol="0" anchor="t"/>
          <a:lstStyle/>
          <a:p>
            <a:pPr algn="ctr" indent="0" marL="0">
              <a:buNone/>
            </a:pPr>
            <a:r>
              <a:rPr lang="en-US" sz="1350" i="1" dirty="0">
                <a:solidFill>
                  <a:srgbClr val="64748B"/>
                </a:solidFill>
                <a:latin typeface="Calibri" pitchFamily="34" charset="0"/>
                <a:ea typeface="Calibri" pitchFamily="34" charset="-122"/>
                <a:cs typeface="Calibri" pitchFamily="34" charset="-120"/>
              </a:rPr>
              <a:t>Nothing about the prescription looks wrong until you know what else the patient has.</a:t>
            </a:r>
            <a:endParaRPr lang="en-US" sz="13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F2B3D"/>
        </a:solidFill>
      </p:bgPr>
    </p:bg>
    <p:spTree>
      <p:nvGrpSpPr>
        <p:cNvPr id="1" name=""/>
        <p:cNvGrpSpPr/>
        <p:nvPr/>
      </p:nvGrpSpPr>
      <p:grpSpPr>
        <a:xfrm>
          <a:off x="0" y="0"/>
          <a:ext cx="0" cy="0"/>
          <a:chOff x="0" y="0"/>
          <a:chExt cx="0" cy="0"/>
        </a:xfrm>
      </p:grpSpPr>
      <p:sp>
        <p:nvSpPr>
          <p:cNvPr id="2" name="Shape 0"/>
          <p:cNvSpPr/>
          <p:nvPr/>
        </p:nvSpPr>
        <p:spPr>
          <a:xfrm>
            <a:off x="566928" y="2057400"/>
            <a:ext cx="1051560" cy="1051560"/>
          </a:xfrm>
          <a:prstGeom prst="ellipse">
            <a:avLst/>
          </a:prstGeom>
          <a:solidFill>
            <a:srgbClr val="0E7490"/>
          </a:solidFill>
          <a:ln/>
        </p:spPr>
      </p:sp>
      <p:sp>
        <p:nvSpPr>
          <p:cNvPr id="3" name="Text 1"/>
          <p:cNvSpPr txBox="1"/>
          <p:nvPr/>
        </p:nvSpPr>
        <p:spPr>
          <a:xfrm>
            <a:off x="566928" y="2057400"/>
            <a:ext cx="1051560" cy="1051560"/>
          </a:xfrm>
          <a:prstGeom prst="rect">
            <a:avLst/>
          </a:prstGeom>
          <a:noFill/>
          <a:ln/>
        </p:spPr>
        <p:txBody>
          <a:bodyPr wrap="square" lIns="0" tIns="0" rIns="0" bIns="0" rtlCol="0" anchor="ctr"/>
          <a:lstStyle/>
          <a:p>
            <a:pPr algn="ctr" indent="0" marL="0">
              <a:buNone/>
            </a:pPr>
            <a:r>
              <a:rPr lang="en-US" sz="3400" b="1" dirty="0">
                <a:solidFill>
                  <a:srgbClr val="FFFFFF"/>
                </a:solidFill>
                <a:latin typeface="Cambria" pitchFamily="34" charset="0"/>
                <a:ea typeface="Cambria" pitchFamily="34" charset="-122"/>
                <a:cs typeface="Cambria" pitchFamily="34" charset="-120"/>
              </a:rPr>
              <a:t>5</a:t>
            </a:r>
            <a:endParaRPr lang="en-US" sz="3400" dirty="0"/>
          </a:p>
        </p:txBody>
      </p:sp>
      <p:sp>
        <p:nvSpPr>
          <p:cNvPr id="4" name="Text 2"/>
          <p:cNvSpPr txBox="1"/>
          <p:nvPr/>
        </p:nvSpPr>
        <p:spPr>
          <a:xfrm>
            <a:off x="1874520" y="2121408"/>
            <a:ext cx="8229600" cy="274320"/>
          </a:xfrm>
          <a:prstGeom prst="rect">
            <a:avLst/>
          </a:prstGeom>
          <a:noFill/>
          <a:ln/>
        </p:spPr>
        <p:txBody>
          <a:bodyPr wrap="square" lIns="0" tIns="0" rIns="0" bIns="0" rtlCol="0" anchor="ctr"/>
          <a:lstStyle/>
          <a:p>
            <a:pPr indent="0" marL="0">
              <a:buNone/>
            </a:pPr>
            <a:r>
              <a:rPr lang="en-US" sz="1200" b="1" spc="300" kern="0" dirty="0">
                <a:solidFill>
                  <a:srgbClr val="0891B2"/>
                </a:solidFill>
                <a:latin typeface="Calibri" pitchFamily="34" charset="0"/>
                <a:ea typeface="Calibri" pitchFamily="34" charset="-122"/>
                <a:cs typeface="Calibri" pitchFamily="34" charset="-120"/>
              </a:rPr>
              <a:t>Part five</a:t>
            </a:r>
            <a:endParaRPr lang="en-US" sz="1200" dirty="0"/>
          </a:p>
        </p:txBody>
      </p:sp>
      <p:sp>
        <p:nvSpPr>
          <p:cNvPr id="5" name="Text 3"/>
          <p:cNvSpPr txBox="1"/>
          <p:nvPr/>
        </p:nvSpPr>
        <p:spPr>
          <a:xfrm>
            <a:off x="1874520" y="2395728"/>
            <a:ext cx="9326880" cy="1143000"/>
          </a:xfrm>
          <a:prstGeom prst="rect">
            <a:avLst/>
          </a:prstGeom>
          <a:noFill/>
          <a:ln/>
        </p:spPr>
        <p:txBody>
          <a:bodyPr wrap="square" lIns="0" tIns="0" rIns="0" bIns="0" rtlCol="0" anchor="t"/>
          <a:lstStyle/>
          <a:p>
            <a:pPr indent="0" marL="0">
              <a:lnSpc>
                <a:spcPts val="4600"/>
              </a:lnSpc>
              <a:buNone/>
            </a:pPr>
            <a:r>
              <a:rPr lang="en-US" sz="4000" b="1" dirty="0">
                <a:solidFill>
                  <a:srgbClr val="FFFFFF"/>
                </a:solidFill>
                <a:latin typeface="Cambria" pitchFamily="34" charset="0"/>
                <a:ea typeface="Cambria" pitchFamily="34" charset="-122"/>
                <a:cs typeface="Cambria" pitchFamily="34" charset="-120"/>
              </a:rPr>
              <a:t>Is it even an adverse drug reaction?</a:t>
            </a:r>
            <a:endParaRPr lang="en-US" sz="4000" dirty="0"/>
          </a:p>
        </p:txBody>
      </p:sp>
      <p:sp>
        <p:nvSpPr>
          <p:cNvPr id="6" name="Text 4"/>
          <p:cNvSpPr txBox="1"/>
          <p:nvPr/>
        </p:nvSpPr>
        <p:spPr>
          <a:xfrm>
            <a:off x="1874520" y="3639312"/>
            <a:ext cx="8778240" cy="822960"/>
          </a:xfrm>
          <a:prstGeom prst="rect">
            <a:avLst/>
          </a:prstGeom>
          <a:noFill/>
          <a:ln/>
        </p:spPr>
        <p:txBody>
          <a:bodyPr wrap="square" lIns="0" tIns="0" rIns="0" bIns="0" rtlCol="0" anchor="t"/>
          <a:lstStyle/>
          <a:p>
            <a:pPr indent="0" marL="0">
              <a:lnSpc>
                <a:spcPts val="2400"/>
              </a:lnSpc>
              <a:buNone/>
            </a:pPr>
            <a:r>
              <a:rPr lang="en-US" sz="1550" dirty="0">
                <a:solidFill>
                  <a:srgbClr val="CBD5E1"/>
                </a:solidFill>
                <a:latin typeface="Calibri" pitchFamily="34" charset="0"/>
                <a:ea typeface="Calibri" pitchFamily="34" charset="-122"/>
                <a:cs typeface="Calibri" pitchFamily="34" charset="-120"/>
              </a:rPr>
              <a:t>Three patients took a medicine and then had a symptom. That does not make three ADRs.</a:t>
            </a:r>
            <a:endParaRPr lang="en-US" sz="15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84048"/>
            <a:ext cx="10058400" cy="256032"/>
          </a:xfrm>
          <a:prstGeom prst="rect">
            <a:avLst/>
          </a:prstGeom>
          <a:noFill/>
          <a:ln/>
        </p:spPr>
        <p:txBody>
          <a:bodyPr wrap="square" lIns="0" tIns="0" rIns="0" bIns="0" rtlCol="0" anchor="ctr"/>
          <a:lstStyle/>
          <a:p>
            <a:pPr indent="0" marL="0">
              <a:buNone/>
            </a:pPr>
            <a:r>
              <a:rPr lang="en-US" sz="1100" b="1" spc="250" kern="0" dirty="0">
                <a:solidFill>
                  <a:srgbClr val="0E7490"/>
                </a:solidFill>
                <a:latin typeface="Calibri" pitchFamily="34" charset="0"/>
                <a:ea typeface="Calibri" pitchFamily="34" charset="-122"/>
                <a:cs typeface="Calibri" pitchFamily="34" charset="-120"/>
              </a:rPr>
              <a:t>Compare three cases</a:t>
            </a:r>
            <a:endParaRPr lang="en-US" sz="1100" dirty="0"/>
          </a:p>
        </p:txBody>
      </p:sp>
      <p:sp>
        <p:nvSpPr>
          <p:cNvPr id="3" name="Text 1"/>
          <p:cNvSpPr txBox="1"/>
          <p:nvPr/>
        </p:nvSpPr>
        <p:spPr>
          <a:xfrm>
            <a:off x="566928" y="640080"/>
            <a:ext cx="11064240" cy="548640"/>
          </a:xfrm>
          <a:prstGeom prst="rect">
            <a:avLst/>
          </a:prstGeom>
          <a:noFill/>
          <a:ln/>
        </p:spPr>
        <p:txBody>
          <a:bodyPr wrap="square" lIns="0" tIns="0" rIns="0" bIns="0" rtlCol="0" anchor="t"/>
          <a:lstStyle/>
          <a:p>
            <a:pPr indent="0" marL="0">
              <a:lnSpc>
                <a:spcPts val="3800"/>
              </a:lnSpc>
              <a:buNone/>
            </a:pPr>
            <a:r>
              <a:rPr lang="en-US" sz="3100" b="1" dirty="0">
                <a:solidFill>
                  <a:srgbClr val="0F2B3D"/>
                </a:solidFill>
                <a:latin typeface="Cambria" pitchFamily="34" charset="0"/>
                <a:ea typeface="Cambria" pitchFamily="34" charset="-122"/>
                <a:cs typeface="Cambria" pitchFamily="34" charset="-120"/>
              </a:rPr>
              <a:t>Which case requires further investigation?</a:t>
            </a:r>
            <a:endParaRPr lang="en-US" sz="3100" dirty="0"/>
          </a:p>
        </p:txBody>
      </p:sp>
      <p:sp>
        <p:nvSpPr>
          <p:cNvPr id="4" name="Shape 2"/>
          <p:cNvSpPr/>
          <p:nvPr/>
        </p:nvSpPr>
        <p:spPr>
          <a:xfrm>
            <a:off x="566928" y="1508760"/>
            <a:ext cx="3456432" cy="3017520"/>
          </a:xfrm>
          <a:prstGeom prst="roundRect">
            <a:avLst>
              <a:gd name="adj" fmla="val 1818"/>
            </a:avLst>
          </a:prstGeom>
          <a:solidFill>
            <a:srgbClr val="F1F5F9"/>
          </a:solidFill>
          <a:ln w="12700">
            <a:solidFill>
              <a:srgbClr val="E2E8F0"/>
            </a:solidFill>
            <a:prstDash val="solid"/>
          </a:ln>
        </p:spPr>
      </p:sp>
      <p:sp>
        <p:nvSpPr>
          <p:cNvPr id="5" name="Text 3"/>
          <p:cNvSpPr txBox="1"/>
          <p:nvPr/>
        </p:nvSpPr>
        <p:spPr>
          <a:xfrm>
            <a:off x="795528" y="1691640"/>
            <a:ext cx="3017520" cy="310896"/>
          </a:xfrm>
          <a:prstGeom prst="rect">
            <a:avLst/>
          </a:prstGeom>
          <a:noFill/>
          <a:ln/>
        </p:spPr>
        <p:txBody>
          <a:bodyPr wrap="square" lIns="0" tIns="0" rIns="0" bIns="0" rtlCol="0" anchor="ctr"/>
          <a:lstStyle/>
          <a:p>
            <a:pPr indent="0" marL="0">
              <a:buNone/>
            </a:pPr>
            <a:r>
              <a:rPr lang="en-US" sz="1400" b="1" dirty="0">
                <a:solidFill>
                  <a:srgbClr val="0F2B3D"/>
                </a:solidFill>
                <a:latin typeface="Cambria" pitchFamily="34" charset="0"/>
                <a:ea typeface="Cambria" pitchFamily="34" charset="-122"/>
                <a:cs typeface="Cambria" pitchFamily="34" charset="-120"/>
              </a:rPr>
              <a:t>Case A · Paracetamol</a:t>
            </a:r>
            <a:endParaRPr lang="en-US" sz="1400" dirty="0"/>
          </a:p>
        </p:txBody>
      </p:sp>
      <p:sp>
        <p:nvSpPr>
          <p:cNvPr id="6" name="Text 4"/>
          <p:cNvSpPr txBox="1"/>
          <p:nvPr/>
        </p:nvSpPr>
        <p:spPr>
          <a:xfrm>
            <a:off x="795528" y="2048256"/>
            <a:ext cx="3035808" cy="1508760"/>
          </a:xfrm>
          <a:prstGeom prst="rect">
            <a:avLst/>
          </a:prstGeom>
          <a:noFill/>
          <a:ln/>
        </p:spPr>
        <p:txBody>
          <a:bodyPr wrap="square" lIns="0" tIns="0" rIns="0" bIns="0" rtlCol="0" anchor="ctr"/>
          <a:lstStyle/>
          <a:p>
            <a:pPr indent="0" marL="0">
              <a:lnSpc>
                <a:spcPts val="1600"/>
              </a:lnSpc>
              <a:buNone/>
            </a:pPr>
            <a:r>
              <a:rPr lang="en-US" sz="1150" dirty="0">
                <a:solidFill>
                  <a:srgbClr val="1E293B"/>
                </a:solidFill>
                <a:latin typeface="Calibri" pitchFamily="34" charset="0"/>
                <a:ea typeface="Calibri" pitchFamily="34" charset="-122"/>
                <a:cs typeface="Calibri" pitchFamily="34" charset="-120"/>
              </a:rPr>
              <a:t>A 30-year-old man took paracetamol 500 mg for a headache. About an hour later he felt mildly nauseous. He took the next dose anyway and felt nothing further. He has taken paracetamol many times before without trouble.</a:t>
            </a:r>
            <a:endParaRPr lang="en-US" sz="1150" dirty="0"/>
          </a:p>
        </p:txBody>
      </p:sp>
      <p:sp>
        <p:nvSpPr>
          <p:cNvPr id="7" name="Text 5"/>
          <p:cNvSpPr txBox="1"/>
          <p:nvPr/>
        </p:nvSpPr>
        <p:spPr>
          <a:xfrm>
            <a:off x="795528" y="3639312"/>
            <a:ext cx="3035808" cy="658368"/>
          </a:xfrm>
          <a:prstGeom prst="rect">
            <a:avLst/>
          </a:prstGeom>
          <a:noFill/>
          <a:ln/>
        </p:spPr>
        <p:txBody>
          <a:bodyPr wrap="square" lIns="0" tIns="0" rIns="0" bIns="0" rtlCol="0" anchor="ctr"/>
          <a:lstStyle/>
          <a:p>
            <a:pPr indent="0" marL="0">
              <a:lnSpc>
                <a:spcPts val="1500"/>
              </a:lnSpc>
              <a:buNone/>
            </a:pPr>
            <a:r>
              <a:rPr lang="en-US" sz="1100" b="1" dirty="0">
                <a:solidFill>
                  <a:srgbClr val="64748B"/>
                </a:solidFill>
                <a:latin typeface="Calibri" pitchFamily="34" charset="0"/>
                <a:ea typeface="Calibri" pitchFamily="34" charset="-122"/>
                <a:cs typeface="Calibri" pitchFamily="34" charset="-120"/>
              </a:rPr>
              <a:t>Event: </a:t>
            </a:r>
            <a:pPr indent="0" marL="0">
              <a:lnSpc>
                <a:spcPts val="1500"/>
              </a:lnSpc>
              <a:buNone/>
            </a:pPr>
            <a:r>
              <a:rPr lang="en-US" sz="1100" dirty="0">
                <a:solidFill>
                  <a:srgbClr val="64748B"/>
                </a:solidFill>
                <a:latin typeface="Calibri" pitchFamily="34" charset="0"/>
                <a:ea typeface="Calibri" pitchFamily="34" charset="-122"/>
                <a:cs typeface="Calibri" pitchFamily="34" charset="-120"/>
              </a:rPr>
              <a:t>Mild nausea</a:t>
            </a:r>
            <a:endParaRPr lang="en-US" sz="1100" dirty="0"/>
          </a:p>
          <a:p>
            <a:pPr indent="0" marL="0">
              <a:lnSpc>
                <a:spcPts val="1500"/>
              </a:lnSpc>
              <a:buNone/>
            </a:pPr>
            <a:r>
              <a:rPr lang="en-US" sz="1100" b="1" dirty="0">
                <a:solidFill>
                  <a:srgbClr val="64748B"/>
                </a:solidFill>
                <a:latin typeface="Calibri" pitchFamily="34" charset="0"/>
                <a:ea typeface="Calibri" pitchFamily="34" charset="-122"/>
                <a:cs typeface="Calibri" pitchFamily="34" charset="-120"/>
              </a:rPr>
              <a:t>Timing: </a:t>
            </a:r>
            <a:pPr indent="0" marL="0">
              <a:lnSpc>
                <a:spcPts val="1500"/>
              </a:lnSpc>
              <a:buNone/>
            </a:pPr>
            <a:r>
              <a:rPr lang="en-US" sz="1100" dirty="0">
                <a:solidFill>
                  <a:srgbClr val="64748B"/>
                </a:solidFill>
                <a:latin typeface="Calibri" pitchFamily="34" charset="0"/>
                <a:ea typeface="Calibri" pitchFamily="34" charset="-122"/>
                <a:cs typeface="Calibri" pitchFamily="34" charset="-120"/>
              </a:rPr>
              <a:t>1 hour after the dose</a:t>
            </a:r>
            <a:endParaRPr lang="en-US" sz="1100" dirty="0"/>
          </a:p>
        </p:txBody>
      </p:sp>
      <p:sp>
        <p:nvSpPr>
          <p:cNvPr id="8" name="Shape 6"/>
          <p:cNvSpPr/>
          <p:nvPr/>
        </p:nvSpPr>
        <p:spPr>
          <a:xfrm>
            <a:off x="4251960" y="1508760"/>
            <a:ext cx="3456432" cy="3017520"/>
          </a:xfrm>
          <a:prstGeom prst="roundRect">
            <a:avLst>
              <a:gd name="adj" fmla="val 1818"/>
            </a:avLst>
          </a:prstGeom>
          <a:solidFill>
            <a:srgbClr val="DCFCE7"/>
          </a:solidFill>
          <a:ln w="12700">
            <a:solidFill>
              <a:srgbClr val="E2E8F0"/>
            </a:solidFill>
            <a:prstDash val="solid"/>
          </a:ln>
        </p:spPr>
      </p:sp>
      <p:sp>
        <p:nvSpPr>
          <p:cNvPr id="9" name="Text 7"/>
          <p:cNvSpPr txBox="1"/>
          <p:nvPr/>
        </p:nvSpPr>
        <p:spPr>
          <a:xfrm>
            <a:off x="4480560" y="1691640"/>
            <a:ext cx="3017520" cy="310896"/>
          </a:xfrm>
          <a:prstGeom prst="rect">
            <a:avLst/>
          </a:prstGeom>
          <a:noFill/>
          <a:ln/>
        </p:spPr>
        <p:txBody>
          <a:bodyPr wrap="square" lIns="0" tIns="0" rIns="0" bIns="0" rtlCol="0" anchor="ctr"/>
          <a:lstStyle/>
          <a:p>
            <a:pPr indent="0" marL="0">
              <a:buNone/>
            </a:pPr>
            <a:r>
              <a:rPr lang="en-US" sz="1400" b="1" dirty="0">
                <a:solidFill>
                  <a:srgbClr val="0F2B3D"/>
                </a:solidFill>
                <a:latin typeface="Cambria" pitchFamily="34" charset="0"/>
                <a:ea typeface="Cambria" pitchFamily="34" charset="-122"/>
                <a:cs typeface="Cambria" pitchFamily="34" charset="-120"/>
              </a:rPr>
              <a:t>Case B · Amoxicillin</a:t>
            </a:r>
            <a:endParaRPr lang="en-US" sz="1400" dirty="0"/>
          </a:p>
        </p:txBody>
      </p:sp>
      <p:sp>
        <p:nvSpPr>
          <p:cNvPr id="10" name="Text 8"/>
          <p:cNvSpPr txBox="1"/>
          <p:nvPr/>
        </p:nvSpPr>
        <p:spPr>
          <a:xfrm>
            <a:off x="4480560" y="2048256"/>
            <a:ext cx="3035808" cy="1508760"/>
          </a:xfrm>
          <a:prstGeom prst="rect">
            <a:avLst/>
          </a:prstGeom>
          <a:noFill/>
          <a:ln/>
        </p:spPr>
        <p:txBody>
          <a:bodyPr wrap="square" lIns="0" tIns="0" rIns="0" bIns="0" rtlCol="0" anchor="ctr"/>
          <a:lstStyle/>
          <a:p>
            <a:pPr indent="0" marL="0">
              <a:lnSpc>
                <a:spcPts val="1600"/>
              </a:lnSpc>
              <a:buNone/>
            </a:pPr>
            <a:r>
              <a:rPr lang="en-US" sz="1150" dirty="0">
                <a:solidFill>
                  <a:srgbClr val="1E293B"/>
                </a:solidFill>
                <a:latin typeface="Calibri" pitchFamily="34" charset="0"/>
                <a:ea typeface="Calibri" pitchFamily="34" charset="-122"/>
                <a:cs typeface="Calibri" pitchFamily="34" charset="-120"/>
              </a:rPr>
              <a:t>A 22-year-old woman started amoxicillin for a throat infection. On day two she developed a widespread itchy rash. The medicine was stopped and the rash settled over four days. She has never taken a penicillin before.</a:t>
            </a:r>
            <a:endParaRPr lang="en-US" sz="1150" dirty="0"/>
          </a:p>
        </p:txBody>
      </p:sp>
      <p:sp>
        <p:nvSpPr>
          <p:cNvPr id="11" name="Text 9"/>
          <p:cNvSpPr txBox="1"/>
          <p:nvPr/>
        </p:nvSpPr>
        <p:spPr>
          <a:xfrm>
            <a:off x="4480560" y="3639312"/>
            <a:ext cx="3035808" cy="658368"/>
          </a:xfrm>
          <a:prstGeom prst="rect">
            <a:avLst/>
          </a:prstGeom>
          <a:noFill/>
          <a:ln/>
        </p:spPr>
        <p:txBody>
          <a:bodyPr wrap="square" lIns="0" tIns="0" rIns="0" bIns="0" rtlCol="0" anchor="ctr"/>
          <a:lstStyle/>
          <a:p>
            <a:pPr indent="0" marL="0">
              <a:lnSpc>
                <a:spcPts val="1500"/>
              </a:lnSpc>
              <a:buNone/>
            </a:pPr>
            <a:r>
              <a:rPr lang="en-US" sz="1100" b="1" dirty="0">
                <a:solidFill>
                  <a:srgbClr val="64748B"/>
                </a:solidFill>
                <a:latin typeface="Calibri" pitchFamily="34" charset="0"/>
                <a:ea typeface="Calibri" pitchFamily="34" charset="-122"/>
                <a:cs typeface="Calibri" pitchFamily="34" charset="-120"/>
              </a:rPr>
              <a:t>Event: </a:t>
            </a:r>
            <a:pPr indent="0" marL="0">
              <a:lnSpc>
                <a:spcPts val="1500"/>
              </a:lnSpc>
              <a:buNone/>
            </a:pPr>
            <a:r>
              <a:rPr lang="en-US" sz="1100" dirty="0">
                <a:solidFill>
                  <a:srgbClr val="64748B"/>
                </a:solidFill>
                <a:latin typeface="Calibri" pitchFamily="34" charset="0"/>
                <a:ea typeface="Calibri" pitchFamily="34" charset="-122"/>
                <a:cs typeface="Calibri" pitchFamily="34" charset="-120"/>
              </a:rPr>
              <a:t>Widespread itchy rash</a:t>
            </a:r>
            <a:endParaRPr lang="en-US" sz="1100" dirty="0"/>
          </a:p>
          <a:p>
            <a:pPr indent="0" marL="0">
              <a:lnSpc>
                <a:spcPts val="1500"/>
              </a:lnSpc>
              <a:buNone/>
            </a:pPr>
            <a:r>
              <a:rPr lang="en-US" sz="1100" b="1" dirty="0">
                <a:solidFill>
                  <a:srgbClr val="64748B"/>
                </a:solidFill>
                <a:latin typeface="Calibri" pitchFamily="34" charset="0"/>
                <a:ea typeface="Calibri" pitchFamily="34" charset="-122"/>
                <a:cs typeface="Calibri" pitchFamily="34" charset="-120"/>
              </a:rPr>
              <a:t>Timing: </a:t>
            </a:r>
            <a:pPr indent="0" marL="0">
              <a:lnSpc>
                <a:spcPts val="1500"/>
              </a:lnSpc>
              <a:buNone/>
            </a:pPr>
            <a:r>
              <a:rPr lang="en-US" sz="1100" dirty="0">
                <a:solidFill>
                  <a:srgbClr val="64748B"/>
                </a:solidFill>
                <a:latin typeface="Calibri" pitchFamily="34" charset="0"/>
                <a:ea typeface="Calibri" pitchFamily="34" charset="-122"/>
                <a:cs typeface="Calibri" pitchFamily="34" charset="-120"/>
              </a:rPr>
              <a:t>Day 2 of treatment</a:t>
            </a:r>
            <a:endParaRPr lang="en-US" sz="1100" dirty="0"/>
          </a:p>
        </p:txBody>
      </p:sp>
      <p:sp>
        <p:nvSpPr>
          <p:cNvPr id="12" name="Shape 10"/>
          <p:cNvSpPr/>
          <p:nvPr/>
        </p:nvSpPr>
        <p:spPr>
          <a:xfrm>
            <a:off x="7936992" y="1508760"/>
            <a:ext cx="3456432" cy="3017520"/>
          </a:xfrm>
          <a:prstGeom prst="roundRect">
            <a:avLst>
              <a:gd name="adj" fmla="val 1818"/>
            </a:avLst>
          </a:prstGeom>
          <a:solidFill>
            <a:srgbClr val="ECFEFF"/>
          </a:solidFill>
          <a:ln w="12700">
            <a:solidFill>
              <a:srgbClr val="E2E8F0"/>
            </a:solidFill>
            <a:prstDash val="solid"/>
          </a:ln>
        </p:spPr>
      </p:sp>
      <p:sp>
        <p:nvSpPr>
          <p:cNvPr id="13" name="Text 11"/>
          <p:cNvSpPr txBox="1"/>
          <p:nvPr/>
        </p:nvSpPr>
        <p:spPr>
          <a:xfrm>
            <a:off x="8165592" y="1691640"/>
            <a:ext cx="3017520" cy="310896"/>
          </a:xfrm>
          <a:prstGeom prst="rect">
            <a:avLst/>
          </a:prstGeom>
          <a:noFill/>
          <a:ln/>
        </p:spPr>
        <p:txBody>
          <a:bodyPr wrap="square" lIns="0" tIns="0" rIns="0" bIns="0" rtlCol="0" anchor="ctr"/>
          <a:lstStyle/>
          <a:p>
            <a:pPr indent="0" marL="0">
              <a:buNone/>
            </a:pPr>
            <a:r>
              <a:rPr lang="en-US" sz="1400" b="1" dirty="0">
                <a:solidFill>
                  <a:srgbClr val="0F2B3D"/>
                </a:solidFill>
                <a:latin typeface="Cambria" pitchFamily="34" charset="0"/>
                <a:ea typeface="Cambria" pitchFamily="34" charset="-122"/>
                <a:cs typeface="Cambria" pitchFamily="34" charset="-120"/>
              </a:rPr>
              <a:t>Case C · A newly started medicine</a:t>
            </a:r>
            <a:endParaRPr lang="en-US" sz="1400" dirty="0"/>
          </a:p>
        </p:txBody>
      </p:sp>
      <p:sp>
        <p:nvSpPr>
          <p:cNvPr id="14" name="Text 12"/>
          <p:cNvSpPr txBox="1"/>
          <p:nvPr/>
        </p:nvSpPr>
        <p:spPr>
          <a:xfrm>
            <a:off x="8165592" y="2048256"/>
            <a:ext cx="3035808" cy="1508760"/>
          </a:xfrm>
          <a:prstGeom prst="rect">
            <a:avLst/>
          </a:prstGeom>
          <a:noFill/>
          <a:ln/>
        </p:spPr>
        <p:txBody>
          <a:bodyPr wrap="square" lIns="0" tIns="0" rIns="0" bIns="0" rtlCol="0" anchor="ctr"/>
          <a:lstStyle/>
          <a:p>
            <a:pPr indent="0" marL="0">
              <a:lnSpc>
                <a:spcPts val="1600"/>
              </a:lnSpc>
              <a:buNone/>
            </a:pPr>
            <a:r>
              <a:rPr lang="en-US" sz="1150" dirty="0">
                <a:solidFill>
                  <a:srgbClr val="1E293B"/>
                </a:solidFill>
                <a:latin typeface="Calibri" pitchFamily="34" charset="0"/>
                <a:ea typeface="Calibri" pitchFamily="34" charset="-122"/>
                <a:cs typeface="Calibri" pitchFamily="34" charset="-120"/>
              </a:rPr>
              <a:t>A 45-year-old man developed a headache three days after starting a new medicine. He has also slept badly for a week because of a family problem, has been drinking very little water in hot weather, and has run out of his usual morning coffee for two days.</a:t>
            </a:r>
            <a:endParaRPr lang="en-US" sz="1150" dirty="0"/>
          </a:p>
        </p:txBody>
      </p:sp>
      <p:sp>
        <p:nvSpPr>
          <p:cNvPr id="15" name="Text 13"/>
          <p:cNvSpPr txBox="1"/>
          <p:nvPr/>
        </p:nvSpPr>
        <p:spPr>
          <a:xfrm>
            <a:off x="8165592" y="3639312"/>
            <a:ext cx="3035808" cy="658368"/>
          </a:xfrm>
          <a:prstGeom prst="rect">
            <a:avLst/>
          </a:prstGeom>
          <a:noFill/>
          <a:ln/>
        </p:spPr>
        <p:txBody>
          <a:bodyPr wrap="square" lIns="0" tIns="0" rIns="0" bIns="0" rtlCol="0" anchor="ctr"/>
          <a:lstStyle/>
          <a:p>
            <a:pPr indent="0" marL="0">
              <a:lnSpc>
                <a:spcPts val="1500"/>
              </a:lnSpc>
              <a:buNone/>
            </a:pPr>
            <a:r>
              <a:rPr lang="en-US" sz="1100" b="1" dirty="0">
                <a:solidFill>
                  <a:srgbClr val="64748B"/>
                </a:solidFill>
                <a:latin typeface="Calibri" pitchFamily="34" charset="0"/>
                <a:ea typeface="Calibri" pitchFamily="34" charset="-122"/>
                <a:cs typeface="Calibri" pitchFamily="34" charset="-120"/>
              </a:rPr>
              <a:t>Event: </a:t>
            </a:r>
            <a:pPr indent="0" marL="0">
              <a:lnSpc>
                <a:spcPts val="1500"/>
              </a:lnSpc>
              <a:buNone/>
            </a:pPr>
            <a:r>
              <a:rPr lang="en-US" sz="1100" dirty="0">
                <a:solidFill>
                  <a:srgbClr val="64748B"/>
                </a:solidFill>
                <a:latin typeface="Calibri" pitchFamily="34" charset="0"/>
                <a:ea typeface="Calibri" pitchFamily="34" charset="-122"/>
                <a:cs typeface="Calibri" pitchFamily="34" charset="-120"/>
              </a:rPr>
              <a:t>Headache</a:t>
            </a:r>
            <a:endParaRPr lang="en-US" sz="1100" dirty="0"/>
          </a:p>
          <a:p>
            <a:pPr indent="0" marL="0">
              <a:lnSpc>
                <a:spcPts val="1500"/>
              </a:lnSpc>
              <a:buNone/>
            </a:pPr>
            <a:r>
              <a:rPr lang="en-US" sz="1100" b="1" dirty="0">
                <a:solidFill>
                  <a:srgbClr val="64748B"/>
                </a:solidFill>
                <a:latin typeface="Calibri" pitchFamily="34" charset="0"/>
                <a:ea typeface="Calibri" pitchFamily="34" charset="-122"/>
                <a:cs typeface="Calibri" pitchFamily="34" charset="-120"/>
              </a:rPr>
              <a:t>Timing: </a:t>
            </a:r>
            <a:pPr indent="0" marL="0">
              <a:lnSpc>
                <a:spcPts val="1500"/>
              </a:lnSpc>
              <a:buNone/>
            </a:pPr>
            <a:r>
              <a:rPr lang="en-US" sz="1100" dirty="0">
                <a:solidFill>
                  <a:srgbClr val="64748B"/>
                </a:solidFill>
                <a:latin typeface="Calibri" pitchFamily="34" charset="0"/>
                <a:ea typeface="Calibri" pitchFamily="34" charset="-122"/>
                <a:cs typeface="Calibri" pitchFamily="34" charset="-120"/>
              </a:rPr>
              <a:t>Day 3 of treatment</a:t>
            </a:r>
            <a:endParaRPr lang="en-US" sz="1100" dirty="0"/>
          </a:p>
        </p:txBody>
      </p:sp>
      <p:sp>
        <p:nvSpPr>
          <p:cNvPr id="16" name="Text 14"/>
          <p:cNvSpPr txBox="1"/>
          <p:nvPr/>
        </p:nvSpPr>
        <p:spPr>
          <a:xfrm>
            <a:off x="566928" y="4663440"/>
            <a:ext cx="1097280" cy="274320"/>
          </a:xfrm>
          <a:prstGeom prst="rect">
            <a:avLst/>
          </a:prstGeom>
          <a:noFill/>
          <a:ln/>
        </p:spPr>
        <p:txBody>
          <a:bodyPr wrap="square" lIns="0" tIns="0" rIns="0" bIns="0" rtlCol="0" anchor="ctr"/>
          <a:lstStyle/>
          <a:p>
            <a:pPr indent="0" marL="0">
              <a:buNone/>
            </a:pPr>
            <a:r>
              <a:rPr lang="en-US" sz="1300" b="1" dirty="0">
                <a:solidFill>
                  <a:srgbClr val="64748B"/>
                </a:solidFill>
                <a:latin typeface="Cambria" pitchFamily="34" charset="0"/>
                <a:ea typeface="Cambria" pitchFamily="34" charset="-122"/>
                <a:cs typeface="Cambria" pitchFamily="34" charset="-120"/>
              </a:rPr>
              <a:t>Case A</a:t>
            </a:r>
            <a:endParaRPr lang="en-US" sz="1300" dirty="0"/>
          </a:p>
        </p:txBody>
      </p:sp>
      <p:sp>
        <p:nvSpPr>
          <p:cNvPr id="17" name="Text 15"/>
          <p:cNvSpPr txBox="1"/>
          <p:nvPr/>
        </p:nvSpPr>
        <p:spPr>
          <a:xfrm>
            <a:off x="566928" y="4956048"/>
            <a:ext cx="3456432" cy="548640"/>
          </a:xfrm>
          <a:prstGeom prst="rect">
            <a:avLst/>
          </a:prstGeom>
          <a:noFill/>
          <a:ln/>
        </p:spPr>
        <p:txBody>
          <a:bodyPr wrap="square" lIns="0" tIns="0" rIns="0" bIns="0" rtlCol="0" anchor="ctr"/>
          <a:lstStyle/>
          <a:p>
            <a:pPr indent="0" marL="0">
              <a:lnSpc>
                <a:spcPts val="1500"/>
              </a:lnSpc>
              <a:buNone/>
            </a:pPr>
            <a:r>
              <a:rPr lang="en-US" sz="1150" dirty="0">
                <a:solidFill>
                  <a:srgbClr val="1E293B"/>
                </a:solidFill>
                <a:latin typeface="Calibri" pitchFamily="34" charset="0"/>
                <a:ea typeface="Calibri" pitchFamily="34" charset="-122"/>
                <a:cs typeface="Calibri" pitchFamily="34" charset="-120"/>
              </a:rPr>
              <a:t>Record it. It does not demand investigation.</a:t>
            </a:r>
            <a:endParaRPr lang="en-US" sz="1150" dirty="0"/>
          </a:p>
        </p:txBody>
      </p:sp>
      <p:sp>
        <p:nvSpPr>
          <p:cNvPr id="18" name="Text 16"/>
          <p:cNvSpPr txBox="1"/>
          <p:nvPr/>
        </p:nvSpPr>
        <p:spPr>
          <a:xfrm>
            <a:off x="4251960" y="4663440"/>
            <a:ext cx="1097280" cy="274320"/>
          </a:xfrm>
          <a:prstGeom prst="rect">
            <a:avLst/>
          </a:prstGeom>
          <a:noFill/>
          <a:ln/>
        </p:spPr>
        <p:txBody>
          <a:bodyPr wrap="square" lIns="0" tIns="0" rIns="0" bIns="0" rtlCol="0" anchor="ctr"/>
          <a:lstStyle/>
          <a:p>
            <a:pPr indent="0" marL="0">
              <a:buNone/>
            </a:pPr>
            <a:r>
              <a:rPr lang="en-US" sz="1300" b="1" dirty="0">
                <a:solidFill>
                  <a:srgbClr val="15803D"/>
                </a:solidFill>
                <a:latin typeface="Cambria" pitchFamily="34" charset="0"/>
                <a:ea typeface="Cambria" pitchFamily="34" charset="-122"/>
                <a:cs typeface="Cambria" pitchFamily="34" charset="-120"/>
              </a:rPr>
              <a:t>Case B</a:t>
            </a:r>
            <a:endParaRPr lang="en-US" sz="1300" dirty="0"/>
          </a:p>
        </p:txBody>
      </p:sp>
      <p:sp>
        <p:nvSpPr>
          <p:cNvPr id="19" name="Text 17"/>
          <p:cNvSpPr txBox="1"/>
          <p:nvPr/>
        </p:nvSpPr>
        <p:spPr>
          <a:xfrm>
            <a:off x="4251960" y="4956048"/>
            <a:ext cx="3456432" cy="548640"/>
          </a:xfrm>
          <a:prstGeom prst="rect">
            <a:avLst/>
          </a:prstGeom>
          <a:noFill/>
          <a:ln/>
        </p:spPr>
        <p:txBody>
          <a:bodyPr wrap="square" lIns="0" tIns="0" rIns="0" bIns="0" rtlCol="0" anchor="ctr"/>
          <a:lstStyle/>
          <a:p>
            <a:pPr indent="0" marL="0">
              <a:lnSpc>
                <a:spcPts val="1500"/>
              </a:lnSpc>
              <a:buNone/>
            </a:pPr>
            <a:r>
              <a:rPr lang="en-US" sz="1150" dirty="0">
                <a:solidFill>
                  <a:srgbClr val="1E293B"/>
                </a:solidFill>
                <a:latin typeface="Calibri" pitchFamily="34" charset="0"/>
                <a:ea typeface="Calibri" pitchFamily="34" charset="-122"/>
                <a:cs typeface="Calibri" pitchFamily="34" charset="-120"/>
              </a:rPr>
              <a:t>Investigate. The answer will follow her for life.</a:t>
            </a:r>
            <a:endParaRPr lang="en-US" sz="1150" dirty="0"/>
          </a:p>
        </p:txBody>
      </p:sp>
      <p:sp>
        <p:nvSpPr>
          <p:cNvPr id="20" name="Text 18"/>
          <p:cNvSpPr txBox="1"/>
          <p:nvPr/>
        </p:nvSpPr>
        <p:spPr>
          <a:xfrm>
            <a:off x="7936992" y="4663440"/>
            <a:ext cx="1097280" cy="274320"/>
          </a:xfrm>
          <a:prstGeom prst="rect">
            <a:avLst/>
          </a:prstGeom>
          <a:noFill/>
          <a:ln/>
        </p:spPr>
        <p:txBody>
          <a:bodyPr wrap="square" lIns="0" tIns="0" rIns="0" bIns="0" rtlCol="0" anchor="ctr"/>
          <a:lstStyle/>
          <a:p>
            <a:pPr indent="0" marL="0">
              <a:buNone/>
            </a:pPr>
            <a:r>
              <a:rPr lang="en-US" sz="1300" b="1" dirty="0">
                <a:solidFill>
                  <a:srgbClr val="0E7490"/>
                </a:solidFill>
                <a:latin typeface="Cambria" pitchFamily="34" charset="0"/>
                <a:ea typeface="Cambria" pitchFamily="34" charset="-122"/>
                <a:cs typeface="Cambria" pitchFamily="34" charset="-120"/>
              </a:rPr>
              <a:t>Case C</a:t>
            </a:r>
            <a:endParaRPr lang="en-US" sz="1300" dirty="0"/>
          </a:p>
        </p:txBody>
      </p:sp>
      <p:sp>
        <p:nvSpPr>
          <p:cNvPr id="21" name="Text 19"/>
          <p:cNvSpPr txBox="1"/>
          <p:nvPr/>
        </p:nvSpPr>
        <p:spPr>
          <a:xfrm>
            <a:off x="7936992" y="4956048"/>
            <a:ext cx="3456432" cy="548640"/>
          </a:xfrm>
          <a:prstGeom prst="rect">
            <a:avLst/>
          </a:prstGeom>
          <a:noFill/>
          <a:ln/>
        </p:spPr>
        <p:txBody>
          <a:bodyPr wrap="square" lIns="0" tIns="0" rIns="0" bIns="0" rtlCol="0" anchor="ctr"/>
          <a:lstStyle/>
          <a:p>
            <a:pPr indent="0" marL="0">
              <a:lnSpc>
                <a:spcPts val="1500"/>
              </a:lnSpc>
              <a:buNone/>
            </a:pPr>
            <a:r>
              <a:rPr lang="en-US" sz="1150" dirty="0">
                <a:solidFill>
                  <a:srgbClr val="1E293B"/>
                </a:solidFill>
                <a:latin typeface="Calibri" pitchFamily="34" charset="0"/>
                <a:ea typeface="Calibri" pitchFamily="34" charset="-122"/>
                <a:cs typeface="Calibri" pitchFamily="34" charset="-120"/>
              </a:rPr>
              <a:t>Cannot be assessed yet — and saying so is correct.</a:t>
            </a:r>
            <a:endParaRPr lang="en-US" sz="1150" dirty="0"/>
          </a:p>
        </p:txBody>
      </p:sp>
      <p:sp>
        <p:nvSpPr>
          <p:cNvPr id="22" name="Shape 20"/>
          <p:cNvSpPr/>
          <p:nvPr/>
        </p:nvSpPr>
        <p:spPr>
          <a:xfrm>
            <a:off x="566928" y="5623560"/>
            <a:ext cx="11027664" cy="868680"/>
          </a:xfrm>
          <a:prstGeom prst="roundRect">
            <a:avLst>
              <a:gd name="adj" fmla="val 6316"/>
            </a:avLst>
          </a:prstGeom>
          <a:solidFill>
            <a:srgbClr val="FEF3C7"/>
          </a:solidFill>
          <a:ln w="12700">
            <a:solidFill>
              <a:srgbClr val="E2E8F0"/>
            </a:solidFill>
            <a:prstDash val="solid"/>
          </a:ln>
        </p:spPr>
      </p:sp>
      <p:sp>
        <p:nvSpPr>
          <p:cNvPr id="23" name="Text 21"/>
          <p:cNvSpPr txBox="1"/>
          <p:nvPr/>
        </p:nvSpPr>
        <p:spPr>
          <a:xfrm>
            <a:off x="886968" y="5788152"/>
            <a:ext cx="10424160" cy="594360"/>
          </a:xfrm>
          <a:prstGeom prst="rect">
            <a:avLst/>
          </a:prstGeom>
          <a:noFill/>
          <a:ln/>
        </p:spPr>
        <p:txBody>
          <a:bodyPr wrap="square" lIns="0" tIns="0" rIns="0" bIns="0" rtlCol="0" anchor="ctr"/>
          <a:lstStyle/>
          <a:p>
            <a:pPr indent="0" marL="0">
              <a:lnSpc>
                <a:spcPts val="1700"/>
              </a:lnSpc>
              <a:buNone/>
            </a:pPr>
            <a:r>
              <a:rPr lang="en-US" sz="1250" b="1" dirty="0">
                <a:solidFill>
                  <a:srgbClr val="78350F"/>
                </a:solidFill>
                <a:latin typeface="Calibri" pitchFamily="34" charset="0"/>
                <a:ea typeface="Calibri" pitchFamily="34" charset="-122"/>
                <a:cs typeface="Calibri" pitchFamily="34" charset="-120"/>
              </a:rPr>
              <a:t>B and C are both right answers. B because getting it right matters; C because you genuinely cannot tell yet. A student who confidently assigns causality to Case C has learned the wrong lesson.</a:t>
            </a:r>
            <a:endParaRPr lang="en-US" sz="12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84048"/>
            <a:ext cx="10058400" cy="256032"/>
          </a:xfrm>
          <a:prstGeom prst="rect">
            <a:avLst/>
          </a:prstGeom>
          <a:noFill/>
          <a:ln/>
        </p:spPr>
        <p:txBody>
          <a:bodyPr wrap="square" lIns="0" tIns="0" rIns="0" bIns="0" rtlCol="0" anchor="ctr"/>
          <a:lstStyle/>
          <a:p>
            <a:pPr indent="0" marL="0">
              <a:buNone/>
            </a:pPr>
            <a:r>
              <a:rPr lang="en-US" sz="1100" b="1" spc="250" kern="0" dirty="0">
                <a:solidFill>
                  <a:srgbClr val="0E7490"/>
                </a:solidFill>
                <a:latin typeface="Calibri" pitchFamily="34" charset="0"/>
                <a:ea typeface="Calibri" pitchFamily="34" charset="-122"/>
                <a:cs typeface="Calibri" pitchFamily="34" charset="-120"/>
              </a:rPr>
              <a:t>Alternative causes</a:t>
            </a:r>
            <a:endParaRPr lang="en-US" sz="1100" dirty="0"/>
          </a:p>
        </p:txBody>
      </p:sp>
      <p:sp>
        <p:nvSpPr>
          <p:cNvPr id="3" name="Text 1"/>
          <p:cNvSpPr txBox="1"/>
          <p:nvPr/>
        </p:nvSpPr>
        <p:spPr>
          <a:xfrm>
            <a:off x="566928" y="640080"/>
            <a:ext cx="11064240" cy="786384"/>
          </a:xfrm>
          <a:prstGeom prst="rect">
            <a:avLst/>
          </a:prstGeom>
          <a:noFill/>
          <a:ln/>
        </p:spPr>
        <p:txBody>
          <a:bodyPr wrap="square" lIns="0" tIns="0" rIns="0" bIns="0" rtlCol="0" anchor="t"/>
          <a:lstStyle/>
          <a:p>
            <a:pPr indent="0" marL="0">
              <a:lnSpc>
                <a:spcPts val="3200"/>
              </a:lnSpc>
              <a:buNone/>
            </a:pPr>
            <a:r>
              <a:rPr lang="en-US" sz="2500" b="1" dirty="0">
                <a:solidFill>
                  <a:srgbClr val="0F2B3D"/>
                </a:solidFill>
                <a:latin typeface="Cambria" pitchFamily="34" charset="0"/>
                <a:ea typeface="Cambria" pitchFamily="34" charset="-122"/>
                <a:cs typeface="Cambria" pitchFamily="34" charset="-120"/>
              </a:rPr>
              <a:t>The step beginners skip and assessors care most about</a:t>
            </a:r>
            <a:endParaRPr lang="en-US" sz="2500" dirty="0"/>
          </a:p>
        </p:txBody>
      </p:sp>
      <p:sp>
        <p:nvSpPr>
          <p:cNvPr id="4" name="Shape 2"/>
          <p:cNvSpPr/>
          <p:nvPr/>
        </p:nvSpPr>
        <p:spPr>
          <a:xfrm>
            <a:off x="566928" y="1463040"/>
            <a:ext cx="11027664" cy="822960"/>
          </a:xfrm>
          <a:prstGeom prst="roundRect">
            <a:avLst>
              <a:gd name="adj" fmla="val 6667"/>
            </a:avLst>
          </a:prstGeom>
          <a:solidFill>
            <a:srgbClr val="FEE2E2"/>
          </a:solidFill>
          <a:ln w="12700">
            <a:solidFill>
              <a:srgbClr val="E2E8F0"/>
            </a:solidFill>
            <a:prstDash val="solid"/>
          </a:ln>
        </p:spPr>
      </p:sp>
      <p:sp>
        <p:nvSpPr>
          <p:cNvPr id="5" name="Text 3"/>
          <p:cNvSpPr txBox="1"/>
          <p:nvPr/>
        </p:nvSpPr>
        <p:spPr>
          <a:xfrm>
            <a:off x="566928" y="1627632"/>
            <a:ext cx="11027664" cy="457200"/>
          </a:xfrm>
          <a:prstGeom prst="rect">
            <a:avLst/>
          </a:prstGeom>
          <a:noFill/>
          <a:ln/>
        </p:spPr>
        <p:txBody>
          <a:bodyPr wrap="square" lIns="0" tIns="0" rIns="0" bIns="0" rtlCol="0" anchor="ctr"/>
          <a:lstStyle/>
          <a:p>
            <a:pPr algn="ctr" indent="0" marL="0">
              <a:buNone/>
            </a:pPr>
            <a:r>
              <a:rPr lang="en-US" sz="1900" b="1" dirty="0">
                <a:solidFill>
                  <a:srgbClr val="B91C1C"/>
                </a:solidFill>
                <a:latin typeface="Cambria" pitchFamily="34" charset="0"/>
                <a:ea typeface="Cambria" pitchFamily="34" charset="-122"/>
                <a:cs typeface="Cambria" pitchFamily="34" charset="-120"/>
              </a:rPr>
              <a:t>A temporal relationship is necessary. It is nowhere near sufficient.</a:t>
            </a:r>
            <a:endParaRPr lang="en-US" sz="1900" dirty="0"/>
          </a:p>
        </p:txBody>
      </p:sp>
      <p:sp>
        <p:nvSpPr>
          <p:cNvPr id="6" name="Shape 4"/>
          <p:cNvSpPr/>
          <p:nvPr/>
        </p:nvSpPr>
        <p:spPr>
          <a:xfrm>
            <a:off x="566928" y="2468880"/>
            <a:ext cx="3456432" cy="1170432"/>
          </a:xfrm>
          <a:prstGeom prst="roundRect">
            <a:avLst>
              <a:gd name="adj" fmla="val 4688"/>
            </a:avLst>
          </a:prstGeom>
          <a:solidFill>
            <a:srgbClr val="F1F5F9"/>
          </a:solidFill>
          <a:ln w="12700">
            <a:solidFill>
              <a:srgbClr val="E2E8F0"/>
            </a:solidFill>
            <a:prstDash val="solid"/>
          </a:ln>
        </p:spPr>
      </p:sp>
      <p:sp>
        <p:nvSpPr>
          <p:cNvPr id="7" name="Shape 5"/>
          <p:cNvSpPr/>
          <p:nvPr/>
        </p:nvSpPr>
        <p:spPr>
          <a:xfrm>
            <a:off x="795528" y="2670048"/>
            <a:ext cx="347472" cy="347472"/>
          </a:xfrm>
          <a:prstGeom prst="ellipse">
            <a:avLst/>
          </a:prstGeom>
          <a:solidFill>
            <a:srgbClr val="0E7490"/>
          </a:solidFill>
          <a:ln/>
        </p:spPr>
      </p:sp>
      <p:sp>
        <p:nvSpPr>
          <p:cNvPr id="8" name="Text 6"/>
          <p:cNvSpPr txBox="1"/>
          <p:nvPr/>
        </p:nvSpPr>
        <p:spPr>
          <a:xfrm>
            <a:off x="795528" y="2670048"/>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9" name="Text 7"/>
          <p:cNvSpPr txBox="1"/>
          <p:nvPr/>
        </p:nvSpPr>
        <p:spPr>
          <a:xfrm>
            <a:off x="1225296" y="2651760"/>
            <a:ext cx="2606040" cy="310896"/>
          </a:xfrm>
          <a:prstGeom prst="rect">
            <a:avLst/>
          </a:prstGeom>
          <a:noFill/>
          <a:ln/>
        </p:spPr>
        <p:txBody>
          <a:bodyPr wrap="square" lIns="0" tIns="0" rIns="0" bIns="0" rtlCol="0" anchor="ctr"/>
          <a:lstStyle/>
          <a:p>
            <a:pPr indent="0" marL="0">
              <a:buNone/>
            </a:pPr>
            <a:r>
              <a:rPr lang="en-US" sz="1300" b="1" dirty="0">
                <a:solidFill>
                  <a:srgbClr val="0F2B3D"/>
                </a:solidFill>
                <a:latin typeface="Cambria" pitchFamily="34" charset="0"/>
                <a:ea typeface="Cambria" pitchFamily="34" charset="-122"/>
                <a:cs typeface="Cambria" pitchFamily="34" charset="-120"/>
              </a:rPr>
              <a:t>The illness itself</a:t>
            </a:r>
            <a:endParaRPr lang="en-US" sz="1300" dirty="0"/>
          </a:p>
        </p:txBody>
      </p:sp>
      <p:sp>
        <p:nvSpPr>
          <p:cNvPr id="10" name="Text 8"/>
          <p:cNvSpPr txBox="1"/>
          <p:nvPr/>
        </p:nvSpPr>
        <p:spPr>
          <a:xfrm>
            <a:off x="795528" y="3017520"/>
            <a:ext cx="3035808" cy="548640"/>
          </a:xfrm>
          <a:prstGeom prst="rect">
            <a:avLst/>
          </a:prstGeom>
          <a:noFill/>
          <a:ln/>
        </p:spPr>
        <p:txBody>
          <a:bodyPr wrap="square" lIns="0" tIns="0" rIns="0" bIns="0" rtlCol="0" anchor="ctr"/>
          <a:lstStyle/>
          <a:p>
            <a:pPr indent="0" marL="0">
              <a:lnSpc>
                <a:spcPts val="1500"/>
              </a:lnSpc>
              <a:buNone/>
            </a:pPr>
            <a:r>
              <a:rPr lang="en-US" sz="1150" dirty="0">
                <a:solidFill>
                  <a:srgbClr val="64748B"/>
                </a:solidFill>
                <a:latin typeface="Calibri" pitchFamily="34" charset="0"/>
                <a:ea typeface="Calibri" pitchFamily="34" charset="-122"/>
                <a:cs typeface="Calibri" pitchFamily="34" charset="-120"/>
              </a:rPr>
              <a:t>A viral rash in someone given an antibiotic for a sore throat.</a:t>
            </a:r>
            <a:endParaRPr lang="en-US" sz="1150" dirty="0"/>
          </a:p>
        </p:txBody>
      </p:sp>
      <p:sp>
        <p:nvSpPr>
          <p:cNvPr id="11" name="Shape 9"/>
          <p:cNvSpPr/>
          <p:nvPr/>
        </p:nvSpPr>
        <p:spPr>
          <a:xfrm>
            <a:off x="4251960" y="2468880"/>
            <a:ext cx="3456432" cy="1170432"/>
          </a:xfrm>
          <a:prstGeom prst="roundRect">
            <a:avLst>
              <a:gd name="adj" fmla="val 4688"/>
            </a:avLst>
          </a:prstGeom>
          <a:solidFill>
            <a:srgbClr val="F1F5F9"/>
          </a:solidFill>
          <a:ln w="12700">
            <a:solidFill>
              <a:srgbClr val="E2E8F0"/>
            </a:solidFill>
            <a:prstDash val="solid"/>
          </a:ln>
        </p:spPr>
      </p:sp>
      <p:sp>
        <p:nvSpPr>
          <p:cNvPr id="12" name="Shape 10"/>
          <p:cNvSpPr/>
          <p:nvPr/>
        </p:nvSpPr>
        <p:spPr>
          <a:xfrm>
            <a:off x="4480560" y="2670048"/>
            <a:ext cx="347472" cy="347472"/>
          </a:xfrm>
          <a:prstGeom prst="ellipse">
            <a:avLst/>
          </a:prstGeom>
          <a:solidFill>
            <a:srgbClr val="0E7490"/>
          </a:solidFill>
          <a:ln/>
        </p:spPr>
      </p:sp>
      <p:sp>
        <p:nvSpPr>
          <p:cNvPr id="13" name="Text 11"/>
          <p:cNvSpPr txBox="1"/>
          <p:nvPr/>
        </p:nvSpPr>
        <p:spPr>
          <a:xfrm>
            <a:off x="4480560" y="2670048"/>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4" name="Text 12"/>
          <p:cNvSpPr txBox="1"/>
          <p:nvPr/>
        </p:nvSpPr>
        <p:spPr>
          <a:xfrm>
            <a:off x="4910328" y="2651760"/>
            <a:ext cx="2606040" cy="310896"/>
          </a:xfrm>
          <a:prstGeom prst="rect">
            <a:avLst/>
          </a:prstGeom>
          <a:noFill/>
          <a:ln/>
        </p:spPr>
        <p:txBody>
          <a:bodyPr wrap="square" lIns="0" tIns="0" rIns="0" bIns="0" rtlCol="0" anchor="ctr"/>
          <a:lstStyle/>
          <a:p>
            <a:pPr indent="0" marL="0">
              <a:buNone/>
            </a:pPr>
            <a:r>
              <a:rPr lang="en-US" sz="1300" b="1" dirty="0">
                <a:solidFill>
                  <a:srgbClr val="0F2B3D"/>
                </a:solidFill>
                <a:latin typeface="Cambria" pitchFamily="34" charset="0"/>
                <a:ea typeface="Cambria" pitchFamily="34" charset="-122"/>
                <a:cs typeface="Cambria" pitchFamily="34" charset="-120"/>
              </a:rPr>
              <a:t>Another medicine</a:t>
            </a:r>
            <a:endParaRPr lang="en-US" sz="1300" dirty="0"/>
          </a:p>
        </p:txBody>
      </p:sp>
      <p:sp>
        <p:nvSpPr>
          <p:cNvPr id="15" name="Text 13"/>
          <p:cNvSpPr txBox="1"/>
          <p:nvPr/>
        </p:nvSpPr>
        <p:spPr>
          <a:xfrm>
            <a:off x="4480560" y="3017520"/>
            <a:ext cx="3035808" cy="548640"/>
          </a:xfrm>
          <a:prstGeom prst="rect">
            <a:avLst/>
          </a:prstGeom>
          <a:noFill/>
          <a:ln/>
        </p:spPr>
        <p:txBody>
          <a:bodyPr wrap="square" lIns="0" tIns="0" rIns="0" bIns="0" rtlCol="0" anchor="ctr"/>
          <a:lstStyle/>
          <a:p>
            <a:pPr indent="0" marL="0">
              <a:lnSpc>
                <a:spcPts val="1500"/>
              </a:lnSpc>
              <a:buNone/>
            </a:pPr>
            <a:r>
              <a:rPr lang="en-US" sz="1150" dirty="0">
                <a:solidFill>
                  <a:srgbClr val="64748B"/>
                </a:solidFill>
                <a:latin typeface="Calibri" pitchFamily="34" charset="0"/>
                <a:ea typeface="Calibri" pitchFamily="34" charset="-122"/>
                <a:cs typeface="Calibri" pitchFamily="34" charset="-120"/>
              </a:rPr>
              <a:t>Including anything bought over the counter, herbal, or borrowed.</a:t>
            </a:r>
            <a:endParaRPr lang="en-US" sz="1150" dirty="0"/>
          </a:p>
        </p:txBody>
      </p:sp>
      <p:sp>
        <p:nvSpPr>
          <p:cNvPr id="16" name="Shape 14"/>
          <p:cNvSpPr/>
          <p:nvPr/>
        </p:nvSpPr>
        <p:spPr>
          <a:xfrm>
            <a:off x="7936992" y="2468880"/>
            <a:ext cx="3456432" cy="1170432"/>
          </a:xfrm>
          <a:prstGeom prst="roundRect">
            <a:avLst>
              <a:gd name="adj" fmla="val 4688"/>
            </a:avLst>
          </a:prstGeom>
          <a:solidFill>
            <a:srgbClr val="F1F5F9"/>
          </a:solidFill>
          <a:ln w="12700">
            <a:solidFill>
              <a:srgbClr val="E2E8F0"/>
            </a:solidFill>
            <a:prstDash val="solid"/>
          </a:ln>
        </p:spPr>
      </p:sp>
      <p:sp>
        <p:nvSpPr>
          <p:cNvPr id="17" name="Shape 15"/>
          <p:cNvSpPr/>
          <p:nvPr/>
        </p:nvSpPr>
        <p:spPr>
          <a:xfrm>
            <a:off x="8165592" y="2670048"/>
            <a:ext cx="347472" cy="347472"/>
          </a:xfrm>
          <a:prstGeom prst="ellipse">
            <a:avLst/>
          </a:prstGeom>
          <a:solidFill>
            <a:srgbClr val="0E7490"/>
          </a:solidFill>
          <a:ln/>
        </p:spPr>
      </p:sp>
      <p:sp>
        <p:nvSpPr>
          <p:cNvPr id="18" name="Text 16"/>
          <p:cNvSpPr txBox="1"/>
          <p:nvPr/>
        </p:nvSpPr>
        <p:spPr>
          <a:xfrm>
            <a:off x="8165592" y="2670048"/>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9" name="Text 17"/>
          <p:cNvSpPr txBox="1"/>
          <p:nvPr/>
        </p:nvSpPr>
        <p:spPr>
          <a:xfrm>
            <a:off x="8595360" y="2651760"/>
            <a:ext cx="2606040" cy="310896"/>
          </a:xfrm>
          <a:prstGeom prst="rect">
            <a:avLst/>
          </a:prstGeom>
          <a:noFill/>
          <a:ln/>
        </p:spPr>
        <p:txBody>
          <a:bodyPr wrap="square" lIns="0" tIns="0" rIns="0" bIns="0" rtlCol="0" anchor="ctr"/>
          <a:lstStyle/>
          <a:p>
            <a:pPr indent="0" marL="0">
              <a:buNone/>
            </a:pPr>
            <a:r>
              <a:rPr lang="en-US" sz="1300" b="1" dirty="0">
                <a:solidFill>
                  <a:srgbClr val="0F2B3D"/>
                </a:solidFill>
                <a:latin typeface="Cambria" pitchFamily="34" charset="0"/>
                <a:ea typeface="Cambria" pitchFamily="34" charset="-122"/>
                <a:cs typeface="Cambria" pitchFamily="34" charset="-120"/>
              </a:rPr>
              <a:t>Food, products, environment</a:t>
            </a:r>
            <a:endParaRPr lang="en-US" sz="1300" dirty="0"/>
          </a:p>
        </p:txBody>
      </p:sp>
      <p:sp>
        <p:nvSpPr>
          <p:cNvPr id="20" name="Text 18"/>
          <p:cNvSpPr txBox="1"/>
          <p:nvPr/>
        </p:nvSpPr>
        <p:spPr>
          <a:xfrm>
            <a:off x="8165592" y="3017520"/>
            <a:ext cx="3035808" cy="548640"/>
          </a:xfrm>
          <a:prstGeom prst="rect">
            <a:avLst/>
          </a:prstGeom>
          <a:noFill/>
          <a:ln/>
        </p:spPr>
        <p:txBody>
          <a:bodyPr wrap="square" lIns="0" tIns="0" rIns="0" bIns="0" rtlCol="0" anchor="ctr"/>
          <a:lstStyle/>
          <a:p>
            <a:pPr indent="0" marL="0">
              <a:lnSpc>
                <a:spcPts val="1500"/>
              </a:lnSpc>
              <a:buNone/>
            </a:pPr>
            <a:r>
              <a:rPr lang="en-US" sz="1150" dirty="0">
                <a:solidFill>
                  <a:srgbClr val="64748B"/>
                </a:solidFill>
                <a:latin typeface="Calibri" pitchFamily="34" charset="0"/>
                <a:ea typeface="Calibri" pitchFamily="34" charset="-122"/>
                <a:cs typeface="Calibri" pitchFamily="34" charset="-120"/>
              </a:rPr>
              <a:t>New soap, new detergent, a plant, street food.</a:t>
            </a:r>
            <a:endParaRPr lang="en-US" sz="1150" dirty="0"/>
          </a:p>
        </p:txBody>
      </p:sp>
      <p:sp>
        <p:nvSpPr>
          <p:cNvPr id="21" name="Shape 19"/>
          <p:cNvSpPr/>
          <p:nvPr/>
        </p:nvSpPr>
        <p:spPr>
          <a:xfrm>
            <a:off x="566928" y="3794760"/>
            <a:ext cx="3456432" cy="1170432"/>
          </a:xfrm>
          <a:prstGeom prst="roundRect">
            <a:avLst>
              <a:gd name="adj" fmla="val 4688"/>
            </a:avLst>
          </a:prstGeom>
          <a:solidFill>
            <a:srgbClr val="F1F5F9"/>
          </a:solidFill>
          <a:ln w="12700">
            <a:solidFill>
              <a:srgbClr val="E2E8F0"/>
            </a:solidFill>
            <a:prstDash val="solid"/>
          </a:ln>
        </p:spPr>
      </p:sp>
      <p:sp>
        <p:nvSpPr>
          <p:cNvPr id="22" name="Shape 20"/>
          <p:cNvSpPr/>
          <p:nvPr/>
        </p:nvSpPr>
        <p:spPr>
          <a:xfrm>
            <a:off x="795528" y="3995928"/>
            <a:ext cx="347472" cy="347472"/>
          </a:xfrm>
          <a:prstGeom prst="ellipse">
            <a:avLst/>
          </a:prstGeom>
          <a:solidFill>
            <a:srgbClr val="0E7490"/>
          </a:solidFill>
          <a:ln/>
        </p:spPr>
      </p:sp>
      <p:sp>
        <p:nvSpPr>
          <p:cNvPr id="23" name="Text 21"/>
          <p:cNvSpPr txBox="1"/>
          <p:nvPr/>
        </p:nvSpPr>
        <p:spPr>
          <a:xfrm>
            <a:off x="795528" y="3995928"/>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24" name="Text 22"/>
          <p:cNvSpPr txBox="1"/>
          <p:nvPr/>
        </p:nvSpPr>
        <p:spPr>
          <a:xfrm>
            <a:off x="1225296" y="3977640"/>
            <a:ext cx="2606040" cy="310896"/>
          </a:xfrm>
          <a:prstGeom prst="rect">
            <a:avLst/>
          </a:prstGeom>
          <a:noFill/>
          <a:ln/>
        </p:spPr>
        <p:txBody>
          <a:bodyPr wrap="square" lIns="0" tIns="0" rIns="0" bIns="0" rtlCol="0" anchor="ctr"/>
          <a:lstStyle/>
          <a:p>
            <a:pPr indent="0" marL="0">
              <a:buNone/>
            </a:pPr>
            <a:r>
              <a:rPr lang="en-US" sz="1300" b="1" dirty="0">
                <a:solidFill>
                  <a:srgbClr val="0F2B3D"/>
                </a:solidFill>
                <a:latin typeface="Cambria" pitchFamily="34" charset="0"/>
                <a:ea typeface="Cambria" pitchFamily="34" charset="-122"/>
                <a:cs typeface="Cambria" pitchFamily="34" charset="-120"/>
              </a:rPr>
              <a:t>A co-existing condition</a:t>
            </a:r>
            <a:endParaRPr lang="en-US" sz="1300" dirty="0"/>
          </a:p>
        </p:txBody>
      </p:sp>
      <p:sp>
        <p:nvSpPr>
          <p:cNvPr id="25" name="Text 23"/>
          <p:cNvSpPr txBox="1"/>
          <p:nvPr/>
        </p:nvSpPr>
        <p:spPr>
          <a:xfrm>
            <a:off x="795528" y="4343400"/>
            <a:ext cx="3035808" cy="548640"/>
          </a:xfrm>
          <a:prstGeom prst="rect">
            <a:avLst/>
          </a:prstGeom>
          <a:noFill/>
          <a:ln/>
        </p:spPr>
        <p:txBody>
          <a:bodyPr wrap="square" lIns="0" tIns="0" rIns="0" bIns="0" rtlCol="0" anchor="ctr"/>
          <a:lstStyle/>
          <a:p>
            <a:pPr indent="0" marL="0">
              <a:lnSpc>
                <a:spcPts val="1500"/>
              </a:lnSpc>
              <a:buNone/>
            </a:pPr>
            <a:r>
              <a:rPr lang="en-US" sz="1150" dirty="0">
                <a:solidFill>
                  <a:srgbClr val="64748B"/>
                </a:solidFill>
                <a:latin typeface="Calibri" pitchFamily="34" charset="0"/>
                <a:ea typeface="Calibri" pitchFamily="34" charset="-122"/>
                <a:cs typeface="Calibri" pitchFamily="34" charset="-120"/>
              </a:rPr>
              <a:t>Kidney or liver disease changing how the drug behaves.</a:t>
            </a:r>
            <a:endParaRPr lang="en-US" sz="1150" dirty="0"/>
          </a:p>
        </p:txBody>
      </p:sp>
      <p:sp>
        <p:nvSpPr>
          <p:cNvPr id="26" name="Shape 24"/>
          <p:cNvSpPr/>
          <p:nvPr/>
        </p:nvSpPr>
        <p:spPr>
          <a:xfrm>
            <a:off x="4251960" y="3794760"/>
            <a:ext cx="3456432" cy="1170432"/>
          </a:xfrm>
          <a:prstGeom prst="roundRect">
            <a:avLst>
              <a:gd name="adj" fmla="val 4688"/>
            </a:avLst>
          </a:prstGeom>
          <a:solidFill>
            <a:srgbClr val="F1F5F9"/>
          </a:solidFill>
          <a:ln w="12700">
            <a:solidFill>
              <a:srgbClr val="E2E8F0"/>
            </a:solidFill>
            <a:prstDash val="solid"/>
          </a:ln>
        </p:spPr>
      </p:sp>
      <p:sp>
        <p:nvSpPr>
          <p:cNvPr id="27" name="Shape 25"/>
          <p:cNvSpPr/>
          <p:nvPr/>
        </p:nvSpPr>
        <p:spPr>
          <a:xfrm>
            <a:off x="4480560" y="3995928"/>
            <a:ext cx="347472" cy="347472"/>
          </a:xfrm>
          <a:prstGeom prst="ellipse">
            <a:avLst/>
          </a:prstGeom>
          <a:solidFill>
            <a:srgbClr val="0E7490"/>
          </a:solidFill>
          <a:ln/>
        </p:spPr>
      </p:sp>
      <p:sp>
        <p:nvSpPr>
          <p:cNvPr id="28" name="Text 26"/>
          <p:cNvSpPr txBox="1"/>
          <p:nvPr/>
        </p:nvSpPr>
        <p:spPr>
          <a:xfrm>
            <a:off x="4480560" y="3995928"/>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29" name="Text 27"/>
          <p:cNvSpPr txBox="1"/>
          <p:nvPr/>
        </p:nvSpPr>
        <p:spPr>
          <a:xfrm>
            <a:off x="4910328" y="3977640"/>
            <a:ext cx="2606040" cy="310896"/>
          </a:xfrm>
          <a:prstGeom prst="rect">
            <a:avLst/>
          </a:prstGeom>
          <a:noFill/>
          <a:ln/>
        </p:spPr>
        <p:txBody>
          <a:bodyPr wrap="square" lIns="0" tIns="0" rIns="0" bIns="0" rtlCol="0" anchor="ctr"/>
          <a:lstStyle/>
          <a:p>
            <a:pPr indent="0" marL="0">
              <a:buNone/>
            </a:pPr>
            <a:r>
              <a:rPr lang="en-US" sz="1300" b="1" dirty="0">
                <a:solidFill>
                  <a:srgbClr val="0F2B3D"/>
                </a:solidFill>
                <a:latin typeface="Cambria" pitchFamily="34" charset="0"/>
                <a:ea typeface="Cambria" pitchFamily="34" charset="-122"/>
                <a:cs typeface="Cambria" pitchFamily="34" charset="-120"/>
              </a:rPr>
              <a:t>Something entirely unrelated</a:t>
            </a:r>
            <a:endParaRPr lang="en-US" sz="1300" dirty="0"/>
          </a:p>
        </p:txBody>
      </p:sp>
      <p:sp>
        <p:nvSpPr>
          <p:cNvPr id="30" name="Text 28"/>
          <p:cNvSpPr txBox="1"/>
          <p:nvPr/>
        </p:nvSpPr>
        <p:spPr>
          <a:xfrm>
            <a:off x="4480560" y="4343400"/>
            <a:ext cx="3035808" cy="548640"/>
          </a:xfrm>
          <a:prstGeom prst="rect">
            <a:avLst/>
          </a:prstGeom>
          <a:noFill/>
          <a:ln/>
        </p:spPr>
        <p:txBody>
          <a:bodyPr wrap="square" lIns="0" tIns="0" rIns="0" bIns="0" rtlCol="0" anchor="ctr"/>
          <a:lstStyle/>
          <a:p>
            <a:pPr indent="0" marL="0">
              <a:lnSpc>
                <a:spcPts val="1500"/>
              </a:lnSpc>
              <a:buNone/>
            </a:pPr>
            <a:r>
              <a:rPr lang="en-US" sz="1150" dirty="0">
                <a:solidFill>
                  <a:srgbClr val="64748B"/>
                </a:solidFill>
                <a:latin typeface="Calibri" pitchFamily="34" charset="0"/>
                <a:ea typeface="Calibri" pitchFamily="34" charset="-122"/>
                <a:cs typeface="Calibri" pitchFamily="34" charset="-120"/>
              </a:rPr>
              <a:t>Poor sleep, dehydration, caffeine withdrawal.</a:t>
            </a:r>
            <a:endParaRPr lang="en-US" sz="1150" dirty="0"/>
          </a:p>
        </p:txBody>
      </p:sp>
      <p:sp>
        <p:nvSpPr>
          <p:cNvPr id="31" name="Shape 29"/>
          <p:cNvSpPr/>
          <p:nvPr/>
        </p:nvSpPr>
        <p:spPr>
          <a:xfrm>
            <a:off x="7936992" y="3794760"/>
            <a:ext cx="3456432" cy="1170432"/>
          </a:xfrm>
          <a:prstGeom prst="roundRect">
            <a:avLst>
              <a:gd name="adj" fmla="val 4688"/>
            </a:avLst>
          </a:prstGeom>
          <a:solidFill>
            <a:srgbClr val="F1F5F9"/>
          </a:solidFill>
          <a:ln w="12700">
            <a:solidFill>
              <a:srgbClr val="E2E8F0"/>
            </a:solidFill>
            <a:prstDash val="solid"/>
          </a:ln>
        </p:spPr>
      </p:sp>
      <p:sp>
        <p:nvSpPr>
          <p:cNvPr id="32" name="Shape 30"/>
          <p:cNvSpPr/>
          <p:nvPr/>
        </p:nvSpPr>
        <p:spPr>
          <a:xfrm>
            <a:off x="8165592" y="3995928"/>
            <a:ext cx="347472" cy="347472"/>
          </a:xfrm>
          <a:prstGeom prst="ellipse">
            <a:avLst/>
          </a:prstGeom>
          <a:solidFill>
            <a:srgbClr val="0E7490"/>
          </a:solidFill>
          <a:ln/>
        </p:spPr>
      </p:sp>
      <p:sp>
        <p:nvSpPr>
          <p:cNvPr id="33" name="Text 31"/>
          <p:cNvSpPr txBox="1"/>
          <p:nvPr/>
        </p:nvSpPr>
        <p:spPr>
          <a:xfrm>
            <a:off x="8165592" y="3995928"/>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6</a:t>
            </a:r>
            <a:endParaRPr lang="en-US" sz="1200" dirty="0"/>
          </a:p>
        </p:txBody>
      </p:sp>
      <p:sp>
        <p:nvSpPr>
          <p:cNvPr id="34" name="Text 32"/>
          <p:cNvSpPr txBox="1"/>
          <p:nvPr/>
        </p:nvSpPr>
        <p:spPr>
          <a:xfrm>
            <a:off x="8595360" y="3977640"/>
            <a:ext cx="2606040" cy="310896"/>
          </a:xfrm>
          <a:prstGeom prst="rect">
            <a:avLst/>
          </a:prstGeom>
          <a:noFill/>
          <a:ln/>
        </p:spPr>
        <p:txBody>
          <a:bodyPr wrap="square" lIns="0" tIns="0" rIns="0" bIns="0" rtlCol="0" anchor="ctr"/>
          <a:lstStyle/>
          <a:p>
            <a:pPr indent="0" marL="0">
              <a:buNone/>
            </a:pPr>
            <a:r>
              <a:rPr lang="en-US" sz="1300" b="1" dirty="0">
                <a:solidFill>
                  <a:srgbClr val="0F2B3D"/>
                </a:solidFill>
                <a:latin typeface="Cambria" pitchFamily="34" charset="0"/>
                <a:ea typeface="Cambria" pitchFamily="34" charset="-122"/>
                <a:cs typeface="Cambria" pitchFamily="34" charset="-120"/>
              </a:rPr>
              <a:t>A specific interaction</a:t>
            </a:r>
            <a:endParaRPr lang="en-US" sz="1300" dirty="0"/>
          </a:p>
        </p:txBody>
      </p:sp>
      <p:sp>
        <p:nvSpPr>
          <p:cNvPr id="35" name="Text 33"/>
          <p:cNvSpPr txBox="1"/>
          <p:nvPr/>
        </p:nvSpPr>
        <p:spPr>
          <a:xfrm>
            <a:off x="8165592" y="4343400"/>
            <a:ext cx="3035808" cy="548640"/>
          </a:xfrm>
          <a:prstGeom prst="rect">
            <a:avLst/>
          </a:prstGeom>
          <a:noFill/>
          <a:ln/>
        </p:spPr>
        <p:txBody>
          <a:bodyPr wrap="square" lIns="0" tIns="0" rIns="0" bIns="0" rtlCol="0" anchor="ctr"/>
          <a:lstStyle/>
          <a:p>
            <a:pPr indent="0" marL="0">
              <a:lnSpc>
                <a:spcPts val="1500"/>
              </a:lnSpc>
              <a:buNone/>
            </a:pPr>
            <a:r>
              <a:rPr lang="en-US" sz="1150" dirty="0">
                <a:solidFill>
                  <a:srgbClr val="64748B"/>
                </a:solidFill>
                <a:latin typeface="Calibri" pitchFamily="34" charset="0"/>
                <a:ea typeface="Calibri" pitchFamily="34" charset="-122"/>
                <a:cs typeface="Calibri" pitchFamily="34" charset="-120"/>
              </a:rPr>
              <a:t>Harm that belongs to the combination, not the drug.</a:t>
            </a:r>
            <a:endParaRPr lang="en-US" sz="1150" dirty="0"/>
          </a:p>
        </p:txBody>
      </p:sp>
      <p:sp>
        <p:nvSpPr>
          <p:cNvPr id="36" name="Shape 34"/>
          <p:cNvSpPr/>
          <p:nvPr/>
        </p:nvSpPr>
        <p:spPr>
          <a:xfrm>
            <a:off x="566928" y="5212080"/>
            <a:ext cx="11027664" cy="1051560"/>
          </a:xfrm>
          <a:prstGeom prst="roundRect">
            <a:avLst>
              <a:gd name="adj" fmla="val 5217"/>
            </a:avLst>
          </a:prstGeom>
          <a:solidFill>
            <a:srgbClr val="DCFCE7"/>
          </a:solidFill>
          <a:ln w="12700">
            <a:solidFill>
              <a:srgbClr val="E2E8F0"/>
            </a:solidFill>
            <a:prstDash val="solid"/>
          </a:ln>
        </p:spPr>
      </p:sp>
      <p:sp>
        <p:nvSpPr>
          <p:cNvPr id="37" name="Text 35"/>
          <p:cNvSpPr txBox="1"/>
          <p:nvPr/>
        </p:nvSpPr>
        <p:spPr>
          <a:xfrm>
            <a:off x="886968" y="5413248"/>
            <a:ext cx="10424160" cy="685800"/>
          </a:xfrm>
          <a:prstGeom prst="rect">
            <a:avLst/>
          </a:prstGeom>
          <a:noFill/>
          <a:ln/>
        </p:spPr>
        <p:txBody>
          <a:bodyPr wrap="square" lIns="0" tIns="0" rIns="0" bIns="0" rtlCol="0" anchor="ctr"/>
          <a:lstStyle/>
          <a:p>
            <a:pPr indent="0" marL="0">
              <a:lnSpc>
                <a:spcPts val="1900"/>
              </a:lnSpc>
              <a:buNone/>
            </a:pPr>
            <a:r>
              <a:rPr lang="en-US" sz="1350" dirty="0">
                <a:solidFill>
                  <a:srgbClr val="14532D"/>
                </a:solidFill>
                <a:latin typeface="Calibri" pitchFamily="34" charset="0"/>
                <a:ea typeface="Calibri" pitchFamily="34" charset="-122"/>
                <a:cs typeface="Calibri" pitchFamily="34" charset="-120"/>
              </a:rPr>
              <a:t>Ruling alternatives out is the highest-scoring single item on the Naranjo scale: finding one costs a point, excluding them gains two. The scale is built to reward actually investigating.</a:t>
            </a:r>
            <a:endParaRPr lang="en-US" sz="13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84048"/>
            <a:ext cx="10058400" cy="256032"/>
          </a:xfrm>
          <a:prstGeom prst="rect">
            <a:avLst/>
          </a:prstGeom>
          <a:noFill/>
          <a:ln/>
        </p:spPr>
        <p:txBody>
          <a:bodyPr wrap="square" lIns="0" tIns="0" rIns="0" bIns="0" rtlCol="0" anchor="ctr"/>
          <a:lstStyle/>
          <a:p>
            <a:pPr indent="0" marL="0">
              <a:buNone/>
            </a:pPr>
            <a:r>
              <a:rPr lang="en-US" sz="1100" b="1" spc="250" kern="0" dirty="0">
                <a:solidFill>
                  <a:srgbClr val="0E7490"/>
                </a:solidFill>
                <a:latin typeface="Calibri" pitchFamily="34" charset="0"/>
                <a:ea typeface="Calibri" pitchFamily="34" charset="-122"/>
                <a:cs typeface="Calibri" pitchFamily="34" charset="-120"/>
              </a:rPr>
              <a:t>The minimum elements of an ICSR</a:t>
            </a:r>
            <a:endParaRPr lang="en-US" sz="1100" dirty="0"/>
          </a:p>
        </p:txBody>
      </p:sp>
      <p:sp>
        <p:nvSpPr>
          <p:cNvPr id="3" name="Text 1"/>
          <p:cNvSpPr txBox="1"/>
          <p:nvPr/>
        </p:nvSpPr>
        <p:spPr>
          <a:xfrm>
            <a:off x="566928" y="640080"/>
            <a:ext cx="11064240" cy="548640"/>
          </a:xfrm>
          <a:prstGeom prst="rect">
            <a:avLst/>
          </a:prstGeom>
          <a:noFill/>
          <a:ln/>
        </p:spPr>
        <p:txBody>
          <a:bodyPr wrap="square" lIns="0" tIns="0" rIns="0" bIns="0" rtlCol="0" anchor="t"/>
          <a:lstStyle/>
          <a:p>
            <a:pPr indent="0" marL="0">
              <a:lnSpc>
                <a:spcPts val="3800"/>
              </a:lnSpc>
              <a:buNone/>
            </a:pPr>
            <a:r>
              <a:rPr lang="en-US" sz="3100" b="1" dirty="0">
                <a:solidFill>
                  <a:srgbClr val="0F2B3D"/>
                </a:solidFill>
                <a:latin typeface="Cambria" pitchFamily="34" charset="0"/>
                <a:ea typeface="Cambria" pitchFamily="34" charset="-122"/>
                <a:cs typeface="Cambria" pitchFamily="34" charset="-120"/>
              </a:rPr>
              <a:t>Four things, or it is not a report</a:t>
            </a:r>
            <a:endParaRPr lang="en-US" sz="3100" dirty="0"/>
          </a:p>
        </p:txBody>
      </p:sp>
      <p:sp>
        <p:nvSpPr>
          <p:cNvPr id="4" name="Shape 2"/>
          <p:cNvSpPr/>
          <p:nvPr/>
        </p:nvSpPr>
        <p:spPr>
          <a:xfrm>
            <a:off x="566928" y="1600200"/>
            <a:ext cx="2606040" cy="2377440"/>
          </a:xfrm>
          <a:prstGeom prst="roundRect">
            <a:avLst>
              <a:gd name="adj" fmla="val 2308"/>
            </a:avLst>
          </a:prstGeom>
          <a:solidFill>
            <a:srgbClr val="ECFEFF"/>
          </a:solidFill>
          <a:ln w="12700">
            <a:solidFill>
              <a:srgbClr val="E2E8F0"/>
            </a:solidFill>
            <a:prstDash val="solid"/>
          </a:ln>
        </p:spPr>
      </p:sp>
      <p:sp>
        <p:nvSpPr>
          <p:cNvPr id="5" name="Shape 3"/>
          <p:cNvSpPr/>
          <p:nvPr/>
        </p:nvSpPr>
        <p:spPr>
          <a:xfrm>
            <a:off x="1627632" y="1810512"/>
            <a:ext cx="502920" cy="502920"/>
          </a:xfrm>
          <a:prstGeom prst="ellipse">
            <a:avLst/>
          </a:prstGeom>
          <a:solidFill>
            <a:srgbClr val="0E7490"/>
          </a:solidFill>
          <a:ln/>
        </p:spPr>
      </p:sp>
      <p:sp>
        <p:nvSpPr>
          <p:cNvPr id="6" name="Text 4"/>
          <p:cNvSpPr txBox="1"/>
          <p:nvPr/>
        </p:nvSpPr>
        <p:spPr>
          <a:xfrm>
            <a:off x="1627632" y="1810512"/>
            <a:ext cx="502920" cy="50292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7" name="Text 5"/>
          <p:cNvSpPr txBox="1"/>
          <p:nvPr/>
        </p:nvSpPr>
        <p:spPr>
          <a:xfrm>
            <a:off x="749808" y="2432304"/>
            <a:ext cx="2267712" cy="594360"/>
          </a:xfrm>
          <a:prstGeom prst="rect">
            <a:avLst/>
          </a:prstGeom>
          <a:noFill/>
          <a:ln/>
        </p:spPr>
        <p:txBody>
          <a:bodyPr wrap="square" lIns="0" tIns="0" rIns="0" bIns="0" rtlCol="0" anchor="ctr"/>
          <a:lstStyle/>
          <a:p>
            <a:pPr algn="ctr" indent="0" marL="0">
              <a:buNone/>
            </a:pPr>
            <a:r>
              <a:rPr lang="en-US" sz="1400" b="1" dirty="0">
                <a:solidFill>
                  <a:srgbClr val="0F2B3D"/>
                </a:solidFill>
                <a:latin typeface="Cambria" pitchFamily="34" charset="0"/>
                <a:ea typeface="Cambria" pitchFamily="34" charset="-122"/>
                <a:cs typeface="Cambria" pitchFamily="34" charset="-120"/>
              </a:rPr>
              <a:t>An identifiable patient</a:t>
            </a:r>
            <a:endParaRPr lang="en-US" sz="1400" dirty="0"/>
          </a:p>
        </p:txBody>
      </p:sp>
      <p:sp>
        <p:nvSpPr>
          <p:cNvPr id="8" name="Text 6"/>
          <p:cNvSpPr txBox="1"/>
          <p:nvPr/>
        </p:nvSpPr>
        <p:spPr>
          <a:xfrm>
            <a:off x="749808" y="3035808"/>
            <a:ext cx="2286000" cy="841248"/>
          </a:xfrm>
          <a:prstGeom prst="rect">
            <a:avLst/>
          </a:prstGeom>
          <a:noFill/>
          <a:ln/>
        </p:spPr>
        <p:txBody>
          <a:bodyPr wrap="square" lIns="0" tIns="0" rIns="0" bIns="0" rtlCol="0" anchor="ctr"/>
          <a:lstStyle/>
          <a:p>
            <a:pPr algn="ctr" indent="0" marL="0">
              <a:lnSpc>
                <a:spcPts val="1500"/>
              </a:lnSpc>
              <a:buNone/>
            </a:pPr>
            <a:r>
              <a:rPr lang="en-US" sz="1100" dirty="0">
                <a:solidFill>
                  <a:srgbClr val="64748B"/>
                </a:solidFill>
                <a:latin typeface="Calibri" pitchFamily="34" charset="0"/>
                <a:ea typeface="Calibri" pitchFamily="34" charset="-122"/>
                <a:cs typeface="Calibri" pitchFamily="34" charset="-120"/>
              </a:rPr>
              <a:t>Initials, age or sex will do. A full name is not required — and usually should not be recorded.</a:t>
            </a:r>
            <a:endParaRPr lang="en-US" sz="1100" dirty="0"/>
          </a:p>
        </p:txBody>
      </p:sp>
      <p:sp>
        <p:nvSpPr>
          <p:cNvPr id="9" name="Shape 7"/>
          <p:cNvSpPr/>
          <p:nvPr/>
        </p:nvSpPr>
        <p:spPr>
          <a:xfrm>
            <a:off x="3337560" y="1600200"/>
            <a:ext cx="2606040" cy="2377440"/>
          </a:xfrm>
          <a:prstGeom prst="roundRect">
            <a:avLst>
              <a:gd name="adj" fmla="val 2308"/>
            </a:avLst>
          </a:prstGeom>
          <a:solidFill>
            <a:srgbClr val="ECFEFF"/>
          </a:solidFill>
          <a:ln w="12700">
            <a:solidFill>
              <a:srgbClr val="E2E8F0"/>
            </a:solidFill>
            <a:prstDash val="solid"/>
          </a:ln>
        </p:spPr>
      </p:sp>
      <p:sp>
        <p:nvSpPr>
          <p:cNvPr id="10" name="Shape 8"/>
          <p:cNvSpPr/>
          <p:nvPr/>
        </p:nvSpPr>
        <p:spPr>
          <a:xfrm>
            <a:off x="4398264" y="1810512"/>
            <a:ext cx="502920" cy="502920"/>
          </a:xfrm>
          <a:prstGeom prst="ellipse">
            <a:avLst/>
          </a:prstGeom>
          <a:solidFill>
            <a:srgbClr val="0E7490"/>
          </a:solidFill>
          <a:ln/>
        </p:spPr>
      </p:sp>
      <p:sp>
        <p:nvSpPr>
          <p:cNvPr id="11" name="Text 9"/>
          <p:cNvSpPr txBox="1"/>
          <p:nvPr/>
        </p:nvSpPr>
        <p:spPr>
          <a:xfrm>
            <a:off x="4398264" y="1810512"/>
            <a:ext cx="502920" cy="50292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2" name="Text 10"/>
          <p:cNvSpPr txBox="1"/>
          <p:nvPr/>
        </p:nvSpPr>
        <p:spPr>
          <a:xfrm>
            <a:off x="3520440" y="2432304"/>
            <a:ext cx="2267712" cy="594360"/>
          </a:xfrm>
          <a:prstGeom prst="rect">
            <a:avLst/>
          </a:prstGeom>
          <a:noFill/>
          <a:ln/>
        </p:spPr>
        <p:txBody>
          <a:bodyPr wrap="square" lIns="0" tIns="0" rIns="0" bIns="0" rtlCol="0" anchor="ctr"/>
          <a:lstStyle/>
          <a:p>
            <a:pPr algn="ctr" indent="0" marL="0">
              <a:buNone/>
            </a:pPr>
            <a:r>
              <a:rPr lang="en-US" sz="1400" b="1" dirty="0">
                <a:solidFill>
                  <a:srgbClr val="0F2B3D"/>
                </a:solidFill>
                <a:latin typeface="Cambria" pitchFamily="34" charset="0"/>
                <a:ea typeface="Cambria" pitchFamily="34" charset="-122"/>
                <a:cs typeface="Cambria" pitchFamily="34" charset="-120"/>
              </a:rPr>
              <a:t>An identifiable reporter</a:t>
            </a:r>
            <a:endParaRPr lang="en-US" sz="1400" dirty="0"/>
          </a:p>
        </p:txBody>
      </p:sp>
      <p:sp>
        <p:nvSpPr>
          <p:cNvPr id="13" name="Text 11"/>
          <p:cNvSpPr txBox="1"/>
          <p:nvPr/>
        </p:nvSpPr>
        <p:spPr>
          <a:xfrm>
            <a:off x="3520440" y="3035808"/>
            <a:ext cx="2286000" cy="841248"/>
          </a:xfrm>
          <a:prstGeom prst="rect">
            <a:avLst/>
          </a:prstGeom>
          <a:noFill/>
          <a:ln/>
        </p:spPr>
        <p:txBody>
          <a:bodyPr wrap="square" lIns="0" tIns="0" rIns="0" bIns="0" rtlCol="0" anchor="ctr"/>
          <a:lstStyle/>
          <a:p>
            <a:pPr algn="ctr" indent="0" marL="0">
              <a:lnSpc>
                <a:spcPts val="1500"/>
              </a:lnSpc>
              <a:buNone/>
            </a:pPr>
            <a:r>
              <a:rPr lang="en-US" sz="1100" dirty="0">
                <a:solidFill>
                  <a:srgbClr val="64748B"/>
                </a:solidFill>
                <a:latin typeface="Calibri" pitchFamily="34" charset="0"/>
                <a:ea typeface="Calibri" pitchFamily="34" charset="-122"/>
                <a:cs typeface="Calibri" pitchFamily="34" charset="-120"/>
              </a:rPr>
              <a:t>Somebody contactable. A name with no email or phone cannot be followed up.</a:t>
            </a:r>
            <a:endParaRPr lang="en-US" sz="1100" dirty="0"/>
          </a:p>
        </p:txBody>
      </p:sp>
      <p:sp>
        <p:nvSpPr>
          <p:cNvPr id="14" name="Shape 12"/>
          <p:cNvSpPr/>
          <p:nvPr/>
        </p:nvSpPr>
        <p:spPr>
          <a:xfrm>
            <a:off x="6108192" y="1600200"/>
            <a:ext cx="2606040" cy="2377440"/>
          </a:xfrm>
          <a:prstGeom prst="roundRect">
            <a:avLst>
              <a:gd name="adj" fmla="val 2308"/>
            </a:avLst>
          </a:prstGeom>
          <a:solidFill>
            <a:srgbClr val="ECFEFF"/>
          </a:solidFill>
          <a:ln w="12700">
            <a:solidFill>
              <a:srgbClr val="E2E8F0"/>
            </a:solidFill>
            <a:prstDash val="solid"/>
          </a:ln>
        </p:spPr>
      </p:sp>
      <p:sp>
        <p:nvSpPr>
          <p:cNvPr id="15" name="Shape 13"/>
          <p:cNvSpPr/>
          <p:nvPr/>
        </p:nvSpPr>
        <p:spPr>
          <a:xfrm>
            <a:off x="7168896" y="1810512"/>
            <a:ext cx="502920" cy="502920"/>
          </a:xfrm>
          <a:prstGeom prst="ellipse">
            <a:avLst/>
          </a:prstGeom>
          <a:solidFill>
            <a:srgbClr val="0E7490"/>
          </a:solidFill>
          <a:ln/>
        </p:spPr>
      </p:sp>
      <p:sp>
        <p:nvSpPr>
          <p:cNvPr id="16" name="Text 14"/>
          <p:cNvSpPr txBox="1"/>
          <p:nvPr/>
        </p:nvSpPr>
        <p:spPr>
          <a:xfrm>
            <a:off x="7168896" y="1810512"/>
            <a:ext cx="502920" cy="50292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7" name="Text 15"/>
          <p:cNvSpPr txBox="1"/>
          <p:nvPr/>
        </p:nvSpPr>
        <p:spPr>
          <a:xfrm>
            <a:off x="6291072" y="2432304"/>
            <a:ext cx="2267712" cy="594360"/>
          </a:xfrm>
          <a:prstGeom prst="rect">
            <a:avLst/>
          </a:prstGeom>
          <a:noFill/>
          <a:ln/>
        </p:spPr>
        <p:txBody>
          <a:bodyPr wrap="square" lIns="0" tIns="0" rIns="0" bIns="0" rtlCol="0" anchor="ctr"/>
          <a:lstStyle/>
          <a:p>
            <a:pPr algn="ctr" indent="0" marL="0">
              <a:buNone/>
            </a:pPr>
            <a:r>
              <a:rPr lang="en-US" sz="1400" b="1" dirty="0">
                <a:solidFill>
                  <a:srgbClr val="0F2B3D"/>
                </a:solidFill>
                <a:latin typeface="Cambria" pitchFamily="34" charset="0"/>
                <a:ea typeface="Cambria" pitchFamily="34" charset="-122"/>
                <a:cs typeface="Cambria" pitchFamily="34" charset="-120"/>
              </a:rPr>
              <a:t>A suspect medicinal product</a:t>
            </a:r>
            <a:endParaRPr lang="en-US" sz="1400" dirty="0"/>
          </a:p>
        </p:txBody>
      </p:sp>
      <p:sp>
        <p:nvSpPr>
          <p:cNvPr id="18" name="Text 16"/>
          <p:cNvSpPr txBox="1"/>
          <p:nvPr/>
        </p:nvSpPr>
        <p:spPr>
          <a:xfrm>
            <a:off x="6291072" y="3035808"/>
            <a:ext cx="2286000" cy="841248"/>
          </a:xfrm>
          <a:prstGeom prst="rect">
            <a:avLst/>
          </a:prstGeom>
          <a:noFill/>
          <a:ln/>
        </p:spPr>
        <p:txBody>
          <a:bodyPr wrap="square" lIns="0" tIns="0" rIns="0" bIns="0" rtlCol="0" anchor="ctr"/>
          <a:lstStyle/>
          <a:p>
            <a:pPr algn="ctr" indent="0" marL="0">
              <a:lnSpc>
                <a:spcPts val="1500"/>
              </a:lnSpc>
              <a:buNone/>
            </a:pPr>
            <a:r>
              <a:rPr lang="en-US" sz="1100" dirty="0">
                <a:solidFill>
                  <a:srgbClr val="64748B"/>
                </a:solidFill>
                <a:latin typeface="Calibri" pitchFamily="34" charset="0"/>
                <a:ea typeface="Calibri" pitchFamily="34" charset="-122"/>
                <a:cs typeface="Calibri" pitchFamily="34" charset="-120"/>
              </a:rPr>
              <a:t>At least one named suspect drug.</a:t>
            </a:r>
            <a:endParaRPr lang="en-US" sz="1100" dirty="0"/>
          </a:p>
        </p:txBody>
      </p:sp>
      <p:sp>
        <p:nvSpPr>
          <p:cNvPr id="19" name="Shape 17"/>
          <p:cNvSpPr/>
          <p:nvPr/>
        </p:nvSpPr>
        <p:spPr>
          <a:xfrm>
            <a:off x="8878824" y="1600200"/>
            <a:ext cx="2606040" cy="2377440"/>
          </a:xfrm>
          <a:prstGeom prst="roundRect">
            <a:avLst>
              <a:gd name="adj" fmla="val 2308"/>
            </a:avLst>
          </a:prstGeom>
          <a:solidFill>
            <a:srgbClr val="ECFEFF"/>
          </a:solidFill>
          <a:ln w="12700">
            <a:solidFill>
              <a:srgbClr val="E2E8F0"/>
            </a:solidFill>
            <a:prstDash val="solid"/>
          </a:ln>
        </p:spPr>
      </p:sp>
      <p:sp>
        <p:nvSpPr>
          <p:cNvPr id="20" name="Shape 18"/>
          <p:cNvSpPr/>
          <p:nvPr/>
        </p:nvSpPr>
        <p:spPr>
          <a:xfrm>
            <a:off x="9939528" y="1810512"/>
            <a:ext cx="502920" cy="502920"/>
          </a:xfrm>
          <a:prstGeom prst="ellipse">
            <a:avLst/>
          </a:prstGeom>
          <a:solidFill>
            <a:srgbClr val="0E7490"/>
          </a:solidFill>
          <a:ln/>
        </p:spPr>
      </p:sp>
      <p:sp>
        <p:nvSpPr>
          <p:cNvPr id="21" name="Text 19"/>
          <p:cNvSpPr txBox="1"/>
          <p:nvPr/>
        </p:nvSpPr>
        <p:spPr>
          <a:xfrm>
            <a:off x="9939528" y="1810512"/>
            <a:ext cx="502920" cy="50292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22" name="Text 20"/>
          <p:cNvSpPr txBox="1"/>
          <p:nvPr/>
        </p:nvSpPr>
        <p:spPr>
          <a:xfrm>
            <a:off x="9061704" y="2432304"/>
            <a:ext cx="2267712" cy="594360"/>
          </a:xfrm>
          <a:prstGeom prst="rect">
            <a:avLst/>
          </a:prstGeom>
          <a:noFill/>
          <a:ln/>
        </p:spPr>
        <p:txBody>
          <a:bodyPr wrap="square" lIns="0" tIns="0" rIns="0" bIns="0" rtlCol="0" anchor="ctr"/>
          <a:lstStyle/>
          <a:p>
            <a:pPr algn="ctr" indent="0" marL="0">
              <a:buNone/>
            </a:pPr>
            <a:r>
              <a:rPr lang="en-US" sz="1400" b="1" dirty="0">
                <a:solidFill>
                  <a:srgbClr val="0F2B3D"/>
                </a:solidFill>
                <a:latin typeface="Cambria" pitchFamily="34" charset="0"/>
                <a:ea typeface="Cambria" pitchFamily="34" charset="-122"/>
                <a:cs typeface="Cambria" pitchFamily="34" charset="-120"/>
              </a:rPr>
              <a:t>A suspected adverse reaction</a:t>
            </a:r>
            <a:endParaRPr lang="en-US" sz="1400" dirty="0"/>
          </a:p>
        </p:txBody>
      </p:sp>
      <p:sp>
        <p:nvSpPr>
          <p:cNvPr id="23" name="Text 21"/>
          <p:cNvSpPr txBox="1"/>
          <p:nvPr/>
        </p:nvSpPr>
        <p:spPr>
          <a:xfrm>
            <a:off x="9061704" y="3035808"/>
            <a:ext cx="2286000" cy="841248"/>
          </a:xfrm>
          <a:prstGeom prst="rect">
            <a:avLst/>
          </a:prstGeom>
          <a:noFill/>
          <a:ln/>
        </p:spPr>
        <p:txBody>
          <a:bodyPr wrap="square" lIns="0" tIns="0" rIns="0" bIns="0" rtlCol="0" anchor="ctr"/>
          <a:lstStyle/>
          <a:p>
            <a:pPr algn="ctr" indent="0" marL="0">
              <a:lnSpc>
                <a:spcPts val="1500"/>
              </a:lnSpc>
              <a:buNone/>
            </a:pPr>
            <a:r>
              <a:rPr lang="en-US" sz="1100" dirty="0">
                <a:solidFill>
                  <a:srgbClr val="64748B"/>
                </a:solidFill>
                <a:latin typeface="Calibri" pitchFamily="34" charset="0"/>
                <a:ea typeface="Calibri" pitchFamily="34" charset="-122"/>
                <a:cs typeface="Calibri" pitchFamily="34" charset="-120"/>
              </a:rPr>
              <a:t>Something that actually happened to the patient.</a:t>
            </a:r>
            <a:endParaRPr lang="en-US" sz="1100" dirty="0"/>
          </a:p>
        </p:txBody>
      </p:sp>
      <p:sp>
        <p:nvSpPr>
          <p:cNvPr id="24" name="Shape 22"/>
          <p:cNvSpPr/>
          <p:nvPr/>
        </p:nvSpPr>
        <p:spPr>
          <a:xfrm>
            <a:off x="566928" y="4206240"/>
            <a:ext cx="5349240" cy="1920240"/>
          </a:xfrm>
          <a:prstGeom prst="roundRect">
            <a:avLst>
              <a:gd name="adj" fmla="val 2857"/>
            </a:avLst>
          </a:prstGeom>
          <a:solidFill>
            <a:srgbClr val="FEE2E2"/>
          </a:solidFill>
          <a:ln w="12700">
            <a:solidFill>
              <a:srgbClr val="E2E8F0"/>
            </a:solidFill>
            <a:prstDash val="solid"/>
          </a:ln>
        </p:spPr>
      </p:sp>
      <p:sp>
        <p:nvSpPr>
          <p:cNvPr id="25" name="Text 23"/>
          <p:cNvSpPr txBox="1"/>
          <p:nvPr/>
        </p:nvSpPr>
        <p:spPr>
          <a:xfrm>
            <a:off x="841248" y="4389120"/>
            <a:ext cx="4754880" cy="274320"/>
          </a:xfrm>
          <a:prstGeom prst="rect">
            <a:avLst/>
          </a:prstGeom>
          <a:noFill/>
          <a:ln/>
        </p:spPr>
        <p:txBody>
          <a:bodyPr wrap="square" lIns="0" tIns="0" rIns="0" bIns="0" rtlCol="0" anchor="ctr"/>
          <a:lstStyle/>
          <a:p>
            <a:pPr indent="0" marL="0">
              <a:buNone/>
            </a:pPr>
            <a:r>
              <a:rPr lang="en-US" sz="1400" b="1" dirty="0">
                <a:solidFill>
                  <a:srgbClr val="B91C1C"/>
                </a:solidFill>
                <a:latin typeface="Cambria" pitchFamily="34" charset="0"/>
                <a:ea typeface="Cambria" pitchFamily="34" charset="-122"/>
                <a:cs typeface="Cambria" pitchFamily="34" charset="-120"/>
              </a:rPr>
              <a:t>Not on the list</a:t>
            </a:r>
            <a:endParaRPr lang="en-US" sz="1400" dirty="0"/>
          </a:p>
        </p:txBody>
      </p:sp>
      <p:sp>
        <p:nvSpPr>
          <p:cNvPr id="26" name="Text 24"/>
          <p:cNvSpPr txBox="1"/>
          <p:nvPr/>
        </p:nvSpPr>
        <p:spPr>
          <a:xfrm>
            <a:off x="841248" y="4709160"/>
            <a:ext cx="4754880" cy="1280160"/>
          </a:xfrm>
          <a:prstGeom prst="rect">
            <a:avLst/>
          </a:prstGeom>
          <a:noFill/>
          <a:ln/>
        </p:spPr>
        <p:txBody>
          <a:bodyPr wrap="square" lIns="0" tIns="0" rIns="0" bIns="0" rtlCol="0" anchor="t"/>
          <a:lstStyle/>
          <a:p>
            <a:pPr marL="342900" indent="-342900">
              <a:lnSpc>
                <a:spcPts val="1800"/>
              </a:lnSpc>
              <a:spcAft>
                <a:spcPts val="600"/>
              </a:spcAft>
              <a:buSzPct val="100000"/>
              <a:buChar char="•"/>
            </a:pPr>
            <a:r>
              <a:rPr lang="en-US" sz="1250" dirty="0">
                <a:solidFill>
                  <a:srgbClr val="1E293B"/>
                </a:solidFill>
                <a:latin typeface="Calibri" pitchFamily="34" charset="0"/>
                <a:ea typeface="Calibri" pitchFamily="34" charset="-122"/>
                <a:cs typeface="Calibri" pitchFamily="34" charset="-120"/>
              </a:rPr>
              <a:t>A confirmed causality assessment</a:t>
            </a:r>
            <a:endParaRPr lang="en-US" sz="1250" dirty="0"/>
          </a:p>
          <a:p>
            <a:pPr marL="342900" indent="-342900">
              <a:lnSpc>
                <a:spcPts val="1800"/>
              </a:lnSpc>
              <a:spcAft>
                <a:spcPts val="600"/>
              </a:spcAft>
              <a:buSzPct val="100000"/>
              <a:buChar char="•"/>
            </a:pPr>
            <a:r>
              <a:rPr lang="en-US" sz="1250" dirty="0">
                <a:solidFill>
                  <a:srgbClr val="1E293B"/>
                </a:solidFill>
                <a:latin typeface="Calibri" pitchFamily="34" charset="0"/>
                <a:ea typeface="Calibri" pitchFamily="34" charset="-122"/>
                <a:cs typeface="Calibri" pitchFamily="34" charset="-120"/>
              </a:rPr>
              <a:t>Laboratory confirmation</a:t>
            </a:r>
            <a:endParaRPr lang="en-US" sz="1250" dirty="0"/>
          </a:p>
          <a:p>
            <a:pPr marL="342900" indent="-342900">
              <a:lnSpc>
                <a:spcPts val="1800"/>
              </a:lnSpc>
              <a:spcAft>
                <a:spcPts val="600"/>
              </a:spcAft>
              <a:buSzPct val="100000"/>
              <a:buChar char="•"/>
            </a:pPr>
            <a:r>
              <a:rPr lang="en-US" sz="1250" dirty="0">
                <a:solidFill>
                  <a:srgbClr val="1E293B"/>
                </a:solidFill>
                <a:latin typeface="Calibri" pitchFamily="34" charset="0"/>
                <a:ea typeface="Calibri" pitchFamily="34" charset="-122"/>
                <a:cs typeface="Calibri" pitchFamily="34" charset="-120"/>
              </a:rPr>
              <a:t>Proof the drug did it</a:t>
            </a:r>
            <a:endParaRPr lang="en-US" sz="1250" dirty="0"/>
          </a:p>
        </p:txBody>
      </p:sp>
      <p:sp>
        <p:nvSpPr>
          <p:cNvPr id="27" name="Shape 25"/>
          <p:cNvSpPr/>
          <p:nvPr/>
        </p:nvSpPr>
        <p:spPr>
          <a:xfrm>
            <a:off x="6190488" y="4206240"/>
            <a:ext cx="5404104" cy="1920240"/>
          </a:xfrm>
          <a:prstGeom prst="roundRect">
            <a:avLst>
              <a:gd name="adj" fmla="val 2857"/>
            </a:avLst>
          </a:prstGeom>
          <a:solidFill>
            <a:srgbClr val="DCFCE7"/>
          </a:solidFill>
          <a:ln w="12700">
            <a:solidFill>
              <a:srgbClr val="E2E8F0"/>
            </a:solidFill>
            <a:prstDash val="solid"/>
          </a:ln>
        </p:spPr>
      </p:sp>
      <p:sp>
        <p:nvSpPr>
          <p:cNvPr id="28" name="Text 26"/>
          <p:cNvSpPr txBox="1"/>
          <p:nvPr/>
        </p:nvSpPr>
        <p:spPr>
          <a:xfrm>
            <a:off x="6464808" y="4389120"/>
            <a:ext cx="4846320" cy="274320"/>
          </a:xfrm>
          <a:prstGeom prst="rect">
            <a:avLst/>
          </a:prstGeom>
          <a:noFill/>
          <a:ln/>
        </p:spPr>
        <p:txBody>
          <a:bodyPr wrap="square" lIns="0" tIns="0" rIns="0" bIns="0" rtlCol="0" anchor="ctr"/>
          <a:lstStyle/>
          <a:p>
            <a:pPr indent="0" marL="0">
              <a:buNone/>
            </a:pPr>
            <a:r>
              <a:rPr lang="en-US" sz="1400" b="1" dirty="0">
                <a:solidFill>
                  <a:srgbClr val="15803D"/>
                </a:solidFill>
                <a:latin typeface="Cambria" pitchFamily="34" charset="0"/>
                <a:ea typeface="Cambria" pitchFamily="34" charset="-122"/>
                <a:cs typeface="Cambria" pitchFamily="34" charset="-120"/>
              </a:rPr>
              <a:t>Why none of them is about proof</a:t>
            </a:r>
            <a:endParaRPr lang="en-US" sz="1400" dirty="0"/>
          </a:p>
        </p:txBody>
      </p:sp>
      <p:sp>
        <p:nvSpPr>
          <p:cNvPr id="29" name="Text 27"/>
          <p:cNvSpPr txBox="1"/>
          <p:nvPr/>
        </p:nvSpPr>
        <p:spPr>
          <a:xfrm>
            <a:off x="6464808" y="4709160"/>
            <a:ext cx="4892040" cy="1280160"/>
          </a:xfrm>
          <a:prstGeom prst="rect">
            <a:avLst/>
          </a:prstGeom>
          <a:noFill/>
          <a:ln/>
        </p:spPr>
        <p:txBody>
          <a:bodyPr wrap="square" lIns="0" tIns="0" rIns="0" bIns="0" rtlCol="0" anchor="ctr"/>
          <a:lstStyle/>
          <a:p>
            <a:pPr indent="0" marL="0">
              <a:lnSpc>
                <a:spcPts val="1700"/>
              </a:lnSpc>
              <a:buNone/>
            </a:pPr>
            <a:r>
              <a:rPr lang="en-US" sz="1200" dirty="0">
                <a:solidFill>
                  <a:srgbClr val="14532D"/>
                </a:solidFill>
                <a:latin typeface="Calibri" pitchFamily="34" charset="0"/>
                <a:ea typeface="Calibri" pitchFamily="34" charset="-122"/>
                <a:cs typeface="Calibri" pitchFamily="34" charset="-120"/>
              </a:rPr>
              <a:t>Causality is assessed afterwards, centrally, by people with the whole database in front of them. If proof were the threshold the system would collect almost nothing — which is exactly what happens in departments where people believe it is.</a:t>
            </a:r>
            <a:endParaRPr lang="en-US"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F2B3D"/>
        </a:solidFill>
      </p:bgPr>
    </p:bg>
    <p:spTree>
      <p:nvGrpSpPr>
        <p:cNvPr id="1" name=""/>
        <p:cNvGrpSpPr/>
        <p:nvPr/>
      </p:nvGrpSpPr>
      <p:grpSpPr>
        <a:xfrm>
          <a:off x="0" y="0"/>
          <a:ext cx="0" cy="0"/>
          <a:chOff x="0" y="0"/>
          <a:chExt cx="0" cy="0"/>
        </a:xfrm>
      </p:grpSpPr>
      <p:sp>
        <p:nvSpPr>
          <p:cNvPr id="2" name="Shape 0"/>
          <p:cNvSpPr/>
          <p:nvPr/>
        </p:nvSpPr>
        <p:spPr>
          <a:xfrm>
            <a:off x="566928" y="2057400"/>
            <a:ext cx="1051560" cy="1051560"/>
          </a:xfrm>
          <a:prstGeom prst="ellipse">
            <a:avLst/>
          </a:prstGeom>
          <a:solidFill>
            <a:srgbClr val="0E7490"/>
          </a:solidFill>
          <a:ln/>
        </p:spPr>
      </p:sp>
      <p:sp>
        <p:nvSpPr>
          <p:cNvPr id="3" name="Text 1"/>
          <p:cNvSpPr txBox="1"/>
          <p:nvPr/>
        </p:nvSpPr>
        <p:spPr>
          <a:xfrm>
            <a:off x="566928" y="2057400"/>
            <a:ext cx="1051560" cy="1051560"/>
          </a:xfrm>
          <a:prstGeom prst="rect">
            <a:avLst/>
          </a:prstGeom>
          <a:noFill/>
          <a:ln/>
        </p:spPr>
        <p:txBody>
          <a:bodyPr wrap="square" lIns="0" tIns="0" rIns="0" bIns="0" rtlCol="0" anchor="ctr"/>
          <a:lstStyle/>
          <a:p>
            <a:pPr algn="ctr" indent="0" marL="0">
              <a:buNone/>
            </a:pPr>
            <a:r>
              <a:rPr lang="en-US" sz="3400" b="1" dirty="0">
                <a:solidFill>
                  <a:srgbClr val="FFFFFF"/>
                </a:solidFill>
                <a:latin typeface="Cambria" pitchFamily="34" charset="0"/>
                <a:ea typeface="Cambria" pitchFamily="34" charset="-122"/>
                <a:cs typeface="Cambria" pitchFamily="34" charset="-120"/>
              </a:rPr>
              <a:t>6</a:t>
            </a:r>
            <a:endParaRPr lang="en-US" sz="3400" dirty="0"/>
          </a:p>
        </p:txBody>
      </p:sp>
      <p:sp>
        <p:nvSpPr>
          <p:cNvPr id="4" name="Text 2"/>
          <p:cNvSpPr txBox="1"/>
          <p:nvPr/>
        </p:nvSpPr>
        <p:spPr>
          <a:xfrm>
            <a:off x="1874520" y="2121408"/>
            <a:ext cx="8229600" cy="274320"/>
          </a:xfrm>
          <a:prstGeom prst="rect">
            <a:avLst/>
          </a:prstGeom>
          <a:noFill/>
          <a:ln/>
        </p:spPr>
        <p:txBody>
          <a:bodyPr wrap="square" lIns="0" tIns="0" rIns="0" bIns="0" rtlCol="0" anchor="ctr"/>
          <a:lstStyle/>
          <a:p>
            <a:pPr indent="0" marL="0">
              <a:buNone/>
            </a:pPr>
            <a:r>
              <a:rPr lang="en-US" sz="1200" b="1" spc="300" kern="0" dirty="0">
                <a:solidFill>
                  <a:srgbClr val="0891B2"/>
                </a:solidFill>
                <a:latin typeface="Calibri" pitchFamily="34" charset="0"/>
                <a:ea typeface="Calibri" pitchFamily="34" charset="-122"/>
                <a:cs typeface="Calibri" pitchFamily="34" charset="-120"/>
              </a:rPr>
              <a:t>Part six</a:t>
            </a:r>
            <a:endParaRPr lang="en-US" sz="1200" dirty="0"/>
          </a:p>
        </p:txBody>
      </p:sp>
      <p:sp>
        <p:nvSpPr>
          <p:cNvPr id="5" name="Text 3"/>
          <p:cNvSpPr txBox="1"/>
          <p:nvPr/>
        </p:nvSpPr>
        <p:spPr>
          <a:xfrm>
            <a:off x="1874520" y="2395728"/>
            <a:ext cx="9326880" cy="1143000"/>
          </a:xfrm>
          <a:prstGeom prst="rect">
            <a:avLst/>
          </a:prstGeom>
          <a:noFill/>
          <a:ln/>
        </p:spPr>
        <p:txBody>
          <a:bodyPr wrap="square" lIns="0" tIns="0" rIns="0" bIns="0" rtlCol="0" anchor="t"/>
          <a:lstStyle/>
          <a:p>
            <a:pPr indent="0" marL="0">
              <a:lnSpc>
                <a:spcPts val="4600"/>
              </a:lnSpc>
              <a:buNone/>
            </a:pPr>
            <a:r>
              <a:rPr lang="en-US" sz="4000" b="1" dirty="0">
                <a:solidFill>
                  <a:srgbClr val="FFFFFF"/>
                </a:solidFill>
                <a:latin typeface="Cambria" pitchFamily="34" charset="0"/>
                <a:ea typeface="Cambria" pitchFamily="34" charset="-122"/>
                <a:cs typeface="Cambria" pitchFamily="34" charset="-120"/>
              </a:rPr>
              <a:t>Seriousness, severity and causality</a:t>
            </a:r>
            <a:endParaRPr lang="en-US" sz="4000" dirty="0"/>
          </a:p>
        </p:txBody>
      </p:sp>
      <p:sp>
        <p:nvSpPr>
          <p:cNvPr id="6" name="Text 4"/>
          <p:cNvSpPr txBox="1"/>
          <p:nvPr/>
        </p:nvSpPr>
        <p:spPr>
          <a:xfrm>
            <a:off x="1874520" y="3639312"/>
            <a:ext cx="8778240" cy="822960"/>
          </a:xfrm>
          <a:prstGeom prst="rect">
            <a:avLst/>
          </a:prstGeom>
          <a:noFill/>
          <a:ln/>
        </p:spPr>
        <p:txBody>
          <a:bodyPr wrap="square" lIns="0" tIns="0" rIns="0" bIns="0" rtlCol="0" anchor="t"/>
          <a:lstStyle/>
          <a:p>
            <a:pPr indent="0" marL="0">
              <a:lnSpc>
                <a:spcPts val="2400"/>
              </a:lnSpc>
              <a:buNone/>
            </a:pPr>
            <a:r>
              <a:rPr lang="en-US" sz="1550" dirty="0">
                <a:solidFill>
                  <a:srgbClr val="CBD5E1"/>
                </a:solidFill>
                <a:latin typeface="Calibri" pitchFamily="34" charset="0"/>
                <a:ea typeface="Calibri" pitchFamily="34" charset="-122"/>
                <a:cs typeface="Calibri" pitchFamily="34" charset="-120"/>
              </a:rPr>
              <a:t>Two words that are not interchangeable, and the assessment everything else was gathered for.</a:t>
            </a:r>
            <a:endParaRPr lang="en-US" sz="15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84048"/>
            <a:ext cx="10058400" cy="256032"/>
          </a:xfrm>
          <a:prstGeom prst="rect">
            <a:avLst/>
          </a:prstGeom>
          <a:noFill/>
          <a:ln/>
        </p:spPr>
        <p:txBody>
          <a:bodyPr wrap="square" lIns="0" tIns="0" rIns="0" bIns="0" rtlCol="0" anchor="ctr"/>
          <a:lstStyle/>
          <a:p>
            <a:pPr indent="0" marL="0">
              <a:buNone/>
            </a:pPr>
            <a:r>
              <a:rPr lang="en-US" sz="1100" b="1" spc="250" kern="0" dirty="0">
                <a:solidFill>
                  <a:srgbClr val="0E7490"/>
                </a:solidFill>
                <a:latin typeface="Calibri" pitchFamily="34" charset="0"/>
                <a:ea typeface="Calibri" pitchFamily="34" charset="-122"/>
                <a:cs typeface="Calibri" pitchFamily="34" charset="-120"/>
              </a:rPr>
              <a:t>Seriousness</a:t>
            </a:r>
            <a:endParaRPr lang="en-US" sz="1100" dirty="0"/>
          </a:p>
        </p:txBody>
      </p:sp>
      <p:sp>
        <p:nvSpPr>
          <p:cNvPr id="3" name="Text 1"/>
          <p:cNvSpPr txBox="1"/>
          <p:nvPr/>
        </p:nvSpPr>
        <p:spPr>
          <a:xfrm>
            <a:off x="566928" y="640080"/>
            <a:ext cx="11064240" cy="786384"/>
          </a:xfrm>
          <a:prstGeom prst="rect">
            <a:avLst/>
          </a:prstGeom>
          <a:noFill/>
          <a:ln/>
        </p:spPr>
        <p:txBody>
          <a:bodyPr wrap="square" lIns="0" tIns="0" rIns="0" bIns="0" rtlCol="0" anchor="t"/>
          <a:lstStyle/>
          <a:p>
            <a:pPr indent="0" marL="0">
              <a:lnSpc>
                <a:spcPts val="3200"/>
              </a:lnSpc>
              <a:buNone/>
            </a:pPr>
            <a:r>
              <a:rPr lang="en-US" sz="2500" b="1" dirty="0">
                <a:solidFill>
                  <a:srgbClr val="0F2B3D"/>
                </a:solidFill>
                <a:latin typeface="Cambria" pitchFamily="34" charset="0"/>
                <a:ea typeface="Cambria" pitchFamily="34" charset="-122"/>
                <a:cs typeface="Cambria" pitchFamily="34" charset="-120"/>
              </a:rPr>
              <a:t>Six outcomes. Any one of them makes a case serious.</a:t>
            </a:r>
            <a:endParaRPr lang="en-US" sz="2500" dirty="0"/>
          </a:p>
        </p:txBody>
      </p:sp>
      <p:sp>
        <p:nvSpPr>
          <p:cNvPr id="4" name="Shape 2"/>
          <p:cNvSpPr/>
          <p:nvPr/>
        </p:nvSpPr>
        <p:spPr>
          <a:xfrm>
            <a:off x="566928" y="1426464"/>
            <a:ext cx="5349240" cy="1280160"/>
          </a:xfrm>
          <a:prstGeom prst="roundRect">
            <a:avLst>
              <a:gd name="adj" fmla="val 4286"/>
            </a:avLst>
          </a:prstGeom>
          <a:solidFill>
            <a:srgbClr val="F1F5F9"/>
          </a:solidFill>
          <a:ln w="12700">
            <a:solidFill>
              <a:srgbClr val="E2E8F0"/>
            </a:solidFill>
            <a:prstDash val="solid"/>
          </a:ln>
        </p:spPr>
      </p:sp>
      <p:sp>
        <p:nvSpPr>
          <p:cNvPr id="5" name="Shape 3"/>
          <p:cNvSpPr/>
          <p:nvPr/>
        </p:nvSpPr>
        <p:spPr>
          <a:xfrm>
            <a:off x="795528" y="1609344"/>
            <a:ext cx="365760" cy="365760"/>
          </a:xfrm>
          <a:prstGeom prst="ellipse">
            <a:avLst/>
          </a:prstGeom>
          <a:solidFill>
            <a:srgbClr val="B91C1C"/>
          </a:solidFill>
          <a:ln/>
        </p:spPr>
      </p:sp>
      <p:sp>
        <p:nvSpPr>
          <p:cNvPr id="6" name="Text 4"/>
          <p:cNvSpPr txBox="1"/>
          <p:nvPr/>
        </p:nvSpPr>
        <p:spPr>
          <a:xfrm>
            <a:off x="795528" y="1609344"/>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7" name="Text 5"/>
          <p:cNvSpPr txBox="1"/>
          <p:nvPr/>
        </p:nvSpPr>
        <p:spPr>
          <a:xfrm>
            <a:off x="1252728" y="1572768"/>
            <a:ext cx="4526280" cy="274320"/>
          </a:xfrm>
          <a:prstGeom prst="rect">
            <a:avLst/>
          </a:prstGeom>
          <a:noFill/>
          <a:ln/>
        </p:spPr>
        <p:txBody>
          <a:bodyPr wrap="square" lIns="0" tIns="0" rIns="0" bIns="0" rtlCol="0" anchor="t"/>
          <a:lstStyle/>
          <a:p>
            <a:pPr indent="0" marL="0">
              <a:lnSpc>
                <a:spcPts val="1700"/>
              </a:lnSpc>
              <a:buNone/>
            </a:pPr>
            <a:r>
              <a:rPr lang="en-US" sz="1300" b="1" dirty="0">
                <a:solidFill>
                  <a:srgbClr val="0F2B3D"/>
                </a:solidFill>
                <a:latin typeface="Cambria" pitchFamily="34" charset="0"/>
                <a:ea typeface="Cambria" pitchFamily="34" charset="-122"/>
                <a:cs typeface="Cambria" pitchFamily="34" charset="-120"/>
              </a:rPr>
              <a:t>Resulted in death</a:t>
            </a:r>
            <a:endParaRPr lang="en-US" sz="1300" dirty="0"/>
          </a:p>
        </p:txBody>
      </p:sp>
      <p:sp>
        <p:nvSpPr>
          <p:cNvPr id="8" name="Text 6"/>
          <p:cNvSpPr txBox="1"/>
          <p:nvPr/>
        </p:nvSpPr>
        <p:spPr>
          <a:xfrm>
            <a:off x="795528" y="1920240"/>
            <a:ext cx="4919472" cy="694944"/>
          </a:xfrm>
          <a:prstGeom prst="rect">
            <a:avLst/>
          </a:prstGeom>
          <a:noFill/>
          <a:ln/>
        </p:spPr>
        <p:txBody>
          <a:bodyPr wrap="square" lIns="0" tIns="0" rIns="0" bIns="0" rtlCol="0" anchor="t"/>
          <a:lstStyle/>
          <a:p>
            <a:pPr indent="0" marL="0">
              <a:lnSpc>
                <a:spcPts val="1400"/>
              </a:lnSpc>
              <a:buNone/>
            </a:pPr>
            <a:r>
              <a:rPr lang="en-US" sz="1050" dirty="0">
                <a:solidFill>
                  <a:srgbClr val="64748B"/>
                </a:solidFill>
                <a:latin typeface="Calibri" pitchFamily="34" charset="0"/>
                <a:ea typeface="Calibri" pitchFamily="34" charset="-122"/>
                <a:cs typeface="Calibri" pitchFamily="34" charset="-120"/>
              </a:rPr>
              <a:t>The reaction caused or contributed to the death.</a:t>
            </a:r>
            <a:endParaRPr lang="en-US" sz="1050" dirty="0"/>
          </a:p>
        </p:txBody>
      </p:sp>
      <p:sp>
        <p:nvSpPr>
          <p:cNvPr id="9" name="Shape 7"/>
          <p:cNvSpPr/>
          <p:nvPr/>
        </p:nvSpPr>
        <p:spPr>
          <a:xfrm>
            <a:off x="6190488" y="1426464"/>
            <a:ext cx="5349240" cy="1280160"/>
          </a:xfrm>
          <a:prstGeom prst="roundRect">
            <a:avLst>
              <a:gd name="adj" fmla="val 4286"/>
            </a:avLst>
          </a:prstGeom>
          <a:solidFill>
            <a:srgbClr val="F1F5F9"/>
          </a:solidFill>
          <a:ln w="12700">
            <a:solidFill>
              <a:srgbClr val="E2E8F0"/>
            </a:solidFill>
            <a:prstDash val="solid"/>
          </a:ln>
        </p:spPr>
      </p:sp>
      <p:sp>
        <p:nvSpPr>
          <p:cNvPr id="10" name="Shape 8"/>
          <p:cNvSpPr/>
          <p:nvPr/>
        </p:nvSpPr>
        <p:spPr>
          <a:xfrm>
            <a:off x="6419088" y="1609344"/>
            <a:ext cx="365760" cy="365760"/>
          </a:xfrm>
          <a:prstGeom prst="ellipse">
            <a:avLst/>
          </a:prstGeom>
          <a:solidFill>
            <a:srgbClr val="B91C1C"/>
          </a:solidFill>
          <a:ln/>
        </p:spPr>
      </p:sp>
      <p:sp>
        <p:nvSpPr>
          <p:cNvPr id="11" name="Text 9"/>
          <p:cNvSpPr txBox="1"/>
          <p:nvPr/>
        </p:nvSpPr>
        <p:spPr>
          <a:xfrm>
            <a:off x="6419088" y="1609344"/>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2" name="Text 10"/>
          <p:cNvSpPr txBox="1"/>
          <p:nvPr/>
        </p:nvSpPr>
        <p:spPr>
          <a:xfrm>
            <a:off x="6876288" y="1572768"/>
            <a:ext cx="4526280" cy="274320"/>
          </a:xfrm>
          <a:prstGeom prst="rect">
            <a:avLst/>
          </a:prstGeom>
          <a:noFill/>
          <a:ln/>
        </p:spPr>
        <p:txBody>
          <a:bodyPr wrap="square" lIns="0" tIns="0" rIns="0" bIns="0" rtlCol="0" anchor="t"/>
          <a:lstStyle/>
          <a:p>
            <a:pPr indent="0" marL="0">
              <a:lnSpc>
                <a:spcPts val="1700"/>
              </a:lnSpc>
              <a:buNone/>
            </a:pPr>
            <a:r>
              <a:rPr lang="en-US" sz="1300" b="1" dirty="0">
                <a:solidFill>
                  <a:srgbClr val="0F2B3D"/>
                </a:solidFill>
                <a:latin typeface="Cambria" pitchFamily="34" charset="0"/>
                <a:ea typeface="Cambria" pitchFamily="34" charset="-122"/>
                <a:cs typeface="Cambria" pitchFamily="34" charset="-120"/>
              </a:rPr>
              <a:t>Life-threatening</a:t>
            </a:r>
            <a:endParaRPr lang="en-US" sz="1300" dirty="0"/>
          </a:p>
        </p:txBody>
      </p:sp>
      <p:sp>
        <p:nvSpPr>
          <p:cNvPr id="13" name="Text 11"/>
          <p:cNvSpPr txBox="1"/>
          <p:nvPr/>
        </p:nvSpPr>
        <p:spPr>
          <a:xfrm>
            <a:off x="6419088" y="1920240"/>
            <a:ext cx="4919472" cy="694944"/>
          </a:xfrm>
          <a:prstGeom prst="rect">
            <a:avLst/>
          </a:prstGeom>
          <a:noFill/>
          <a:ln/>
        </p:spPr>
        <p:txBody>
          <a:bodyPr wrap="square" lIns="0" tIns="0" rIns="0" bIns="0" rtlCol="0" anchor="t"/>
          <a:lstStyle/>
          <a:p>
            <a:pPr indent="0" marL="0">
              <a:lnSpc>
                <a:spcPts val="1400"/>
              </a:lnSpc>
              <a:buNone/>
            </a:pPr>
            <a:r>
              <a:rPr lang="en-US" sz="1050" dirty="0">
                <a:solidFill>
                  <a:srgbClr val="64748B"/>
                </a:solidFill>
                <a:latin typeface="Calibri" pitchFamily="34" charset="0"/>
                <a:ea typeface="Calibri" pitchFamily="34" charset="-122"/>
                <a:cs typeface="Calibri" pitchFamily="34" charset="-120"/>
              </a:rPr>
              <a:t>The patient was at risk of death AT THE TIME of the reaction — not a reaction that might hypothetically become fatal.</a:t>
            </a:r>
            <a:endParaRPr lang="en-US" sz="1050" dirty="0"/>
          </a:p>
        </p:txBody>
      </p:sp>
      <p:sp>
        <p:nvSpPr>
          <p:cNvPr id="14" name="Shape 12"/>
          <p:cNvSpPr/>
          <p:nvPr/>
        </p:nvSpPr>
        <p:spPr>
          <a:xfrm>
            <a:off x="566928" y="2798064"/>
            <a:ext cx="5349240" cy="1280160"/>
          </a:xfrm>
          <a:prstGeom prst="roundRect">
            <a:avLst>
              <a:gd name="adj" fmla="val 4286"/>
            </a:avLst>
          </a:prstGeom>
          <a:solidFill>
            <a:srgbClr val="F1F5F9"/>
          </a:solidFill>
          <a:ln w="12700">
            <a:solidFill>
              <a:srgbClr val="E2E8F0"/>
            </a:solidFill>
            <a:prstDash val="solid"/>
          </a:ln>
        </p:spPr>
      </p:sp>
      <p:sp>
        <p:nvSpPr>
          <p:cNvPr id="15" name="Shape 13"/>
          <p:cNvSpPr/>
          <p:nvPr/>
        </p:nvSpPr>
        <p:spPr>
          <a:xfrm>
            <a:off x="795528" y="2980944"/>
            <a:ext cx="365760" cy="365760"/>
          </a:xfrm>
          <a:prstGeom prst="ellipse">
            <a:avLst/>
          </a:prstGeom>
          <a:solidFill>
            <a:srgbClr val="B91C1C"/>
          </a:solidFill>
          <a:ln/>
        </p:spPr>
      </p:sp>
      <p:sp>
        <p:nvSpPr>
          <p:cNvPr id="16" name="Text 14"/>
          <p:cNvSpPr txBox="1"/>
          <p:nvPr/>
        </p:nvSpPr>
        <p:spPr>
          <a:xfrm>
            <a:off x="795528" y="2980944"/>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7" name="Text 15"/>
          <p:cNvSpPr txBox="1"/>
          <p:nvPr/>
        </p:nvSpPr>
        <p:spPr>
          <a:xfrm>
            <a:off x="1252728" y="2944368"/>
            <a:ext cx="4526280" cy="457200"/>
          </a:xfrm>
          <a:prstGeom prst="rect">
            <a:avLst/>
          </a:prstGeom>
          <a:noFill/>
          <a:ln/>
        </p:spPr>
        <p:txBody>
          <a:bodyPr wrap="square" lIns="0" tIns="0" rIns="0" bIns="0" rtlCol="0" anchor="t"/>
          <a:lstStyle/>
          <a:p>
            <a:pPr indent="0" marL="0">
              <a:lnSpc>
                <a:spcPts val="1700"/>
              </a:lnSpc>
              <a:buNone/>
            </a:pPr>
            <a:r>
              <a:rPr lang="en-US" sz="1300" b="1" dirty="0">
                <a:solidFill>
                  <a:srgbClr val="0F2B3D"/>
                </a:solidFill>
                <a:latin typeface="Cambria" pitchFamily="34" charset="0"/>
                <a:ea typeface="Cambria" pitchFamily="34" charset="-122"/>
                <a:cs typeface="Cambria" pitchFamily="34" charset="-120"/>
              </a:rPr>
              <a:t>Required hospitalisation, or prolonged an existing admission</a:t>
            </a:r>
            <a:endParaRPr lang="en-US" sz="1300" dirty="0"/>
          </a:p>
        </p:txBody>
      </p:sp>
      <p:sp>
        <p:nvSpPr>
          <p:cNvPr id="18" name="Text 16"/>
          <p:cNvSpPr txBox="1"/>
          <p:nvPr/>
        </p:nvSpPr>
        <p:spPr>
          <a:xfrm>
            <a:off x="795528" y="3456432"/>
            <a:ext cx="4919472" cy="530352"/>
          </a:xfrm>
          <a:prstGeom prst="rect">
            <a:avLst/>
          </a:prstGeom>
          <a:noFill/>
          <a:ln/>
        </p:spPr>
        <p:txBody>
          <a:bodyPr wrap="square" lIns="0" tIns="0" rIns="0" bIns="0" rtlCol="0" anchor="t"/>
          <a:lstStyle/>
          <a:p>
            <a:pPr indent="0" marL="0">
              <a:lnSpc>
                <a:spcPts val="1400"/>
              </a:lnSpc>
              <a:buNone/>
            </a:pPr>
            <a:r>
              <a:rPr lang="en-US" sz="1050" dirty="0">
                <a:solidFill>
                  <a:srgbClr val="64748B"/>
                </a:solidFill>
                <a:latin typeface="Calibri" pitchFamily="34" charset="0"/>
                <a:ea typeface="Calibri" pitchFamily="34" charset="-122"/>
                <a:cs typeface="Calibri" pitchFamily="34" charset="-120"/>
              </a:rPr>
              <a:t>An inpatient admission, or extra days added to one already in progress. An outpatient or emergency visit that does not become an admission does not count on its own.</a:t>
            </a:r>
            <a:endParaRPr lang="en-US" sz="1050" dirty="0"/>
          </a:p>
        </p:txBody>
      </p:sp>
      <p:sp>
        <p:nvSpPr>
          <p:cNvPr id="19" name="Shape 17"/>
          <p:cNvSpPr/>
          <p:nvPr/>
        </p:nvSpPr>
        <p:spPr>
          <a:xfrm>
            <a:off x="6190488" y="2798064"/>
            <a:ext cx="5349240" cy="1280160"/>
          </a:xfrm>
          <a:prstGeom prst="roundRect">
            <a:avLst>
              <a:gd name="adj" fmla="val 4286"/>
            </a:avLst>
          </a:prstGeom>
          <a:solidFill>
            <a:srgbClr val="F1F5F9"/>
          </a:solidFill>
          <a:ln w="12700">
            <a:solidFill>
              <a:srgbClr val="E2E8F0"/>
            </a:solidFill>
            <a:prstDash val="solid"/>
          </a:ln>
        </p:spPr>
      </p:sp>
      <p:sp>
        <p:nvSpPr>
          <p:cNvPr id="20" name="Shape 18"/>
          <p:cNvSpPr/>
          <p:nvPr/>
        </p:nvSpPr>
        <p:spPr>
          <a:xfrm>
            <a:off x="6419088" y="2980944"/>
            <a:ext cx="365760" cy="365760"/>
          </a:xfrm>
          <a:prstGeom prst="ellipse">
            <a:avLst/>
          </a:prstGeom>
          <a:solidFill>
            <a:srgbClr val="B91C1C"/>
          </a:solidFill>
          <a:ln/>
        </p:spPr>
      </p:sp>
      <p:sp>
        <p:nvSpPr>
          <p:cNvPr id="21" name="Text 19"/>
          <p:cNvSpPr txBox="1"/>
          <p:nvPr/>
        </p:nvSpPr>
        <p:spPr>
          <a:xfrm>
            <a:off x="6419088" y="2980944"/>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22" name="Text 20"/>
          <p:cNvSpPr txBox="1"/>
          <p:nvPr/>
        </p:nvSpPr>
        <p:spPr>
          <a:xfrm>
            <a:off x="6876288" y="2944368"/>
            <a:ext cx="4526280" cy="457200"/>
          </a:xfrm>
          <a:prstGeom prst="rect">
            <a:avLst/>
          </a:prstGeom>
          <a:noFill/>
          <a:ln/>
        </p:spPr>
        <p:txBody>
          <a:bodyPr wrap="square" lIns="0" tIns="0" rIns="0" bIns="0" rtlCol="0" anchor="t"/>
          <a:lstStyle/>
          <a:p>
            <a:pPr indent="0" marL="0">
              <a:lnSpc>
                <a:spcPts val="1700"/>
              </a:lnSpc>
              <a:buNone/>
            </a:pPr>
            <a:r>
              <a:rPr lang="en-US" sz="1300" b="1" dirty="0">
                <a:solidFill>
                  <a:srgbClr val="0F2B3D"/>
                </a:solidFill>
                <a:latin typeface="Cambria" pitchFamily="34" charset="0"/>
                <a:ea typeface="Cambria" pitchFamily="34" charset="-122"/>
                <a:cs typeface="Cambria" pitchFamily="34" charset="-120"/>
              </a:rPr>
              <a:t>Persistent or significant disability or incapacity</a:t>
            </a:r>
            <a:endParaRPr lang="en-US" sz="1300" dirty="0"/>
          </a:p>
        </p:txBody>
      </p:sp>
      <p:sp>
        <p:nvSpPr>
          <p:cNvPr id="23" name="Text 21"/>
          <p:cNvSpPr txBox="1"/>
          <p:nvPr/>
        </p:nvSpPr>
        <p:spPr>
          <a:xfrm>
            <a:off x="6419088" y="3456432"/>
            <a:ext cx="4919472" cy="530352"/>
          </a:xfrm>
          <a:prstGeom prst="rect">
            <a:avLst/>
          </a:prstGeom>
          <a:noFill/>
          <a:ln/>
        </p:spPr>
        <p:txBody>
          <a:bodyPr wrap="square" lIns="0" tIns="0" rIns="0" bIns="0" rtlCol="0" anchor="t"/>
          <a:lstStyle/>
          <a:p>
            <a:pPr indent="0" marL="0">
              <a:lnSpc>
                <a:spcPts val="1400"/>
              </a:lnSpc>
              <a:buNone/>
            </a:pPr>
            <a:r>
              <a:rPr lang="en-US" sz="1050" dirty="0">
                <a:solidFill>
                  <a:srgbClr val="64748B"/>
                </a:solidFill>
                <a:latin typeface="Calibri" pitchFamily="34" charset="0"/>
                <a:ea typeface="Calibri" pitchFamily="34" charset="-122"/>
                <a:cs typeface="Calibri" pitchFamily="34" charset="-120"/>
              </a:rPr>
              <a:t>A substantial disruption of the ability to conduct normal life functions.</a:t>
            </a:r>
            <a:endParaRPr lang="en-US" sz="1050" dirty="0"/>
          </a:p>
        </p:txBody>
      </p:sp>
      <p:sp>
        <p:nvSpPr>
          <p:cNvPr id="24" name="Shape 22"/>
          <p:cNvSpPr/>
          <p:nvPr/>
        </p:nvSpPr>
        <p:spPr>
          <a:xfrm>
            <a:off x="566928" y="4169664"/>
            <a:ext cx="5349240" cy="1280160"/>
          </a:xfrm>
          <a:prstGeom prst="roundRect">
            <a:avLst>
              <a:gd name="adj" fmla="val 4286"/>
            </a:avLst>
          </a:prstGeom>
          <a:solidFill>
            <a:srgbClr val="F1F5F9"/>
          </a:solidFill>
          <a:ln w="12700">
            <a:solidFill>
              <a:srgbClr val="E2E8F0"/>
            </a:solidFill>
            <a:prstDash val="solid"/>
          </a:ln>
        </p:spPr>
      </p:sp>
      <p:sp>
        <p:nvSpPr>
          <p:cNvPr id="25" name="Shape 23"/>
          <p:cNvSpPr/>
          <p:nvPr/>
        </p:nvSpPr>
        <p:spPr>
          <a:xfrm>
            <a:off x="795528" y="4352544"/>
            <a:ext cx="365760" cy="365760"/>
          </a:xfrm>
          <a:prstGeom prst="ellipse">
            <a:avLst/>
          </a:prstGeom>
          <a:solidFill>
            <a:srgbClr val="B91C1C"/>
          </a:solidFill>
          <a:ln/>
        </p:spPr>
      </p:sp>
      <p:sp>
        <p:nvSpPr>
          <p:cNvPr id="26" name="Text 24"/>
          <p:cNvSpPr txBox="1"/>
          <p:nvPr/>
        </p:nvSpPr>
        <p:spPr>
          <a:xfrm>
            <a:off x="795528" y="4352544"/>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27" name="Text 25"/>
          <p:cNvSpPr txBox="1"/>
          <p:nvPr/>
        </p:nvSpPr>
        <p:spPr>
          <a:xfrm>
            <a:off x="1252728" y="4315968"/>
            <a:ext cx="4526280" cy="274320"/>
          </a:xfrm>
          <a:prstGeom prst="rect">
            <a:avLst/>
          </a:prstGeom>
          <a:noFill/>
          <a:ln/>
        </p:spPr>
        <p:txBody>
          <a:bodyPr wrap="square" lIns="0" tIns="0" rIns="0" bIns="0" rtlCol="0" anchor="t"/>
          <a:lstStyle/>
          <a:p>
            <a:pPr indent="0" marL="0">
              <a:lnSpc>
                <a:spcPts val="1700"/>
              </a:lnSpc>
              <a:buNone/>
            </a:pPr>
            <a:r>
              <a:rPr lang="en-US" sz="1300" b="1" dirty="0">
                <a:solidFill>
                  <a:srgbClr val="0F2B3D"/>
                </a:solidFill>
                <a:latin typeface="Cambria" pitchFamily="34" charset="0"/>
                <a:ea typeface="Cambria" pitchFamily="34" charset="-122"/>
                <a:cs typeface="Cambria" pitchFamily="34" charset="-120"/>
              </a:rPr>
              <a:t>Congenital anomaly or birth defect</a:t>
            </a:r>
            <a:endParaRPr lang="en-US" sz="1300" dirty="0"/>
          </a:p>
        </p:txBody>
      </p:sp>
      <p:sp>
        <p:nvSpPr>
          <p:cNvPr id="28" name="Text 26"/>
          <p:cNvSpPr txBox="1"/>
          <p:nvPr/>
        </p:nvSpPr>
        <p:spPr>
          <a:xfrm>
            <a:off x="795528" y="4663440"/>
            <a:ext cx="4919472" cy="694944"/>
          </a:xfrm>
          <a:prstGeom prst="rect">
            <a:avLst/>
          </a:prstGeom>
          <a:noFill/>
          <a:ln/>
        </p:spPr>
        <p:txBody>
          <a:bodyPr wrap="square" lIns="0" tIns="0" rIns="0" bIns="0" rtlCol="0" anchor="t"/>
          <a:lstStyle/>
          <a:p>
            <a:pPr indent="0" marL="0">
              <a:lnSpc>
                <a:spcPts val="1400"/>
              </a:lnSpc>
              <a:buNone/>
            </a:pPr>
            <a:r>
              <a:rPr lang="en-US" sz="1050" dirty="0">
                <a:solidFill>
                  <a:srgbClr val="64748B"/>
                </a:solidFill>
                <a:latin typeface="Calibri" pitchFamily="34" charset="0"/>
                <a:ea typeface="Calibri" pitchFamily="34" charset="-122"/>
                <a:cs typeface="Calibri" pitchFamily="34" charset="-120"/>
              </a:rPr>
              <a:t>Following exposure before or during pregnancy.</a:t>
            </a:r>
            <a:endParaRPr lang="en-US" sz="1050" dirty="0"/>
          </a:p>
        </p:txBody>
      </p:sp>
      <p:sp>
        <p:nvSpPr>
          <p:cNvPr id="29" name="Shape 27"/>
          <p:cNvSpPr/>
          <p:nvPr/>
        </p:nvSpPr>
        <p:spPr>
          <a:xfrm>
            <a:off x="6190488" y="4169664"/>
            <a:ext cx="5349240" cy="1280160"/>
          </a:xfrm>
          <a:prstGeom prst="roundRect">
            <a:avLst>
              <a:gd name="adj" fmla="val 4286"/>
            </a:avLst>
          </a:prstGeom>
          <a:solidFill>
            <a:srgbClr val="FEF3C7"/>
          </a:solidFill>
          <a:ln w="12700">
            <a:solidFill>
              <a:srgbClr val="E2E8F0"/>
            </a:solidFill>
            <a:prstDash val="solid"/>
          </a:ln>
        </p:spPr>
      </p:sp>
      <p:sp>
        <p:nvSpPr>
          <p:cNvPr id="30" name="Shape 28"/>
          <p:cNvSpPr/>
          <p:nvPr/>
        </p:nvSpPr>
        <p:spPr>
          <a:xfrm>
            <a:off x="6419088" y="4352544"/>
            <a:ext cx="365760" cy="365760"/>
          </a:xfrm>
          <a:prstGeom prst="ellipse">
            <a:avLst/>
          </a:prstGeom>
          <a:solidFill>
            <a:srgbClr val="B45309"/>
          </a:solidFill>
          <a:ln/>
        </p:spPr>
      </p:sp>
      <p:sp>
        <p:nvSpPr>
          <p:cNvPr id="31" name="Text 29"/>
          <p:cNvSpPr txBox="1"/>
          <p:nvPr/>
        </p:nvSpPr>
        <p:spPr>
          <a:xfrm>
            <a:off x="6419088" y="4352544"/>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6</a:t>
            </a:r>
            <a:endParaRPr lang="en-US" sz="1200" dirty="0"/>
          </a:p>
        </p:txBody>
      </p:sp>
      <p:sp>
        <p:nvSpPr>
          <p:cNvPr id="32" name="Text 30"/>
          <p:cNvSpPr txBox="1"/>
          <p:nvPr/>
        </p:nvSpPr>
        <p:spPr>
          <a:xfrm>
            <a:off x="6876288" y="4315968"/>
            <a:ext cx="4526280" cy="274320"/>
          </a:xfrm>
          <a:prstGeom prst="rect">
            <a:avLst/>
          </a:prstGeom>
          <a:noFill/>
          <a:ln/>
        </p:spPr>
        <p:txBody>
          <a:bodyPr wrap="square" lIns="0" tIns="0" rIns="0" bIns="0" rtlCol="0" anchor="t"/>
          <a:lstStyle/>
          <a:p>
            <a:pPr indent="0" marL="0">
              <a:lnSpc>
                <a:spcPts val="1700"/>
              </a:lnSpc>
              <a:buNone/>
            </a:pPr>
            <a:r>
              <a:rPr lang="en-US" sz="1300" b="1" dirty="0">
                <a:solidFill>
                  <a:srgbClr val="0F2B3D"/>
                </a:solidFill>
                <a:latin typeface="Cambria" pitchFamily="34" charset="0"/>
                <a:ea typeface="Cambria" pitchFamily="34" charset="-122"/>
                <a:cs typeface="Cambria" pitchFamily="34" charset="-120"/>
              </a:rPr>
              <a:t>Other medically important condition</a:t>
            </a:r>
            <a:endParaRPr lang="en-US" sz="1300" dirty="0"/>
          </a:p>
        </p:txBody>
      </p:sp>
      <p:sp>
        <p:nvSpPr>
          <p:cNvPr id="33" name="Text 31"/>
          <p:cNvSpPr txBox="1"/>
          <p:nvPr/>
        </p:nvSpPr>
        <p:spPr>
          <a:xfrm>
            <a:off x="6419088" y="4663440"/>
            <a:ext cx="4919472" cy="694944"/>
          </a:xfrm>
          <a:prstGeom prst="rect">
            <a:avLst/>
          </a:prstGeom>
          <a:noFill/>
          <a:ln/>
        </p:spPr>
        <p:txBody>
          <a:bodyPr wrap="square" lIns="0" tIns="0" rIns="0" bIns="0" rtlCol="0" anchor="t"/>
          <a:lstStyle/>
          <a:p>
            <a:pPr indent="0" marL="0">
              <a:lnSpc>
                <a:spcPts val="1400"/>
              </a:lnSpc>
              <a:buNone/>
            </a:pPr>
            <a:r>
              <a:rPr lang="en-US" sz="1050" dirty="0">
                <a:solidFill>
                  <a:srgbClr val="64748B"/>
                </a:solidFill>
                <a:latin typeface="Calibri" pitchFamily="34" charset="0"/>
                <a:ea typeface="Calibri" pitchFamily="34" charset="-122"/>
                <a:cs typeface="Calibri" pitchFamily="34" charset="-120"/>
              </a:rPr>
              <a:t>The judgement clause. An event that did not meet the others but required intervention to prevent one of them — bronchospasm treated at home, a blood dyscrasia, a seizure, a severe hypoglycaemia.</a:t>
            </a:r>
            <a:endParaRPr lang="en-US" sz="1050" dirty="0"/>
          </a:p>
        </p:txBody>
      </p:sp>
      <p:sp>
        <p:nvSpPr>
          <p:cNvPr id="34" name="Shape 32"/>
          <p:cNvSpPr/>
          <p:nvPr/>
        </p:nvSpPr>
        <p:spPr>
          <a:xfrm>
            <a:off x="566928" y="5577840"/>
            <a:ext cx="11027664" cy="841248"/>
          </a:xfrm>
          <a:prstGeom prst="roundRect">
            <a:avLst>
              <a:gd name="adj" fmla="val 6522"/>
            </a:avLst>
          </a:prstGeom>
          <a:solidFill>
            <a:srgbClr val="0F2B3D"/>
          </a:solidFill>
          <a:ln w="12700">
            <a:solidFill>
              <a:srgbClr val="E2E8F0"/>
            </a:solidFill>
            <a:prstDash val="solid"/>
          </a:ln>
        </p:spPr>
      </p:sp>
      <p:sp>
        <p:nvSpPr>
          <p:cNvPr id="35" name="Text 33"/>
          <p:cNvSpPr txBox="1"/>
          <p:nvPr/>
        </p:nvSpPr>
        <p:spPr>
          <a:xfrm>
            <a:off x="886968" y="5577840"/>
            <a:ext cx="10424160" cy="841248"/>
          </a:xfrm>
          <a:prstGeom prst="rect">
            <a:avLst/>
          </a:prstGeom>
          <a:noFill/>
          <a:ln/>
        </p:spPr>
        <p:txBody>
          <a:bodyPr wrap="square" lIns="0" tIns="0" rIns="0" bIns="0" rtlCol="0" anchor="ctr"/>
          <a:lstStyle/>
          <a:p>
            <a:pPr indent="0" marL="0">
              <a:lnSpc>
                <a:spcPts val="1900"/>
              </a:lnSpc>
              <a:buNone/>
            </a:pPr>
            <a:r>
              <a:rPr lang="en-US" sz="1300" dirty="0">
                <a:solidFill>
                  <a:srgbClr val="CBD5E1"/>
                </a:solidFill>
                <a:latin typeface="Calibri" pitchFamily="34" charset="0"/>
                <a:ea typeface="Calibri" pitchFamily="34" charset="-122"/>
                <a:cs typeface="Calibri" pitchFamily="34" charset="-120"/>
              </a:rPr>
              <a:t>"Other medically important condition" is not a lesser category. It is the one that catches the treated anaphylaxis, the severe hypoglycaemia, the bronchospasm settled at home.</a:t>
            </a:r>
            <a:endParaRPr lang="en-US" sz="13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84048"/>
            <a:ext cx="10058400" cy="256032"/>
          </a:xfrm>
          <a:prstGeom prst="rect">
            <a:avLst/>
          </a:prstGeom>
          <a:noFill/>
          <a:ln/>
        </p:spPr>
        <p:txBody>
          <a:bodyPr wrap="square" lIns="0" tIns="0" rIns="0" bIns="0" rtlCol="0" anchor="ctr"/>
          <a:lstStyle/>
          <a:p>
            <a:pPr indent="0" marL="0">
              <a:buNone/>
            </a:pPr>
            <a:r>
              <a:rPr lang="en-US" sz="1100" b="1" spc="250" kern="0" dirty="0">
                <a:solidFill>
                  <a:srgbClr val="0E7490"/>
                </a:solidFill>
                <a:latin typeface="Calibri" pitchFamily="34" charset="0"/>
                <a:ea typeface="Calibri" pitchFamily="34" charset="-122"/>
                <a:cs typeface="Calibri" pitchFamily="34" charset="-120"/>
              </a:rPr>
              <a:t>Two different questions</a:t>
            </a:r>
            <a:endParaRPr lang="en-US" sz="1100" dirty="0"/>
          </a:p>
        </p:txBody>
      </p:sp>
      <p:sp>
        <p:nvSpPr>
          <p:cNvPr id="3" name="Text 1"/>
          <p:cNvSpPr txBox="1"/>
          <p:nvPr/>
        </p:nvSpPr>
        <p:spPr>
          <a:xfrm>
            <a:off x="566928" y="640080"/>
            <a:ext cx="11064240" cy="786384"/>
          </a:xfrm>
          <a:prstGeom prst="rect">
            <a:avLst/>
          </a:prstGeom>
          <a:noFill/>
          <a:ln/>
        </p:spPr>
        <p:txBody>
          <a:bodyPr wrap="square" lIns="0" tIns="0" rIns="0" bIns="0" rtlCol="0" anchor="t"/>
          <a:lstStyle/>
          <a:p>
            <a:pPr indent="0" marL="0">
              <a:lnSpc>
                <a:spcPts val="3200"/>
              </a:lnSpc>
              <a:buNone/>
            </a:pPr>
            <a:r>
              <a:rPr lang="en-US" sz="2500" b="1" dirty="0">
                <a:solidFill>
                  <a:srgbClr val="0F2B3D"/>
                </a:solidFill>
                <a:latin typeface="Cambria" pitchFamily="34" charset="0"/>
                <a:ea typeface="Cambria" pitchFamily="34" charset="-122"/>
                <a:cs typeface="Cambria" pitchFamily="34" charset="-120"/>
              </a:rPr>
              <a:t>Severity is how intense. Seriousness is what happened.</a:t>
            </a:r>
            <a:endParaRPr lang="en-US" sz="2500" dirty="0"/>
          </a:p>
        </p:txBody>
      </p:sp>
      <p:sp>
        <p:nvSpPr>
          <p:cNvPr id="4" name="Shape 2"/>
          <p:cNvSpPr/>
          <p:nvPr/>
        </p:nvSpPr>
        <p:spPr>
          <a:xfrm>
            <a:off x="566928" y="1554480"/>
            <a:ext cx="5349240" cy="2377440"/>
          </a:xfrm>
          <a:prstGeom prst="roundRect">
            <a:avLst>
              <a:gd name="adj" fmla="val 2308"/>
            </a:avLst>
          </a:prstGeom>
          <a:solidFill>
            <a:srgbClr val="ECFEFF"/>
          </a:solidFill>
          <a:ln w="12700">
            <a:solidFill>
              <a:srgbClr val="E2E8F0"/>
            </a:solidFill>
            <a:prstDash val="solid"/>
          </a:ln>
        </p:spPr>
      </p:sp>
      <p:sp>
        <p:nvSpPr>
          <p:cNvPr id="5" name="Text 3"/>
          <p:cNvSpPr txBox="1"/>
          <p:nvPr/>
        </p:nvSpPr>
        <p:spPr>
          <a:xfrm>
            <a:off x="859536" y="1755648"/>
            <a:ext cx="4754880" cy="292608"/>
          </a:xfrm>
          <a:prstGeom prst="rect">
            <a:avLst/>
          </a:prstGeom>
          <a:noFill/>
          <a:ln/>
        </p:spPr>
        <p:txBody>
          <a:bodyPr wrap="square" lIns="0" tIns="0" rIns="0" bIns="0" rtlCol="0" anchor="ctr"/>
          <a:lstStyle/>
          <a:p>
            <a:pPr indent="0" marL="0">
              <a:buNone/>
            </a:pPr>
            <a:r>
              <a:rPr lang="en-US" sz="1200" b="1" spc="300" kern="0" dirty="0">
                <a:solidFill>
                  <a:srgbClr val="0E7490"/>
                </a:solidFill>
                <a:latin typeface="Calibri" pitchFamily="34" charset="0"/>
                <a:ea typeface="Calibri" pitchFamily="34" charset="-122"/>
                <a:cs typeface="Calibri" pitchFamily="34" charset="-120"/>
              </a:rPr>
              <a:t>SEVERITY</a:t>
            </a:r>
            <a:endParaRPr lang="en-US" sz="1200" dirty="0"/>
          </a:p>
        </p:txBody>
      </p:sp>
      <p:sp>
        <p:nvSpPr>
          <p:cNvPr id="6" name="Text 4"/>
          <p:cNvSpPr txBox="1"/>
          <p:nvPr/>
        </p:nvSpPr>
        <p:spPr>
          <a:xfrm>
            <a:off x="859536" y="2066544"/>
            <a:ext cx="4754880" cy="365760"/>
          </a:xfrm>
          <a:prstGeom prst="rect">
            <a:avLst/>
          </a:prstGeom>
          <a:noFill/>
          <a:ln/>
        </p:spPr>
        <p:txBody>
          <a:bodyPr wrap="square" lIns="0" tIns="0" rIns="0" bIns="0" rtlCol="0" anchor="ctr"/>
          <a:lstStyle/>
          <a:p>
            <a:pPr indent="0" marL="0">
              <a:buNone/>
            </a:pPr>
            <a:r>
              <a:rPr lang="en-US" sz="2000" b="1" dirty="0">
                <a:solidFill>
                  <a:srgbClr val="0F2B3D"/>
                </a:solidFill>
                <a:latin typeface="Cambria" pitchFamily="34" charset="0"/>
                <a:ea typeface="Cambria" pitchFamily="34" charset="-122"/>
                <a:cs typeface="Cambria" pitchFamily="34" charset="-120"/>
              </a:rPr>
              <a:t>How intense was it?</a:t>
            </a:r>
            <a:endParaRPr lang="en-US" sz="2000" dirty="0"/>
          </a:p>
        </p:txBody>
      </p:sp>
      <p:sp>
        <p:nvSpPr>
          <p:cNvPr id="7" name="Text 5"/>
          <p:cNvSpPr txBox="1"/>
          <p:nvPr/>
        </p:nvSpPr>
        <p:spPr>
          <a:xfrm>
            <a:off x="859536" y="2542032"/>
            <a:ext cx="4800600" cy="1234440"/>
          </a:xfrm>
          <a:prstGeom prst="rect">
            <a:avLst/>
          </a:prstGeom>
          <a:noFill/>
          <a:ln/>
        </p:spPr>
        <p:txBody>
          <a:bodyPr wrap="square" lIns="0" tIns="0" rIns="0" bIns="0" rtlCol="0" anchor="ctr"/>
          <a:lstStyle/>
          <a:p>
            <a:pPr indent="0" marL="0">
              <a:lnSpc>
                <a:spcPts val="1900"/>
              </a:lnSpc>
              <a:buNone/>
            </a:pPr>
            <a:r>
              <a:rPr lang="en-US" sz="1300" dirty="0">
                <a:solidFill>
                  <a:srgbClr val="0C4A6E"/>
                </a:solidFill>
                <a:latin typeface="Calibri" pitchFamily="34" charset="0"/>
                <a:ea typeface="Calibri" pitchFamily="34" charset="-122"/>
                <a:cs typeface="Calibri" pitchFamily="34" charset="-120"/>
              </a:rPr>
              <a:t>Mild · Moderate · Severe</a:t>
            </a:r>
            <a:endParaRPr lang="en-US" sz="1300" dirty="0"/>
          </a:p>
          <a:p>
            <a:pPr indent="0" marL="0">
              <a:lnSpc>
                <a:spcPts val="1900"/>
              </a:lnSpc>
              <a:buNone/>
            </a:pPr>
            <a:endParaRPr lang="en-US" sz="1300" dirty="0"/>
          </a:p>
          <a:p>
            <a:pPr indent="0" marL="0">
              <a:lnSpc>
                <a:spcPts val="1900"/>
              </a:lnSpc>
              <a:buNone/>
            </a:pPr>
            <a:r>
              <a:rPr lang="en-US" sz="1300" dirty="0">
                <a:solidFill>
                  <a:srgbClr val="0C4A6E"/>
                </a:solidFill>
                <a:latin typeface="Calibri" pitchFamily="34" charset="0"/>
                <a:ea typeface="Calibri" pitchFamily="34" charset="-122"/>
                <a:cs typeface="Calibri" pitchFamily="34" charset="-120"/>
              </a:rPr>
              <a:t>A clinical description of the reaction itself. It is recorded, but it does not set any timeline.</a:t>
            </a:r>
            <a:endParaRPr lang="en-US" sz="1300" dirty="0"/>
          </a:p>
        </p:txBody>
      </p:sp>
      <p:sp>
        <p:nvSpPr>
          <p:cNvPr id="8" name="Shape 6"/>
          <p:cNvSpPr/>
          <p:nvPr/>
        </p:nvSpPr>
        <p:spPr>
          <a:xfrm>
            <a:off x="6190488" y="1554480"/>
            <a:ext cx="5404104" cy="2377440"/>
          </a:xfrm>
          <a:prstGeom prst="roundRect">
            <a:avLst>
              <a:gd name="adj" fmla="val 2308"/>
            </a:avLst>
          </a:prstGeom>
          <a:solidFill>
            <a:srgbClr val="FEE2E2"/>
          </a:solidFill>
          <a:ln w="12700">
            <a:solidFill>
              <a:srgbClr val="E2E8F0"/>
            </a:solidFill>
            <a:prstDash val="solid"/>
          </a:ln>
        </p:spPr>
      </p:sp>
      <p:sp>
        <p:nvSpPr>
          <p:cNvPr id="9" name="Text 7"/>
          <p:cNvSpPr txBox="1"/>
          <p:nvPr/>
        </p:nvSpPr>
        <p:spPr>
          <a:xfrm>
            <a:off x="6483096" y="1755648"/>
            <a:ext cx="4754880" cy="292608"/>
          </a:xfrm>
          <a:prstGeom prst="rect">
            <a:avLst/>
          </a:prstGeom>
          <a:noFill/>
          <a:ln/>
        </p:spPr>
        <p:txBody>
          <a:bodyPr wrap="square" lIns="0" tIns="0" rIns="0" bIns="0" rtlCol="0" anchor="ctr"/>
          <a:lstStyle/>
          <a:p>
            <a:pPr indent="0" marL="0">
              <a:buNone/>
            </a:pPr>
            <a:r>
              <a:rPr lang="en-US" sz="1200" b="1" spc="300" kern="0" dirty="0">
                <a:solidFill>
                  <a:srgbClr val="B91C1C"/>
                </a:solidFill>
                <a:latin typeface="Calibri" pitchFamily="34" charset="0"/>
                <a:ea typeface="Calibri" pitchFamily="34" charset="-122"/>
                <a:cs typeface="Calibri" pitchFamily="34" charset="-120"/>
              </a:rPr>
              <a:t>SERIOUSNESS</a:t>
            </a:r>
            <a:endParaRPr lang="en-US" sz="1200" dirty="0"/>
          </a:p>
        </p:txBody>
      </p:sp>
      <p:sp>
        <p:nvSpPr>
          <p:cNvPr id="10" name="Text 8"/>
          <p:cNvSpPr txBox="1"/>
          <p:nvPr/>
        </p:nvSpPr>
        <p:spPr>
          <a:xfrm>
            <a:off x="6483096" y="2066544"/>
            <a:ext cx="4846320" cy="365760"/>
          </a:xfrm>
          <a:prstGeom prst="rect">
            <a:avLst/>
          </a:prstGeom>
          <a:noFill/>
          <a:ln/>
        </p:spPr>
        <p:txBody>
          <a:bodyPr wrap="square" lIns="0" tIns="0" rIns="0" bIns="0" rtlCol="0" anchor="ctr"/>
          <a:lstStyle/>
          <a:p>
            <a:pPr indent="0" marL="0">
              <a:buNone/>
            </a:pPr>
            <a:r>
              <a:rPr lang="en-US" sz="2000" b="1" dirty="0">
                <a:solidFill>
                  <a:srgbClr val="0F2B3D"/>
                </a:solidFill>
                <a:latin typeface="Cambria" pitchFamily="34" charset="0"/>
                <a:ea typeface="Cambria" pitchFamily="34" charset="-122"/>
                <a:cs typeface="Cambria" pitchFamily="34" charset="-120"/>
              </a:rPr>
              <a:t>Did one of six things happen?</a:t>
            </a:r>
            <a:endParaRPr lang="en-US" sz="2000" dirty="0"/>
          </a:p>
        </p:txBody>
      </p:sp>
      <p:sp>
        <p:nvSpPr>
          <p:cNvPr id="11" name="Text 9"/>
          <p:cNvSpPr txBox="1"/>
          <p:nvPr/>
        </p:nvSpPr>
        <p:spPr>
          <a:xfrm>
            <a:off x="6483096" y="2542032"/>
            <a:ext cx="4846320" cy="1234440"/>
          </a:xfrm>
          <a:prstGeom prst="rect">
            <a:avLst/>
          </a:prstGeom>
          <a:noFill/>
          <a:ln/>
        </p:spPr>
        <p:txBody>
          <a:bodyPr wrap="square" lIns="0" tIns="0" rIns="0" bIns="0" rtlCol="0" anchor="ctr"/>
          <a:lstStyle/>
          <a:p>
            <a:pPr indent="0" marL="0">
              <a:lnSpc>
                <a:spcPts val="1900"/>
              </a:lnSpc>
              <a:buNone/>
            </a:pPr>
            <a:r>
              <a:rPr lang="en-US" sz="1300" dirty="0">
                <a:solidFill>
                  <a:srgbClr val="7F1D1D"/>
                </a:solidFill>
                <a:latin typeface="Calibri" pitchFamily="34" charset="0"/>
                <a:ea typeface="Calibri" pitchFamily="34" charset="-122"/>
                <a:cs typeface="Calibri" pitchFamily="34" charset="-120"/>
              </a:rPr>
              <a:t>Serious · Non-serious</a:t>
            </a:r>
            <a:endParaRPr lang="en-US" sz="1300" dirty="0"/>
          </a:p>
          <a:p>
            <a:pPr indent="0" marL="0">
              <a:lnSpc>
                <a:spcPts val="1900"/>
              </a:lnSpc>
              <a:buNone/>
            </a:pPr>
            <a:endParaRPr lang="en-US" sz="1300" dirty="0"/>
          </a:p>
          <a:p>
            <a:pPr indent="0" marL="0">
              <a:lnSpc>
                <a:spcPts val="1900"/>
              </a:lnSpc>
              <a:buNone/>
            </a:pPr>
            <a:r>
              <a:rPr lang="en-US" sz="1300" dirty="0">
                <a:solidFill>
                  <a:srgbClr val="7F1D1D"/>
                </a:solidFill>
                <a:latin typeface="Calibri" pitchFamily="34" charset="0"/>
                <a:ea typeface="Calibri" pitchFamily="34" charset="-122"/>
                <a:cs typeface="Calibri" pitchFamily="34" charset="-120"/>
              </a:rPr>
              <a:t>A regulatory classification based on outcome. It sets the reporting timeline — serious cases are expedited.</a:t>
            </a:r>
            <a:endParaRPr lang="en-US" sz="1300" dirty="0"/>
          </a:p>
        </p:txBody>
      </p:sp>
      <p:sp>
        <p:nvSpPr>
          <p:cNvPr id="12" name="Text 10"/>
          <p:cNvSpPr txBox="1"/>
          <p:nvPr/>
        </p:nvSpPr>
        <p:spPr>
          <a:xfrm>
            <a:off x="566928" y="4160520"/>
            <a:ext cx="10972800" cy="310896"/>
          </a:xfrm>
          <a:prstGeom prst="rect">
            <a:avLst/>
          </a:prstGeom>
          <a:noFill/>
          <a:ln/>
        </p:spPr>
        <p:txBody>
          <a:bodyPr wrap="square" lIns="0" tIns="0" rIns="0" bIns="0" rtlCol="0" anchor="ctr"/>
          <a:lstStyle/>
          <a:p>
            <a:pPr indent="0" marL="0">
              <a:buNone/>
            </a:pPr>
            <a:r>
              <a:rPr lang="en-US" sz="1600" b="1" dirty="0">
                <a:solidFill>
                  <a:srgbClr val="0F2B3D"/>
                </a:solidFill>
                <a:latin typeface="Cambria" pitchFamily="34" charset="0"/>
                <a:ea typeface="Cambria" pitchFamily="34" charset="-122"/>
                <a:cs typeface="Cambria" pitchFamily="34" charset="-120"/>
              </a:rPr>
              <a:t>Two worked examples that make the difference unforgettable</a:t>
            </a:r>
            <a:endParaRPr lang="en-US" sz="1600" dirty="0"/>
          </a:p>
        </p:txBody>
      </p:sp>
      <p:sp>
        <p:nvSpPr>
          <p:cNvPr id="13" name="Shape 11"/>
          <p:cNvSpPr/>
          <p:nvPr/>
        </p:nvSpPr>
        <p:spPr>
          <a:xfrm>
            <a:off x="566928" y="4572000"/>
            <a:ext cx="5349240" cy="1600200"/>
          </a:xfrm>
          <a:prstGeom prst="roundRect">
            <a:avLst>
              <a:gd name="adj" fmla="val 3429"/>
            </a:avLst>
          </a:prstGeom>
          <a:solidFill>
            <a:srgbClr val="FEF3C7"/>
          </a:solidFill>
          <a:ln w="12700">
            <a:solidFill>
              <a:srgbClr val="E2E8F0"/>
            </a:solidFill>
            <a:prstDash val="solid"/>
          </a:ln>
        </p:spPr>
      </p:sp>
      <p:sp>
        <p:nvSpPr>
          <p:cNvPr id="14" name="Text 12"/>
          <p:cNvSpPr txBox="1"/>
          <p:nvPr/>
        </p:nvSpPr>
        <p:spPr>
          <a:xfrm>
            <a:off x="822960" y="4736592"/>
            <a:ext cx="4846320" cy="457200"/>
          </a:xfrm>
          <a:prstGeom prst="rect">
            <a:avLst/>
          </a:prstGeom>
          <a:noFill/>
          <a:ln/>
        </p:spPr>
        <p:txBody>
          <a:bodyPr wrap="square" lIns="0" tIns="0" rIns="0" bIns="0" rtlCol="0" anchor="ctr"/>
          <a:lstStyle/>
          <a:p>
            <a:pPr indent="0" marL="0">
              <a:buNone/>
            </a:pPr>
            <a:r>
              <a:rPr lang="en-US" sz="1400" b="1" dirty="0">
                <a:solidFill>
                  <a:srgbClr val="0F2B3D"/>
                </a:solidFill>
                <a:latin typeface="Cambria" pitchFamily="34" charset="0"/>
                <a:ea typeface="Cambria" pitchFamily="34" charset="-122"/>
                <a:cs typeface="Cambria" pitchFamily="34" charset="-120"/>
              </a:rPr>
              <a:t>A severe migraine</a:t>
            </a:r>
            <a:endParaRPr lang="en-US" sz="1400" dirty="0"/>
          </a:p>
        </p:txBody>
      </p:sp>
      <p:sp>
        <p:nvSpPr>
          <p:cNvPr id="15" name="Text 13"/>
          <p:cNvSpPr txBox="1"/>
          <p:nvPr/>
        </p:nvSpPr>
        <p:spPr>
          <a:xfrm>
            <a:off x="822960" y="5193792"/>
            <a:ext cx="4846320" cy="384048"/>
          </a:xfrm>
          <a:prstGeom prst="rect">
            <a:avLst/>
          </a:prstGeom>
          <a:noFill/>
          <a:ln/>
        </p:spPr>
        <p:txBody>
          <a:bodyPr wrap="square" lIns="0" tIns="0" rIns="0" bIns="0" rtlCol="0" anchor="ctr"/>
          <a:lstStyle/>
          <a:p>
            <a:pPr indent="0" marL="0">
              <a:lnSpc>
                <a:spcPts val="1600"/>
              </a:lnSpc>
              <a:buNone/>
            </a:pPr>
            <a:r>
              <a:rPr lang="en-US" sz="1200" dirty="0">
                <a:solidFill>
                  <a:srgbClr val="64748B"/>
                </a:solidFill>
                <a:latin typeface="Calibri" pitchFamily="34" charset="0"/>
                <a:ea typeface="Calibri" pitchFamily="34" charset="-122"/>
                <a:cs typeface="Calibri" pitchFamily="34" charset="-120"/>
              </a:rPr>
              <a:t>Agonising. Off work for a day. No admission, full recovery.</a:t>
            </a:r>
            <a:endParaRPr lang="en-US" sz="1200" dirty="0"/>
          </a:p>
        </p:txBody>
      </p:sp>
      <p:sp>
        <p:nvSpPr>
          <p:cNvPr id="16" name="Text 14"/>
          <p:cNvSpPr txBox="1"/>
          <p:nvPr/>
        </p:nvSpPr>
        <p:spPr>
          <a:xfrm>
            <a:off x="822960" y="5632704"/>
            <a:ext cx="4846320" cy="347472"/>
          </a:xfrm>
          <a:prstGeom prst="rect">
            <a:avLst/>
          </a:prstGeom>
          <a:noFill/>
          <a:ln/>
        </p:spPr>
        <p:txBody>
          <a:bodyPr wrap="square" lIns="0" tIns="0" rIns="0" bIns="0" rtlCol="0" anchor="ctr"/>
          <a:lstStyle/>
          <a:p>
            <a:pPr indent="0" marL="0">
              <a:buNone/>
            </a:pPr>
            <a:r>
              <a:rPr lang="en-US" sz="1500" b="1" dirty="0">
                <a:solidFill>
                  <a:srgbClr val="B45309"/>
                </a:solidFill>
                <a:latin typeface="Cambria" pitchFamily="34" charset="0"/>
                <a:ea typeface="Cambria" pitchFamily="34" charset="-122"/>
                <a:cs typeface="Cambria" pitchFamily="34" charset="-120"/>
              </a:rPr>
              <a:t>SEVERE but NOT SERIOUS</a:t>
            </a:r>
            <a:endParaRPr lang="en-US" sz="1500" dirty="0"/>
          </a:p>
        </p:txBody>
      </p:sp>
      <p:sp>
        <p:nvSpPr>
          <p:cNvPr id="17" name="Shape 15"/>
          <p:cNvSpPr/>
          <p:nvPr/>
        </p:nvSpPr>
        <p:spPr>
          <a:xfrm>
            <a:off x="6190488" y="4572000"/>
            <a:ext cx="5349240" cy="1600200"/>
          </a:xfrm>
          <a:prstGeom prst="roundRect">
            <a:avLst>
              <a:gd name="adj" fmla="val 3429"/>
            </a:avLst>
          </a:prstGeom>
          <a:solidFill>
            <a:srgbClr val="FEE2E2"/>
          </a:solidFill>
          <a:ln w="12700">
            <a:solidFill>
              <a:srgbClr val="E2E8F0"/>
            </a:solidFill>
            <a:prstDash val="solid"/>
          </a:ln>
        </p:spPr>
      </p:sp>
      <p:sp>
        <p:nvSpPr>
          <p:cNvPr id="18" name="Text 16"/>
          <p:cNvSpPr txBox="1"/>
          <p:nvPr/>
        </p:nvSpPr>
        <p:spPr>
          <a:xfrm>
            <a:off x="6446520" y="4736592"/>
            <a:ext cx="4846320" cy="457200"/>
          </a:xfrm>
          <a:prstGeom prst="rect">
            <a:avLst/>
          </a:prstGeom>
          <a:noFill/>
          <a:ln/>
        </p:spPr>
        <p:txBody>
          <a:bodyPr wrap="square" lIns="0" tIns="0" rIns="0" bIns="0" rtlCol="0" anchor="ctr"/>
          <a:lstStyle/>
          <a:p>
            <a:pPr indent="0" marL="0">
              <a:buNone/>
            </a:pPr>
            <a:r>
              <a:rPr lang="en-US" sz="1400" b="1" dirty="0">
                <a:solidFill>
                  <a:srgbClr val="0F2B3D"/>
                </a:solidFill>
                <a:latin typeface="Cambria" pitchFamily="34" charset="0"/>
                <a:ea typeface="Cambria" pitchFamily="34" charset="-122"/>
                <a:cs typeface="Cambria" pitchFamily="34" charset="-120"/>
              </a:rPr>
              <a:t>A dangerously low potassium found on a routine blood test</a:t>
            </a:r>
            <a:endParaRPr lang="en-US" sz="1400" dirty="0"/>
          </a:p>
        </p:txBody>
      </p:sp>
      <p:sp>
        <p:nvSpPr>
          <p:cNvPr id="19" name="Text 17"/>
          <p:cNvSpPr txBox="1"/>
          <p:nvPr/>
        </p:nvSpPr>
        <p:spPr>
          <a:xfrm>
            <a:off x="6446520" y="5193792"/>
            <a:ext cx="4846320" cy="384048"/>
          </a:xfrm>
          <a:prstGeom prst="rect">
            <a:avLst/>
          </a:prstGeom>
          <a:noFill/>
          <a:ln/>
        </p:spPr>
        <p:txBody>
          <a:bodyPr wrap="square" lIns="0" tIns="0" rIns="0" bIns="0" rtlCol="0" anchor="ctr"/>
          <a:lstStyle/>
          <a:p>
            <a:pPr indent="0" marL="0">
              <a:lnSpc>
                <a:spcPts val="1600"/>
              </a:lnSpc>
              <a:buNone/>
            </a:pPr>
            <a:r>
              <a:rPr lang="en-US" sz="1200" dirty="0">
                <a:solidFill>
                  <a:srgbClr val="64748B"/>
                </a:solidFill>
                <a:latin typeface="Calibri" pitchFamily="34" charset="0"/>
                <a:ea typeface="Calibri" pitchFamily="34" charset="-122"/>
                <a:cs typeface="Calibri" pitchFamily="34" charset="-120"/>
              </a:rPr>
              <a:t>Patient feels completely well.</a:t>
            </a:r>
            <a:endParaRPr lang="en-US" sz="1200" dirty="0"/>
          </a:p>
        </p:txBody>
      </p:sp>
      <p:sp>
        <p:nvSpPr>
          <p:cNvPr id="20" name="Text 18"/>
          <p:cNvSpPr txBox="1"/>
          <p:nvPr/>
        </p:nvSpPr>
        <p:spPr>
          <a:xfrm>
            <a:off x="6446520" y="5632704"/>
            <a:ext cx="4846320" cy="347472"/>
          </a:xfrm>
          <a:prstGeom prst="rect">
            <a:avLst/>
          </a:prstGeom>
          <a:noFill/>
          <a:ln/>
        </p:spPr>
        <p:txBody>
          <a:bodyPr wrap="square" lIns="0" tIns="0" rIns="0" bIns="0" rtlCol="0" anchor="ctr"/>
          <a:lstStyle/>
          <a:p>
            <a:pPr indent="0" marL="0">
              <a:buNone/>
            </a:pPr>
            <a:r>
              <a:rPr lang="en-US" sz="1500" b="1" dirty="0">
                <a:solidFill>
                  <a:srgbClr val="B91C1C"/>
                </a:solidFill>
                <a:latin typeface="Cambria" pitchFamily="34" charset="0"/>
                <a:ea typeface="Cambria" pitchFamily="34" charset="-122"/>
                <a:cs typeface="Cambria" pitchFamily="34" charset="-120"/>
              </a:rPr>
              <a:t>SERIOUS but NOT SEVERE</a:t>
            </a:r>
            <a:endParaRPr lang="en-US" sz="15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84048"/>
            <a:ext cx="10058400" cy="256032"/>
          </a:xfrm>
          <a:prstGeom prst="rect">
            <a:avLst/>
          </a:prstGeom>
          <a:noFill/>
          <a:ln/>
        </p:spPr>
        <p:txBody>
          <a:bodyPr wrap="square" lIns="0" tIns="0" rIns="0" bIns="0" rtlCol="0" anchor="ctr"/>
          <a:lstStyle/>
          <a:p>
            <a:pPr indent="0" marL="0">
              <a:buNone/>
            </a:pPr>
            <a:r>
              <a:rPr lang="en-US" sz="1100" b="1" spc="250" kern="0" dirty="0">
                <a:solidFill>
                  <a:srgbClr val="0E7490"/>
                </a:solidFill>
                <a:latin typeface="Calibri" pitchFamily="34" charset="0"/>
                <a:ea typeface="Calibri" pitchFamily="34" charset="-122"/>
                <a:cs typeface="Calibri" pitchFamily="34" charset="-120"/>
              </a:rPr>
              <a:t>Causality, the way a clinician actually thinks</a:t>
            </a:r>
            <a:endParaRPr lang="en-US" sz="1100" dirty="0"/>
          </a:p>
        </p:txBody>
      </p:sp>
      <p:sp>
        <p:nvSpPr>
          <p:cNvPr id="3" name="Text 1"/>
          <p:cNvSpPr txBox="1"/>
          <p:nvPr/>
        </p:nvSpPr>
        <p:spPr>
          <a:xfrm>
            <a:off x="566928" y="640080"/>
            <a:ext cx="11064240" cy="548640"/>
          </a:xfrm>
          <a:prstGeom prst="rect">
            <a:avLst/>
          </a:prstGeom>
          <a:noFill/>
          <a:ln/>
        </p:spPr>
        <p:txBody>
          <a:bodyPr wrap="square" lIns="0" tIns="0" rIns="0" bIns="0" rtlCol="0" anchor="t"/>
          <a:lstStyle/>
          <a:p>
            <a:pPr indent="0" marL="0">
              <a:lnSpc>
                <a:spcPts val="3800"/>
              </a:lnSpc>
              <a:buNone/>
            </a:pPr>
            <a:r>
              <a:rPr lang="en-US" sz="3100" b="1" dirty="0">
                <a:solidFill>
                  <a:srgbClr val="0F2B3D"/>
                </a:solidFill>
                <a:latin typeface="Cambria" pitchFamily="34" charset="0"/>
                <a:ea typeface="Cambria" pitchFamily="34" charset="-122"/>
                <a:cs typeface="Cambria" pitchFamily="34" charset="-120"/>
              </a:rPr>
              <a:t>Four plain questions. No jargon yet.</a:t>
            </a:r>
            <a:endParaRPr lang="en-US" sz="3100" dirty="0"/>
          </a:p>
        </p:txBody>
      </p:sp>
      <p:sp>
        <p:nvSpPr>
          <p:cNvPr id="4" name="Shape 2"/>
          <p:cNvSpPr/>
          <p:nvPr/>
        </p:nvSpPr>
        <p:spPr>
          <a:xfrm>
            <a:off x="566928" y="1645920"/>
            <a:ext cx="457200" cy="457200"/>
          </a:xfrm>
          <a:prstGeom prst="ellipse">
            <a:avLst/>
          </a:prstGeom>
          <a:solidFill>
            <a:srgbClr val="0E7490"/>
          </a:solidFill>
          <a:ln/>
        </p:spPr>
      </p:sp>
      <p:sp>
        <p:nvSpPr>
          <p:cNvPr id="5" name="Text 3"/>
          <p:cNvSpPr txBox="1"/>
          <p:nvPr/>
        </p:nvSpPr>
        <p:spPr>
          <a:xfrm>
            <a:off x="566928" y="1645920"/>
            <a:ext cx="45720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6" name="Shape 4"/>
          <p:cNvSpPr/>
          <p:nvPr/>
        </p:nvSpPr>
        <p:spPr>
          <a:xfrm>
            <a:off x="1188720" y="1572768"/>
            <a:ext cx="5577840" cy="786384"/>
          </a:xfrm>
          <a:prstGeom prst="roundRect">
            <a:avLst>
              <a:gd name="adj" fmla="val 6977"/>
            </a:avLst>
          </a:prstGeom>
          <a:solidFill>
            <a:srgbClr val="F1F5F9"/>
          </a:solidFill>
          <a:ln w="12700">
            <a:solidFill>
              <a:srgbClr val="E2E8F0"/>
            </a:solidFill>
            <a:prstDash val="solid"/>
          </a:ln>
        </p:spPr>
      </p:sp>
      <p:sp>
        <p:nvSpPr>
          <p:cNvPr id="7" name="Text 5"/>
          <p:cNvSpPr txBox="1"/>
          <p:nvPr/>
        </p:nvSpPr>
        <p:spPr>
          <a:xfrm>
            <a:off x="1408176" y="1691640"/>
            <a:ext cx="5166360" cy="566928"/>
          </a:xfrm>
          <a:prstGeom prst="rect">
            <a:avLst/>
          </a:prstGeom>
          <a:noFill/>
          <a:ln/>
        </p:spPr>
        <p:txBody>
          <a:bodyPr wrap="square" lIns="0" tIns="0" rIns="0" bIns="0" rtlCol="0" anchor="t"/>
          <a:lstStyle/>
          <a:p>
            <a:pPr indent="0" marL="0">
              <a:lnSpc>
                <a:spcPts val="1700"/>
              </a:lnSpc>
              <a:buNone/>
            </a:pPr>
            <a:r>
              <a:rPr lang="en-US" sz="1300" dirty="0">
                <a:solidFill>
                  <a:srgbClr val="1E293B"/>
                </a:solidFill>
                <a:latin typeface="Calibri" pitchFamily="34" charset="0"/>
                <a:ea typeface="Calibri" pitchFamily="34" charset="-122"/>
                <a:cs typeface="Calibri" pitchFamily="34" charset="-120"/>
              </a:rPr>
              <a:t>Did the reaction occur AFTER the drug was started?</a:t>
            </a:r>
            <a:endParaRPr lang="en-US" sz="1300" dirty="0"/>
          </a:p>
        </p:txBody>
      </p:sp>
      <p:sp>
        <p:nvSpPr>
          <p:cNvPr id="8" name="Shape 6"/>
          <p:cNvSpPr/>
          <p:nvPr/>
        </p:nvSpPr>
        <p:spPr>
          <a:xfrm>
            <a:off x="566928" y="2578608"/>
            <a:ext cx="457200" cy="457200"/>
          </a:xfrm>
          <a:prstGeom prst="ellipse">
            <a:avLst/>
          </a:prstGeom>
          <a:solidFill>
            <a:srgbClr val="0E7490"/>
          </a:solidFill>
          <a:ln/>
        </p:spPr>
      </p:sp>
      <p:sp>
        <p:nvSpPr>
          <p:cNvPr id="9" name="Text 7"/>
          <p:cNvSpPr txBox="1"/>
          <p:nvPr/>
        </p:nvSpPr>
        <p:spPr>
          <a:xfrm>
            <a:off x="566928" y="2578608"/>
            <a:ext cx="45720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0" name="Shape 8"/>
          <p:cNvSpPr/>
          <p:nvPr/>
        </p:nvSpPr>
        <p:spPr>
          <a:xfrm>
            <a:off x="1188720" y="2505456"/>
            <a:ext cx="5577840" cy="786384"/>
          </a:xfrm>
          <a:prstGeom prst="roundRect">
            <a:avLst>
              <a:gd name="adj" fmla="val 6977"/>
            </a:avLst>
          </a:prstGeom>
          <a:solidFill>
            <a:srgbClr val="F1F5F9"/>
          </a:solidFill>
          <a:ln w="12700">
            <a:solidFill>
              <a:srgbClr val="E2E8F0"/>
            </a:solidFill>
            <a:prstDash val="solid"/>
          </a:ln>
        </p:spPr>
      </p:sp>
      <p:sp>
        <p:nvSpPr>
          <p:cNvPr id="11" name="Text 9"/>
          <p:cNvSpPr txBox="1"/>
          <p:nvPr/>
        </p:nvSpPr>
        <p:spPr>
          <a:xfrm>
            <a:off x="1408176" y="2624328"/>
            <a:ext cx="5166360" cy="566928"/>
          </a:xfrm>
          <a:prstGeom prst="rect">
            <a:avLst/>
          </a:prstGeom>
          <a:noFill/>
          <a:ln/>
        </p:spPr>
        <p:txBody>
          <a:bodyPr wrap="square" lIns="0" tIns="0" rIns="0" bIns="0" rtlCol="0" anchor="t"/>
          <a:lstStyle/>
          <a:p>
            <a:pPr indent="0" marL="0">
              <a:lnSpc>
                <a:spcPts val="1700"/>
              </a:lnSpc>
              <a:buNone/>
            </a:pPr>
            <a:r>
              <a:rPr lang="en-US" sz="1300" dirty="0">
                <a:solidFill>
                  <a:srgbClr val="1E293B"/>
                </a:solidFill>
                <a:latin typeface="Calibri" pitchFamily="34" charset="0"/>
                <a:ea typeface="Calibri" pitchFamily="34" charset="-122"/>
                <a:cs typeface="Calibri" pitchFamily="34" charset="-120"/>
              </a:rPr>
              <a:t>Did the reaction improve after the drug was stopped or the dose reduced?</a:t>
            </a:r>
            <a:endParaRPr lang="en-US" sz="1300" dirty="0"/>
          </a:p>
        </p:txBody>
      </p:sp>
      <p:sp>
        <p:nvSpPr>
          <p:cNvPr id="12" name="Shape 10"/>
          <p:cNvSpPr/>
          <p:nvPr/>
        </p:nvSpPr>
        <p:spPr>
          <a:xfrm>
            <a:off x="566928" y="3511296"/>
            <a:ext cx="457200" cy="457200"/>
          </a:xfrm>
          <a:prstGeom prst="ellipse">
            <a:avLst/>
          </a:prstGeom>
          <a:solidFill>
            <a:srgbClr val="0E7490"/>
          </a:solidFill>
          <a:ln/>
        </p:spPr>
      </p:sp>
      <p:sp>
        <p:nvSpPr>
          <p:cNvPr id="13" name="Text 11"/>
          <p:cNvSpPr txBox="1"/>
          <p:nvPr/>
        </p:nvSpPr>
        <p:spPr>
          <a:xfrm>
            <a:off x="566928" y="3511296"/>
            <a:ext cx="45720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4" name="Shape 12"/>
          <p:cNvSpPr/>
          <p:nvPr/>
        </p:nvSpPr>
        <p:spPr>
          <a:xfrm>
            <a:off x="1188720" y="3438144"/>
            <a:ext cx="5577840" cy="786384"/>
          </a:xfrm>
          <a:prstGeom prst="roundRect">
            <a:avLst>
              <a:gd name="adj" fmla="val 6977"/>
            </a:avLst>
          </a:prstGeom>
          <a:solidFill>
            <a:srgbClr val="F1F5F9"/>
          </a:solidFill>
          <a:ln w="12700">
            <a:solidFill>
              <a:srgbClr val="E2E8F0"/>
            </a:solidFill>
            <a:prstDash val="solid"/>
          </a:ln>
        </p:spPr>
      </p:sp>
      <p:sp>
        <p:nvSpPr>
          <p:cNvPr id="15" name="Text 13"/>
          <p:cNvSpPr txBox="1"/>
          <p:nvPr/>
        </p:nvSpPr>
        <p:spPr>
          <a:xfrm>
            <a:off x="1408176" y="3557016"/>
            <a:ext cx="5166360" cy="566928"/>
          </a:xfrm>
          <a:prstGeom prst="rect">
            <a:avLst/>
          </a:prstGeom>
          <a:noFill/>
          <a:ln/>
        </p:spPr>
        <p:txBody>
          <a:bodyPr wrap="square" lIns="0" tIns="0" rIns="0" bIns="0" rtlCol="0" anchor="t"/>
          <a:lstStyle/>
          <a:p>
            <a:pPr indent="0" marL="0">
              <a:lnSpc>
                <a:spcPts val="1700"/>
              </a:lnSpc>
              <a:buNone/>
            </a:pPr>
            <a:r>
              <a:rPr lang="en-US" sz="1300" dirty="0">
                <a:solidFill>
                  <a:srgbClr val="1E293B"/>
                </a:solidFill>
                <a:latin typeface="Calibri" pitchFamily="34" charset="0"/>
                <a:ea typeface="Calibri" pitchFamily="34" charset="-122"/>
                <a:cs typeface="Calibri" pitchFamily="34" charset="-120"/>
              </a:rPr>
              <a:t>Is there another obvious explanation — the illness itself, another medicine, or something else?</a:t>
            </a:r>
            <a:endParaRPr lang="en-US" sz="1300" dirty="0"/>
          </a:p>
        </p:txBody>
      </p:sp>
      <p:sp>
        <p:nvSpPr>
          <p:cNvPr id="16" name="Shape 14"/>
          <p:cNvSpPr/>
          <p:nvPr/>
        </p:nvSpPr>
        <p:spPr>
          <a:xfrm>
            <a:off x="566928" y="4443984"/>
            <a:ext cx="457200" cy="457200"/>
          </a:xfrm>
          <a:prstGeom prst="ellipse">
            <a:avLst/>
          </a:prstGeom>
          <a:solidFill>
            <a:srgbClr val="0E7490"/>
          </a:solidFill>
          <a:ln/>
        </p:spPr>
      </p:sp>
      <p:sp>
        <p:nvSpPr>
          <p:cNvPr id="17" name="Text 15"/>
          <p:cNvSpPr txBox="1"/>
          <p:nvPr/>
        </p:nvSpPr>
        <p:spPr>
          <a:xfrm>
            <a:off x="566928" y="4443984"/>
            <a:ext cx="45720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18" name="Shape 16"/>
          <p:cNvSpPr/>
          <p:nvPr/>
        </p:nvSpPr>
        <p:spPr>
          <a:xfrm>
            <a:off x="1188720" y="4370832"/>
            <a:ext cx="5577840" cy="786384"/>
          </a:xfrm>
          <a:prstGeom prst="roundRect">
            <a:avLst>
              <a:gd name="adj" fmla="val 6977"/>
            </a:avLst>
          </a:prstGeom>
          <a:solidFill>
            <a:srgbClr val="F1F5F9"/>
          </a:solidFill>
          <a:ln w="12700">
            <a:solidFill>
              <a:srgbClr val="E2E8F0"/>
            </a:solidFill>
            <a:prstDash val="solid"/>
          </a:ln>
        </p:spPr>
      </p:sp>
      <p:sp>
        <p:nvSpPr>
          <p:cNvPr id="19" name="Text 17"/>
          <p:cNvSpPr txBox="1"/>
          <p:nvPr/>
        </p:nvSpPr>
        <p:spPr>
          <a:xfrm>
            <a:off x="1408176" y="4489704"/>
            <a:ext cx="5166360" cy="566928"/>
          </a:xfrm>
          <a:prstGeom prst="rect">
            <a:avLst/>
          </a:prstGeom>
          <a:noFill/>
          <a:ln/>
        </p:spPr>
        <p:txBody>
          <a:bodyPr wrap="square" lIns="0" tIns="0" rIns="0" bIns="0" rtlCol="0" anchor="t"/>
          <a:lstStyle/>
          <a:p>
            <a:pPr indent="0" marL="0">
              <a:lnSpc>
                <a:spcPts val="1700"/>
              </a:lnSpc>
              <a:buNone/>
            </a:pPr>
            <a:r>
              <a:rPr lang="en-US" sz="1300" dirty="0">
                <a:solidFill>
                  <a:srgbClr val="1E293B"/>
                </a:solidFill>
                <a:latin typeface="Calibri" pitchFamily="34" charset="0"/>
                <a:ea typeface="Calibri" pitchFamily="34" charset="-122"/>
                <a:cs typeface="Calibri" pitchFamily="34" charset="-120"/>
              </a:rPr>
              <a:t>Is this a recognised reaction to this medicine?</a:t>
            </a:r>
            <a:endParaRPr lang="en-US" sz="1300" dirty="0"/>
          </a:p>
        </p:txBody>
      </p:sp>
      <p:sp>
        <p:nvSpPr>
          <p:cNvPr id="20" name="Shape 18"/>
          <p:cNvSpPr/>
          <p:nvPr/>
        </p:nvSpPr>
        <p:spPr>
          <a:xfrm>
            <a:off x="6995160" y="1536192"/>
            <a:ext cx="4599432" cy="2331720"/>
          </a:xfrm>
          <a:prstGeom prst="roundRect">
            <a:avLst>
              <a:gd name="adj" fmla="val 2353"/>
            </a:avLst>
          </a:prstGeom>
          <a:solidFill>
            <a:srgbClr val="DCFCE7"/>
          </a:solidFill>
          <a:ln w="12700">
            <a:solidFill>
              <a:srgbClr val="E2E8F0"/>
            </a:solidFill>
            <a:prstDash val="solid"/>
          </a:ln>
        </p:spPr>
      </p:sp>
      <p:sp>
        <p:nvSpPr>
          <p:cNvPr id="21" name="Text 19"/>
          <p:cNvSpPr txBox="1"/>
          <p:nvPr/>
        </p:nvSpPr>
        <p:spPr>
          <a:xfrm>
            <a:off x="7251192" y="1719072"/>
            <a:ext cx="4114800" cy="566928"/>
          </a:xfrm>
          <a:prstGeom prst="rect">
            <a:avLst/>
          </a:prstGeom>
          <a:noFill/>
          <a:ln/>
        </p:spPr>
        <p:txBody>
          <a:bodyPr wrap="square" lIns="0" tIns="0" rIns="0" bIns="0" rtlCol="0" anchor="t"/>
          <a:lstStyle/>
          <a:p>
            <a:pPr indent="0" marL="0">
              <a:buNone/>
            </a:pPr>
            <a:r>
              <a:rPr lang="en-US" sz="1600" b="1" dirty="0">
                <a:solidFill>
                  <a:srgbClr val="15803D"/>
                </a:solidFill>
                <a:latin typeface="Cambria" pitchFamily="34" charset="0"/>
                <a:ea typeface="Cambria" pitchFamily="34" charset="-122"/>
                <a:cs typeface="Cambria" pitchFamily="34" charset="-120"/>
              </a:rPr>
              <a:t>You have just done a causality assessment</a:t>
            </a:r>
            <a:endParaRPr lang="en-US" sz="1600" dirty="0"/>
          </a:p>
        </p:txBody>
      </p:sp>
      <p:sp>
        <p:nvSpPr>
          <p:cNvPr id="22" name="Text 20"/>
          <p:cNvSpPr txBox="1"/>
          <p:nvPr/>
        </p:nvSpPr>
        <p:spPr>
          <a:xfrm>
            <a:off x="7251192" y="2322576"/>
            <a:ext cx="4114800" cy="1463040"/>
          </a:xfrm>
          <a:prstGeom prst="rect">
            <a:avLst/>
          </a:prstGeom>
          <a:noFill/>
          <a:ln/>
        </p:spPr>
        <p:txBody>
          <a:bodyPr wrap="square" lIns="0" tIns="0" rIns="0" bIns="0" rtlCol="0" anchor="t"/>
          <a:lstStyle/>
          <a:p>
            <a:pPr indent="0" marL="0">
              <a:lnSpc>
                <a:spcPts val="1700"/>
              </a:lnSpc>
              <a:buNone/>
            </a:pPr>
            <a:r>
              <a:rPr lang="en-US" sz="1200" dirty="0">
                <a:solidFill>
                  <a:srgbClr val="14532D"/>
                </a:solidFill>
                <a:latin typeface="Calibri" pitchFamily="34" charset="0"/>
                <a:ea typeface="Calibri" pitchFamily="34" charset="-122"/>
                <a:cs typeface="Calibri" pitchFamily="34" charset="-120"/>
              </a:rPr>
              <a:t>Time relationship, dechallenge, alternative causes, known reaction. Every formal scale is a more detailed version of exactly those four. The terminology comes after, on purpose — so you recognise you were already doing it.</a:t>
            </a:r>
            <a:endParaRPr lang="en-US" sz="1200" dirty="0"/>
          </a:p>
        </p:txBody>
      </p:sp>
      <p:sp>
        <p:nvSpPr>
          <p:cNvPr id="23" name="Shape 21"/>
          <p:cNvSpPr/>
          <p:nvPr/>
        </p:nvSpPr>
        <p:spPr>
          <a:xfrm>
            <a:off x="6995160" y="4023360"/>
            <a:ext cx="4599432" cy="1828800"/>
          </a:xfrm>
          <a:prstGeom prst="roundRect">
            <a:avLst>
              <a:gd name="adj" fmla="val 3000"/>
            </a:avLst>
          </a:prstGeom>
          <a:solidFill>
            <a:srgbClr val="FEF3C7"/>
          </a:solidFill>
          <a:ln w="12700">
            <a:solidFill>
              <a:srgbClr val="E2E8F0"/>
            </a:solidFill>
            <a:prstDash val="solid"/>
          </a:ln>
        </p:spPr>
      </p:sp>
      <p:sp>
        <p:nvSpPr>
          <p:cNvPr id="24" name="Text 22"/>
          <p:cNvSpPr txBox="1"/>
          <p:nvPr/>
        </p:nvSpPr>
        <p:spPr>
          <a:xfrm>
            <a:off x="7251192" y="4206240"/>
            <a:ext cx="4114800" cy="310896"/>
          </a:xfrm>
          <a:prstGeom prst="rect">
            <a:avLst/>
          </a:prstGeom>
          <a:noFill/>
          <a:ln/>
        </p:spPr>
        <p:txBody>
          <a:bodyPr wrap="square" lIns="0" tIns="0" rIns="0" bIns="0" rtlCol="0" anchor="t"/>
          <a:lstStyle/>
          <a:p>
            <a:pPr indent="0" marL="0">
              <a:buNone/>
            </a:pPr>
            <a:r>
              <a:rPr lang="en-US" sz="1400" b="1" dirty="0">
                <a:solidFill>
                  <a:srgbClr val="78350F"/>
                </a:solidFill>
                <a:latin typeface="Cambria" pitchFamily="34" charset="0"/>
                <a:ea typeface="Cambria" pitchFamily="34" charset="-122"/>
                <a:cs typeface="Cambria" pitchFamily="34" charset="-120"/>
              </a:rPr>
              <a:t>The ceiling on almost every real case</a:t>
            </a:r>
            <a:endParaRPr lang="en-US" sz="1400" dirty="0"/>
          </a:p>
        </p:txBody>
      </p:sp>
      <p:sp>
        <p:nvSpPr>
          <p:cNvPr id="25" name="Text 23"/>
          <p:cNvSpPr txBox="1"/>
          <p:nvPr/>
        </p:nvSpPr>
        <p:spPr>
          <a:xfrm>
            <a:off x="7251192" y="4553712"/>
            <a:ext cx="4114800" cy="1207008"/>
          </a:xfrm>
          <a:prstGeom prst="rect">
            <a:avLst/>
          </a:prstGeom>
          <a:noFill/>
          <a:ln/>
        </p:spPr>
        <p:txBody>
          <a:bodyPr wrap="square" lIns="0" tIns="0" rIns="0" bIns="0" rtlCol="0" anchor="t"/>
          <a:lstStyle/>
          <a:p>
            <a:pPr indent="0" marL="0">
              <a:lnSpc>
                <a:spcPts val="1600"/>
              </a:lnSpc>
              <a:buNone/>
            </a:pPr>
            <a:r>
              <a:rPr lang="en-US" sz="1150" dirty="0">
                <a:solidFill>
                  <a:srgbClr val="78350F"/>
                </a:solidFill>
                <a:latin typeface="Calibri" pitchFamily="34" charset="0"/>
                <a:ea typeface="Calibri" pitchFamily="34" charset="-122"/>
                <a:cs typeface="Calibri" pitchFamily="34" charset="-120"/>
              </a:rPr>
              <a:t>To go above "probable" you need a positive rechallenge — giving the drug again and watching the reaction return. That is almost never ethical and almost never done. Probable is the realistic top of a well-investigated case, and that is fine.</a:t>
            </a:r>
            <a:endParaRPr lang="en-US" sz="11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84048"/>
            <a:ext cx="10058400" cy="256032"/>
          </a:xfrm>
          <a:prstGeom prst="rect">
            <a:avLst/>
          </a:prstGeom>
          <a:noFill/>
          <a:ln/>
        </p:spPr>
        <p:txBody>
          <a:bodyPr wrap="square" lIns="0" tIns="0" rIns="0" bIns="0" rtlCol="0" anchor="ctr"/>
          <a:lstStyle/>
          <a:p>
            <a:pPr indent="0" marL="0">
              <a:buNone/>
            </a:pPr>
            <a:r>
              <a:rPr lang="en-US" sz="1100" b="1" spc="250" kern="0" dirty="0">
                <a:solidFill>
                  <a:srgbClr val="0E7490"/>
                </a:solidFill>
                <a:latin typeface="Calibri" pitchFamily="34" charset="0"/>
                <a:ea typeface="Calibri" pitchFamily="34" charset="-122"/>
                <a:cs typeface="Calibri" pitchFamily="34" charset="-120"/>
              </a:rPr>
              <a:t>WHO-UMC causality</a:t>
            </a:r>
            <a:endParaRPr lang="en-US" sz="1100" dirty="0"/>
          </a:p>
        </p:txBody>
      </p:sp>
      <p:sp>
        <p:nvSpPr>
          <p:cNvPr id="3" name="Text 1"/>
          <p:cNvSpPr txBox="1"/>
          <p:nvPr/>
        </p:nvSpPr>
        <p:spPr>
          <a:xfrm>
            <a:off x="566928" y="640080"/>
            <a:ext cx="11064240" cy="548640"/>
          </a:xfrm>
          <a:prstGeom prst="rect">
            <a:avLst/>
          </a:prstGeom>
          <a:noFill/>
          <a:ln/>
        </p:spPr>
        <p:txBody>
          <a:bodyPr wrap="square" lIns="0" tIns="0" rIns="0" bIns="0" rtlCol="0" anchor="t"/>
          <a:lstStyle/>
          <a:p>
            <a:pPr indent="0" marL="0">
              <a:lnSpc>
                <a:spcPts val="3800"/>
              </a:lnSpc>
              <a:buNone/>
            </a:pPr>
            <a:r>
              <a:rPr lang="en-US" sz="3100" b="1" dirty="0">
                <a:solidFill>
                  <a:srgbClr val="0F2B3D"/>
                </a:solidFill>
                <a:latin typeface="Cambria" pitchFamily="34" charset="0"/>
                <a:ea typeface="Cambria" pitchFamily="34" charset="-122"/>
                <a:cs typeface="Cambria" pitchFamily="34" charset="-120"/>
              </a:rPr>
              <a:t>Six categories, and what each one requires</a:t>
            </a:r>
            <a:endParaRPr lang="en-US" sz="3100" dirty="0"/>
          </a:p>
        </p:txBody>
      </p:sp>
      <p:sp>
        <p:nvSpPr>
          <p:cNvPr id="4" name="Shape 2"/>
          <p:cNvSpPr/>
          <p:nvPr/>
        </p:nvSpPr>
        <p:spPr>
          <a:xfrm>
            <a:off x="566928" y="1325880"/>
            <a:ext cx="3456432" cy="2157984"/>
          </a:xfrm>
          <a:prstGeom prst="roundRect">
            <a:avLst>
              <a:gd name="adj" fmla="val 2542"/>
            </a:avLst>
          </a:prstGeom>
          <a:solidFill>
            <a:srgbClr val="DCFCE7"/>
          </a:solidFill>
          <a:ln w="12700">
            <a:solidFill>
              <a:srgbClr val="E2E8F0"/>
            </a:solidFill>
            <a:prstDash val="solid"/>
          </a:ln>
        </p:spPr>
      </p:sp>
      <p:sp>
        <p:nvSpPr>
          <p:cNvPr id="5" name="Text 3"/>
          <p:cNvSpPr txBox="1"/>
          <p:nvPr/>
        </p:nvSpPr>
        <p:spPr>
          <a:xfrm>
            <a:off x="795528" y="1472184"/>
            <a:ext cx="3017520" cy="475488"/>
          </a:xfrm>
          <a:prstGeom prst="rect">
            <a:avLst/>
          </a:prstGeom>
          <a:noFill/>
          <a:ln/>
        </p:spPr>
        <p:txBody>
          <a:bodyPr wrap="square" lIns="0" tIns="0" rIns="0" bIns="0" rtlCol="0" anchor="t"/>
          <a:lstStyle/>
          <a:p>
            <a:pPr indent="0" marL="0">
              <a:lnSpc>
                <a:spcPts val="1900"/>
              </a:lnSpc>
              <a:buNone/>
            </a:pPr>
            <a:r>
              <a:rPr lang="en-US" sz="1500" b="1" dirty="0">
                <a:solidFill>
                  <a:srgbClr val="0F2B3D"/>
                </a:solidFill>
                <a:latin typeface="Cambria" pitchFamily="34" charset="0"/>
                <a:ea typeface="Cambria" pitchFamily="34" charset="-122"/>
                <a:cs typeface="Cambria" pitchFamily="34" charset="-120"/>
              </a:rPr>
              <a:t>Certain</a:t>
            </a:r>
            <a:endParaRPr lang="en-US" sz="1500" dirty="0"/>
          </a:p>
        </p:txBody>
      </p:sp>
      <p:sp>
        <p:nvSpPr>
          <p:cNvPr id="6" name="Text 4"/>
          <p:cNvSpPr txBox="1"/>
          <p:nvPr/>
        </p:nvSpPr>
        <p:spPr>
          <a:xfrm>
            <a:off x="795528" y="1965960"/>
            <a:ext cx="3017520" cy="1133856"/>
          </a:xfrm>
          <a:prstGeom prst="rect">
            <a:avLst/>
          </a:prstGeom>
          <a:noFill/>
          <a:ln/>
        </p:spPr>
        <p:txBody>
          <a:bodyPr wrap="square" lIns="0" tIns="0" rIns="0" bIns="0" rtlCol="0" anchor="t"/>
          <a:lstStyle/>
          <a:p>
            <a:pPr marL="342900" indent="-342900">
              <a:lnSpc>
                <a:spcPts val="1300"/>
              </a:lnSpc>
              <a:spcAft>
                <a:spcPts val="300"/>
              </a:spcAft>
              <a:buSzPct val="100000"/>
              <a:buChar char="•"/>
            </a:pPr>
            <a:r>
              <a:rPr lang="en-US" sz="920" dirty="0">
                <a:solidFill>
                  <a:srgbClr val="1E293B"/>
                </a:solidFill>
                <a:latin typeface="Calibri" pitchFamily="34" charset="0"/>
                <a:ea typeface="Calibri" pitchFamily="34" charset="-122"/>
                <a:cs typeface="Calibri" pitchFamily="34" charset="-120"/>
              </a:rPr>
              <a:t>Plausible time relationship</a:t>
            </a:r>
            <a:endParaRPr lang="en-US" sz="920" dirty="0"/>
          </a:p>
          <a:p>
            <a:pPr marL="342900" indent="-342900">
              <a:lnSpc>
                <a:spcPts val="1300"/>
              </a:lnSpc>
              <a:spcAft>
                <a:spcPts val="300"/>
              </a:spcAft>
              <a:buSzPct val="100000"/>
              <a:buChar char="•"/>
            </a:pPr>
            <a:r>
              <a:rPr lang="en-US" sz="920" dirty="0">
                <a:solidFill>
                  <a:srgbClr val="1E293B"/>
                </a:solidFill>
                <a:latin typeface="Calibri" pitchFamily="34" charset="0"/>
                <a:ea typeface="Calibri" pitchFamily="34" charset="-122"/>
                <a:cs typeface="Calibri" pitchFamily="34" charset="-120"/>
              </a:rPr>
              <a:t>Not explained by disease or other drugs</a:t>
            </a:r>
            <a:endParaRPr lang="en-US" sz="920" dirty="0"/>
          </a:p>
          <a:p>
            <a:pPr marL="342900" indent="-342900">
              <a:lnSpc>
                <a:spcPts val="1300"/>
              </a:lnSpc>
              <a:spcAft>
                <a:spcPts val="300"/>
              </a:spcAft>
              <a:buSzPct val="100000"/>
              <a:buChar char="•"/>
            </a:pPr>
            <a:r>
              <a:rPr lang="en-US" sz="920" dirty="0">
                <a:solidFill>
                  <a:srgbClr val="1E293B"/>
                </a:solidFill>
                <a:latin typeface="Calibri" pitchFamily="34" charset="0"/>
                <a:ea typeface="Calibri" pitchFamily="34" charset="-122"/>
                <a:cs typeface="Calibri" pitchFamily="34" charset="-120"/>
              </a:rPr>
              <a:t>Plausible response to withdrawal</a:t>
            </a:r>
            <a:endParaRPr lang="en-US" sz="920" dirty="0"/>
          </a:p>
          <a:p>
            <a:pPr marL="342900" indent="-342900">
              <a:lnSpc>
                <a:spcPts val="1300"/>
              </a:lnSpc>
              <a:spcAft>
                <a:spcPts val="300"/>
              </a:spcAft>
              <a:buSzPct val="100000"/>
              <a:buChar char="•"/>
            </a:pPr>
            <a:r>
              <a:rPr lang="en-US" sz="920" dirty="0">
                <a:solidFill>
                  <a:srgbClr val="1E293B"/>
                </a:solidFill>
                <a:latin typeface="Calibri" pitchFamily="34" charset="0"/>
                <a:ea typeface="Calibri" pitchFamily="34" charset="-122"/>
                <a:cs typeface="Calibri" pitchFamily="34" charset="-120"/>
              </a:rPr>
              <a:t>A definitive, recognised drug effect</a:t>
            </a:r>
            <a:endParaRPr lang="en-US" sz="920" dirty="0"/>
          </a:p>
          <a:p>
            <a:pPr marL="342900" indent="-342900">
              <a:lnSpc>
                <a:spcPts val="1300"/>
              </a:lnSpc>
              <a:spcAft>
                <a:spcPts val="300"/>
              </a:spcAft>
              <a:buSzPct val="100000"/>
              <a:buChar char="•"/>
            </a:pPr>
            <a:r>
              <a:rPr lang="en-US" sz="920" dirty="0">
                <a:solidFill>
                  <a:srgbClr val="1E293B"/>
                </a:solidFill>
                <a:latin typeface="Calibri" pitchFamily="34" charset="0"/>
                <a:ea typeface="Calibri" pitchFamily="34" charset="-122"/>
                <a:cs typeface="Calibri" pitchFamily="34" charset="-120"/>
              </a:rPr>
              <a:t>Rechallenge positive</a:t>
            </a:r>
            <a:endParaRPr lang="en-US" sz="920" dirty="0"/>
          </a:p>
        </p:txBody>
      </p:sp>
      <p:sp>
        <p:nvSpPr>
          <p:cNvPr id="7" name="Text 5"/>
          <p:cNvSpPr txBox="1"/>
          <p:nvPr/>
        </p:nvSpPr>
        <p:spPr>
          <a:xfrm>
            <a:off x="795528" y="3136392"/>
            <a:ext cx="3017520" cy="347472"/>
          </a:xfrm>
          <a:prstGeom prst="rect">
            <a:avLst/>
          </a:prstGeom>
          <a:noFill/>
          <a:ln/>
        </p:spPr>
        <p:txBody>
          <a:bodyPr wrap="square" lIns="0" tIns="0" rIns="0" bIns="0" rtlCol="0" anchor="t"/>
          <a:lstStyle/>
          <a:p>
            <a:pPr indent="0" marL="0">
              <a:lnSpc>
                <a:spcPts val="1300"/>
              </a:lnSpc>
              <a:buNone/>
            </a:pPr>
            <a:r>
              <a:rPr lang="en-US" sz="980" i="1" dirty="0">
                <a:solidFill>
                  <a:srgbClr val="64748B"/>
                </a:solidFill>
                <a:latin typeface="Calibri" pitchFamily="34" charset="0"/>
                <a:ea typeface="Calibri" pitchFamily="34" charset="-122"/>
                <a:cs typeface="Calibri" pitchFamily="34" charset="-120"/>
              </a:rPr>
              <a:t>Without a positive rechallenge you almost never get here.</a:t>
            </a:r>
            <a:endParaRPr lang="en-US" sz="980" dirty="0"/>
          </a:p>
        </p:txBody>
      </p:sp>
      <p:sp>
        <p:nvSpPr>
          <p:cNvPr id="8" name="Shape 6"/>
          <p:cNvSpPr/>
          <p:nvPr/>
        </p:nvSpPr>
        <p:spPr>
          <a:xfrm>
            <a:off x="4251960" y="1325880"/>
            <a:ext cx="3456432" cy="2157984"/>
          </a:xfrm>
          <a:prstGeom prst="roundRect">
            <a:avLst>
              <a:gd name="adj" fmla="val 2542"/>
            </a:avLst>
          </a:prstGeom>
          <a:solidFill>
            <a:srgbClr val="DCFCE7"/>
          </a:solidFill>
          <a:ln w="12700">
            <a:solidFill>
              <a:srgbClr val="E2E8F0"/>
            </a:solidFill>
            <a:prstDash val="solid"/>
          </a:ln>
        </p:spPr>
      </p:sp>
      <p:sp>
        <p:nvSpPr>
          <p:cNvPr id="9" name="Text 7"/>
          <p:cNvSpPr txBox="1"/>
          <p:nvPr/>
        </p:nvSpPr>
        <p:spPr>
          <a:xfrm>
            <a:off x="4480560" y="1472184"/>
            <a:ext cx="3017520" cy="475488"/>
          </a:xfrm>
          <a:prstGeom prst="rect">
            <a:avLst/>
          </a:prstGeom>
          <a:noFill/>
          <a:ln/>
        </p:spPr>
        <p:txBody>
          <a:bodyPr wrap="square" lIns="0" tIns="0" rIns="0" bIns="0" rtlCol="0" anchor="t"/>
          <a:lstStyle/>
          <a:p>
            <a:pPr indent="0" marL="0">
              <a:lnSpc>
                <a:spcPts val="1900"/>
              </a:lnSpc>
              <a:buNone/>
            </a:pPr>
            <a:r>
              <a:rPr lang="en-US" sz="1500" b="1" dirty="0">
                <a:solidFill>
                  <a:srgbClr val="0F2B3D"/>
                </a:solidFill>
                <a:latin typeface="Cambria" pitchFamily="34" charset="0"/>
                <a:ea typeface="Cambria" pitchFamily="34" charset="-122"/>
                <a:cs typeface="Cambria" pitchFamily="34" charset="-120"/>
              </a:rPr>
              <a:t>Probable / Likely</a:t>
            </a:r>
            <a:endParaRPr lang="en-US" sz="1500" dirty="0"/>
          </a:p>
        </p:txBody>
      </p:sp>
      <p:sp>
        <p:nvSpPr>
          <p:cNvPr id="10" name="Text 8"/>
          <p:cNvSpPr txBox="1"/>
          <p:nvPr/>
        </p:nvSpPr>
        <p:spPr>
          <a:xfrm>
            <a:off x="4480560" y="1965960"/>
            <a:ext cx="3017520" cy="1133856"/>
          </a:xfrm>
          <a:prstGeom prst="rect">
            <a:avLst/>
          </a:prstGeom>
          <a:noFill/>
          <a:ln/>
        </p:spPr>
        <p:txBody>
          <a:bodyPr wrap="square" lIns="0" tIns="0" rIns="0" bIns="0" rtlCol="0" anchor="t"/>
          <a:lstStyle/>
          <a:p>
            <a:pPr marL="342900" indent="-342900">
              <a:lnSpc>
                <a:spcPts val="1300"/>
              </a:lnSpc>
              <a:spcAft>
                <a:spcPts val="300"/>
              </a:spcAft>
              <a:buSzPct val="100000"/>
              <a:buChar char="•"/>
            </a:pPr>
            <a:r>
              <a:rPr lang="en-US" sz="920" dirty="0">
                <a:solidFill>
                  <a:srgbClr val="1E293B"/>
                </a:solidFill>
                <a:latin typeface="Calibri" pitchFamily="34" charset="0"/>
                <a:ea typeface="Calibri" pitchFamily="34" charset="-122"/>
                <a:cs typeface="Calibri" pitchFamily="34" charset="-120"/>
              </a:rPr>
              <a:t>Reasonable time relationship</a:t>
            </a:r>
            <a:endParaRPr lang="en-US" sz="920" dirty="0"/>
          </a:p>
          <a:p>
            <a:pPr marL="342900" indent="-342900">
              <a:lnSpc>
                <a:spcPts val="1300"/>
              </a:lnSpc>
              <a:spcAft>
                <a:spcPts val="300"/>
              </a:spcAft>
              <a:buSzPct val="100000"/>
              <a:buChar char="•"/>
            </a:pPr>
            <a:r>
              <a:rPr lang="en-US" sz="920" dirty="0">
                <a:solidFill>
                  <a:srgbClr val="1E293B"/>
                </a:solidFill>
                <a:latin typeface="Calibri" pitchFamily="34" charset="0"/>
                <a:ea typeface="Calibri" pitchFamily="34" charset="-122"/>
                <a:cs typeface="Calibri" pitchFamily="34" charset="-120"/>
              </a:rPr>
              <a:t>Unlikely to be disease or other drugs</a:t>
            </a:r>
            <a:endParaRPr lang="en-US" sz="920" dirty="0"/>
          </a:p>
          <a:p>
            <a:pPr marL="342900" indent="-342900">
              <a:lnSpc>
                <a:spcPts val="1300"/>
              </a:lnSpc>
              <a:spcAft>
                <a:spcPts val="300"/>
              </a:spcAft>
              <a:buSzPct val="100000"/>
              <a:buChar char="•"/>
            </a:pPr>
            <a:r>
              <a:rPr lang="en-US" sz="920" dirty="0">
                <a:solidFill>
                  <a:srgbClr val="1E293B"/>
                </a:solidFill>
                <a:latin typeface="Calibri" pitchFamily="34" charset="0"/>
                <a:ea typeface="Calibri" pitchFamily="34" charset="-122"/>
                <a:cs typeface="Calibri" pitchFamily="34" charset="-120"/>
              </a:rPr>
              <a:t>Clinically reasonable response on withdrawal</a:t>
            </a:r>
            <a:endParaRPr lang="en-US" sz="920" dirty="0"/>
          </a:p>
          <a:p>
            <a:pPr marL="342900" indent="-342900">
              <a:lnSpc>
                <a:spcPts val="1300"/>
              </a:lnSpc>
              <a:spcAft>
                <a:spcPts val="300"/>
              </a:spcAft>
              <a:buSzPct val="100000"/>
              <a:buChar char="•"/>
            </a:pPr>
            <a:r>
              <a:rPr lang="en-US" sz="920" dirty="0">
                <a:solidFill>
                  <a:srgbClr val="1E293B"/>
                </a:solidFill>
                <a:latin typeface="Calibri" pitchFamily="34" charset="0"/>
                <a:ea typeface="Calibri" pitchFamily="34" charset="-122"/>
                <a:cs typeface="Calibri" pitchFamily="34" charset="-120"/>
              </a:rPr>
              <a:t>Rechallenge not required</a:t>
            </a:r>
            <a:endParaRPr lang="en-US" sz="920" dirty="0"/>
          </a:p>
        </p:txBody>
      </p:sp>
      <p:sp>
        <p:nvSpPr>
          <p:cNvPr id="11" name="Text 9"/>
          <p:cNvSpPr txBox="1"/>
          <p:nvPr/>
        </p:nvSpPr>
        <p:spPr>
          <a:xfrm>
            <a:off x="4480560" y="3136392"/>
            <a:ext cx="3017520" cy="347472"/>
          </a:xfrm>
          <a:prstGeom prst="rect">
            <a:avLst/>
          </a:prstGeom>
          <a:noFill/>
          <a:ln/>
        </p:spPr>
        <p:txBody>
          <a:bodyPr wrap="square" lIns="0" tIns="0" rIns="0" bIns="0" rtlCol="0" anchor="t"/>
          <a:lstStyle/>
          <a:p>
            <a:pPr indent="0" marL="0">
              <a:lnSpc>
                <a:spcPts val="1300"/>
              </a:lnSpc>
              <a:buNone/>
            </a:pPr>
            <a:r>
              <a:rPr lang="en-US" sz="980" i="1" dirty="0">
                <a:solidFill>
                  <a:srgbClr val="64748B"/>
                </a:solidFill>
                <a:latin typeface="Calibri" pitchFamily="34" charset="0"/>
                <a:ea typeface="Calibri" pitchFamily="34" charset="-122"/>
                <a:cs typeface="Calibri" pitchFamily="34" charset="-120"/>
              </a:rPr>
              <a:t>Where a well-investigated case with a clear dechallenge lands.</a:t>
            </a:r>
            <a:endParaRPr lang="en-US" sz="980" dirty="0"/>
          </a:p>
        </p:txBody>
      </p:sp>
      <p:sp>
        <p:nvSpPr>
          <p:cNvPr id="12" name="Shape 10"/>
          <p:cNvSpPr/>
          <p:nvPr/>
        </p:nvSpPr>
        <p:spPr>
          <a:xfrm>
            <a:off x="7936992" y="1325880"/>
            <a:ext cx="3456432" cy="2157984"/>
          </a:xfrm>
          <a:prstGeom prst="roundRect">
            <a:avLst>
              <a:gd name="adj" fmla="val 2542"/>
            </a:avLst>
          </a:prstGeom>
          <a:solidFill>
            <a:srgbClr val="ECFEFF"/>
          </a:solidFill>
          <a:ln w="12700">
            <a:solidFill>
              <a:srgbClr val="E2E8F0"/>
            </a:solidFill>
            <a:prstDash val="solid"/>
          </a:ln>
        </p:spPr>
      </p:sp>
      <p:sp>
        <p:nvSpPr>
          <p:cNvPr id="13" name="Text 11"/>
          <p:cNvSpPr txBox="1"/>
          <p:nvPr/>
        </p:nvSpPr>
        <p:spPr>
          <a:xfrm>
            <a:off x="8165592" y="1472184"/>
            <a:ext cx="3017520" cy="475488"/>
          </a:xfrm>
          <a:prstGeom prst="rect">
            <a:avLst/>
          </a:prstGeom>
          <a:noFill/>
          <a:ln/>
        </p:spPr>
        <p:txBody>
          <a:bodyPr wrap="square" lIns="0" tIns="0" rIns="0" bIns="0" rtlCol="0" anchor="t"/>
          <a:lstStyle/>
          <a:p>
            <a:pPr indent="0" marL="0">
              <a:lnSpc>
                <a:spcPts val="1900"/>
              </a:lnSpc>
              <a:buNone/>
            </a:pPr>
            <a:r>
              <a:rPr lang="en-US" sz="1500" b="1" dirty="0">
                <a:solidFill>
                  <a:srgbClr val="0F2B3D"/>
                </a:solidFill>
                <a:latin typeface="Cambria" pitchFamily="34" charset="0"/>
                <a:ea typeface="Cambria" pitchFamily="34" charset="-122"/>
                <a:cs typeface="Cambria" pitchFamily="34" charset="-120"/>
              </a:rPr>
              <a:t>Possible</a:t>
            </a:r>
            <a:endParaRPr lang="en-US" sz="1500" dirty="0"/>
          </a:p>
        </p:txBody>
      </p:sp>
      <p:sp>
        <p:nvSpPr>
          <p:cNvPr id="14" name="Text 12"/>
          <p:cNvSpPr txBox="1"/>
          <p:nvPr/>
        </p:nvSpPr>
        <p:spPr>
          <a:xfrm>
            <a:off x="8165592" y="1965960"/>
            <a:ext cx="3017520" cy="1133856"/>
          </a:xfrm>
          <a:prstGeom prst="rect">
            <a:avLst/>
          </a:prstGeom>
          <a:noFill/>
          <a:ln/>
        </p:spPr>
        <p:txBody>
          <a:bodyPr wrap="square" lIns="0" tIns="0" rIns="0" bIns="0" rtlCol="0" anchor="t"/>
          <a:lstStyle/>
          <a:p>
            <a:pPr marL="342900" indent="-342900">
              <a:lnSpc>
                <a:spcPts val="1300"/>
              </a:lnSpc>
              <a:spcAft>
                <a:spcPts val="300"/>
              </a:spcAft>
              <a:buSzPct val="100000"/>
              <a:buChar char="•"/>
            </a:pPr>
            <a:r>
              <a:rPr lang="en-US" sz="920" dirty="0">
                <a:solidFill>
                  <a:srgbClr val="1E293B"/>
                </a:solidFill>
                <a:latin typeface="Calibri" pitchFamily="34" charset="0"/>
                <a:ea typeface="Calibri" pitchFamily="34" charset="-122"/>
                <a:cs typeface="Calibri" pitchFamily="34" charset="-120"/>
              </a:rPr>
              <a:t>Reasonable time relationship</a:t>
            </a:r>
            <a:endParaRPr lang="en-US" sz="920" dirty="0"/>
          </a:p>
          <a:p>
            <a:pPr marL="342900" indent="-342900">
              <a:lnSpc>
                <a:spcPts val="1300"/>
              </a:lnSpc>
              <a:spcAft>
                <a:spcPts val="300"/>
              </a:spcAft>
              <a:buSzPct val="100000"/>
              <a:buChar char="•"/>
            </a:pPr>
            <a:r>
              <a:rPr lang="en-US" sz="920" dirty="0">
                <a:solidFill>
                  <a:srgbClr val="1E293B"/>
                </a:solidFill>
                <a:latin typeface="Calibri" pitchFamily="34" charset="0"/>
                <a:ea typeface="Calibri" pitchFamily="34" charset="-122"/>
                <a:cs typeface="Calibri" pitchFamily="34" charset="-120"/>
              </a:rPr>
              <a:t>Could also be disease or other drugs</a:t>
            </a:r>
            <a:endParaRPr lang="en-US" sz="920" dirty="0"/>
          </a:p>
          <a:p>
            <a:pPr marL="342900" indent="-342900">
              <a:lnSpc>
                <a:spcPts val="1300"/>
              </a:lnSpc>
              <a:spcAft>
                <a:spcPts val="300"/>
              </a:spcAft>
              <a:buSzPct val="100000"/>
              <a:buChar char="•"/>
            </a:pPr>
            <a:r>
              <a:rPr lang="en-US" sz="920" dirty="0">
                <a:solidFill>
                  <a:srgbClr val="1E293B"/>
                </a:solidFill>
                <a:latin typeface="Calibri" pitchFamily="34" charset="0"/>
                <a:ea typeface="Calibri" pitchFamily="34" charset="-122"/>
                <a:cs typeface="Calibri" pitchFamily="34" charset="-120"/>
              </a:rPr>
              <a:t>Withdrawal information lacking or unclear</a:t>
            </a:r>
            <a:endParaRPr lang="en-US" sz="920" dirty="0"/>
          </a:p>
        </p:txBody>
      </p:sp>
      <p:sp>
        <p:nvSpPr>
          <p:cNvPr id="15" name="Text 13"/>
          <p:cNvSpPr txBox="1"/>
          <p:nvPr/>
        </p:nvSpPr>
        <p:spPr>
          <a:xfrm>
            <a:off x="8165592" y="3136392"/>
            <a:ext cx="3017520" cy="347472"/>
          </a:xfrm>
          <a:prstGeom prst="rect">
            <a:avLst/>
          </a:prstGeom>
          <a:noFill/>
          <a:ln/>
        </p:spPr>
        <p:txBody>
          <a:bodyPr wrap="square" lIns="0" tIns="0" rIns="0" bIns="0" rtlCol="0" anchor="t"/>
          <a:lstStyle/>
          <a:p>
            <a:pPr indent="0" marL="0">
              <a:lnSpc>
                <a:spcPts val="1300"/>
              </a:lnSpc>
              <a:buNone/>
            </a:pPr>
            <a:r>
              <a:rPr lang="en-US" sz="980" i="1" dirty="0">
                <a:solidFill>
                  <a:srgbClr val="64748B"/>
                </a:solidFill>
                <a:latin typeface="Calibri" pitchFamily="34" charset="0"/>
                <a:ea typeface="Calibri" pitchFamily="34" charset="-122"/>
                <a:cs typeface="Calibri" pitchFamily="34" charset="-120"/>
              </a:rPr>
              <a:t>Confounded, or nobody recorded the dechallenge. Very common.</a:t>
            </a:r>
            <a:endParaRPr lang="en-US" sz="980" dirty="0"/>
          </a:p>
        </p:txBody>
      </p:sp>
      <p:sp>
        <p:nvSpPr>
          <p:cNvPr id="16" name="Shape 14"/>
          <p:cNvSpPr/>
          <p:nvPr/>
        </p:nvSpPr>
        <p:spPr>
          <a:xfrm>
            <a:off x="566928" y="3566160"/>
            <a:ext cx="3456432" cy="2157984"/>
          </a:xfrm>
          <a:prstGeom prst="roundRect">
            <a:avLst>
              <a:gd name="adj" fmla="val 2542"/>
            </a:avLst>
          </a:prstGeom>
          <a:solidFill>
            <a:srgbClr val="F1F5F9"/>
          </a:solidFill>
          <a:ln w="12700">
            <a:solidFill>
              <a:srgbClr val="E2E8F0"/>
            </a:solidFill>
            <a:prstDash val="solid"/>
          </a:ln>
        </p:spPr>
      </p:sp>
      <p:sp>
        <p:nvSpPr>
          <p:cNvPr id="17" name="Text 15"/>
          <p:cNvSpPr txBox="1"/>
          <p:nvPr/>
        </p:nvSpPr>
        <p:spPr>
          <a:xfrm>
            <a:off x="795528" y="3712464"/>
            <a:ext cx="3017520" cy="475488"/>
          </a:xfrm>
          <a:prstGeom prst="rect">
            <a:avLst/>
          </a:prstGeom>
          <a:noFill/>
          <a:ln/>
        </p:spPr>
        <p:txBody>
          <a:bodyPr wrap="square" lIns="0" tIns="0" rIns="0" bIns="0" rtlCol="0" anchor="t"/>
          <a:lstStyle/>
          <a:p>
            <a:pPr indent="0" marL="0">
              <a:lnSpc>
                <a:spcPts val="1900"/>
              </a:lnSpc>
              <a:buNone/>
            </a:pPr>
            <a:r>
              <a:rPr lang="en-US" sz="1500" b="1" dirty="0">
                <a:solidFill>
                  <a:srgbClr val="0F2B3D"/>
                </a:solidFill>
                <a:latin typeface="Cambria" pitchFamily="34" charset="0"/>
                <a:ea typeface="Cambria" pitchFamily="34" charset="-122"/>
                <a:cs typeface="Cambria" pitchFamily="34" charset="-120"/>
              </a:rPr>
              <a:t>Unlikely</a:t>
            </a:r>
            <a:endParaRPr lang="en-US" sz="1500" dirty="0"/>
          </a:p>
        </p:txBody>
      </p:sp>
      <p:sp>
        <p:nvSpPr>
          <p:cNvPr id="18" name="Text 16"/>
          <p:cNvSpPr txBox="1"/>
          <p:nvPr/>
        </p:nvSpPr>
        <p:spPr>
          <a:xfrm>
            <a:off x="795528" y="4206240"/>
            <a:ext cx="3017520" cy="1133856"/>
          </a:xfrm>
          <a:prstGeom prst="rect">
            <a:avLst/>
          </a:prstGeom>
          <a:noFill/>
          <a:ln/>
        </p:spPr>
        <p:txBody>
          <a:bodyPr wrap="square" lIns="0" tIns="0" rIns="0" bIns="0" rtlCol="0" anchor="t"/>
          <a:lstStyle/>
          <a:p>
            <a:pPr marL="342900" indent="-342900">
              <a:lnSpc>
                <a:spcPts val="1300"/>
              </a:lnSpc>
              <a:spcAft>
                <a:spcPts val="300"/>
              </a:spcAft>
              <a:buSzPct val="100000"/>
              <a:buChar char="•"/>
            </a:pPr>
            <a:r>
              <a:rPr lang="en-US" sz="920" dirty="0">
                <a:solidFill>
                  <a:srgbClr val="1E293B"/>
                </a:solidFill>
                <a:latin typeface="Calibri" pitchFamily="34" charset="0"/>
                <a:ea typeface="Calibri" pitchFamily="34" charset="-122"/>
                <a:cs typeface="Calibri" pitchFamily="34" charset="-120"/>
              </a:rPr>
              <a:t>Timing makes causation improbable</a:t>
            </a:r>
            <a:endParaRPr lang="en-US" sz="920" dirty="0"/>
          </a:p>
          <a:p>
            <a:pPr marL="342900" indent="-342900">
              <a:lnSpc>
                <a:spcPts val="1300"/>
              </a:lnSpc>
              <a:spcAft>
                <a:spcPts val="300"/>
              </a:spcAft>
              <a:buSzPct val="100000"/>
              <a:buChar char="•"/>
            </a:pPr>
            <a:r>
              <a:rPr lang="en-US" sz="920" dirty="0">
                <a:solidFill>
                  <a:srgbClr val="1E293B"/>
                </a:solidFill>
                <a:latin typeface="Calibri" pitchFamily="34" charset="0"/>
                <a:ea typeface="Calibri" pitchFamily="34" charset="-122"/>
                <a:cs typeface="Calibri" pitchFamily="34" charset="-120"/>
              </a:rPr>
              <a:t>Other drugs or disease explain it plausibly</a:t>
            </a:r>
            <a:endParaRPr lang="en-US" sz="920" dirty="0"/>
          </a:p>
        </p:txBody>
      </p:sp>
      <p:sp>
        <p:nvSpPr>
          <p:cNvPr id="19" name="Text 17"/>
          <p:cNvSpPr txBox="1"/>
          <p:nvPr/>
        </p:nvSpPr>
        <p:spPr>
          <a:xfrm>
            <a:off x="795528" y="5376672"/>
            <a:ext cx="3017520" cy="347472"/>
          </a:xfrm>
          <a:prstGeom prst="rect">
            <a:avLst/>
          </a:prstGeom>
          <a:noFill/>
          <a:ln/>
        </p:spPr>
        <p:txBody>
          <a:bodyPr wrap="square" lIns="0" tIns="0" rIns="0" bIns="0" rtlCol="0" anchor="t"/>
          <a:lstStyle/>
          <a:p>
            <a:pPr indent="0" marL="0">
              <a:lnSpc>
                <a:spcPts val="1300"/>
              </a:lnSpc>
              <a:buNone/>
            </a:pPr>
            <a:r>
              <a:rPr lang="en-US" sz="980" i="1" dirty="0">
                <a:solidFill>
                  <a:srgbClr val="64748B"/>
                </a:solidFill>
                <a:latin typeface="Calibri" pitchFamily="34" charset="0"/>
                <a:ea typeface="Calibri" pitchFamily="34" charset="-122"/>
                <a:cs typeface="Calibri" pitchFamily="34" charset="-120"/>
              </a:rPr>
              <a:t>Say so when it is true. Over-attributing damages the database too.</a:t>
            </a:r>
            <a:endParaRPr lang="en-US" sz="980" dirty="0"/>
          </a:p>
        </p:txBody>
      </p:sp>
      <p:sp>
        <p:nvSpPr>
          <p:cNvPr id="20" name="Shape 18"/>
          <p:cNvSpPr/>
          <p:nvPr/>
        </p:nvSpPr>
        <p:spPr>
          <a:xfrm>
            <a:off x="4251960" y="3566160"/>
            <a:ext cx="3456432" cy="2157984"/>
          </a:xfrm>
          <a:prstGeom prst="roundRect">
            <a:avLst>
              <a:gd name="adj" fmla="val 2542"/>
            </a:avLst>
          </a:prstGeom>
          <a:solidFill>
            <a:srgbClr val="FEF3C7"/>
          </a:solidFill>
          <a:ln w="12700">
            <a:solidFill>
              <a:srgbClr val="E2E8F0"/>
            </a:solidFill>
            <a:prstDash val="solid"/>
          </a:ln>
        </p:spPr>
      </p:sp>
      <p:sp>
        <p:nvSpPr>
          <p:cNvPr id="21" name="Text 19"/>
          <p:cNvSpPr txBox="1"/>
          <p:nvPr/>
        </p:nvSpPr>
        <p:spPr>
          <a:xfrm>
            <a:off x="4480560" y="3712464"/>
            <a:ext cx="3017520" cy="475488"/>
          </a:xfrm>
          <a:prstGeom prst="rect">
            <a:avLst/>
          </a:prstGeom>
          <a:noFill/>
          <a:ln/>
        </p:spPr>
        <p:txBody>
          <a:bodyPr wrap="square" lIns="0" tIns="0" rIns="0" bIns="0" rtlCol="0" anchor="t"/>
          <a:lstStyle/>
          <a:p>
            <a:pPr indent="0" marL="0">
              <a:lnSpc>
                <a:spcPts val="1900"/>
              </a:lnSpc>
              <a:buNone/>
            </a:pPr>
            <a:r>
              <a:rPr lang="en-US" sz="1500" b="1" dirty="0">
                <a:solidFill>
                  <a:srgbClr val="0F2B3D"/>
                </a:solidFill>
                <a:latin typeface="Cambria" pitchFamily="34" charset="0"/>
                <a:ea typeface="Cambria" pitchFamily="34" charset="-122"/>
                <a:cs typeface="Cambria" pitchFamily="34" charset="-120"/>
              </a:rPr>
              <a:t>Conditional / Unclassified</a:t>
            </a:r>
            <a:endParaRPr lang="en-US" sz="1500" dirty="0"/>
          </a:p>
        </p:txBody>
      </p:sp>
      <p:sp>
        <p:nvSpPr>
          <p:cNvPr id="22" name="Text 20"/>
          <p:cNvSpPr txBox="1"/>
          <p:nvPr/>
        </p:nvSpPr>
        <p:spPr>
          <a:xfrm>
            <a:off x="4480560" y="4206240"/>
            <a:ext cx="3017520" cy="1133856"/>
          </a:xfrm>
          <a:prstGeom prst="rect">
            <a:avLst/>
          </a:prstGeom>
          <a:noFill/>
          <a:ln/>
        </p:spPr>
        <p:txBody>
          <a:bodyPr wrap="square" lIns="0" tIns="0" rIns="0" bIns="0" rtlCol="0" anchor="t"/>
          <a:lstStyle/>
          <a:p>
            <a:pPr marL="342900" indent="-342900">
              <a:lnSpc>
                <a:spcPts val="1300"/>
              </a:lnSpc>
              <a:spcAft>
                <a:spcPts val="300"/>
              </a:spcAft>
              <a:buSzPct val="100000"/>
              <a:buChar char="•"/>
            </a:pPr>
            <a:r>
              <a:rPr lang="en-US" sz="920" dirty="0">
                <a:solidFill>
                  <a:srgbClr val="1E293B"/>
                </a:solidFill>
                <a:latin typeface="Calibri" pitchFamily="34" charset="0"/>
                <a:ea typeface="Calibri" pitchFamily="34" charset="-122"/>
                <a:cs typeface="Calibri" pitchFamily="34" charset="-120"/>
              </a:rPr>
              <a:t>Reported as an adverse reaction</a:t>
            </a:r>
            <a:endParaRPr lang="en-US" sz="920" dirty="0"/>
          </a:p>
          <a:p>
            <a:pPr marL="342900" indent="-342900">
              <a:lnSpc>
                <a:spcPts val="1300"/>
              </a:lnSpc>
              <a:spcAft>
                <a:spcPts val="300"/>
              </a:spcAft>
              <a:buSzPct val="100000"/>
              <a:buChar char="•"/>
            </a:pPr>
            <a:r>
              <a:rPr lang="en-US" sz="920" dirty="0">
                <a:solidFill>
                  <a:srgbClr val="1E293B"/>
                </a:solidFill>
                <a:latin typeface="Calibri" pitchFamily="34" charset="0"/>
                <a:ea typeface="Calibri" pitchFamily="34" charset="-122"/>
                <a:cs typeface="Calibri" pitchFamily="34" charset="-120"/>
              </a:rPr>
              <a:t>More data essential before it can be assessed</a:t>
            </a:r>
            <a:endParaRPr lang="en-US" sz="920" dirty="0"/>
          </a:p>
          <a:p>
            <a:pPr marL="342900" indent="-342900">
              <a:lnSpc>
                <a:spcPts val="1300"/>
              </a:lnSpc>
              <a:spcAft>
                <a:spcPts val="300"/>
              </a:spcAft>
              <a:buSzPct val="100000"/>
              <a:buChar char="•"/>
            </a:pPr>
            <a:r>
              <a:rPr lang="en-US" sz="920" dirty="0">
                <a:solidFill>
                  <a:srgbClr val="1E293B"/>
                </a:solidFill>
                <a:latin typeface="Calibri" pitchFamily="34" charset="0"/>
                <a:ea typeface="Calibri" pitchFamily="34" charset="-122"/>
                <a:cs typeface="Calibri" pitchFamily="34" charset="-120"/>
              </a:rPr>
              <a:t>Data requested and awaited</a:t>
            </a:r>
            <a:endParaRPr lang="en-US" sz="920" dirty="0"/>
          </a:p>
        </p:txBody>
      </p:sp>
      <p:sp>
        <p:nvSpPr>
          <p:cNvPr id="23" name="Text 21"/>
          <p:cNvSpPr txBox="1"/>
          <p:nvPr/>
        </p:nvSpPr>
        <p:spPr>
          <a:xfrm>
            <a:off x="4480560" y="5376672"/>
            <a:ext cx="3017520" cy="347472"/>
          </a:xfrm>
          <a:prstGeom prst="rect">
            <a:avLst/>
          </a:prstGeom>
          <a:noFill/>
          <a:ln/>
        </p:spPr>
        <p:txBody>
          <a:bodyPr wrap="square" lIns="0" tIns="0" rIns="0" bIns="0" rtlCol="0" anchor="t"/>
          <a:lstStyle/>
          <a:p>
            <a:pPr indent="0" marL="0">
              <a:lnSpc>
                <a:spcPts val="1300"/>
              </a:lnSpc>
              <a:buNone/>
            </a:pPr>
            <a:r>
              <a:rPr lang="en-US" sz="980" i="1" dirty="0">
                <a:solidFill>
                  <a:srgbClr val="64748B"/>
                </a:solidFill>
                <a:latin typeface="Calibri" pitchFamily="34" charset="0"/>
                <a:ea typeface="Calibri" pitchFamily="34" charset="-122"/>
                <a:cs typeface="Calibri" pitchFamily="34" charset="-120"/>
              </a:rPr>
              <a:t>You are waiting for information you have actually asked for.</a:t>
            </a:r>
            <a:endParaRPr lang="en-US" sz="980" dirty="0"/>
          </a:p>
        </p:txBody>
      </p:sp>
      <p:sp>
        <p:nvSpPr>
          <p:cNvPr id="24" name="Shape 22"/>
          <p:cNvSpPr/>
          <p:nvPr/>
        </p:nvSpPr>
        <p:spPr>
          <a:xfrm>
            <a:off x="7936992" y="3566160"/>
            <a:ext cx="3456432" cy="2157984"/>
          </a:xfrm>
          <a:prstGeom prst="roundRect">
            <a:avLst>
              <a:gd name="adj" fmla="val 2542"/>
            </a:avLst>
          </a:prstGeom>
          <a:solidFill>
            <a:srgbClr val="FEF3C7"/>
          </a:solidFill>
          <a:ln w="12700">
            <a:solidFill>
              <a:srgbClr val="E2E8F0"/>
            </a:solidFill>
            <a:prstDash val="solid"/>
          </a:ln>
        </p:spPr>
      </p:sp>
      <p:sp>
        <p:nvSpPr>
          <p:cNvPr id="25" name="Text 23"/>
          <p:cNvSpPr txBox="1"/>
          <p:nvPr/>
        </p:nvSpPr>
        <p:spPr>
          <a:xfrm>
            <a:off x="8165592" y="3712464"/>
            <a:ext cx="3017520" cy="475488"/>
          </a:xfrm>
          <a:prstGeom prst="rect">
            <a:avLst/>
          </a:prstGeom>
          <a:noFill/>
          <a:ln/>
        </p:spPr>
        <p:txBody>
          <a:bodyPr wrap="square" lIns="0" tIns="0" rIns="0" bIns="0" rtlCol="0" anchor="t"/>
          <a:lstStyle/>
          <a:p>
            <a:pPr indent="0" marL="0">
              <a:lnSpc>
                <a:spcPts val="1900"/>
              </a:lnSpc>
              <a:buNone/>
            </a:pPr>
            <a:r>
              <a:rPr lang="en-US" sz="1500" b="1" dirty="0">
                <a:solidFill>
                  <a:srgbClr val="0F2B3D"/>
                </a:solidFill>
                <a:latin typeface="Cambria" pitchFamily="34" charset="0"/>
                <a:ea typeface="Cambria" pitchFamily="34" charset="-122"/>
                <a:cs typeface="Cambria" pitchFamily="34" charset="-120"/>
              </a:rPr>
              <a:t>Unassessable / Unclassifiable</a:t>
            </a:r>
            <a:endParaRPr lang="en-US" sz="1500" dirty="0"/>
          </a:p>
        </p:txBody>
      </p:sp>
      <p:sp>
        <p:nvSpPr>
          <p:cNvPr id="26" name="Text 24"/>
          <p:cNvSpPr txBox="1"/>
          <p:nvPr/>
        </p:nvSpPr>
        <p:spPr>
          <a:xfrm>
            <a:off x="8165592" y="4206240"/>
            <a:ext cx="3017520" cy="1133856"/>
          </a:xfrm>
          <a:prstGeom prst="rect">
            <a:avLst/>
          </a:prstGeom>
          <a:noFill/>
          <a:ln/>
        </p:spPr>
        <p:txBody>
          <a:bodyPr wrap="square" lIns="0" tIns="0" rIns="0" bIns="0" rtlCol="0" anchor="t"/>
          <a:lstStyle/>
          <a:p>
            <a:pPr marL="342900" indent="-342900">
              <a:lnSpc>
                <a:spcPts val="1300"/>
              </a:lnSpc>
              <a:spcAft>
                <a:spcPts val="300"/>
              </a:spcAft>
              <a:buSzPct val="100000"/>
              <a:buChar char="•"/>
            </a:pPr>
            <a:r>
              <a:rPr lang="en-US" sz="920" dirty="0">
                <a:solidFill>
                  <a:srgbClr val="1E293B"/>
                </a:solidFill>
                <a:latin typeface="Calibri" pitchFamily="34" charset="0"/>
                <a:ea typeface="Calibri" pitchFamily="34" charset="-122"/>
                <a:cs typeface="Calibri" pitchFamily="34" charset="-120"/>
              </a:rPr>
              <a:t>Cannot be judged — information insufficient or contradictory</a:t>
            </a:r>
            <a:endParaRPr lang="en-US" sz="920" dirty="0"/>
          </a:p>
          <a:p>
            <a:pPr marL="342900" indent="-342900">
              <a:lnSpc>
                <a:spcPts val="1300"/>
              </a:lnSpc>
              <a:spcAft>
                <a:spcPts val="300"/>
              </a:spcAft>
              <a:buSzPct val="100000"/>
              <a:buChar char="•"/>
            </a:pPr>
            <a:r>
              <a:rPr lang="en-US" sz="920" dirty="0">
                <a:solidFill>
                  <a:srgbClr val="1E293B"/>
                </a:solidFill>
                <a:latin typeface="Calibri" pitchFamily="34" charset="0"/>
                <a:ea typeface="Calibri" pitchFamily="34" charset="-122"/>
                <a:cs typeface="Calibri" pitchFamily="34" charset="-120"/>
              </a:rPr>
              <a:t>The data cannot be supplemented or verified</a:t>
            </a:r>
            <a:endParaRPr lang="en-US" sz="920" dirty="0"/>
          </a:p>
        </p:txBody>
      </p:sp>
      <p:sp>
        <p:nvSpPr>
          <p:cNvPr id="27" name="Text 25"/>
          <p:cNvSpPr txBox="1"/>
          <p:nvPr/>
        </p:nvSpPr>
        <p:spPr>
          <a:xfrm>
            <a:off x="8165592" y="5376672"/>
            <a:ext cx="3017520" cy="347472"/>
          </a:xfrm>
          <a:prstGeom prst="rect">
            <a:avLst/>
          </a:prstGeom>
          <a:noFill/>
          <a:ln/>
        </p:spPr>
        <p:txBody>
          <a:bodyPr wrap="square" lIns="0" tIns="0" rIns="0" bIns="0" rtlCol="0" anchor="t"/>
          <a:lstStyle/>
          <a:p>
            <a:pPr indent="0" marL="0">
              <a:lnSpc>
                <a:spcPts val="1300"/>
              </a:lnSpc>
              <a:buNone/>
            </a:pPr>
            <a:r>
              <a:rPr lang="en-US" sz="980" i="1" dirty="0">
                <a:solidFill>
                  <a:srgbClr val="64748B"/>
                </a:solidFill>
                <a:latin typeface="Calibri" pitchFamily="34" charset="0"/>
                <a:ea typeface="Calibri" pitchFamily="34" charset="-122"/>
                <a:cs typeface="Calibri" pitchFamily="34" charset="-120"/>
              </a:rPr>
              <a:t>The information is never coming — not merely unchased.</a:t>
            </a:r>
            <a:endParaRPr lang="en-US" sz="980" dirty="0"/>
          </a:p>
        </p:txBody>
      </p:sp>
      <p:sp>
        <p:nvSpPr>
          <p:cNvPr id="28" name="Shape 26"/>
          <p:cNvSpPr/>
          <p:nvPr/>
        </p:nvSpPr>
        <p:spPr>
          <a:xfrm>
            <a:off x="566928" y="5888736"/>
            <a:ext cx="11027664" cy="512064"/>
          </a:xfrm>
          <a:prstGeom prst="roundRect">
            <a:avLst>
              <a:gd name="adj" fmla="val 10714"/>
            </a:avLst>
          </a:prstGeom>
          <a:solidFill>
            <a:srgbClr val="0F2B3D"/>
          </a:solidFill>
          <a:ln w="12700">
            <a:solidFill>
              <a:srgbClr val="E2E8F0"/>
            </a:solidFill>
            <a:prstDash val="solid"/>
          </a:ln>
        </p:spPr>
      </p:sp>
      <p:sp>
        <p:nvSpPr>
          <p:cNvPr id="29" name="Text 27"/>
          <p:cNvSpPr txBox="1"/>
          <p:nvPr/>
        </p:nvSpPr>
        <p:spPr>
          <a:xfrm>
            <a:off x="566928" y="5888736"/>
            <a:ext cx="11027664" cy="512064"/>
          </a:xfrm>
          <a:prstGeom prst="rect">
            <a:avLst/>
          </a:prstGeom>
          <a:noFill/>
          <a:ln/>
        </p:spPr>
        <p:txBody>
          <a:bodyPr wrap="square" lIns="0" tIns="0" rIns="0" bIns="0" rtlCol="0" anchor="ctr"/>
          <a:lstStyle/>
          <a:p>
            <a:pPr algn="ctr" indent="0" marL="0">
              <a:buNone/>
            </a:pPr>
            <a:r>
              <a:rPr lang="en-US" sz="1350" dirty="0">
                <a:solidFill>
                  <a:srgbClr val="CBD5E1"/>
                </a:solidFill>
                <a:latin typeface="Calibri" pitchFamily="34" charset="0"/>
                <a:ea typeface="Calibri" pitchFamily="34" charset="-122"/>
                <a:cs typeface="Calibri" pitchFamily="34" charset="-120"/>
              </a:rPr>
              <a:t>"Possible" and "Unassessable" are honest categories, used constantly. They are not failures.</a:t>
            </a:r>
            <a:endParaRPr lang="en-US" sz="13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84048"/>
            <a:ext cx="10058400" cy="256032"/>
          </a:xfrm>
          <a:prstGeom prst="rect">
            <a:avLst/>
          </a:prstGeom>
          <a:noFill/>
          <a:ln/>
        </p:spPr>
        <p:txBody>
          <a:bodyPr wrap="square" lIns="0" tIns="0" rIns="0" bIns="0" rtlCol="0" anchor="ctr"/>
          <a:lstStyle/>
          <a:p>
            <a:pPr indent="0" marL="0">
              <a:buNone/>
            </a:pPr>
            <a:r>
              <a:rPr lang="en-US" sz="1100" b="1" spc="250" kern="0" dirty="0">
                <a:solidFill>
                  <a:srgbClr val="0E7490"/>
                </a:solidFill>
                <a:latin typeface="Calibri" pitchFamily="34" charset="0"/>
                <a:ea typeface="Calibri" pitchFamily="34" charset="-122"/>
                <a:cs typeface="Calibri" pitchFamily="34" charset="-120"/>
              </a:rPr>
              <a:t>The Naranjo scale</a:t>
            </a:r>
            <a:endParaRPr lang="en-US" sz="1100" dirty="0"/>
          </a:p>
        </p:txBody>
      </p:sp>
      <p:sp>
        <p:nvSpPr>
          <p:cNvPr id="3" name="Text 1"/>
          <p:cNvSpPr txBox="1"/>
          <p:nvPr/>
        </p:nvSpPr>
        <p:spPr>
          <a:xfrm>
            <a:off x="566928" y="640080"/>
            <a:ext cx="11064240" cy="548640"/>
          </a:xfrm>
          <a:prstGeom prst="rect">
            <a:avLst/>
          </a:prstGeom>
          <a:noFill/>
          <a:ln/>
        </p:spPr>
        <p:txBody>
          <a:bodyPr wrap="square" lIns="0" tIns="0" rIns="0" bIns="0" rtlCol="0" anchor="t"/>
          <a:lstStyle/>
          <a:p>
            <a:pPr indent="0" marL="0">
              <a:lnSpc>
                <a:spcPts val="3800"/>
              </a:lnSpc>
              <a:buNone/>
            </a:pPr>
            <a:r>
              <a:rPr lang="en-US" sz="3100" b="1" dirty="0">
                <a:solidFill>
                  <a:srgbClr val="0F2B3D"/>
                </a:solidFill>
                <a:latin typeface="Cambria" pitchFamily="34" charset="0"/>
                <a:ea typeface="Cambria" pitchFamily="34" charset="-122"/>
                <a:cs typeface="Cambria" pitchFamily="34" charset="-120"/>
              </a:rPr>
              <a:t>Ten questions, and two of them are reversed</a:t>
            </a:r>
            <a:endParaRPr lang="en-US" sz="3100" dirty="0"/>
          </a:p>
        </p:txBody>
      </p:sp>
      <p:graphicFrame>
        <p:nvGraphicFramePr>
          <p:cNvPr id="27" name="Table 0"/>
          <p:cNvGraphicFramePr>
            <a:graphicFrameLocks noGrp="1"/>
          </p:cNvGraphicFramePr>
          <p:nvPr>
            <p:extLst>
              <p:ext uri="{D42A27DB-BD31-4B8C-83A1-F6EECF244321}">
                <p14:modId xmlns:p14="http://schemas.microsoft.com/office/powerpoint/2010/main" val="1579011935"/>
              </p:ext>
            </p:extLst>
          </p:nvPr>
        </p:nvGraphicFramePr>
        <p:xfrm>
          <a:off x="566928" y="1463040"/>
          <a:ext cx="6858000" cy="914400"/>
        </p:xfrm>
        <a:graphic>
          <a:graphicData uri="http://schemas.openxmlformats.org/drawingml/2006/table">
            <a:tbl>
              <a:tblPr/>
              <a:tblGrid>
                <a:gridCol w="365760"/>
                <a:gridCol w="4526280"/>
                <a:gridCol w="548640"/>
                <a:gridCol w="548640"/>
                <a:gridCol w="868680"/>
              </a:tblGrid>
              <a:tr h="0">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marL="91440" marR="91440" marT="45720" marB="45720" anchor="t">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0F2B3D"/>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Item</a:t>
                      </a:r>
                      <a:endParaRPr lang="en-US" sz="1000" dirty="0">
                        <a:latin typeface="Calibri" charset="0"/>
                        <a:ea typeface="Calibri" charset="0"/>
                        <a:cs typeface="Calibri" charset="0"/>
                      </a:endParaRPr>
                    </a:p>
                  </a:txBody>
                  <a:tcPr marL="91440" marR="91440" marT="45720" marB="45720" anchor="t">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0F2B3D"/>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Yes</a:t>
                      </a:r>
                      <a:endParaRPr lang="en-US" sz="1000" dirty="0">
                        <a:latin typeface="Calibri" charset="0"/>
                        <a:ea typeface="Calibri" charset="0"/>
                        <a:cs typeface="Calibri" charset="0"/>
                      </a:endParaRPr>
                    </a:p>
                  </a:txBody>
                  <a:tcPr marL="91440" marR="91440" marT="45720" marB="45720" anchor="t">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0F2B3D"/>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No</a:t>
                      </a:r>
                      <a:endParaRPr lang="en-US" sz="1000" dirty="0">
                        <a:latin typeface="Calibri" charset="0"/>
                        <a:ea typeface="Calibri" charset="0"/>
                        <a:cs typeface="Calibri" charset="0"/>
                      </a:endParaRPr>
                    </a:p>
                  </a:txBody>
                  <a:tcPr marL="91440" marR="91440" marT="45720" marB="45720" anchor="t">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0F2B3D"/>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Unknown</a:t>
                      </a:r>
                      <a:endParaRPr lang="en-US" sz="1000" dirty="0">
                        <a:latin typeface="Calibri" charset="0"/>
                        <a:ea typeface="Calibri" charset="0"/>
                        <a:cs typeface="Calibri" charset="0"/>
                      </a:endParaRPr>
                    </a:p>
                  </a:txBody>
                  <a:tcPr marL="91440" marR="91440" marT="45720" marB="45720" anchor="t">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0F2B3D"/>
                    </a:solidFill>
                  </a:tcPr>
                </a:tc>
              </a:tr>
              <a:tr h="0">
                <a:tc>
                  <a:txBody>
                    <a:bodyPr/>
                    <a:lstStyle/>
                    <a:p>
                      <a:pPr indent="0" marL="0">
                        <a:buNone/>
                      </a:pPr>
                      <a:r>
                        <a:rPr lang="en-US" sz="1000" b="1" dirty="0">
                          <a:solidFill>
                            <a:srgbClr val="64748B"/>
                          </a:solidFill>
                          <a:latin typeface="Calibri" pitchFamily="34" charset="0"/>
                          <a:ea typeface="Calibri" pitchFamily="34" charset="-122"/>
                          <a:cs typeface="Calibri" pitchFamily="34" charset="-120"/>
                        </a:rPr>
                        <a:t>1</a:t>
                      </a:r>
                      <a:endParaRPr lang="en-US" sz="1000" dirty="0">
                        <a:latin typeface="Calibri" charset="0"/>
                        <a:ea typeface="Calibri" charset="0"/>
                        <a:cs typeface="Calibri" charset="0"/>
                      </a:endParaRPr>
                    </a:p>
                  </a:txBody>
                  <a:tcPr marL="91440" marR="91440" marT="45720" marB="45720" anchor="t">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indent="0" marL="0">
                        <a:buNone/>
                      </a:pPr>
                      <a:r>
                        <a:rPr lang="en-US" sz="1000" dirty="0">
                          <a:solidFill>
                            <a:srgbClr val="1E293B"/>
                          </a:solidFill>
                          <a:latin typeface="Calibri" pitchFamily="34" charset="0"/>
                          <a:ea typeface="Calibri" pitchFamily="34" charset="-122"/>
                          <a:cs typeface="Calibri" pitchFamily="34" charset="-120"/>
                        </a:rPr>
                        <a:t>Are there previous conclusive reports on this reaction?</a:t>
                      </a:r>
                      <a:endParaRPr lang="en-US" sz="1000" dirty="0">
                        <a:latin typeface="Calibri" charset="0"/>
                        <a:ea typeface="Calibri" charset="0"/>
                        <a:cs typeface="Calibri" charset="0"/>
                      </a:endParaRPr>
                    </a:p>
                  </a:txBody>
                  <a:tcPr marL="91440" marR="91440" marT="45720" marB="45720" anchor="t">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algn="ctr" indent="0" marL="0">
                        <a:buNone/>
                      </a:pPr>
                      <a:r>
                        <a:rPr lang="en-US" sz="1000" b="1" dirty="0">
                          <a:solidFill>
                            <a:srgbClr val="15803D"/>
                          </a:solidFill>
                          <a:latin typeface="Calibri" pitchFamily="34" charset="0"/>
                          <a:ea typeface="Calibri" pitchFamily="34" charset="-122"/>
                          <a:cs typeface="Calibri" pitchFamily="34" charset="-120"/>
                        </a:rPr>
                        <a:t>+1</a:t>
                      </a:r>
                      <a:endParaRPr lang="en-US" sz="1000" dirty="0">
                        <a:latin typeface="Calibri" charset="0"/>
                        <a:ea typeface="Calibri" charset="0"/>
                        <a:cs typeface="Calibri" charset="0"/>
                      </a:endParaRPr>
                    </a:p>
                  </a:txBody>
                  <a:tcPr marL="91440" marR="91440" marT="45720" marB="45720" anchor="t">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algn="ctr" indent="0" marL="0">
                        <a:buNone/>
                      </a:pPr>
                      <a:r>
                        <a:rPr lang="en-US" sz="1000" b="1" dirty="0">
                          <a:solidFill>
                            <a:srgbClr val="64748B"/>
                          </a:solidFill>
                          <a:latin typeface="Calibri" pitchFamily="34" charset="0"/>
                          <a:ea typeface="Calibri" pitchFamily="34" charset="-122"/>
                          <a:cs typeface="Calibri" pitchFamily="34" charset="-120"/>
                        </a:rPr>
                        <a:t>0</a:t>
                      </a:r>
                      <a:endParaRPr lang="en-US" sz="1000" dirty="0">
                        <a:latin typeface="Calibri" charset="0"/>
                        <a:ea typeface="Calibri" charset="0"/>
                        <a:cs typeface="Calibri" charset="0"/>
                      </a:endParaRPr>
                    </a:p>
                  </a:txBody>
                  <a:tcPr marL="91440" marR="91440" marT="45720" marB="45720" anchor="t">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algn="ctr" indent="0" marL="0">
                        <a:buNone/>
                      </a:pPr>
                      <a:r>
                        <a:rPr lang="en-US" sz="1000" dirty="0">
                          <a:solidFill>
                            <a:srgbClr val="64748B"/>
                          </a:solidFill>
                          <a:latin typeface="Calibri" pitchFamily="34" charset="0"/>
                          <a:ea typeface="Calibri" pitchFamily="34" charset="-122"/>
                          <a:cs typeface="Calibri" pitchFamily="34" charset="-120"/>
                        </a:rPr>
                        <a:t>0</a:t>
                      </a:r>
                      <a:endParaRPr lang="en-US" sz="1000" dirty="0">
                        <a:latin typeface="Calibri" charset="0"/>
                        <a:ea typeface="Calibri" charset="0"/>
                        <a:cs typeface="Calibri" charset="0"/>
                      </a:endParaRPr>
                    </a:p>
                  </a:txBody>
                  <a:tcPr marL="91440" marR="91440" marT="45720" marB="45720" anchor="t">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r>
              <a:tr h="0">
                <a:tc>
                  <a:txBody>
                    <a:bodyPr/>
                    <a:lstStyle/>
                    <a:p>
                      <a:pPr indent="0" marL="0">
                        <a:buNone/>
                      </a:pPr>
                      <a:r>
                        <a:rPr lang="en-US" sz="1000" b="1" dirty="0">
                          <a:solidFill>
                            <a:srgbClr val="64748B"/>
                          </a:solidFill>
                          <a:latin typeface="Calibri" pitchFamily="34" charset="0"/>
                          <a:ea typeface="Calibri" pitchFamily="34" charset="-122"/>
                          <a:cs typeface="Calibri" pitchFamily="34" charset="-120"/>
                        </a:rPr>
                        <a:t>2</a:t>
                      </a:r>
                      <a:endParaRPr lang="en-US" sz="1000" dirty="0">
                        <a:latin typeface="Calibri" charset="0"/>
                        <a:ea typeface="Calibri" charset="0"/>
                        <a:cs typeface="Calibri" charset="0"/>
                      </a:endParaRPr>
                    </a:p>
                  </a:txBody>
                  <a:tcPr marL="91440" marR="91440" marT="45720" marB="45720" anchor="t">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indent="0" marL="0">
                        <a:buNone/>
                      </a:pPr>
                      <a:r>
                        <a:rPr lang="en-US" sz="1000" dirty="0">
                          <a:solidFill>
                            <a:srgbClr val="1E293B"/>
                          </a:solidFill>
                          <a:latin typeface="Calibri" pitchFamily="34" charset="0"/>
                          <a:ea typeface="Calibri" pitchFamily="34" charset="-122"/>
                          <a:cs typeface="Calibri" pitchFamily="34" charset="-120"/>
                        </a:rPr>
                        <a:t>Did the adverse event appear after the suspected drug was administered?</a:t>
                      </a:r>
                      <a:endParaRPr lang="en-US" sz="1000" dirty="0">
                        <a:latin typeface="Calibri" charset="0"/>
                        <a:ea typeface="Calibri" charset="0"/>
                        <a:cs typeface="Calibri" charset="0"/>
                      </a:endParaRPr>
                    </a:p>
                  </a:txBody>
                  <a:tcPr marL="91440" marR="91440" marT="45720" marB="45720" anchor="t">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algn="ctr" indent="0" marL="0">
                        <a:buNone/>
                      </a:pPr>
                      <a:r>
                        <a:rPr lang="en-US" sz="1000" b="1" dirty="0">
                          <a:solidFill>
                            <a:srgbClr val="15803D"/>
                          </a:solidFill>
                          <a:latin typeface="Calibri" pitchFamily="34" charset="0"/>
                          <a:ea typeface="Calibri" pitchFamily="34" charset="-122"/>
                          <a:cs typeface="Calibri" pitchFamily="34" charset="-120"/>
                        </a:rPr>
                        <a:t>+2</a:t>
                      </a:r>
                      <a:endParaRPr lang="en-US" sz="1000" dirty="0">
                        <a:latin typeface="Calibri" charset="0"/>
                        <a:ea typeface="Calibri" charset="0"/>
                        <a:cs typeface="Calibri" charset="0"/>
                      </a:endParaRPr>
                    </a:p>
                  </a:txBody>
                  <a:tcPr marL="91440" marR="91440" marT="45720" marB="45720" anchor="t">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algn="ctr" indent="0" marL="0">
                        <a:buNone/>
                      </a:pPr>
                      <a:r>
                        <a:rPr lang="en-US" sz="1000" b="1" dirty="0">
                          <a:solidFill>
                            <a:srgbClr val="B91C1C"/>
                          </a:solidFill>
                          <a:latin typeface="Calibri" pitchFamily="34" charset="0"/>
                          <a:ea typeface="Calibri" pitchFamily="34" charset="-122"/>
                          <a:cs typeface="Calibri" pitchFamily="34" charset="-120"/>
                        </a:rPr>
                        <a:t>-1</a:t>
                      </a:r>
                      <a:endParaRPr lang="en-US" sz="1000" dirty="0">
                        <a:latin typeface="Calibri" charset="0"/>
                        <a:ea typeface="Calibri" charset="0"/>
                        <a:cs typeface="Calibri" charset="0"/>
                      </a:endParaRPr>
                    </a:p>
                  </a:txBody>
                  <a:tcPr marL="91440" marR="91440" marT="45720" marB="45720" anchor="t">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algn="ctr" indent="0" marL="0">
                        <a:buNone/>
                      </a:pPr>
                      <a:r>
                        <a:rPr lang="en-US" sz="1000" dirty="0">
                          <a:solidFill>
                            <a:srgbClr val="64748B"/>
                          </a:solidFill>
                          <a:latin typeface="Calibri" pitchFamily="34" charset="0"/>
                          <a:ea typeface="Calibri" pitchFamily="34" charset="-122"/>
                          <a:cs typeface="Calibri" pitchFamily="34" charset="-120"/>
                        </a:rPr>
                        <a:t>0</a:t>
                      </a:r>
                      <a:endParaRPr lang="en-US" sz="1000" dirty="0">
                        <a:latin typeface="Calibri" charset="0"/>
                        <a:ea typeface="Calibri" charset="0"/>
                        <a:cs typeface="Calibri" charset="0"/>
                      </a:endParaRPr>
                    </a:p>
                  </a:txBody>
                  <a:tcPr marL="91440" marR="91440" marT="45720" marB="45720" anchor="t">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r>
              <a:tr h="0">
                <a:tc>
                  <a:txBody>
                    <a:bodyPr/>
                    <a:lstStyle/>
                    <a:p>
                      <a:pPr indent="0" marL="0">
                        <a:buNone/>
                      </a:pPr>
                      <a:r>
                        <a:rPr lang="en-US" sz="1000" b="1" dirty="0">
                          <a:solidFill>
                            <a:srgbClr val="64748B"/>
                          </a:solidFill>
                          <a:latin typeface="Calibri" pitchFamily="34" charset="0"/>
                          <a:ea typeface="Calibri" pitchFamily="34" charset="-122"/>
                          <a:cs typeface="Calibri" pitchFamily="34" charset="-120"/>
                        </a:rPr>
                        <a:t>3</a:t>
                      </a:r>
                      <a:endParaRPr lang="en-US" sz="1000" dirty="0">
                        <a:latin typeface="Calibri" charset="0"/>
                        <a:ea typeface="Calibri" charset="0"/>
                        <a:cs typeface="Calibri" charset="0"/>
                      </a:endParaRPr>
                    </a:p>
                  </a:txBody>
                  <a:tcPr marL="91440" marR="91440" marT="45720" marB="45720" anchor="t">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indent="0" marL="0">
                        <a:buNone/>
                      </a:pPr>
                      <a:r>
                        <a:rPr lang="en-US" sz="1000" dirty="0">
                          <a:solidFill>
                            <a:srgbClr val="1E293B"/>
                          </a:solidFill>
                          <a:latin typeface="Calibri" pitchFamily="34" charset="0"/>
                          <a:ea typeface="Calibri" pitchFamily="34" charset="-122"/>
                          <a:cs typeface="Calibri" pitchFamily="34" charset="-120"/>
                        </a:rPr>
                        <a:t>Did the reaction improve when the drug was stopped, or an antagonist given?</a:t>
                      </a:r>
                      <a:endParaRPr lang="en-US" sz="1000" dirty="0">
                        <a:latin typeface="Calibri" charset="0"/>
                        <a:ea typeface="Calibri" charset="0"/>
                        <a:cs typeface="Calibri" charset="0"/>
                      </a:endParaRPr>
                    </a:p>
                  </a:txBody>
                  <a:tcPr marL="91440" marR="91440" marT="45720" marB="45720" anchor="t">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algn="ctr" indent="0" marL="0">
                        <a:buNone/>
                      </a:pPr>
                      <a:r>
                        <a:rPr lang="en-US" sz="1000" b="1" dirty="0">
                          <a:solidFill>
                            <a:srgbClr val="15803D"/>
                          </a:solidFill>
                          <a:latin typeface="Calibri" pitchFamily="34" charset="0"/>
                          <a:ea typeface="Calibri" pitchFamily="34" charset="-122"/>
                          <a:cs typeface="Calibri" pitchFamily="34" charset="-120"/>
                        </a:rPr>
                        <a:t>+1</a:t>
                      </a:r>
                      <a:endParaRPr lang="en-US" sz="1000" dirty="0">
                        <a:latin typeface="Calibri" charset="0"/>
                        <a:ea typeface="Calibri" charset="0"/>
                        <a:cs typeface="Calibri" charset="0"/>
                      </a:endParaRPr>
                    </a:p>
                  </a:txBody>
                  <a:tcPr marL="91440" marR="91440" marT="45720" marB="45720" anchor="t">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algn="ctr" indent="0" marL="0">
                        <a:buNone/>
                      </a:pPr>
                      <a:r>
                        <a:rPr lang="en-US" sz="1000" b="1" dirty="0">
                          <a:solidFill>
                            <a:srgbClr val="64748B"/>
                          </a:solidFill>
                          <a:latin typeface="Calibri" pitchFamily="34" charset="0"/>
                          <a:ea typeface="Calibri" pitchFamily="34" charset="-122"/>
                          <a:cs typeface="Calibri" pitchFamily="34" charset="-120"/>
                        </a:rPr>
                        <a:t>0</a:t>
                      </a:r>
                      <a:endParaRPr lang="en-US" sz="1000" dirty="0">
                        <a:latin typeface="Calibri" charset="0"/>
                        <a:ea typeface="Calibri" charset="0"/>
                        <a:cs typeface="Calibri" charset="0"/>
                      </a:endParaRPr>
                    </a:p>
                  </a:txBody>
                  <a:tcPr marL="91440" marR="91440" marT="45720" marB="45720" anchor="t">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algn="ctr" indent="0" marL="0">
                        <a:buNone/>
                      </a:pPr>
                      <a:r>
                        <a:rPr lang="en-US" sz="1000" dirty="0">
                          <a:solidFill>
                            <a:srgbClr val="64748B"/>
                          </a:solidFill>
                          <a:latin typeface="Calibri" pitchFamily="34" charset="0"/>
                          <a:ea typeface="Calibri" pitchFamily="34" charset="-122"/>
                          <a:cs typeface="Calibri" pitchFamily="34" charset="-120"/>
                        </a:rPr>
                        <a:t>0</a:t>
                      </a:r>
                      <a:endParaRPr lang="en-US" sz="1000" dirty="0">
                        <a:latin typeface="Calibri" charset="0"/>
                        <a:ea typeface="Calibri" charset="0"/>
                        <a:cs typeface="Calibri" charset="0"/>
                      </a:endParaRPr>
                    </a:p>
                  </a:txBody>
                  <a:tcPr marL="91440" marR="91440" marT="45720" marB="45720" anchor="t">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r>
              <a:tr h="0">
                <a:tc>
                  <a:txBody>
                    <a:bodyPr/>
                    <a:lstStyle/>
                    <a:p>
                      <a:pPr indent="0" marL="0">
                        <a:buNone/>
                      </a:pPr>
                      <a:r>
                        <a:rPr lang="en-US" sz="1000" b="1" dirty="0">
                          <a:solidFill>
                            <a:srgbClr val="64748B"/>
                          </a:solidFill>
                          <a:latin typeface="Calibri" pitchFamily="34" charset="0"/>
                          <a:ea typeface="Calibri" pitchFamily="34" charset="-122"/>
                          <a:cs typeface="Calibri" pitchFamily="34" charset="-120"/>
                        </a:rPr>
                        <a:t>4</a:t>
                      </a:r>
                      <a:endParaRPr lang="en-US" sz="1000" dirty="0">
                        <a:latin typeface="Calibri" charset="0"/>
                        <a:ea typeface="Calibri" charset="0"/>
                        <a:cs typeface="Calibri" charset="0"/>
                      </a:endParaRPr>
                    </a:p>
                  </a:txBody>
                  <a:tcPr marL="91440" marR="91440" marT="45720" marB="45720" anchor="t">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indent="0" marL="0">
                        <a:buNone/>
                      </a:pPr>
                      <a:r>
                        <a:rPr lang="en-US" sz="1000" dirty="0">
                          <a:solidFill>
                            <a:srgbClr val="1E293B"/>
                          </a:solidFill>
                          <a:latin typeface="Calibri" pitchFamily="34" charset="0"/>
                          <a:ea typeface="Calibri" pitchFamily="34" charset="-122"/>
                          <a:cs typeface="Calibri" pitchFamily="34" charset="-120"/>
                        </a:rPr>
                        <a:t>Did the adverse reaction reappear when the drug was re-administered?</a:t>
                      </a:r>
                      <a:endParaRPr lang="en-US" sz="1000" dirty="0">
                        <a:latin typeface="Calibri" charset="0"/>
                        <a:ea typeface="Calibri" charset="0"/>
                        <a:cs typeface="Calibri" charset="0"/>
                      </a:endParaRPr>
                    </a:p>
                  </a:txBody>
                  <a:tcPr marL="91440" marR="91440" marT="45720" marB="45720" anchor="t">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algn="ctr" indent="0" marL="0">
                        <a:buNone/>
                      </a:pPr>
                      <a:r>
                        <a:rPr lang="en-US" sz="1000" b="1" dirty="0">
                          <a:solidFill>
                            <a:srgbClr val="15803D"/>
                          </a:solidFill>
                          <a:latin typeface="Calibri" pitchFamily="34" charset="0"/>
                          <a:ea typeface="Calibri" pitchFamily="34" charset="-122"/>
                          <a:cs typeface="Calibri" pitchFamily="34" charset="-120"/>
                        </a:rPr>
                        <a:t>+2</a:t>
                      </a:r>
                      <a:endParaRPr lang="en-US" sz="1000" dirty="0">
                        <a:latin typeface="Calibri" charset="0"/>
                        <a:ea typeface="Calibri" charset="0"/>
                        <a:cs typeface="Calibri" charset="0"/>
                      </a:endParaRPr>
                    </a:p>
                  </a:txBody>
                  <a:tcPr marL="91440" marR="91440" marT="45720" marB="45720" anchor="t">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algn="ctr" indent="0" marL="0">
                        <a:buNone/>
                      </a:pPr>
                      <a:r>
                        <a:rPr lang="en-US" sz="1000" b="1" dirty="0">
                          <a:solidFill>
                            <a:srgbClr val="B91C1C"/>
                          </a:solidFill>
                          <a:latin typeface="Calibri" pitchFamily="34" charset="0"/>
                          <a:ea typeface="Calibri" pitchFamily="34" charset="-122"/>
                          <a:cs typeface="Calibri" pitchFamily="34" charset="-120"/>
                        </a:rPr>
                        <a:t>-1</a:t>
                      </a:r>
                      <a:endParaRPr lang="en-US" sz="1000" dirty="0">
                        <a:latin typeface="Calibri" charset="0"/>
                        <a:ea typeface="Calibri" charset="0"/>
                        <a:cs typeface="Calibri" charset="0"/>
                      </a:endParaRPr>
                    </a:p>
                  </a:txBody>
                  <a:tcPr marL="91440" marR="91440" marT="45720" marB="45720" anchor="t">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algn="ctr" indent="0" marL="0">
                        <a:buNone/>
                      </a:pPr>
                      <a:r>
                        <a:rPr lang="en-US" sz="1000" dirty="0">
                          <a:solidFill>
                            <a:srgbClr val="64748B"/>
                          </a:solidFill>
                          <a:latin typeface="Calibri" pitchFamily="34" charset="0"/>
                          <a:ea typeface="Calibri" pitchFamily="34" charset="-122"/>
                          <a:cs typeface="Calibri" pitchFamily="34" charset="-120"/>
                        </a:rPr>
                        <a:t>0</a:t>
                      </a:r>
                      <a:endParaRPr lang="en-US" sz="1000" dirty="0">
                        <a:latin typeface="Calibri" charset="0"/>
                        <a:ea typeface="Calibri" charset="0"/>
                        <a:cs typeface="Calibri" charset="0"/>
                      </a:endParaRPr>
                    </a:p>
                  </a:txBody>
                  <a:tcPr marL="91440" marR="91440" marT="45720" marB="45720" anchor="t">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r>
              <a:tr h="0">
                <a:tc>
                  <a:txBody>
                    <a:bodyPr/>
                    <a:lstStyle/>
                    <a:p>
                      <a:pPr indent="0" marL="0">
                        <a:buNone/>
                      </a:pPr>
                      <a:r>
                        <a:rPr lang="en-US" sz="1000" b="1" dirty="0">
                          <a:solidFill>
                            <a:srgbClr val="B45309"/>
                          </a:solidFill>
                          <a:latin typeface="Calibri" pitchFamily="34" charset="0"/>
                          <a:ea typeface="Calibri" pitchFamily="34" charset="-122"/>
                          <a:cs typeface="Calibri" pitchFamily="34" charset="-120"/>
                        </a:rPr>
                        <a:t>5</a:t>
                      </a:r>
                      <a:endParaRPr lang="en-US" sz="1000" dirty="0">
                        <a:latin typeface="Calibri" charset="0"/>
                        <a:ea typeface="Calibri" charset="0"/>
                        <a:cs typeface="Calibri" charset="0"/>
                      </a:endParaRPr>
                    </a:p>
                  </a:txBody>
                  <a:tcPr marL="91440" marR="91440" marT="45720" marB="45720" anchor="t">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indent="0" marL="0">
                        <a:buNone/>
                      </a:pPr>
                      <a:r>
                        <a:rPr lang="en-US" sz="1000" b="1" dirty="0">
                          <a:solidFill>
                            <a:srgbClr val="1E293B"/>
                          </a:solidFill>
                          <a:latin typeface="Calibri" pitchFamily="34" charset="0"/>
                          <a:ea typeface="Calibri" pitchFamily="34" charset="-122"/>
                          <a:cs typeface="Calibri" pitchFamily="34" charset="-120"/>
                        </a:rPr>
                        <a:t>Are there alternative causes that could on their own have caused the reaction?</a:t>
                      </a:r>
                      <a:endParaRPr lang="en-US" sz="1000" dirty="0">
                        <a:latin typeface="Calibri" charset="0"/>
                        <a:ea typeface="Calibri" charset="0"/>
                        <a:cs typeface="Calibri" charset="0"/>
                      </a:endParaRPr>
                    </a:p>
                  </a:txBody>
                  <a:tcPr marL="91440" marR="91440" marT="45720" marB="45720" anchor="t">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algn="ctr" indent="0" marL="0">
                        <a:buNone/>
                      </a:pPr>
                      <a:r>
                        <a:rPr lang="en-US" sz="1000" b="1" dirty="0">
                          <a:solidFill>
                            <a:srgbClr val="B91C1C"/>
                          </a:solidFill>
                          <a:latin typeface="Calibri" pitchFamily="34" charset="0"/>
                          <a:ea typeface="Calibri" pitchFamily="34" charset="-122"/>
                          <a:cs typeface="Calibri" pitchFamily="34" charset="-120"/>
                        </a:rPr>
                        <a:t>-1</a:t>
                      </a:r>
                      <a:endParaRPr lang="en-US" sz="1000" dirty="0">
                        <a:latin typeface="Calibri" charset="0"/>
                        <a:ea typeface="Calibri" charset="0"/>
                        <a:cs typeface="Calibri" charset="0"/>
                      </a:endParaRPr>
                    </a:p>
                  </a:txBody>
                  <a:tcPr marL="91440" marR="91440" marT="45720" marB="45720" anchor="t">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algn="ctr" indent="0" marL="0">
                        <a:buNone/>
                      </a:pPr>
                      <a:r>
                        <a:rPr lang="en-US" sz="1000" b="1" dirty="0">
                          <a:solidFill>
                            <a:srgbClr val="15803D"/>
                          </a:solidFill>
                          <a:latin typeface="Calibri" pitchFamily="34" charset="0"/>
                          <a:ea typeface="Calibri" pitchFamily="34" charset="-122"/>
                          <a:cs typeface="Calibri" pitchFamily="34" charset="-120"/>
                        </a:rPr>
                        <a:t>+2</a:t>
                      </a:r>
                      <a:endParaRPr lang="en-US" sz="1000" dirty="0">
                        <a:latin typeface="Calibri" charset="0"/>
                        <a:ea typeface="Calibri" charset="0"/>
                        <a:cs typeface="Calibri" charset="0"/>
                      </a:endParaRPr>
                    </a:p>
                  </a:txBody>
                  <a:tcPr marL="91440" marR="91440" marT="45720" marB="45720" anchor="t">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algn="ctr" indent="0" marL="0">
                        <a:buNone/>
                      </a:pPr>
                      <a:r>
                        <a:rPr lang="en-US" sz="1000" dirty="0">
                          <a:solidFill>
                            <a:srgbClr val="64748B"/>
                          </a:solidFill>
                          <a:latin typeface="Calibri" pitchFamily="34" charset="0"/>
                          <a:ea typeface="Calibri" pitchFamily="34" charset="-122"/>
                          <a:cs typeface="Calibri" pitchFamily="34" charset="-120"/>
                        </a:rPr>
                        <a:t>0</a:t>
                      </a:r>
                      <a:endParaRPr lang="en-US" sz="1000" dirty="0">
                        <a:latin typeface="Calibri" charset="0"/>
                        <a:ea typeface="Calibri" charset="0"/>
                        <a:cs typeface="Calibri" charset="0"/>
                      </a:endParaRPr>
                    </a:p>
                  </a:txBody>
                  <a:tcPr marL="91440" marR="91440" marT="45720" marB="45720" anchor="t">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r>
              <a:tr h="0">
                <a:tc>
                  <a:txBody>
                    <a:bodyPr/>
                    <a:lstStyle/>
                    <a:p>
                      <a:pPr indent="0" marL="0">
                        <a:buNone/>
                      </a:pPr>
                      <a:r>
                        <a:rPr lang="en-US" sz="1000" b="1" dirty="0">
                          <a:solidFill>
                            <a:srgbClr val="B45309"/>
                          </a:solidFill>
                          <a:latin typeface="Calibri" pitchFamily="34" charset="0"/>
                          <a:ea typeface="Calibri" pitchFamily="34" charset="-122"/>
                          <a:cs typeface="Calibri" pitchFamily="34" charset="-120"/>
                        </a:rPr>
                        <a:t>6</a:t>
                      </a:r>
                      <a:endParaRPr lang="en-US" sz="1000" dirty="0">
                        <a:latin typeface="Calibri" charset="0"/>
                        <a:ea typeface="Calibri" charset="0"/>
                        <a:cs typeface="Calibri" charset="0"/>
                      </a:endParaRPr>
                    </a:p>
                  </a:txBody>
                  <a:tcPr marL="91440" marR="91440" marT="45720" marB="45720" anchor="t">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indent="0" marL="0">
                        <a:buNone/>
                      </a:pPr>
                      <a:r>
                        <a:rPr lang="en-US" sz="1000" b="1" dirty="0">
                          <a:solidFill>
                            <a:srgbClr val="1E293B"/>
                          </a:solidFill>
                          <a:latin typeface="Calibri" pitchFamily="34" charset="0"/>
                          <a:ea typeface="Calibri" pitchFamily="34" charset="-122"/>
                          <a:cs typeface="Calibri" pitchFamily="34" charset="-120"/>
                        </a:rPr>
                        <a:t>Did the reaction reappear when a placebo was given?</a:t>
                      </a:r>
                      <a:endParaRPr lang="en-US" sz="1000" dirty="0">
                        <a:latin typeface="Calibri" charset="0"/>
                        <a:ea typeface="Calibri" charset="0"/>
                        <a:cs typeface="Calibri" charset="0"/>
                      </a:endParaRPr>
                    </a:p>
                  </a:txBody>
                  <a:tcPr marL="91440" marR="91440" marT="45720" marB="45720" anchor="t">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algn="ctr" indent="0" marL="0">
                        <a:buNone/>
                      </a:pPr>
                      <a:r>
                        <a:rPr lang="en-US" sz="1000" b="1" dirty="0">
                          <a:solidFill>
                            <a:srgbClr val="B91C1C"/>
                          </a:solidFill>
                          <a:latin typeface="Calibri" pitchFamily="34" charset="0"/>
                          <a:ea typeface="Calibri" pitchFamily="34" charset="-122"/>
                          <a:cs typeface="Calibri" pitchFamily="34" charset="-120"/>
                        </a:rPr>
                        <a:t>-1</a:t>
                      </a:r>
                      <a:endParaRPr lang="en-US" sz="1000" dirty="0">
                        <a:latin typeface="Calibri" charset="0"/>
                        <a:ea typeface="Calibri" charset="0"/>
                        <a:cs typeface="Calibri" charset="0"/>
                      </a:endParaRPr>
                    </a:p>
                  </a:txBody>
                  <a:tcPr marL="91440" marR="91440" marT="45720" marB="45720" anchor="t">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algn="ctr" indent="0" marL="0">
                        <a:buNone/>
                      </a:pPr>
                      <a:r>
                        <a:rPr lang="en-US" sz="1000" b="1" dirty="0">
                          <a:solidFill>
                            <a:srgbClr val="15803D"/>
                          </a:solidFill>
                          <a:latin typeface="Calibri" pitchFamily="34" charset="0"/>
                          <a:ea typeface="Calibri" pitchFamily="34" charset="-122"/>
                          <a:cs typeface="Calibri" pitchFamily="34" charset="-120"/>
                        </a:rPr>
                        <a:t>+1</a:t>
                      </a:r>
                      <a:endParaRPr lang="en-US" sz="1000" dirty="0">
                        <a:latin typeface="Calibri" charset="0"/>
                        <a:ea typeface="Calibri" charset="0"/>
                        <a:cs typeface="Calibri" charset="0"/>
                      </a:endParaRPr>
                    </a:p>
                  </a:txBody>
                  <a:tcPr marL="91440" marR="91440" marT="45720" marB="45720" anchor="t">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algn="ctr" indent="0" marL="0">
                        <a:buNone/>
                      </a:pPr>
                      <a:r>
                        <a:rPr lang="en-US" sz="1000" dirty="0">
                          <a:solidFill>
                            <a:srgbClr val="64748B"/>
                          </a:solidFill>
                          <a:latin typeface="Calibri" pitchFamily="34" charset="0"/>
                          <a:ea typeface="Calibri" pitchFamily="34" charset="-122"/>
                          <a:cs typeface="Calibri" pitchFamily="34" charset="-120"/>
                        </a:rPr>
                        <a:t>0</a:t>
                      </a:r>
                      <a:endParaRPr lang="en-US" sz="1000" dirty="0">
                        <a:latin typeface="Calibri" charset="0"/>
                        <a:ea typeface="Calibri" charset="0"/>
                        <a:cs typeface="Calibri" charset="0"/>
                      </a:endParaRPr>
                    </a:p>
                  </a:txBody>
                  <a:tcPr marL="91440" marR="91440" marT="45720" marB="45720" anchor="t">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r>
              <a:tr h="0">
                <a:tc>
                  <a:txBody>
                    <a:bodyPr/>
                    <a:lstStyle/>
                    <a:p>
                      <a:pPr indent="0" marL="0">
                        <a:buNone/>
                      </a:pPr>
                      <a:r>
                        <a:rPr lang="en-US" sz="1000" b="1" dirty="0">
                          <a:solidFill>
                            <a:srgbClr val="64748B"/>
                          </a:solidFill>
                          <a:latin typeface="Calibri" pitchFamily="34" charset="0"/>
                          <a:ea typeface="Calibri" pitchFamily="34" charset="-122"/>
                          <a:cs typeface="Calibri" pitchFamily="34" charset="-120"/>
                        </a:rPr>
                        <a:t>7</a:t>
                      </a:r>
                      <a:endParaRPr lang="en-US" sz="1000" dirty="0">
                        <a:latin typeface="Calibri" charset="0"/>
                        <a:ea typeface="Calibri" charset="0"/>
                        <a:cs typeface="Calibri" charset="0"/>
                      </a:endParaRPr>
                    </a:p>
                  </a:txBody>
                  <a:tcPr marL="91440" marR="91440" marT="45720" marB="45720" anchor="t">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indent="0" marL="0">
                        <a:buNone/>
                      </a:pPr>
                      <a:r>
                        <a:rPr lang="en-US" sz="1000" dirty="0">
                          <a:solidFill>
                            <a:srgbClr val="1E293B"/>
                          </a:solidFill>
                          <a:latin typeface="Calibri" pitchFamily="34" charset="0"/>
                          <a:ea typeface="Calibri" pitchFamily="34" charset="-122"/>
                          <a:cs typeface="Calibri" pitchFamily="34" charset="-120"/>
                        </a:rPr>
                        <a:t>Was the drug detected in blood or other fluids in concentrations known to be toxic?</a:t>
                      </a:r>
                      <a:endParaRPr lang="en-US" sz="1000" dirty="0">
                        <a:latin typeface="Calibri" charset="0"/>
                        <a:ea typeface="Calibri" charset="0"/>
                        <a:cs typeface="Calibri" charset="0"/>
                      </a:endParaRPr>
                    </a:p>
                  </a:txBody>
                  <a:tcPr marL="91440" marR="91440" marT="45720" marB="45720" anchor="t">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algn="ctr" indent="0" marL="0">
                        <a:buNone/>
                      </a:pPr>
                      <a:r>
                        <a:rPr lang="en-US" sz="1000" b="1" dirty="0">
                          <a:solidFill>
                            <a:srgbClr val="15803D"/>
                          </a:solidFill>
                          <a:latin typeface="Calibri" pitchFamily="34" charset="0"/>
                          <a:ea typeface="Calibri" pitchFamily="34" charset="-122"/>
                          <a:cs typeface="Calibri" pitchFamily="34" charset="-120"/>
                        </a:rPr>
                        <a:t>+1</a:t>
                      </a:r>
                      <a:endParaRPr lang="en-US" sz="1000" dirty="0">
                        <a:latin typeface="Calibri" charset="0"/>
                        <a:ea typeface="Calibri" charset="0"/>
                        <a:cs typeface="Calibri" charset="0"/>
                      </a:endParaRPr>
                    </a:p>
                  </a:txBody>
                  <a:tcPr marL="91440" marR="91440" marT="45720" marB="45720" anchor="t">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algn="ctr" indent="0" marL="0">
                        <a:buNone/>
                      </a:pPr>
                      <a:r>
                        <a:rPr lang="en-US" sz="1000" b="1" dirty="0">
                          <a:solidFill>
                            <a:srgbClr val="64748B"/>
                          </a:solidFill>
                          <a:latin typeface="Calibri" pitchFamily="34" charset="0"/>
                          <a:ea typeface="Calibri" pitchFamily="34" charset="-122"/>
                          <a:cs typeface="Calibri" pitchFamily="34" charset="-120"/>
                        </a:rPr>
                        <a:t>0</a:t>
                      </a:r>
                      <a:endParaRPr lang="en-US" sz="1000" dirty="0">
                        <a:latin typeface="Calibri" charset="0"/>
                        <a:ea typeface="Calibri" charset="0"/>
                        <a:cs typeface="Calibri" charset="0"/>
                      </a:endParaRPr>
                    </a:p>
                  </a:txBody>
                  <a:tcPr marL="91440" marR="91440" marT="45720" marB="45720" anchor="t">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algn="ctr" indent="0" marL="0">
                        <a:buNone/>
                      </a:pPr>
                      <a:r>
                        <a:rPr lang="en-US" sz="1000" dirty="0">
                          <a:solidFill>
                            <a:srgbClr val="64748B"/>
                          </a:solidFill>
                          <a:latin typeface="Calibri" pitchFamily="34" charset="0"/>
                          <a:ea typeface="Calibri" pitchFamily="34" charset="-122"/>
                          <a:cs typeface="Calibri" pitchFamily="34" charset="-120"/>
                        </a:rPr>
                        <a:t>0</a:t>
                      </a:r>
                      <a:endParaRPr lang="en-US" sz="1000" dirty="0">
                        <a:latin typeface="Calibri" charset="0"/>
                        <a:ea typeface="Calibri" charset="0"/>
                        <a:cs typeface="Calibri" charset="0"/>
                      </a:endParaRPr>
                    </a:p>
                  </a:txBody>
                  <a:tcPr marL="91440" marR="91440" marT="45720" marB="45720" anchor="t">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r>
              <a:tr h="0">
                <a:tc>
                  <a:txBody>
                    <a:bodyPr/>
                    <a:lstStyle/>
                    <a:p>
                      <a:pPr indent="0" marL="0">
                        <a:buNone/>
                      </a:pPr>
                      <a:r>
                        <a:rPr lang="en-US" sz="1000" b="1" dirty="0">
                          <a:solidFill>
                            <a:srgbClr val="64748B"/>
                          </a:solidFill>
                          <a:latin typeface="Calibri" pitchFamily="34" charset="0"/>
                          <a:ea typeface="Calibri" pitchFamily="34" charset="-122"/>
                          <a:cs typeface="Calibri" pitchFamily="34" charset="-120"/>
                        </a:rPr>
                        <a:t>8</a:t>
                      </a:r>
                      <a:endParaRPr lang="en-US" sz="1000" dirty="0">
                        <a:latin typeface="Calibri" charset="0"/>
                        <a:ea typeface="Calibri" charset="0"/>
                        <a:cs typeface="Calibri" charset="0"/>
                      </a:endParaRPr>
                    </a:p>
                  </a:txBody>
                  <a:tcPr marL="91440" marR="91440" marT="45720" marB="45720" anchor="t">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indent="0" marL="0">
                        <a:buNone/>
                      </a:pPr>
                      <a:r>
                        <a:rPr lang="en-US" sz="1000" dirty="0">
                          <a:solidFill>
                            <a:srgbClr val="1E293B"/>
                          </a:solidFill>
                          <a:latin typeface="Calibri" pitchFamily="34" charset="0"/>
                          <a:ea typeface="Calibri" pitchFamily="34" charset="-122"/>
                          <a:cs typeface="Calibri" pitchFamily="34" charset="-120"/>
                        </a:rPr>
                        <a:t>Was the reaction worse on a higher dose, or milder on a lower one?</a:t>
                      </a:r>
                      <a:endParaRPr lang="en-US" sz="1000" dirty="0">
                        <a:latin typeface="Calibri" charset="0"/>
                        <a:ea typeface="Calibri" charset="0"/>
                        <a:cs typeface="Calibri" charset="0"/>
                      </a:endParaRPr>
                    </a:p>
                  </a:txBody>
                  <a:tcPr marL="91440" marR="91440" marT="45720" marB="45720" anchor="t">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algn="ctr" indent="0" marL="0">
                        <a:buNone/>
                      </a:pPr>
                      <a:r>
                        <a:rPr lang="en-US" sz="1000" b="1" dirty="0">
                          <a:solidFill>
                            <a:srgbClr val="15803D"/>
                          </a:solidFill>
                          <a:latin typeface="Calibri" pitchFamily="34" charset="0"/>
                          <a:ea typeface="Calibri" pitchFamily="34" charset="-122"/>
                          <a:cs typeface="Calibri" pitchFamily="34" charset="-120"/>
                        </a:rPr>
                        <a:t>+1</a:t>
                      </a:r>
                      <a:endParaRPr lang="en-US" sz="1000" dirty="0">
                        <a:latin typeface="Calibri" charset="0"/>
                        <a:ea typeface="Calibri" charset="0"/>
                        <a:cs typeface="Calibri" charset="0"/>
                      </a:endParaRPr>
                    </a:p>
                  </a:txBody>
                  <a:tcPr marL="91440" marR="91440" marT="45720" marB="45720" anchor="t">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algn="ctr" indent="0" marL="0">
                        <a:buNone/>
                      </a:pPr>
                      <a:r>
                        <a:rPr lang="en-US" sz="1000" b="1" dirty="0">
                          <a:solidFill>
                            <a:srgbClr val="64748B"/>
                          </a:solidFill>
                          <a:latin typeface="Calibri" pitchFamily="34" charset="0"/>
                          <a:ea typeface="Calibri" pitchFamily="34" charset="-122"/>
                          <a:cs typeface="Calibri" pitchFamily="34" charset="-120"/>
                        </a:rPr>
                        <a:t>0</a:t>
                      </a:r>
                      <a:endParaRPr lang="en-US" sz="1000" dirty="0">
                        <a:latin typeface="Calibri" charset="0"/>
                        <a:ea typeface="Calibri" charset="0"/>
                        <a:cs typeface="Calibri" charset="0"/>
                      </a:endParaRPr>
                    </a:p>
                  </a:txBody>
                  <a:tcPr marL="91440" marR="91440" marT="45720" marB="45720" anchor="t">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algn="ctr" indent="0" marL="0">
                        <a:buNone/>
                      </a:pPr>
                      <a:r>
                        <a:rPr lang="en-US" sz="1000" dirty="0">
                          <a:solidFill>
                            <a:srgbClr val="64748B"/>
                          </a:solidFill>
                          <a:latin typeface="Calibri" pitchFamily="34" charset="0"/>
                          <a:ea typeface="Calibri" pitchFamily="34" charset="-122"/>
                          <a:cs typeface="Calibri" pitchFamily="34" charset="-120"/>
                        </a:rPr>
                        <a:t>0</a:t>
                      </a:r>
                      <a:endParaRPr lang="en-US" sz="1000" dirty="0">
                        <a:latin typeface="Calibri" charset="0"/>
                        <a:ea typeface="Calibri" charset="0"/>
                        <a:cs typeface="Calibri" charset="0"/>
                      </a:endParaRPr>
                    </a:p>
                  </a:txBody>
                  <a:tcPr marL="91440" marR="91440" marT="45720" marB="45720" anchor="t">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r>
              <a:tr h="0">
                <a:tc>
                  <a:txBody>
                    <a:bodyPr/>
                    <a:lstStyle/>
                    <a:p>
                      <a:pPr indent="0" marL="0">
                        <a:buNone/>
                      </a:pPr>
                      <a:r>
                        <a:rPr lang="en-US" sz="1000" b="1" dirty="0">
                          <a:solidFill>
                            <a:srgbClr val="64748B"/>
                          </a:solidFill>
                          <a:latin typeface="Calibri" pitchFamily="34" charset="0"/>
                          <a:ea typeface="Calibri" pitchFamily="34" charset="-122"/>
                          <a:cs typeface="Calibri" pitchFamily="34" charset="-120"/>
                        </a:rPr>
                        <a:t>9</a:t>
                      </a:r>
                      <a:endParaRPr lang="en-US" sz="1000" dirty="0">
                        <a:latin typeface="Calibri" charset="0"/>
                        <a:ea typeface="Calibri" charset="0"/>
                        <a:cs typeface="Calibri" charset="0"/>
                      </a:endParaRPr>
                    </a:p>
                  </a:txBody>
                  <a:tcPr marL="91440" marR="91440" marT="45720" marB="45720" anchor="t">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indent="0" marL="0">
                        <a:buNone/>
                      </a:pPr>
                      <a:r>
                        <a:rPr lang="en-US" sz="1000" dirty="0">
                          <a:solidFill>
                            <a:srgbClr val="1E293B"/>
                          </a:solidFill>
                          <a:latin typeface="Calibri" pitchFamily="34" charset="0"/>
                          <a:ea typeface="Calibri" pitchFamily="34" charset="-122"/>
                          <a:cs typeface="Calibri" pitchFamily="34" charset="-120"/>
                        </a:rPr>
                        <a:t>Has the patient reacted to this or a similar drug before?</a:t>
                      </a:r>
                      <a:endParaRPr lang="en-US" sz="1000" dirty="0">
                        <a:latin typeface="Calibri" charset="0"/>
                        <a:ea typeface="Calibri" charset="0"/>
                        <a:cs typeface="Calibri" charset="0"/>
                      </a:endParaRPr>
                    </a:p>
                  </a:txBody>
                  <a:tcPr marL="91440" marR="91440" marT="45720" marB="45720" anchor="t">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algn="ctr" indent="0" marL="0">
                        <a:buNone/>
                      </a:pPr>
                      <a:r>
                        <a:rPr lang="en-US" sz="1000" b="1" dirty="0">
                          <a:solidFill>
                            <a:srgbClr val="15803D"/>
                          </a:solidFill>
                          <a:latin typeface="Calibri" pitchFamily="34" charset="0"/>
                          <a:ea typeface="Calibri" pitchFamily="34" charset="-122"/>
                          <a:cs typeface="Calibri" pitchFamily="34" charset="-120"/>
                        </a:rPr>
                        <a:t>+1</a:t>
                      </a:r>
                      <a:endParaRPr lang="en-US" sz="1000" dirty="0">
                        <a:latin typeface="Calibri" charset="0"/>
                        <a:ea typeface="Calibri" charset="0"/>
                        <a:cs typeface="Calibri" charset="0"/>
                      </a:endParaRPr>
                    </a:p>
                  </a:txBody>
                  <a:tcPr marL="91440" marR="91440" marT="45720" marB="45720" anchor="t">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algn="ctr" indent="0" marL="0">
                        <a:buNone/>
                      </a:pPr>
                      <a:r>
                        <a:rPr lang="en-US" sz="1000" b="1" dirty="0">
                          <a:solidFill>
                            <a:srgbClr val="64748B"/>
                          </a:solidFill>
                          <a:latin typeface="Calibri" pitchFamily="34" charset="0"/>
                          <a:ea typeface="Calibri" pitchFamily="34" charset="-122"/>
                          <a:cs typeface="Calibri" pitchFamily="34" charset="-120"/>
                        </a:rPr>
                        <a:t>0</a:t>
                      </a:r>
                      <a:endParaRPr lang="en-US" sz="1000" dirty="0">
                        <a:latin typeface="Calibri" charset="0"/>
                        <a:ea typeface="Calibri" charset="0"/>
                        <a:cs typeface="Calibri" charset="0"/>
                      </a:endParaRPr>
                    </a:p>
                  </a:txBody>
                  <a:tcPr marL="91440" marR="91440" marT="45720" marB="45720" anchor="t">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algn="ctr" indent="0" marL="0">
                        <a:buNone/>
                      </a:pPr>
                      <a:r>
                        <a:rPr lang="en-US" sz="1000" dirty="0">
                          <a:solidFill>
                            <a:srgbClr val="64748B"/>
                          </a:solidFill>
                          <a:latin typeface="Calibri" pitchFamily="34" charset="0"/>
                          <a:ea typeface="Calibri" pitchFamily="34" charset="-122"/>
                          <a:cs typeface="Calibri" pitchFamily="34" charset="-120"/>
                        </a:rPr>
                        <a:t>0</a:t>
                      </a:r>
                      <a:endParaRPr lang="en-US" sz="1000" dirty="0">
                        <a:latin typeface="Calibri" charset="0"/>
                        <a:ea typeface="Calibri" charset="0"/>
                        <a:cs typeface="Calibri" charset="0"/>
                      </a:endParaRPr>
                    </a:p>
                  </a:txBody>
                  <a:tcPr marL="91440" marR="91440" marT="45720" marB="45720" anchor="t">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r>
              <a:tr h="0">
                <a:tc>
                  <a:txBody>
                    <a:bodyPr/>
                    <a:lstStyle/>
                    <a:p>
                      <a:pPr indent="0" marL="0">
                        <a:buNone/>
                      </a:pPr>
                      <a:r>
                        <a:rPr lang="en-US" sz="1000" b="1" dirty="0">
                          <a:solidFill>
                            <a:srgbClr val="64748B"/>
                          </a:solidFill>
                          <a:latin typeface="Calibri" pitchFamily="34" charset="0"/>
                          <a:ea typeface="Calibri" pitchFamily="34" charset="-122"/>
                          <a:cs typeface="Calibri" pitchFamily="34" charset="-120"/>
                        </a:rPr>
                        <a:t>10</a:t>
                      </a:r>
                      <a:endParaRPr lang="en-US" sz="1000" dirty="0">
                        <a:latin typeface="Calibri" charset="0"/>
                        <a:ea typeface="Calibri" charset="0"/>
                        <a:cs typeface="Calibri" charset="0"/>
                      </a:endParaRPr>
                    </a:p>
                  </a:txBody>
                  <a:tcPr marL="91440" marR="91440" marT="45720" marB="45720" anchor="t">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indent="0" marL="0">
                        <a:buNone/>
                      </a:pPr>
                      <a:r>
                        <a:rPr lang="en-US" sz="1000" dirty="0">
                          <a:solidFill>
                            <a:srgbClr val="1E293B"/>
                          </a:solidFill>
                          <a:latin typeface="Calibri" pitchFamily="34" charset="0"/>
                          <a:ea typeface="Calibri" pitchFamily="34" charset="-122"/>
                          <a:cs typeface="Calibri" pitchFamily="34" charset="-120"/>
                        </a:rPr>
                        <a:t>Was the adverse event confirmed by any objective evidence?</a:t>
                      </a:r>
                      <a:endParaRPr lang="en-US" sz="1000" dirty="0">
                        <a:latin typeface="Calibri" charset="0"/>
                        <a:ea typeface="Calibri" charset="0"/>
                        <a:cs typeface="Calibri" charset="0"/>
                      </a:endParaRPr>
                    </a:p>
                  </a:txBody>
                  <a:tcPr marL="91440" marR="91440" marT="45720" marB="45720" anchor="t">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algn="ctr" indent="0" marL="0">
                        <a:buNone/>
                      </a:pPr>
                      <a:r>
                        <a:rPr lang="en-US" sz="1000" b="1" dirty="0">
                          <a:solidFill>
                            <a:srgbClr val="15803D"/>
                          </a:solidFill>
                          <a:latin typeface="Calibri" pitchFamily="34" charset="0"/>
                          <a:ea typeface="Calibri" pitchFamily="34" charset="-122"/>
                          <a:cs typeface="Calibri" pitchFamily="34" charset="-120"/>
                        </a:rPr>
                        <a:t>+1</a:t>
                      </a:r>
                      <a:endParaRPr lang="en-US" sz="1000" dirty="0">
                        <a:latin typeface="Calibri" charset="0"/>
                        <a:ea typeface="Calibri" charset="0"/>
                        <a:cs typeface="Calibri" charset="0"/>
                      </a:endParaRPr>
                    </a:p>
                  </a:txBody>
                  <a:tcPr marL="91440" marR="91440" marT="45720" marB="45720" anchor="t">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algn="ctr" indent="0" marL="0">
                        <a:buNone/>
                      </a:pPr>
                      <a:r>
                        <a:rPr lang="en-US" sz="1000" b="1" dirty="0">
                          <a:solidFill>
                            <a:srgbClr val="64748B"/>
                          </a:solidFill>
                          <a:latin typeface="Calibri" pitchFamily="34" charset="0"/>
                          <a:ea typeface="Calibri" pitchFamily="34" charset="-122"/>
                          <a:cs typeface="Calibri" pitchFamily="34" charset="-120"/>
                        </a:rPr>
                        <a:t>0</a:t>
                      </a:r>
                      <a:endParaRPr lang="en-US" sz="1000" dirty="0">
                        <a:latin typeface="Calibri" charset="0"/>
                        <a:ea typeface="Calibri" charset="0"/>
                        <a:cs typeface="Calibri" charset="0"/>
                      </a:endParaRPr>
                    </a:p>
                  </a:txBody>
                  <a:tcPr marL="91440" marR="91440" marT="45720" marB="45720" anchor="t">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algn="ctr" indent="0" marL="0">
                        <a:buNone/>
                      </a:pPr>
                      <a:r>
                        <a:rPr lang="en-US" sz="1000" dirty="0">
                          <a:solidFill>
                            <a:srgbClr val="64748B"/>
                          </a:solidFill>
                          <a:latin typeface="Calibri" pitchFamily="34" charset="0"/>
                          <a:ea typeface="Calibri" pitchFamily="34" charset="-122"/>
                          <a:cs typeface="Calibri" pitchFamily="34" charset="-120"/>
                        </a:rPr>
                        <a:t>0</a:t>
                      </a:r>
                      <a:endParaRPr lang="en-US" sz="1000" dirty="0">
                        <a:latin typeface="Calibri" charset="0"/>
                        <a:ea typeface="Calibri" charset="0"/>
                        <a:cs typeface="Calibri" charset="0"/>
                      </a:endParaRPr>
                    </a:p>
                  </a:txBody>
                  <a:tcPr marL="91440" marR="91440" marT="45720" marB="45720" anchor="t">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r>
            </a:tbl>
          </a:graphicData>
        </a:graphic>
      </p:graphicFrame>
      <p:sp>
        <p:nvSpPr>
          <p:cNvPr id="5" name="Shape 2"/>
          <p:cNvSpPr/>
          <p:nvPr/>
        </p:nvSpPr>
        <p:spPr>
          <a:xfrm>
            <a:off x="7589520" y="1463040"/>
            <a:ext cx="4005072" cy="1417320"/>
          </a:xfrm>
          <a:prstGeom prst="roundRect">
            <a:avLst>
              <a:gd name="adj" fmla="val 3871"/>
            </a:avLst>
          </a:prstGeom>
          <a:solidFill>
            <a:srgbClr val="FEF3C7"/>
          </a:solidFill>
          <a:ln w="12700">
            <a:solidFill>
              <a:srgbClr val="E2E8F0"/>
            </a:solidFill>
            <a:prstDash val="solid"/>
          </a:ln>
        </p:spPr>
      </p:sp>
      <p:sp>
        <p:nvSpPr>
          <p:cNvPr id="6" name="Text 3"/>
          <p:cNvSpPr txBox="1"/>
          <p:nvPr/>
        </p:nvSpPr>
        <p:spPr>
          <a:xfrm>
            <a:off x="7845552" y="1627632"/>
            <a:ext cx="3520440" cy="292608"/>
          </a:xfrm>
          <a:prstGeom prst="rect">
            <a:avLst/>
          </a:prstGeom>
          <a:noFill/>
          <a:ln/>
        </p:spPr>
        <p:txBody>
          <a:bodyPr wrap="square" lIns="0" tIns="0" rIns="0" bIns="0" rtlCol="0" anchor="t"/>
          <a:lstStyle/>
          <a:p>
            <a:pPr indent="0" marL="0">
              <a:buNone/>
            </a:pPr>
            <a:r>
              <a:rPr lang="en-US" sz="1400" b="1" dirty="0">
                <a:solidFill>
                  <a:srgbClr val="78350F"/>
                </a:solidFill>
                <a:latin typeface="Cambria" pitchFamily="34" charset="0"/>
                <a:ea typeface="Cambria" pitchFamily="34" charset="-122"/>
                <a:cs typeface="Cambria" pitchFamily="34" charset="-120"/>
              </a:rPr>
              <a:t>Items 5 and 6 are reversed</a:t>
            </a:r>
            <a:endParaRPr lang="en-US" sz="1400" dirty="0"/>
          </a:p>
        </p:txBody>
      </p:sp>
      <p:sp>
        <p:nvSpPr>
          <p:cNvPr id="7" name="Text 4"/>
          <p:cNvSpPr txBox="1"/>
          <p:nvPr/>
        </p:nvSpPr>
        <p:spPr>
          <a:xfrm>
            <a:off x="7845552" y="1956816"/>
            <a:ext cx="3520440" cy="841248"/>
          </a:xfrm>
          <a:prstGeom prst="rect">
            <a:avLst/>
          </a:prstGeom>
          <a:noFill/>
          <a:ln/>
        </p:spPr>
        <p:txBody>
          <a:bodyPr wrap="square" lIns="0" tIns="0" rIns="0" bIns="0" rtlCol="0" anchor="t"/>
          <a:lstStyle/>
          <a:p>
            <a:pPr indent="0" marL="0">
              <a:lnSpc>
                <a:spcPts val="1600"/>
              </a:lnSpc>
              <a:buNone/>
            </a:pPr>
            <a:r>
              <a:rPr lang="en-US" sz="1150" dirty="0">
                <a:solidFill>
                  <a:srgbClr val="78350F"/>
                </a:solidFill>
                <a:latin typeface="Calibri" pitchFamily="34" charset="0"/>
                <a:ea typeface="Calibri" pitchFamily="34" charset="-122"/>
                <a:cs typeface="Calibri" pitchFamily="34" charset="-120"/>
              </a:rPr>
              <a:t>Finding an alternative cause LOSES a point. Ruling them out gains two. The scale is built to reward investigating.</a:t>
            </a:r>
            <a:endParaRPr lang="en-US" sz="1150" dirty="0"/>
          </a:p>
        </p:txBody>
      </p:sp>
      <p:sp>
        <p:nvSpPr>
          <p:cNvPr id="8" name="Text 5"/>
          <p:cNvSpPr txBox="1"/>
          <p:nvPr/>
        </p:nvSpPr>
        <p:spPr>
          <a:xfrm>
            <a:off x="7589520" y="3017520"/>
            <a:ext cx="3657600" cy="274320"/>
          </a:xfrm>
          <a:prstGeom prst="rect">
            <a:avLst/>
          </a:prstGeom>
          <a:noFill/>
          <a:ln/>
        </p:spPr>
        <p:txBody>
          <a:bodyPr wrap="square" lIns="0" tIns="0" rIns="0" bIns="0" rtlCol="0" anchor="t"/>
          <a:lstStyle/>
          <a:p>
            <a:pPr indent="0" marL="0">
              <a:buNone/>
            </a:pPr>
            <a:r>
              <a:rPr lang="en-US" sz="1400" b="1" dirty="0">
                <a:solidFill>
                  <a:srgbClr val="0F2B3D"/>
                </a:solidFill>
                <a:latin typeface="Cambria" pitchFamily="34" charset="0"/>
                <a:ea typeface="Cambria" pitchFamily="34" charset="-122"/>
                <a:cs typeface="Cambria" pitchFamily="34" charset="-120"/>
              </a:rPr>
              <a:t>Bands</a:t>
            </a:r>
            <a:endParaRPr lang="en-US" sz="1400" dirty="0"/>
          </a:p>
        </p:txBody>
      </p:sp>
      <p:sp>
        <p:nvSpPr>
          <p:cNvPr id="9" name="Shape 6"/>
          <p:cNvSpPr/>
          <p:nvPr/>
        </p:nvSpPr>
        <p:spPr>
          <a:xfrm>
            <a:off x="7589520" y="3346704"/>
            <a:ext cx="4005072" cy="384048"/>
          </a:xfrm>
          <a:prstGeom prst="roundRect">
            <a:avLst>
              <a:gd name="adj" fmla="val 14286"/>
            </a:avLst>
          </a:prstGeom>
          <a:solidFill>
            <a:srgbClr val="F1F5F9"/>
          </a:solidFill>
          <a:ln w="12700">
            <a:solidFill>
              <a:srgbClr val="E2E8F0"/>
            </a:solidFill>
            <a:prstDash val="solid"/>
          </a:ln>
        </p:spPr>
      </p:sp>
      <p:sp>
        <p:nvSpPr>
          <p:cNvPr id="10" name="Text 7"/>
          <p:cNvSpPr txBox="1"/>
          <p:nvPr/>
        </p:nvSpPr>
        <p:spPr>
          <a:xfrm>
            <a:off x="7772400" y="3392424"/>
            <a:ext cx="822960" cy="292608"/>
          </a:xfrm>
          <a:prstGeom prst="rect">
            <a:avLst/>
          </a:prstGeom>
          <a:noFill/>
          <a:ln/>
        </p:spPr>
        <p:txBody>
          <a:bodyPr wrap="square" lIns="0" tIns="0" rIns="0" bIns="0" rtlCol="0" anchor="ctr"/>
          <a:lstStyle/>
          <a:p>
            <a:pPr indent="0" marL="0">
              <a:buNone/>
            </a:pPr>
            <a:r>
              <a:rPr lang="en-US" sz="1200" b="1" dirty="0">
                <a:solidFill>
                  <a:srgbClr val="15803D"/>
                </a:solidFill>
                <a:latin typeface="Calibri" pitchFamily="34" charset="0"/>
                <a:ea typeface="Calibri" pitchFamily="34" charset="-122"/>
                <a:cs typeface="Calibri" pitchFamily="34" charset="-120"/>
              </a:rPr>
              <a:t>≥ 9</a:t>
            </a:r>
            <a:endParaRPr lang="en-US" sz="1200" dirty="0"/>
          </a:p>
        </p:txBody>
      </p:sp>
      <p:sp>
        <p:nvSpPr>
          <p:cNvPr id="11" name="Text 8"/>
          <p:cNvSpPr txBox="1"/>
          <p:nvPr/>
        </p:nvSpPr>
        <p:spPr>
          <a:xfrm>
            <a:off x="8641080" y="3392424"/>
            <a:ext cx="2834640" cy="292608"/>
          </a:xfrm>
          <a:prstGeom prst="rect">
            <a:avLst/>
          </a:prstGeom>
          <a:noFill/>
          <a:ln/>
        </p:spPr>
        <p:txBody>
          <a:bodyPr wrap="square" lIns="0" tIns="0" rIns="0" bIns="0" rtlCol="0" anchor="ctr"/>
          <a:lstStyle/>
          <a:p>
            <a:pPr indent="0" marL="0">
              <a:buNone/>
            </a:pPr>
            <a:r>
              <a:rPr lang="en-US" sz="1200" dirty="0">
                <a:solidFill>
                  <a:srgbClr val="1E293B"/>
                </a:solidFill>
                <a:latin typeface="Calibri" pitchFamily="34" charset="0"/>
                <a:ea typeface="Calibri" pitchFamily="34" charset="-122"/>
                <a:cs typeface="Calibri" pitchFamily="34" charset="-120"/>
              </a:rPr>
              <a:t>Definite</a:t>
            </a:r>
            <a:endParaRPr lang="en-US" sz="1200" dirty="0"/>
          </a:p>
        </p:txBody>
      </p:sp>
      <p:sp>
        <p:nvSpPr>
          <p:cNvPr id="12" name="Shape 9"/>
          <p:cNvSpPr/>
          <p:nvPr/>
        </p:nvSpPr>
        <p:spPr>
          <a:xfrm>
            <a:off x="7589520" y="3785616"/>
            <a:ext cx="4005072" cy="384048"/>
          </a:xfrm>
          <a:prstGeom prst="roundRect">
            <a:avLst>
              <a:gd name="adj" fmla="val 14286"/>
            </a:avLst>
          </a:prstGeom>
          <a:solidFill>
            <a:srgbClr val="F1F5F9"/>
          </a:solidFill>
          <a:ln w="12700">
            <a:solidFill>
              <a:srgbClr val="E2E8F0"/>
            </a:solidFill>
            <a:prstDash val="solid"/>
          </a:ln>
        </p:spPr>
      </p:sp>
      <p:sp>
        <p:nvSpPr>
          <p:cNvPr id="13" name="Text 10"/>
          <p:cNvSpPr txBox="1"/>
          <p:nvPr/>
        </p:nvSpPr>
        <p:spPr>
          <a:xfrm>
            <a:off x="7772400" y="3831336"/>
            <a:ext cx="822960" cy="292608"/>
          </a:xfrm>
          <a:prstGeom prst="rect">
            <a:avLst/>
          </a:prstGeom>
          <a:noFill/>
          <a:ln/>
        </p:spPr>
        <p:txBody>
          <a:bodyPr wrap="square" lIns="0" tIns="0" rIns="0" bIns="0" rtlCol="0" anchor="ctr"/>
          <a:lstStyle/>
          <a:p>
            <a:pPr indent="0" marL="0">
              <a:buNone/>
            </a:pPr>
            <a:r>
              <a:rPr lang="en-US" sz="1200" b="1" dirty="0">
                <a:solidFill>
                  <a:srgbClr val="0E7490"/>
                </a:solidFill>
                <a:latin typeface="Calibri" pitchFamily="34" charset="0"/>
                <a:ea typeface="Calibri" pitchFamily="34" charset="-122"/>
                <a:cs typeface="Calibri" pitchFamily="34" charset="-120"/>
              </a:rPr>
              <a:t>5–8</a:t>
            </a:r>
            <a:endParaRPr lang="en-US" sz="1200" dirty="0"/>
          </a:p>
        </p:txBody>
      </p:sp>
      <p:sp>
        <p:nvSpPr>
          <p:cNvPr id="14" name="Text 11"/>
          <p:cNvSpPr txBox="1"/>
          <p:nvPr/>
        </p:nvSpPr>
        <p:spPr>
          <a:xfrm>
            <a:off x="8641080" y="3831336"/>
            <a:ext cx="2834640" cy="292608"/>
          </a:xfrm>
          <a:prstGeom prst="rect">
            <a:avLst/>
          </a:prstGeom>
          <a:noFill/>
          <a:ln/>
        </p:spPr>
        <p:txBody>
          <a:bodyPr wrap="square" lIns="0" tIns="0" rIns="0" bIns="0" rtlCol="0" anchor="ctr"/>
          <a:lstStyle/>
          <a:p>
            <a:pPr indent="0" marL="0">
              <a:buNone/>
            </a:pPr>
            <a:r>
              <a:rPr lang="en-US" sz="1200" dirty="0">
                <a:solidFill>
                  <a:srgbClr val="1E293B"/>
                </a:solidFill>
                <a:latin typeface="Calibri" pitchFamily="34" charset="0"/>
                <a:ea typeface="Calibri" pitchFamily="34" charset="-122"/>
                <a:cs typeface="Calibri" pitchFamily="34" charset="-120"/>
              </a:rPr>
              <a:t>Probable</a:t>
            </a:r>
            <a:endParaRPr lang="en-US" sz="1200" dirty="0"/>
          </a:p>
        </p:txBody>
      </p:sp>
      <p:sp>
        <p:nvSpPr>
          <p:cNvPr id="15" name="Shape 12"/>
          <p:cNvSpPr/>
          <p:nvPr/>
        </p:nvSpPr>
        <p:spPr>
          <a:xfrm>
            <a:off x="7589520" y="4224528"/>
            <a:ext cx="4005072" cy="384048"/>
          </a:xfrm>
          <a:prstGeom prst="roundRect">
            <a:avLst>
              <a:gd name="adj" fmla="val 14286"/>
            </a:avLst>
          </a:prstGeom>
          <a:solidFill>
            <a:srgbClr val="F1F5F9"/>
          </a:solidFill>
          <a:ln w="12700">
            <a:solidFill>
              <a:srgbClr val="E2E8F0"/>
            </a:solidFill>
            <a:prstDash val="solid"/>
          </a:ln>
        </p:spPr>
      </p:sp>
      <p:sp>
        <p:nvSpPr>
          <p:cNvPr id="16" name="Text 13"/>
          <p:cNvSpPr txBox="1"/>
          <p:nvPr/>
        </p:nvSpPr>
        <p:spPr>
          <a:xfrm>
            <a:off x="7772400" y="4270248"/>
            <a:ext cx="822960" cy="292608"/>
          </a:xfrm>
          <a:prstGeom prst="rect">
            <a:avLst/>
          </a:prstGeom>
          <a:noFill/>
          <a:ln/>
        </p:spPr>
        <p:txBody>
          <a:bodyPr wrap="square" lIns="0" tIns="0" rIns="0" bIns="0" rtlCol="0" anchor="ctr"/>
          <a:lstStyle/>
          <a:p>
            <a:pPr indent="0" marL="0">
              <a:buNone/>
            </a:pPr>
            <a:r>
              <a:rPr lang="en-US" sz="1200" b="1" dirty="0">
                <a:solidFill>
                  <a:srgbClr val="B45309"/>
                </a:solidFill>
                <a:latin typeface="Calibri" pitchFamily="34" charset="0"/>
                <a:ea typeface="Calibri" pitchFamily="34" charset="-122"/>
                <a:cs typeface="Calibri" pitchFamily="34" charset="-120"/>
              </a:rPr>
              <a:t>1–4</a:t>
            </a:r>
            <a:endParaRPr lang="en-US" sz="1200" dirty="0"/>
          </a:p>
        </p:txBody>
      </p:sp>
      <p:sp>
        <p:nvSpPr>
          <p:cNvPr id="17" name="Text 14"/>
          <p:cNvSpPr txBox="1"/>
          <p:nvPr/>
        </p:nvSpPr>
        <p:spPr>
          <a:xfrm>
            <a:off x="8641080" y="4270248"/>
            <a:ext cx="2834640" cy="292608"/>
          </a:xfrm>
          <a:prstGeom prst="rect">
            <a:avLst/>
          </a:prstGeom>
          <a:noFill/>
          <a:ln/>
        </p:spPr>
        <p:txBody>
          <a:bodyPr wrap="square" lIns="0" tIns="0" rIns="0" bIns="0" rtlCol="0" anchor="ctr"/>
          <a:lstStyle/>
          <a:p>
            <a:pPr indent="0" marL="0">
              <a:buNone/>
            </a:pPr>
            <a:r>
              <a:rPr lang="en-US" sz="1200" dirty="0">
                <a:solidFill>
                  <a:srgbClr val="1E293B"/>
                </a:solidFill>
                <a:latin typeface="Calibri" pitchFamily="34" charset="0"/>
                <a:ea typeface="Calibri" pitchFamily="34" charset="-122"/>
                <a:cs typeface="Calibri" pitchFamily="34" charset="-120"/>
              </a:rPr>
              <a:t>Possible</a:t>
            </a:r>
            <a:endParaRPr lang="en-US" sz="1200" dirty="0"/>
          </a:p>
        </p:txBody>
      </p:sp>
      <p:sp>
        <p:nvSpPr>
          <p:cNvPr id="18" name="Shape 15"/>
          <p:cNvSpPr/>
          <p:nvPr/>
        </p:nvSpPr>
        <p:spPr>
          <a:xfrm>
            <a:off x="7589520" y="4663440"/>
            <a:ext cx="4005072" cy="384048"/>
          </a:xfrm>
          <a:prstGeom prst="roundRect">
            <a:avLst>
              <a:gd name="adj" fmla="val 14286"/>
            </a:avLst>
          </a:prstGeom>
          <a:solidFill>
            <a:srgbClr val="F1F5F9"/>
          </a:solidFill>
          <a:ln w="12700">
            <a:solidFill>
              <a:srgbClr val="E2E8F0"/>
            </a:solidFill>
            <a:prstDash val="solid"/>
          </a:ln>
        </p:spPr>
      </p:sp>
      <p:sp>
        <p:nvSpPr>
          <p:cNvPr id="19" name="Text 16"/>
          <p:cNvSpPr txBox="1"/>
          <p:nvPr/>
        </p:nvSpPr>
        <p:spPr>
          <a:xfrm>
            <a:off x="7772400" y="4709160"/>
            <a:ext cx="822960" cy="292608"/>
          </a:xfrm>
          <a:prstGeom prst="rect">
            <a:avLst/>
          </a:prstGeom>
          <a:noFill/>
          <a:ln/>
        </p:spPr>
        <p:txBody>
          <a:bodyPr wrap="square" lIns="0" tIns="0" rIns="0" bIns="0" rtlCol="0" anchor="ctr"/>
          <a:lstStyle/>
          <a:p>
            <a:pPr indent="0" marL="0">
              <a:buNone/>
            </a:pPr>
            <a:r>
              <a:rPr lang="en-US" sz="1200" b="1" dirty="0">
                <a:solidFill>
                  <a:srgbClr val="64748B"/>
                </a:solidFill>
                <a:latin typeface="Calibri" pitchFamily="34" charset="0"/>
                <a:ea typeface="Calibri" pitchFamily="34" charset="-122"/>
                <a:cs typeface="Calibri" pitchFamily="34" charset="-120"/>
              </a:rPr>
              <a:t>≤ 0</a:t>
            </a:r>
            <a:endParaRPr lang="en-US" sz="1200" dirty="0"/>
          </a:p>
        </p:txBody>
      </p:sp>
      <p:sp>
        <p:nvSpPr>
          <p:cNvPr id="20" name="Text 17"/>
          <p:cNvSpPr txBox="1"/>
          <p:nvPr/>
        </p:nvSpPr>
        <p:spPr>
          <a:xfrm>
            <a:off x="8641080" y="4709160"/>
            <a:ext cx="2834640" cy="292608"/>
          </a:xfrm>
          <a:prstGeom prst="rect">
            <a:avLst/>
          </a:prstGeom>
          <a:noFill/>
          <a:ln/>
        </p:spPr>
        <p:txBody>
          <a:bodyPr wrap="square" lIns="0" tIns="0" rIns="0" bIns="0" rtlCol="0" anchor="ctr"/>
          <a:lstStyle/>
          <a:p>
            <a:pPr indent="0" marL="0">
              <a:buNone/>
            </a:pPr>
            <a:r>
              <a:rPr lang="en-US" sz="1200" dirty="0">
                <a:solidFill>
                  <a:srgbClr val="1E293B"/>
                </a:solidFill>
                <a:latin typeface="Calibri" pitchFamily="34" charset="0"/>
                <a:ea typeface="Calibri" pitchFamily="34" charset="-122"/>
                <a:cs typeface="Calibri" pitchFamily="34" charset="-120"/>
              </a:rPr>
              <a:t>Doubtful</a:t>
            </a:r>
            <a:endParaRPr lang="en-US" sz="1200" dirty="0"/>
          </a:p>
        </p:txBody>
      </p:sp>
      <p:sp>
        <p:nvSpPr>
          <p:cNvPr id="21" name="Shape 18"/>
          <p:cNvSpPr/>
          <p:nvPr/>
        </p:nvSpPr>
        <p:spPr>
          <a:xfrm>
            <a:off x="7589520" y="5212080"/>
            <a:ext cx="4005072" cy="1188720"/>
          </a:xfrm>
          <a:prstGeom prst="roundRect">
            <a:avLst>
              <a:gd name="adj" fmla="val 4615"/>
            </a:avLst>
          </a:prstGeom>
          <a:solidFill>
            <a:srgbClr val="FEE2E2"/>
          </a:solidFill>
          <a:ln w="12700">
            <a:solidFill>
              <a:srgbClr val="E2E8F0"/>
            </a:solidFill>
            <a:prstDash val="solid"/>
          </a:ln>
        </p:spPr>
      </p:sp>
      <p:sp>
        <p:nvSpPr>
          <p:cNvPr id="22" name="Text 19"/>
          <p:cNvSpPr txBox="1"/>
          <p:nvPr/>
        </p:nvSpPr>
        <p:spPr>
          <a:xfrm>
            <a:off x="7845552" y="5358384"/>
            <a:ext cx="3520440" cy="274320"/>
          </a:xfrm>
          <a:prstGeom prst="rect">
            <a:avLst/>
          </a:prstGeom>
          <a:noFill/>
          <a:ln/>
        </p:spPr>
        <p:txBody>
          <a:bodyPr wrap="square" lIns="0" tIns="0" rIns="0" bIns="0" rtlCol="0" anchor="t"/>
          <a:lstStyle/>
          <a:p>
            <a:pPr indent="0" marL="0">
              <a:buNone/>
            </a:pPr>
            <a:r>
              <a:rPr lang="en-US" sz="1300" b="1" dirty="0">
                <a:solidFill>
                  <a:srgbClr val="B91C1C"/>
                </a:solidFill>
                <a:latin typeface="Cambria" pitchFamily="34" charset="0"/>
                <a:ea typeface="Cambria" pitchFamily="34" charset="-122"/>
                <a:cs typeface="Cambria" pitchFamily="34" charset="-120"/>
              </a:rPr>
              <a:t>A low score is not innocence</a:t>
            </a:r>
            <a:endParaRPr lang="en-US" sz="1300" dirty="0"/>
          </a:p>
        </p:txBody>
      </p:sp>
      <p:sp>
        <p:nvSpPr>
          <p:cNvPr id="23" name="Text 20"/>
          <p:cNvSpPr txBox="1"/>
          <p:nvPr/>
        </p:nvSpPr>
        <p:spPr>
          <a:xfrm>
            <a:off x="7845552" y="5669280"/>
            <a:ext cx="3520440" cy="676656"/>
          </a:xfrm>
          <a:prstGeom prst="rect">
            <a:avLst/>
          </a:prstGeom>
          <a:noFill/>
          <a:ln/>
        </p:spPr>
        <p:txBody>
          <a:bodyPr wrap="square" lIns="0" tIns="0" rIns="0" bIns="0" rtlCol="0" anchor="t"/>
          <a:lstStyle/>
          <a:p>
            <a:pPr indent="0" marL="0">
              <a:lnSpc>
                <a:spcPts val="1500"/>
              </a:lnSpc>
              <a:buNone/>
            </a:pPr>
            <a:r>
              <a:rPr lang="en-US" sz="1100" dirty="0">
                <a:solidFill>
                  <a:srgbClr val="7F1D1D"/>
                </a:solidFill>
                <a:latin typeface="Calibri" pitchFamily="34" charset="0"/>
                <a:ea typeface="Calibri" pitchFamily="34" charset="-122"/>
                <a:cs typeface="Calibri" pitchFamily="34" charset="-120"/>
              </a:rPr>
              <a:t>Rechallenge and placebo are almost never answerable, which quietly caps most real cases. Read the score as how much evidence you could GET.</a:t>
            </a:r>
            <a:endParaRPr lang="en-US" sz="11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0F2B3D"/>
        </a:solidFill>
      </p:bgPr>
    </p:bg>
    <p:spTree>
      <p:nvGrpSpPr>
        <p:cNvPr id="1" name=""/>
        <p:cNvGrpSpPr/>
        <p:nvPr/>
      </p:nvGrpSpPr>
      <p:grpSpPr>
        <a:xfrm>
          <a:off x="0" y="0"/>
          <a:ext cx="0" cy="0"/>
          <a:chOff x="0" y="0"/>
          <a:chExt cx="0" cy="0"/>
        </a:xfrm>
      </p:grpSpPr>
      <p:sp>
        <p:nvSpPr>
          <p:cNvPr id="2" name="Shape 0"/>
          <p:cNvSpPr/>
          <p:nvPr/>
        </p:nvSpPr>
        <p:spPr>
          <a:xfrm>
            <a:off x="566928" y="2057400"/>
            <a:ext cx="1051560" cy="1051560"/>
          </a:xfrm>
          <a:prstGeom prst="ellipse">
            <a:avLst/>
          </a:prstGeom>
          <a:solidFill>
            <a:srgbClr val="0E7490"/>
          </a:solidFill>
          <a:ln/>
        </p:spPr>
      </p:sp>
      <p:sp>
        <p:nvSpPr>
          <p:cNvPr id="3" name="Text 1"/>
          <p:cNvSpPr txBox="1"/>
          <p:nvPr/>
        </p:nvSpPr>
        <p:spPr>
          <a:xfrm>
            <a:off x="566928" y="2057400"/>
            <a:ext cx="1051560" cy="1051560"/>
          </a:xfrm>
          <a:prstGeom prst="rect">
            <a:avLst/>
          </a:prstGeom>
          <a:noFill/>
          <a:ln/>
        </p:spPr>
        <p:txBody>
          <a:bodyPr wrap="square" lIns="0" tIns="0" rIns="0" bIns="0" rtlCol="0" anchor="ctr"/>
          <a:lstStyle/>
          <a:p>
            <a:pPr algn="ctr" indent="0" marL="0">
              <a:buNone/>
            </a:pPr>
            <a:r>
              <a:rPr lang="en-US" sz="3400" b="1" dirty="0">
                <a:solidFill>
                  <a:srgbClr val="FFFFFF"/>
                </a:solidFill>
                <a:latin typeface="Cambria" pitchFamily="34" charset="0"/>
                <a:ea typeface="Cambria" pitchFamily="34" charset="-122"/>
                <a:cs typeface="Cambria" pitchFamily="34" charset="-120"/>
              </a:rPr>
              <a:t>7</a:t>
            </a:r>
            <a:endParaRPr lang="en-US" sz="3400" dirty="0"/>
          </a:p>
        </p:txBody>
      </p:sp>
      <p:sp>
        <p:nvSpPr>
          <p:cNvPr id="4" name="Text 2"/>
          <p:cNvSpPr txBox="1"/>
          <p:nvPr/>
        </p:nvSpPr>
        <p:spPr>
          <a:xfrm>
            <a:off x="1874520" y="2121408"/>
            <a:ext cx="8229600" cy="274320"/>
          </a:xfrm>
          <a:prstGeom prst="rect">
            <a:avLst/>
          </a:prstGeom>
          <a:noFill/>
          <a:ln/>
        </p:spPr>
        <p:txBody>
          <a:bodyPr wrap="square" lIns="0" tIns="0" rIns="0" bIns="0" rtlCol="0" anchor="ctr"/>
          <a:lstStyle/>
          <a:p>
            <a:pPr indent="0" marL="0">
              <a:buNone/>
            </a:pPr>
            <a:r>
              <a:rPr lang="en-US" sz="1200" b="1" spc="300" kern="0" dirty="0">
                <a:solidFill>
                  <a:srgbClr val="0891B2"/>
                </a:solidFill>
                <a:latin typeface="Calibri" pitchFamily="34" charset="0"/>
                <a:ea typeface="Calibri" pitchFamily="34" charset="-122"/>
                <a:cs typeface="Calibri" pitchFamily="34" charset="-120"/>
              </a:rPr>
              <a:t>Part seven</a:t>
            </a:r>
            <a:endParaRPr lang="en-US" sz="1200" dirty="0"/>
          </a:p>
        </p:txBody>
      </p:sp>
      <p:sp>
        <p:nvSpPr>
          <p:cNvPr id="5" name="Text 3"/>
          <p:cNvSpPr txBox="1"/>
          <p:nvPr/>
        </p:nvSpPr>
        <p:spPr>
          <a:xfrm>
            <a:off x="1874520" y="2395728"/>
            <a:ext cx="9326880" cy="1143000"/>
          </a:xfrm>
          <a:prstGeom prst="rect">
            <a:avLst/>
          </a:prstGeom>
          <a:noFill/>
          <a:ln/>
        </p:spPr>
        <p:txBody>
          <a:bodyPr wrap="square" lIns="0" tIns="0" rIns="0" bIns="0" rtlCol="0" anchor="t"/>
          <a:lstStyle/>
          <a:p>
            <a:pPr indent="0" marL="0">
              <a:lnSpc>
                <a:spcPts val="4600"/>
              </a:lnSpc>
              <a:buNone/>
            </a:pPr>
            <a:r>
              <a:rPr lang="en-US" sz="4000" b="1" dirty="0">
                <a:solidFill>
                  <a:srgbClr val="FFFFFF"/>
                </a:solidFill>
                <a:latin typeface="Cambria" pitchFamily="34" charset="0"/>
                <a:ea typeface="Cambria" pitchFamily="34" charset="-122"/>
                <a:cs typeface="Cambria" pitchFamily="34" charset="-120"/>
              </a:rPr>
              <a:t>Coding and building the report</a:t>
            </a:r>
            <a:endParaRPr lang="en-US" sz="4000" dirty="0"/>
          </a:p>
        </p:txBody>
      </p:sp>
      <p:sp>
        <p:nvSpPr>
          <p:cNvPr id="6" name="Text 4"/>
          <p:cNvSpPr txBox="1"/>
          <p:nvPr/>
        </p:nvSpPr>
        <p:spPr>
          <a:xfrm>
            <a:off x="1874520" y="3639312"/>
            <a:ext cx="8778240" cy="822960"/>
          </a:xfrm>
          <a:prstGeom prst="rect">
            <a:avLst/>
          </a:prstGeom>
          <a:noFill/>
          <a:ln/>
        </p:spPr>
        <p:txBody>
          <a:bodyPr wrap="square" lIns="0" tIns="0" rIns="0" bIns="0" rtlCol="0" anchor="t"/>
          <a:lstStyle/>
          <a:p>
            <a:pPr indent="0" marL="0">
              <a:lnSpc>
                <a:spcPts val="2400"/>
              </a:lnSpc>
              <a:buNone/>
            </a:pPr>
            <a:r>
              <a:rPr lang="en-US" sz="1550" dirty="0">
                <a:solidFill>
                  <a:srgbClr val="CBD5E1"/>
                </a:solidFill>
                <a:latin typeface="Calibri" pitchFamily="34" charset="0"/>
                <a:ea typeface="Calibri" pitchFamily="34" charset="-122"/>
                <a:cs typeface="Calibri" pitchFamily="34" charset="-120"/>
              </a:rPr>
              <a:t>The patient’s words are not the coded term, and both belong in the report.</a:t>
            </a:r>
            <a:endParaRPr lang="en-US" sz="15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84048"/>
            <a:ext cx="10058400" cy="256032"/>
          </a:xfrm>
          <a:prstGeom prst="rect">
            <a:avLst/>
          </a:prstGeom>
          <a:noFill/>
          <a:ln/>
        </p:spPr>
        <p:txBody>
          <a:bodyPr wrap="square" lIns="0" tIns="0" rIns="0" bIns="0" rtlCol="0" anchor="ctr"/>
          <a:lstStyle/>
          <a:p>
            <a:pPr indent="0" marL="0">
              <a:buNone/>
            </a:pPr>
            <a:r>
              <a:rPr lang="en-US" sz="1100" b="1" spc="250" kern="0" dirty="0">
                <a:solidFill>
                  <a:srgbClr val="0E7490"/>
                </a:solidFill>
                <a:latin typeface="Calibri" pitchFamily="34" charset="0"/>
                <a:ea typeface="Calibri" pitchFamily="34" charset="-122"/>
                <a:cs typeface="Calibri" pitchFamily="34" charset="-120"/>
              </a:rPr>
              <a:t>Coding a reaction</a:t>
            </a:r>
            <a:endParaRPr lang="en-US" sz="1100" dirty="0"/>
          </a:p>
        </p:txBody>
      </p:sp>
      <p:sp>
        <p:nvSpPr>
          <p:cNvPr id="3" name="Text 1"/>
          <p:cNvSpPr txBox="1"/>
          <p:nvPr/>
        </p:nvSpPr>
        <p:spPr>
          <a:xfrm>
            <a:off x="566928" y="640080"/>
            <a:ext cx="11064240" cy="548640"/>
          </a:xfrm>
          <a:prstGeom prst="rect">
            <a:avLst/>
          </a:prstGeom>
          <a:noFill/>
          <a:ln/>
        </p:spPr>
        <p:txBody>
          <a:bodyPr wrap="square" lIns="0" tIns="0" rIns="0" bIns="0" rtlCol="0" anchor="t"/>
          <a:lstStyle/>
          <a:p>
            <a:pPr indent="0" marL="0">
              <a:lnSpc>
                <a:spcPts val="3800"/>
              </a:lnSpc>
              <a:buNone/>
            </a:pPr>
            <a:r>
              <a:rPr lang="en-US" sz="3100" b="1" dirty="0">
                <a:solidFill>
                  <a:srgbClr val="0F2B3D"/>
                </a:solidFill>
                <a:latin typeface="Cambria" pitchFamily="34" charset="0"/>
                <a:ea typeface="Cambria" pitchFamily="34" charset="-122"/>
                <a:cs typeface="Cambria" pitchFamily="34" charset="-120"/>
              </a:rPr>
              <a:t>The same complaint, at four levels</a:t>
            </a:r>
            <a:endParaRPr lang="en-US" sz="3100" dirty="0"/>
          </a:p>
        </p:txBody>
      </p:sp>
      <p:sp>
        <p:nvSpPr>
          <p:cNvPr id="4" name="Shape 2"/>
          <p:cNvSpPr/>
          <p:nvPr/>
        </p:nvSpPr>
        <p:spPr>
          <a:xfrm>
            <a:off x="566928" y="1655064"/>
            <a:ext cx="420624" cy="420624"/>
          </a:xfrm>
          <a:prstGeom prst="ellipse">
            <a:avLst/>
          </a:prstGeom>
          <a:solidFill>
            <a:srgbClr val="C40D16"/>
          </a:solidFill>
          <a:ln/>
        </p:spPr>
      </p:sp>
      <p:sp>
        <p:nvSpPr>
          <p:cNvPr id="5" name="Text 3"/>
          <p:cNvSpPr txBox="1"/>
          <p:nvPr/>
        </p:nvSpPr>
        <p:spPr>
          <a:xfrm>
            <a:off x="566928" y="1655064"/>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6" name="Shape 4"/>
          <p:cNvSpPr/>
          <p:nvPr/>
        </p:nvSpPr>
        <p:spPr>
          <a:xfrm>
            <a:off x="1188720" y="1508760"/>
            <a:ext cx="6172200" cy="987552"/>
          </a:xfrm>
          <a:prstGeom prst="roundRect">
            <a:avLst>
              <a:gd name="adj" fmla="val 5556"/>
            </a:avLst>
          </a:prstGeom>
          <a:solidFill>
            <a:srgbClr val="F1F5F9"/>
          </a:solidFill>
          <a:ln w="12700">
            <a:solidFill>
              <a:srgbClr val="E2E8F0"/>
            </a:solidFill>
            <a:prstDash val="solid"/>
          </a:ln>
        </p:spPr>
      </p:sp>
      <p:sp>
        <p:nvSpPr>
          <p:cNvPr id="7" name="Text 5"/>
          <p:cNvSpPr txBox="1"/>
          <p:nvPr/>
        </p:nvSpPr>
        <p:spPr>
          <a:xfrm>
            <a:off x="1435608" y="1627632"/>
            <a:ext cx="2377440" cy="256032"/>
          </a:xfrm>
          <a:prstGeom prst="rect">
            <a:avLst/>
          </a:prstGeom>
          <a:noFill/>
          <a:ln/>
        </p:spPr>
        <p:txBody>
          <a:bodyPr wrap="square" lIns="0" tIns="0" rIns="0" bIns="0" rtlCol="0" anchor="t"/>
          <a:lstStyle/>
          <a:p>
            <a:pPr indent="0" marL="0">
              <a:buNone/>
            </a:pPr>
            <a:r>
              <a:rPr lang="en-US" sz="1100" b="1" spc="150" kern="0" dirty="0">
                <a:solidFill>
                  <a:srgbClr val="C40D16"/>
                </a:solidFill>
                <a:latin typeface="Calibri" pitchFamily="34" charset="0"/>
                <a:ea typeface="Calibri" pitchFamily="34" charset="-122"/>
                <a:cs typeface="Calibri" pitchFamily="34" charset="-120"/>
              </a:rPr>
              <a:t>What the patient said</a:t>
            </a:r>
            <a:endParaRPr lang="en-US" sz="1100" dirty="0"/>
          </a:p>
        </p:txBody>
      </p:sp>
      <p:sp>
        <p:nvSpPr>
          <p:cNvPr id="8" name="Text 6"/>
          <p:cNvSpPr txBox="1"/>
          <p:nvPr/>
        </p:nvSpPr>
        <p:spPr>
          <a:xfrm>
            <a:off x="1435608" y="1874520"/>
            <a:ext cx="5669280" cy="329184"/>
          </a:xfrm>
          <a:prstGeom prst="rect">
            <a:avLst/>
          </a:prstGeom>
          <a:noFill/>
          <a:ln/>
        </p:spPr>
        <p:txBody>
          <a:bodyPr wrap="square" lIns="0" tIns="0" rIns="0" bIns="0" rtlCol="0" anchor="t"/>
          <a:lstStyle/>
          <a:p>
            <a:pPr indent="0" marL="0">
              <a:buNone/>
            </a:pPr>
            <a:r>
              <a:rPr lang="en-US" sz="1600" b="1" dirty="0">
                <a:solidFill>
                  <a:srgbClr val="0F2B3D"/>
                </a:solidFill>
                <a:latin typeface="Cambria" pitchFamily="34" charset="0"/>
                <a:ea typeface="Cambria" pitchFamily="34" charset="-122"/>
                <a:cs typeface="Cambria" pitchFamily="34" charset="-120"/>
              </a:rPr>
              <a:t>"Swelling around both ankles"</a:t>
            </a:r>
            <a:endParaRPr lang="en-US" sz="1600" dirty="0"/>
          </a:p>
        </p:txBody>
      </p:sp>
      <p:sp>
        <p:nvSpPr>
          <p:cNvPr id="9" name="Text 7"/>
          <p:cNvSpPr txBox="1"/>
          <p:nvPr/>
        </p:nvSpPr>
        <p:spPr>
          <a:xfrm>
            <a:off x="1435608" y="2212848"/>
            <a:ext cx="5669280" cy="237744"/>
          </a:xfrm>
          <a:prstGeom prst="rect">
            <a:avLst/>
          </a:prstGeom>
          <a:noFill/>
          <a:ln/>
        </p:spPr>
        <p:txBody>
          <a:bodyPr wrap="square" lIns="0" tIns="0" rIns="0" bIns="0" rtlCol="0" anchor="t"/>
          <a:lstStyle/>
          <a:p>
            <a:pPr indent="0" marL="0">
              <a:buNone/>
            </a:pPr>
            <a:r>
              <a:rPr lang="en-US" sz="1100" dirty="0">
                <a:solidFill>
                  <a:srgbClr val="64748B"/>
                </a:solidFill>
                <a:latin typeface="Calibri" pitchFamily="34" charset="0"/>
                <a:ea typeface="Calibri" pitchFamily="34" charset="-122"/>
                <a:cs typeface="Calibri" pitchFamily="34" charset="-120"/>
              </a:rPr>
              <a:t>The verbatim record. Never discard it.</a:t>
            </a:r>
            <a:endParaRPr lang="en-US" sz="1100" dirty="0"/>
          </a:p>
        </p:txBody>
      </p:sp>
      <p:sp>
        <p:nvSpPr>
          <p:cNvPr id="10" name="Text 8"/>
          <p:cNvSpPr txBox="1"/>
          <p:nvPr/>
        </p:nvSpPr>
        <p:spPr>
          <a:xfrm>
            <a:off x="713232" y="2167128"/>
            <a:ext cx="256032" cy="365760"/>
          </a:xfrm>
          <a:prstGeom prst="rect">
            <a:avLst/>
          </a:prstGeom>
          <a:noFill/>
          <a:ln/>
        </p:spPr>
        <p:txBody>
          <a:bodyPr wrap="square" lIns="0" tIns="0" rIns="0" bIns="0" rtlCol="0" anchor="ctr"/>
          <a:lstStyle/>
          <a:p>
            <a:pPr algn="ctr" indent="0" marL="0">
              <a:buNone/>
            </a:pPr>
            <a:r>
              <a:rPr lang="en-US" sz="1500" dirty="0">
                <a:solidFill>
                  <a:srgbClr val="94A3B8"/>
                </a:solidFill>
                <a:latin typeface="Calibri" pitchFamily="34" charset="0"/>
                <a:ea typeface="Calibri" pitchFamily="34" charset="-122"/>
                <a:cs typeface="Calibri" pitchFamily="34" charset="-120"/>
              </a:rPr>
              <a:t>↓</a:t>
            </a:r>
            <a:endParaRPr lang="en-US" sz="1500" dirty="0"/>
          </a:p>
        </p:txBody>
      </p:sp>
      <p:sp>
        <p:nvSpPr>
          <p:cNvPr id="11" name="Shape 9"/>
          <p:cNvSpPr/>
          <p:nvPr/>
        </p:nvSpPr>
        <p:spPr>
          <a:xfrm>
            <a:off x="566928" y="2798064"/>
            <a:ext cx="420624" cy="420624"/>
          </a:xfrm>
          <a:prstGeom prst="ellipse">
            <a:avLst/>
          </a:prstGeom>
          <a:solidFill>
            <a:srgbClr val="B45309"/>
          </a:solidFill>
          <a:ln/>
        </p:spPr>
      </p:sp>
      <p:sp>
        <p:nvSpPr>
          <p:cNvPr id="12" name="Text 10"/>
          <p:cNvSpPr txBox="1"/>
          <p:nvPr/>
        </p:nvSpPr>
        <p:spPr>
          <a:xfrm>
            <a:off x="566928" y="2798064"/>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3" name="Shape 11"/>
          <p:cNvSpPr/>
          <p:nvPr/>
        </p:nvSpPr>
        <p:spPr>
          <a:xfrm>
            <a:off x="1188720" y="2651760"/>
            <a:ext cx="6172200" cy="987552"/>
          </a:xfrm>
          <a:prstGeom prst="roundRect">
            <a:avLst>
              <a:gd name="adj" fmla="val 5556"/>
            </a:avLst>
          </a:prstGeom>
          <a:solidFill>
            <a:srgbClr val="F1F5F9"/>
          </a:solidFill>
          <a:ln w="12700">
            <a:solidFill>
              <a:srgbClr val="E2E8F0"/>
            </a:solidFill>
            <a:prstDash val="solid"/>
          </a:ln>
        </p:spPr>
      </p:sp>
      <p:sp>
        <p:nvSpPr>
          <p:cNvPr id="14" name="Text 12"/>
          <p:cNvSpPr txBox="1"/>
          <p:nvPr/>
        </p:nvSpPr>
        <p:spPr>
          <a:xfrm>
            <a:off x="1435608" y="2770632"/>
            <a:ext cx="2377440" cy="256032"/>
          </a:xfrm>
          <a:prstGeom prst="rect">
            <a:avLst/>
          </a:prstGeom>
          <a:noFill/>
          <a:ln/>
        </p:spPr>
        <p:txBody>
          <a:bodyPr wrap="square" lIns="0" tIns="0" rIns="0" bIns="0" rtlCol="0" anchor="t"/>
          <a:lstStyle/>
          <a:p>
            <a:pPr indent="0" marL="0">
              <a:buNone/>
            </a:pPr>
            <a:r>
              <a:rPr lang="en-US" sz="1100" b="1" spc="150" kern="0" dirty="0">
                <a:solidFill>
                  <a:srgbClr val="B45309"/>
                </a:solidFill>
                <a:latin typeface="Calibri" pitchFamily="34" charset="0"/>
                <a:ea typeface="Calibri" pitchFamily="34" charset="-122"/>
                <a:cs typeface="Calibri" pitchFamily="34" charset="-120"/>
              </a:rPr>
              <a:t>Lowest level term</a:t>
            </a:r>
            <a:endParaRPr lang="en-US" sz="1100" dirty="0"/>
          </a:p>
        </p:txBody>
      </p:sp>
      <p:sp>
        <p:nvSpPr>
          <p:cNvPr id="15" name="Text 13"/>
          <p:cNvSpPr txBox="1"/>
          <p:nvPr/>
        </p:nvSpPr>
        <p:spPr>
          <a:xfrm>
            <a:off x="1435608" y="3017520"/>
            <a:ext cx="5669280" cy="329184"/>
          </a:xfrm>
          <a:prstGeom prst="rect">
            <a:avLst/>
          </a:prstGeom>
          <a:noFill/>
          <a:ln/>
        </p:spPr>
        <p:txBody>
          <a:bodyPr wrap="square" lIns="0" tIns="0" rIns="0" bIns="0" rtlCol="0" anchor="t"/>
          <a:lstStyle/>
          <a:p>
            <a:pPr indent="0" marL="0">
              <a:buNone/>
            </a:pPr>
            <a:r>
              <a:rPr lang="en-US" sz="1600" b="1" dirty="0">
                <a:solidFill>
                  <a:srgbClr val="0F2B3D"/>
                </a:solidFill>
                <a:latin typeface="Cambria" pitchFamily="34" charset="0"/>
                <a:ea typeface="Cambria" pitchFamily="34" charset="-122"/>
                <a:cs typeface="Cambria" pitchFamily="34" charset="-120"/>
              </a:rPr>
              <a:t>Ankle swelling</a:t>
            </a:r>
            <a:endParaRPr lang="en-US" sz="1600" dirty="0"/>
          </a:p>
        </p:txBody>
      </p:sp>
      <p:sp>
        <p:nvSpPr>
          <p:cNvPr id="16" name="Text 14"/>
          <p:cNvSpPr txBox="1"/>
          <p:nvPr/>
        </p:nvSpPr>
        <p:spPr>
          <a:xfrm>
            <a:off x="1435608" y="3355848"/>
            <a:ext cx="5669280" cy="237744"/>
          </a:xfrm>
          <a:prstGeom prst="rect">
            <a:avLst/>
          </a:prstGeom>
          <a:noFill/>
          <a:ln/>
        </p:spPr>
        <p:txBody>
          <a:bodyPr wrap="square" lIns="0" tIns="0" rIns="0" bIns="0" rtlCol="0" anchor="t"/>
          <a:lstStyle/>
          <a:p>
            <a:pPr indent="0" marL="0">
              <a:buNone/>
            </a:pPr>
            <a:r>
              <a:rPr lang="en-US" sz="1100" dirty="0">
                <a:solidFill>
                  <a:srgbClr val="64748B"/>
                </a:solidFill>
                <a:latin typeface="Calibri" pitchFamily="34" charset="0"/>
                <a:ea typeface="Calibri" pitchFamily="34" charset="-122"/>
                <a:cs typeface="Calibri" pitchFamily="34" charset="-120"/>
              </a:rPr>
              <a:t>The phrasing the dictionary recognises.</a:t>
            </a:r>
            <a:endParaRPr lang="en-US" sz="1100" dirty="0"/>
          </a:p>
        </p:txBody>
      </p:sp>
      <p:sp>
        <p:nvSpPr>
          <p:cNvPr id="17" name="Text 15"/>
          <p:cNvSpPr txBox="1"/>
          <p:nvPr/>
        </p:nvSpPr>
        <p:spPr>
          <a:xfrm>
            <a:off x="713232" y="3310128"/>
            <a:ext cx="256032" cy="365760"/>
          </a:xfrm>
          <a:prstGeom prst="rect">
            <a:avLst/>
          </a:prstGeom>
          <a:noFill/>
          <a:ln/>
        </p:spPr>
        <p:txBody>
          <a:bodyPr wrap="square" lIns="0" tIns="0" rIns="0" bIns="0" rtlCol="0" anchor="ctr"/>
          <a:lstStyle/>
          <a:p>
            <a:pPr algn="ctr" indent="0" marL="0">
              <a:buNone/>
            </a:pPr>
            <a:r>
              <a:rPr lang="en-US" sz="1500" dirty="0">
                <a:solidFill>
                  <a:srgbClr val="94A3B8"/>
                </a:solidFill>
                <a:latin typeface="Calibri" pitchFamily="34" charset="0"/>
                <a:ea typeface="Calibri" pitchFamily="34" charset="-122"/>
                <a:cs typeface="Calibri" pitchFamily="34" charset="-120"/>
              </a:rPr>
              <a:t>↓</a:t>
            </a:r>
            <a:endParaRPr lang="en-US" sz="1500" dirty="0"/>
          </a:p>
        </p:txBody>
      </p:sp>
      <p:sp>
        <p:nvSpPr>
          <p:cNvPr id="18" name="Shape 16"/>
          <p:cNvSpPr/>
          <p:nvPr/>
        </p:nvSpPr>
        <p:spPr>
          <a:xfrm>
            <a:off x="566928" y="3941064"/>
            <a:ext cx="420624" cy="420624"/>
          </a:xfrm>
          <a:prstGeom prst="ellipse">
            <a:avLst/>
          </a:prstGeom>
          <a:solidFill>
            <a:srgbClr val="0E7490"/>
          </a:solidFill>
          <a:ln/>
        </p:spPr>
      </p:sp>
      <p:sp>
        <p:nvSpPr>
          <p:cNvPr id="19" name="Text 17"/>
          <p:cNvSpPr txBox="1"/>
          <p:nvPr/>
        </p:nvSpPr>
        <p:spPr>
          <a:xfrm>
            <a:off x="566928" y="3941064"/>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20" name="Shape 18"/>
          <p:cNvSpPr/>
          <p:nvPr/>
        </p:nvSpPr>
        <p:spPr>
          <a:xfrm>
            <a:off x="1188720" y="3794760"/>
            <a:ext cx="6172200" cy="987552"/>
          </a:xfrm>
          <a:prstGeom prst="roundRect">
            <a:avLst>
              <a:gd name="adj" fmla="val 5556"/>
            </a:avLst>
          </a:prstGeom>
          <a:solidFill>
            <a:srgbClr val="F1F5F9"/>
          </a:solidFill>
          <a:ln w="12700">
            <a:solidFill>
              <a:srgbClr val="E2E8F0"/>
            </a:solidFill>
            <a:prstDash val="solid"/>
          </a:ln>
        </p:spPr>
      </p:sp>
      <p:sp>
        <p:nvSpPr>
          <p:cNvPr id="21" name="Text 19"/>
          <p:cNvSpPr txBox="1"/>
          <p:nvPr/>
        </p:nvSpPr>
        <p:spPr>
          <a:xfrm>
            <a:off x="1435608" y="3913632"/>
            <a:ext cx="2377440" cy="256032"/>
          </a:xfrm>
          <a:prstGeom prst="rect">
            <a:avLst/>
          </a:prstGeom>
          <a:noFill/>
          <a:ln/>
        </p:spPr>
        <p:txBody>
          <a:bodyPr wrap="square" lIns="0" tIns="0" rIns="0" bIns="0" rtlCol="0" anchor="t"/>
          <a:lstStyle/>
          <a:p>
            <a:pPr indent="0" marL="0">
              <a:buNone/>
            </a:pPr>
            <a:r>
              <a:rPr lang="en-US" sz="1100" b="1" spc="150" kern="0" dirty="0">
                <a:solidFill>
                  <a:srgbClr val="0E7490"/>
                </a:solidFill>
                <a:latin typeface="Calibri" pitchFamily="34" charset="0"/>
                <a:ea typeface="Calibri" pitchFamily="34" charset="-122"/>
                <a:cs typeface="Calibri" pitchFamily="34" charset="-120"/>
              </a:rPr>
              <a:t>Preferred term</a:t>
            </a:r>
            <a:endParaRPr lang="en-US" sz="1100" dirty="0"/>
          </a:p>
        </p:txBody>
      </p:sp>
      <p:sp>
        <p:nvSpPr>
          <p:cNvPr id="22" name="Text 20"/>
          <p:cNvSpPr txBox="1"/>
          <p:nvPr/>
        </p:nvSpPr>
        <p:spPr>
          <a:xfrm>
            <a:off x="1435608" y="4160520"/>
            <a:ext cx="5669280" cy="329184"/>
          </a:xfrm>
          <a:prstGeom prst="rect">
            <a:avLst/>
          </a:prstGeom>
          <a:noFill/>
          <a:ln/>
        </p:spPr>
        <p:txBody>
          <a:bodyPr wrap="square" lIns="0" tIns="0" rIns="0" bIns="0" rtlCol="0" anchor="t"/>
          <a:lstStyle/>
          <a:p>
            <a:pPr indent="0" marL="0">
              <a:buNone/>
            </a:pPr>
            <a:r>
              <a:rPr lang="en-US" sz="1600" b="1" dirty="0">
                <a:solidFill>
                  <a:srgbClr val="0F2B3D"/>
                </a:solidFill>
                <a:latin typeface="Cambria" pitchFamily="34" charset="0"/>
                <a:ea typeface="Cambria" pitchFamily="34" charset="-122"/>
                <a:cs typeface="Cambria" pitchFamily="34" charset="-120"/>
              </a:rPr>
              <a:t>Peripheral oedema</a:t>
            </a:r>
            <a:endParaRPr lang="en-US" sz="1600" dirty="0"/>
          </a:p>
        </p:txBody>
      </p:sp>
      <p:sp>
        <p:nvSpPr>
          <p:cNvPr id="23" name="Text 21"/>
          <p:cNvSpPr txBox="1"/>
          <p:nvPr/>
        </p:nvSpPr>
        <p:spPr>
          <a:xfrm>
            <a:off x="1435608" y="4498848"/>
            <a:ext cx="5669280" cy="237744"/>
          </a:xfrm>
          <a:prstGeom prst="rect">
            <a:avLst/>
          </a:prstGeom>
          <a:noFill/>
          <a:ln/>
        </p:spPr>
        <p:txBody>
          <a:bodyPr wrap="square" lIns="0" tIns="0" rIns="0" bIns="0" rtlCol="0" anchor="t"/>
          <a:lstStyle/>
          <a:p>
            <a:pPr indent="0" marL="0">
              <a:buNone/>
            </a:pPr>
            <a:r>
              <a:rPr lang="en-US" sz="1100" dirty="0">
                <a:solidFill>
                  <a:srgbClr val="64748B"/>
                </a:solidFill>
                <a:latin typeface="Calibri" pitchFamily="34" charset="0"/>
                <a:ea typeface="Calibri" pitchFamily="34" charset="-122"/>
                <a:cs typeface="Calibri" pitchFamily="34" charset="-120"/>
              </a:rPr>
              <a:t>What the case is coded to.</a:t>
            </a:r>
            <a:endParaRPr lang="en-US" sz="1100" dirty="0"/>
          </a:p>
        </p:txBody>
      </p:sp>
      <p:sp>
        <p:nvSpPr>
          <p:cNvPr id="24" name="Text 22"/>
          <p:cNvSpPr txBox="1"/>
          <p:nvPr/>
        </p:nvSpPr>
        <p:spPr>
          <a:xfrm>
            <a:off x="713232" y="4453128"/>
            <a:ext cx="256032" cy="365760"/>
          </a:xfrm>
          <a:prstGeom prst="rect">
            <a:avLst/>
          </a:prstGeom>
          <a:noFill/>
          <a:ln/>
        </p:spPr>
        <p:txBody>
          <a:bodyPr wrap="square" lIns="0" tIns="0" rIns="0" bIns="0" rtlCol="0" anchor="ctr"/>
          <a:lstStyle/>
          <a:p>
            <a:pPr algn="ctr" indent="0" marL="0">
              <a:buNone/>
            </a:pPr>
            <a:r>
              <a:rPr lang="en-US" sz="1500" dirty="0">
                <a:solidFill>
                  <a:srgbClr val="94A3B8"/>
                </a:solidFill>
                <a:latin typeface="Calibri" pitchFamily="34" charset="0"/>
                <a:ea typeface="Calibri" pitchFamily="34" charset="-122"/>
                <a:cs typeface="Calibri" pitchFamily="34" charset="-120"/>
              </a:rPr>
              <a:t>↓</a:t>
            </a:r>
            <a:endParaRPr lang="en-US" sz="1500" dirty="0"/>
          </a:p>
        </p:txBody>
      </p:sp>
      <p:sp>
        <p:nvSpPr>
          <p:cNvPr id="25" name="Shape 23"/>
          <p:cNvSpPr/>
          <p:nvPr/>
        </p:nvSpPr>
        <p:spPr>
          <a:xfrm>
            <a:off x="566928" y="5084064"/>
            <a:ext cx="420624" cy="420624"/>
          </a:xfrm>
          <a:prstGeom prst="ellipse">
            <a:avLst/>
          </a:prstGeom>
          <a:solidFill>
            <a:srgbClr val="0F2B3D"/>
          </a:solidFill>
          <a:ln/>
        </p:spPr>
      </p:sp>
      <p:sp>
        <p:nvSpPr>
          <p:cNvPr id="26" name="Text 24"/>
          <p:cNvSpPr txBox="1"/>
          <p:nvPr/>
        </p:nvSpPr>
        <p:spPr>
          <a:xfrm>
            <a:off x="566928" y="5084064"/>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27" name="Shape 25"/>
          <p:cNvSpPr/>
          <p:nvPr/>
        </p:nvSpPr>
        <p:spPr>
          <a:xfrm>
            <a:off x="1188720" y="4937760"/>
            <a:ext cx="6172200" cy="987552"/>
          </a:xfrm>
          <a:prstGeom prst="roundRect">
            <a:avLst>
              <a:gd name="adj" fmla="val 5556"/>
            </a:avLst>
          </a:prstGeom>
          <a:solidFill>
            <a:srgbClr val="F1F5F9"/>
          </a:solidFill>
          <a:ln w="12700">
            <a:solidFill>
              <a:srgbClr val="E2E8F0"/>
            </a:solidFill>
            <a:prstDash val="solid"/>
          </a:ln>
        </p:spPr>
      </p:sp>
      <p:sp>
        <p:nvSpPr>
          <p:cNvPr id="28" name="Text 26"/>
          <p:cNvSpPr txBox="1"/>
          <p:nvPr/>
        </p:nvSpPr>
        <p:spPr>
          <a:xfrm>
            <a:off x="1435608" y="5056632"/>
            <a:ext cx="2377440" cy="256032"/>
          </a:xfrm>
          <a:prstGeom prst="rect">
            <a:avLst/>
          </a:prstGeom>
          <a:noFill/>
          <a:ln/>
        </p:spPr>
        <p:txBody>
          <a:bodyPr wrap="square" lIns="0" tIns="0" rIns="0" bIns="0" rtlCol="0" anchor="t"/>
          <a:lstStyle/>
          <a:p>
            <a:pPr indent="0" marL="0">
              <a:buNone/>
            </a:pPr>
            <a:r>
              <a:rPr lang="en-US" sz="1100" b="1" spc="150" kern="0" dirty="0">
                <a:solidFill>
                  <a:srgbClr val="0F2B3D"/>
                </a:solidFill>
                <a:latin typeface="Calibri" pitchFamily="34" charset="0"/>
                <a:ea typeface="Calibri" pitchFamily="34" charset="-122"/>
                <a:cs typeface="Calibri" pitchFamily="34" charset="-120"/>
              </a:rPr>
              <a:t>System organ class</a:t>
            </a:r>
            <a:endParaRPr lang="en-US" sz="1100" dirty="0"/>
          </a:p>
        </p:txBody>
      </p:sp>
      <p:sp>
        <p:nvSpPr>
          <p:cNvPr id="29" name="Text 27"/>
          <p:cNvSpPr txBox="1"/>
          <p:nvPr/>
        </p:nvSpPr>
        <p:spPr>
          <a:xfrm>
            <a:off x="1435608" y="5303520"/>
            <a:ext cx="5669280" cy="329184"/>
          </a:xfrm>
          <a:prstGeom prst="rect">
            <a:avLst/>
          </a:prstGeom>
          <a:noFill/>
          <a:ln/>
        </p:spPr>
        <p:txBody>
          <a:bodyPr wrap="square" lIns="0" tIns="0" rIns="0" bIns="0" rtlCol="0" anchor="t"/>
          <a:lstStyle/>
          <a:p>
            <a:pPr indent="0" marL="0">
              <a:buNone/>
            </a:pPr>
            <a:r>
              <a:rPr lang="en-US" sz="1600" b="1" dirty="0">
                <a:solidFill>
                  <a:srgbClr val="0F2B3D"/>
                </a:solidFill>
                <a:latin typeface="Cambria" pitchFamily="34" charset="0"/>
                <a:ea typeface="Cambria" pitchFamily="34" charset="-122"/>
                <a:cs typeface="Cambria" pitchFamily="34" charset="-120"/>
              </a:rPr>
              <a:t>General disorders</a:t>
            </a:r>
            <a:endParaRPr lang="en-US" sz="1600" dirty="0"/>
          </a:p>
        </p:txBody>
      </p:sp>
      <p:sp>
        <p:nvSpPr>
          <p:cNvPr id="30" name="Text 28"/>
          <p:cNvSpPr txBox="1"/>
          <p:nvPr/>
        </p:nvSpPr>
        <p:spPr>
          <a:xfrm>
            <a:off x="1435608" y="5641848"/>
            <a:ext cx="5669280" cy="237744"/>
          </a:xfrm>
          <a:prstGeom prst="rect">
            <a:avLst/>
          </a:prstGeom>
          <a:noFill/>
          <a:ln/>
        </p:spPr>
        <p:txBody>
          <a:bodyPr wrap="square" lIns="0" tIns="0" rIns="0" bIns="0" rtlCol="0" anchor="t"/>
          <a:lstStyle/>
          <a:p>
            <a:pPr indent="0" marL="0">
              <a:buNone/>
            </a:pPr>
            <a:r>
              <a:rPr lang="en-US" sz="1100" dirty="0">
                <a:solidFill>
                  <a:srgbClr val="64748B"/>
                </a:solidFill>
                <a:latin typeface="Calibri" pitchFamily="34" charset="0"/>
                <a:ea typeface="Calibri" pitchFamily="34" charset="-122"/>
                <a:cs typeface="Calibri" pitchFamily="34" charset="-120"/>
              </a:rPr>
              <a:t>How the database groups it.</a:t>
            </a:r>
            <a:endParaRPr lang="en-US" sz="1100" dirty="0"/>
          </a:p>
        </p:txBody>
      </p:sp>
      <p:sp>
        <p:nvSpPr>
          <p:cNvPr id="31" name="Shape 29"/>
          <p:cNvSpPr/>
          <p:nvPr/>
        </p:nvSpPr>
        <p:spPr>
          <a:xfrm>
            <a:off x="7543800" y="1508760"/>
            <a:ext cx="4050792" cy="2103120"/>
          </a:xfrm>
          <a:prstGeom prst="roundRect">
            <a:avLst>
              <a:gd name="adj" fmla="val 2609"/>
            </a:avLst>
          </a:prstGeom>
          <a:solidFill>
            <a:srgbClr val="FEE2E2"/>
          </a:solidFill>
          <a:ln w="12700">
            <a:solidFill>
              <a:srgbClr val="E2E8F0"/>
            </a:solidFill>
            <a:prstDash val="solid"/>
          </a:ln>
        </p:spPr>
      </p:sp>
      <p:sp>
        <p:nvSpPr>
          <p:cNvPr id="32" name="Text 30"/>
          <p:cNvSpPr txBox="1"/>
          <p:nvPr/>
        </p:nvSpPr>
        <p:spPr>
          <a:xfrm>
            <a:off x="7799832" y="1691640"/>
            <a:ext cx="3566160" cy="548640"/>
          </a:xfrm>
          <a:prstGeom prst="rect">
            <a:avLst/>
          </a:prstGeom>
          <a:noFill/>
          <a:ln/>
        </p:spPr>
        <p:txBody>
          <a:bodyPr wrap="square" lIns="0" tIns="0" rIns="0" bIns="0" rtlCol="0" anchor="t"/>
          <a:lstStyle/>
          <a:p>
            <a:pPr indent="0" marL="0">
              <a:buNone/>
            </a:pPr>
            <a:r>
              <a:rPr lang="en-US" sz="1450" b="1" dirty="0">
                <a:solidFill>
                  <a:srgbClr val="B91C1C"/>
                </a:solidFill>
                <a:latin typeface="Cambria" pitchFamily="34" charset="0"/>
                <a:ea typeface="Cambria" pitchFamily="34" charset="-122"/>
                <a:cs typeface="Cambria" pitchFamily="34" charset="-120"/>
              </a:rPr>
              <a:t>The term you choose decides what the database can find</a:t>
            </a:r>
            <a:endParaRPr lang="en-US" sz="1450" dirty="0"/>
          </a:p>
        </p:txBody>
      </p:sp>
      <p:sp>
        <p:nvSpPr>
          <p:cNvPr id="33" name="Text 31"/>
          <p:cNvSpPr txBox="1"/>
          <p:nvPr/>
        </p:nvSpPr>
        <p:spPr>
          <a:xfrm>
            <a:off x="7799832" y="2286000"/>
            <a:ext cx="3566160" cy="1207008"/>
          </a:xfrm>
          <a:prstGeom prst="rect">
            <a:avLst/>
          </a:prstGeom>
          <a:noFill/>
          <a:ln/>
        </p:spPr>
        <p:txBody>
          <a:bodyPr wrap="square" lIns="0" tIns="0" rIns="0" bIns="0" rtlCol="0" anchor="t"/>
          <a:lstStyle/>
          <a:p>
            <a:pPr indent="0" marL="0">
              <a:lnSpc>
                <a:spcPts val="1600"/>
              </a:lnSpc>
              <a:buNone/>
            </a:pPr>
            <a:r>
              <a:rPr lang="en-US" sz="1150" dirty="0">
                <a:solidFill>
                  <a:srgbClr val="7F1D1D"/>
                </a:solidFill>
                <a:latin typeface="Calibri" pitchFamily="34" charset="0"/>
                <a:ea typeface="Calibri" pitchFamily="34" charset="-122"/>
                <a:cs typeface="Calibri" pitchFamily="34" charset="-120"/>
              </a:rPr>
              <a:t>Code a blistering rash with mouth ulcers and fever as "Rash" and the case disappears. Code a diabetic’s collapse as "Dizziness" instead of "Hypoglycaemia" and it lands in a completely different part of the database.</a:t>
            </a:r>
            <a:endParaRPr lang="en-US" sz="1150" dirty="0"/>
          </a:p>
        </p:txBody>
      </p:sp>
      <p:sp>
        <p:nvSpPr>
          <p:cNvPr id="34" name="Shape 32"/>
          <p:cNvSpPr/>
          <p:nvPr/>
        </p:nvSpPr>
        <p:spPr>
          <a:xfrm>
            <a:off x="7543800" y="3749040"/>
            <a:ext cx="4050792" cy="2286000"/>
          </a:xfrm>
          <a:prstGeom prst="roundRect">
            <a:avLst>
              <a:gd name="adj" fmla="val 2400"/>
            </a:avLst>
          </a:prstGeom>
          <a:solidFill>
            <a:srgbClr val="FEF3C7"/>
          </a:solidFill>
          <a:ln w="12700">
            <a:solidFill>
              <a:srgbClr val="E2E8F0"/>
            </a:solidFill>
            <a:prstDash val="solid"/>
          </a:ln>
        </p:spPr>
      </p:sp>
      <p:sp>
        <p:nvSpPr>
          <p:cNvPr id="35" name="Text 33"/>
          <p:cNvSpPr txBox="1"/>
          <p:nvPr/>
        </p:nvSpPr>
        <p:spPr>
          <a:xfrm>
            <a:off x="7799832" y="3931920"/>
            <a:ext cx="3566160" cy="292608"/>
          </a:xfrm>
          <a:prstGeom prst="rect">
            <a:avLst/>
          </a:prstGeom>
          <a:noFill/>
          <a:ln/>
        </p:spPr>
        <p:txBody>
          <a:bodyPr wrap="square" lIns="0" tIns="0" rIns="0" bIns="0" rtlCol="0" anchor="t"/>
          <a:lstStyle/>
          <a:p>
            <a:pPr indent="0" marL="0">
              <a:buNone/>
            </a:pPr>
            <a:r>
              <a:rPr lang="en-US" sz="1400" b="1" dirty="0">
                <a:solidFill>
                  <a:srgbClr val="78350F"/>
                </a:solidFill>
                <a:latin typeface="Cambria" pitchFamily="34" charset="0"/>
                <a:ea typeface="Cambria" pitchFamily="34" charset="-122"/>
                <a:cs typeface="Cambria" pitchFamily="34" charset="-120"/>
              </a:rPr>
              <a:t>A note on MedDRA</a:t>
            </a:r>
            <a:endParaRPr lang="en-US" sz="1400" dirty="0"/>
          </a:p>
        </p:txBody>
      </p:sp>
      <p:sp>
        <p:nvSpPr>
          <p:cNvPr id="36" name="Text 34"/>
          <p:cNvSpPr txBox="1"/>
          <p:nvPr/>
        </p:nvSpPr>
        <p:spPr>
          <a:xfrm>
            <a:off x="7799832" y="4261104"/>
            <a:ext cx="3566160" cy="1664208"/>
          </a:xfrm>
          <a:prstGeom prst="rect">
            <a:avLst/>
          </a:prstGeom>
          <a:noFill/>
          <a:ln/>
        </p:spPr>
        <p:txBody>
          <a:bodyPr wrap="square" lIns="0" tIns="0" rIns="0" bIns="0" rtlCol="0" anchor="t"/>
          <a:lstStyle/>
          <a:p>
            <a:pPr indent="0" marL="0">
              <a:lnSpc>
                <a:spcPts val="1500"/>
              </a:lnSpc>
              <a:buNone/>
            </a:pPr>
            <a:r>
              <a:rPr lang="en-US" sz="1080" dirty="0">
                <a:solidFill>
                  <a:srgbClr val="78350F"/>
                </a:solidFill>
                <a:latin typeface="Calibri" pitchFamily="34" charset="0"/>
                <a:ea typeface="Calibri" pitchFamily="34" charset="-122"/>
                <a:cs typeface="Calibri" pitchFamily="34" charset="-120"/>
              </a:rPr>
              <a:t>The real dictionary is maintained by the MSSO under licence from ICH and cannot be embedded in a public teaching tool. What the workshop uses is a synthetic dictionary in the same SHAPE, with codes prefixed SYN- so they can never be mistaken for real ones. The structure is the lesson. Real coding needs a current licensed browser.</a:t>
            </a:r>
            <a:endParaRPr lang="en-US" sz="108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84048"/>
            <a:ext cx="10058400" cy="256032"/>
          </a:xfrm>
          <a:prstGeom prst="rect">
            <a:avLst/>
          </a:prstGeom>
          <a:noFill/>
          <a:ln/>
        </p:spPr>
        <p:txBody>
          <a:bodyPr wrap="square" lIns="0" tIns="0" rIns="0" bIns="0" rtlCol="0" anchor="ctr"/>
          <a:lstStyle/>
          <a:p>
            <a:pPr indent="0" marL="0">
              <a:buNone/>
            </a:pPr>
            <a:r>
              <a:rPr lang="en-US" sz="1100" b="1" spc="250" kern="0" dirty="0">
                <a:solidFill>
                  <a:srgbClr val="0E7490"/>
                </a:solidFill>
                <a:latin typeface="Calibri" pitchFamily="34" charset="0"/>
                <a:ea typeface="Calibri" pitchFamily="34" charset="-122"/>
                <a:cs typeface="Calibri" pitchFamily="34" charset="-120"/>
              </a:rPr>
              <a:t>Building the ICSR</a:t>
            </a:r>
            <a:endParaRPr lang="en-US" sz="1100" dirty="0"/>
          </a:p>
        </p:txBody>
      </p:sp>
      <p:sp>
        <p:nvSpPr>
          <p:cNvPr id="3" name="Text 1"/>
          <p:cNvSpPr txBox="1"/>
          <p:nvPr/>
        </p:nvSpPr>
        <p:spPr>
          <a:xfrm>
            <a:off x="566928" y="640080"/>
            <a:ext cx="11064240" cy="548640"/>
          </a:xfrm>
          <a:prstGeom prst="rect">
            <a:avLst/>
          </a:prstGeom>
          <a:noFill/>
          <a:ln/>
        </p:spPr>
        <p:txBody>
          <a:bodyPr wrap="square" lIns="0" tIns="0" rIns="0" bIns="0" rtlCol="0" anchor="t"/>
          <a:lstStyle/>
          <a:p>
            <a:pPr indent="0" marL="0">
              <a:lnSpc>
                <a:spcPts val="3800"/>
              </a:lnSpc>
              <a:buNone/>
            </a:pPr>
            <a:r>
              <a:rPr lang="en-US" sz="3100" b="1" dirty="0">
                <a:solidFill>
                  <a:srgbClr val="0F2B3D"/>
                </a:solidFill>
                <a:latin typeface="Cambria" pitchFamily="34" charset="0"/>
                <a:ea typeface="Cambria" pitchFamily="34" charset="-122"/>
                <a:cs typeface="Cambria" pitchFamily="34" charset="-120"/>
              </a:rPr>
              <a:t>Valid and useless are different failures</a:t>
            </a:r>
            <a:endParaRPr lang="en-US" sz="3100" dirty="0"/>
          </a:p>
        </p:txBody>
      </p:sp>
      <p:sp>
        <p:nvSpPr>
          <p:cNvPr id="4" name="Shape 2"/>
          <p:cNvSpPr/>
          <p:nvPr/>
        </p:nvSpPr>
        <p:spPr>
          <a:xfrm>
            <a:off x="566928" y="1536192"/>
            <a:ext cx="5349240" cy="2148840"/>
          </a:xfrm>
          <a:prstGeom prst="roundRect">
            <a:avLst>
              <a:gd name="adj" fmla="val 2553"/>
            </a:avLst>
          </a:prstGeom>
          <a:solidFill>
            <a:srgbClr val="ECFEFF"/>
          </a:solidFill>
          <a:ln w="12700">
            <a:solidFill>
              <a:srgbClr val="E2E8F0"/>
            </a:solidFill>
            <a:prstDash val="solid"/>
          </a:ln>
        </p:spPr>
      </p:sp>
      <p:sp>
        <p:nvSpPr>
          <p:cNvPr id="5" name="Text 3"/>
          <p:cNvSpPr txBox="1"/>
          <p:nvPr/>
        </p:nvSpPr>
        <p:spPr>
          <a:xfrm>
            <a:off x="859536" y="1719072"/>
            <a:ext cx="4754880" cy="274320"/>
          </a:xfrm>
          <a:prstGeom prst="rect">
            <a:avLst/>
          </a:prstGeom>
          <a:noFill/>
          <a:ln/>
        </p:spPr>
        <p:txBody>
          <a:bodyPr wrap="square" lIns="0" tIns="0" rIns="0" bIns="0" rtlCol="0" anchor="ctr"/>
          <a:lstStyle/>
          <a:p>
            <a:pPr indent="0" marL="0">
              <a:buNone/>
            </a:pPr>
            <a:r>
              <a:rPr lang="en-US" sz="1150" b="1" spc="250" kern="0" dirty="0">
                <a:solidFill>
                  <a:srgbClr val="0E7490"/>
                </a:solidFill>
                <a:latin typeface="Calibri" pitchFamily="34" charset="0"/>
                <a:ea typeface="Calibri" pitchFamily="34" charset="-122"/>
                <a:cs typeface="Calibri" pitchFamily="34" charset="-120"/>
              </a:rPr>
              <a:t>IS IT VALID?</a:t>
            </a:r>
            <a:endParaRPr lang="en-US" sz="1150" dirty="0"/>
          </a:p>
        </p:txBody>
      </p:sp>
      <p:sp>
        <p:nvSpPr>
          <p:cNvPr id="6" name="Text 4"/>
          <p:cNvSpPr txBox="1"/>
          <p:nvPr/>
        </p:nvSpPr>
        <p:spPr>
          <a:xfrm>
            <a:off x="859536" y="2011680"/>
            <a:ext cx="4754880" cy="329184"/>
          </a:xfrm>
          <a:prstGeom prst="rect">
            <a:avLst/>
          </a:prstGeom>
          <a:noFill/>
          <a:ln/>
        </p:spPr>
        <p:txBody>
          <a:bodyPr wrap="square" lIns="0" tIns="0" rIns="0" bIns="0" rtlCol="0" anchor="ctr"/>
          <a:lstStyle/>
          <a:p>
            <a:pPr indent="0" marL="0">
              <a:buNone/>
            </a:pPr>
            <a:r>
              <a:rPr lang="en-US" sz="1800" b="1" dirty="0">
                <a:solidFill>
                  <a:srgbClr val="0F2B3D"/>
                </a:solidFill>
                <a:latin typeface="Cambria" pitchFamily="34" charset="0"/>
                <a:ea typeface="Cambria" pitchFamily="34" charset="-122"/>
                <a:cs typeface="Cambria" pitchFamily="34" charset="-120"/>
              </a:rPr>
              <a:t>Can it be processed at all?</a:t>
            </a:r>
            <a:endParaRPr lang="en-US" sz="1800" dirty="0"/>
          </a:p>
        </p:txBody>
      </p:sp>
      <p:sp>
        <p:nvSpPr>
          <p:cNvPr id="7" name="Text 5"/>
          <p:cNvSpPr txBox="1"/>
          <p:nvPr/>
        </p:nvSpPr>
        <p:spPr>
          <a:xfrm>
            <a:off x="859536" y="2432304"/>
            <a:ext cx="4800600" cy="1005840"/>
          </a:xfrm>
          <a:prstGeom prst="rect">
            <a:avLst/>
          </a:prstGeom>
          <a:noFill/>
          <a:ln/>
        </p:spPr>
        <p:txBody>
          <a:bodyPr wrap="square" lIns="0" tIns="0" rIns="0" bIns="0" rtlCol="0" anchor="ctr"/>
          <a:lstStyle/>
          <a:p>
            <a:pPr indent="0" marL="0">
              <a:lnSpc>
                <a:spcPts val="1800"/>
              </a:lnSpc>
              <a:buNone/>
            </a:pPr>
            <a:r>
              <a:rPr lang="en-US" sz="1250" dirty="0">
                <a:solidFill>
                  <a:srgbClr val="0C4A6E"/>
                </a:solidFill>
                <a:latin typeface="Calibri" pitchFamily="34" charset="0"/>
                <a:ea typeface="Calibri" pitchFamily="34" charset="-122"/>
                <a:cs typeface="Calibri" pitchFamily="34" charset="-120"/>
              </a:rPr>
              <a:t>The four minimum elements. Miss one and it is an enquiry, not a case — it cannot enter the database at all.</a:t>
            </a:r>
            <a:endParaRPr lang="en-US" sz="1250" dirty="0"/>
          </a:p>
        </p:txBody>
      </p:sp>
      <p:sp>
        <p:nvSpPr>
          <p:cNvPr id="8" name="Shape 6"/>
          <p:cNvSpPr/>
          <p:nvPr/>
        </p:nvSpPr>
        <p:spPr>
          <a:xfrm>
            <a:off x="6190488" y="1536192"/>
            <a:ext cx="5404104" cy="2148840"/>
          </a:xfrm>
          <a:prstGeom prst="roundRect">
            <a:avLst>
              <a:gd name="adj" fmla="val 2553"/>
            </a:avLst>
          </a:prstGeom>
          <a:solidFill>
            <a:srgbClr val="FEF3C7"/>
          </a:solidFill>
          <a:ln w="12700">
            <a:solidFill>
              <a:srgbClr val="E2E8F0"/>
            </a:solidFill>
            <a:prstDash val="solid"/>
          </a:ln>
        </p:spPr>
      </p:sp>
      <p:sp>
        <p:nvSpPr>
          <p:cNvPr id="9" name="Text 7"/>
          <p:cNvSpPr txBox="1"/>
          <p:nvPr/>
        </p:nvSpPr>
        <p:spPr>
          <a:xfrm>
            <a:off x="6483096" y="1719072"/>
            <a:ext cx="4754880" cy="274320"/>
          </a:xfrm>
          <a:prstGeom prst="rect">
            <a:avLst/>
          </a:prstGeom>
          <a:noFill/>
          <a:ln/>
        </p:spPr>
        <p:txBody>
          <a:bodyPr wrap="square" lIns="0" tIns="0" rIns="0" bIns="0" rtlCol="0" anchor="ctr"/>
          <a:lstStyle/>
          <a:p>
            <a:pPr indent="0" marL="0">
              <a:buNone/>
            </a:pPr>
            <a:r>
              <a:rPr lang="en-US" sz="1150" b="1" spc="250" kern="0" dirty="0">
                <a:solidFill>
                  <a:srgbClr val="B45309"/>
                </a:solidFill>
                <a:latin typeface="Calibri" pitchFamily="34" charset="0"/>
                <a:ea typeface="Calibri" pitchFamily="34" charset="-122"/>
                <a:cs typeface="Calibri" pitchFamily="34" charset="-120"/>
              </a:rPr>
              <a:t>IS IT ANY USE?</a:t>
            </a:r>
            <a:endParaRPr lang="en-US" sz="1150" dirty="0"/>
          </a:p>
        </p:txBody>
      </p:sp>
      <p:sp>
        <p:nvSpPr>
          <p:cNvPr id="10" name="Text 8"/>
          <p:cNvSpPr txBox="1"/>
          <p:nvPr/>
        </p:nvSpPr>
        <p:spPr>
          <a:xfrm>
            <a:off x="6483096" y="2011680"/>
            <a:ext cx="4754880" cy="329184"/>
          </a:xfrm>
          <a:prstGeom prst="rect">
            <a:avLst/>
          </a:prstGeom>
          <a:noFill/>
          <a:ln/>
        </p:spPr>
        <p:txBody>
          <a:bodyPr wrap="square" lIns="0" tIns="0" rIns="0" bIns="0" rtlCol="0" anchor="ctr"/>
          <a:lstStyle/>
          <a:p>
            <a:pPr indent="0" marL="0">
              <a:buNone/>
            </a:pPr>
            <a:r>
              <a:rPr lang="en-US" sz="1800" b="1" dirty="0">
                <a:solidFill>
                  <a:srgbClr val="0F2B3D"/>
                </a:solidFill>
                <a:latin typeface="Cambria" pitchFamily="34" charset="0"/>
                <a:ea typeface="Cambria" pitchFamily="34" charset="-122"/>
                <a:cs typeface="Cambria" pitchFamily="34" charset="-120"/>
              </a:rPr>
              <a:t>Can anyone assess it?</a:t>
            </a:r>
            <a:endParaRPr lang="en-US" sz="1800" dirty="0"/>
          </a:p>
        </p:txBody>
      </p:sp>
      <p:sp>
        <p:nvSpPr>
          <p:cNvPr id="11" name="Text 9"/>
          <p:cNvSpPr txBox="1"/>
          <p:nvPr/>
        </p:nvSpPr>
        <p:spPr>
          <a:xfrm>
            <a:off x="6483096" y="2432304"/>
            <a:ext cx="4846320" cy="1005840"/>
          </a:xfrm>
          <a:prstGeom prst="rect">
            <a:avLst/>
          </a:prstGeom>
          <a:noFill/>
          <a:ln/>
        </p:spPr>
        <p:txBody>
          <a:bodyPr wrap="square" lIns="0" tIns="0" rIns="0" bIns="0" rtlCol="0" anchor="ctr"/>
          <a:lstStyle/>
          <a:p>
            <a:pPr indent="0" marL="0">
              <a:lnSpc>
                <a:spcPts val="1800"/>
              </a:lnSpc>
              <a:buNone/>
            </a:pPr>
            <a:r>
              <a:rPr lang="en-US" sz="1250" dirty="0">
                <a:solidFill>
                  <a:srgbClr val="78350F"/>
                </a:solidFill>
                <a:latin typeface="Calibri" pitchFamily="34" charset="0"/>
                <a:ea typeface="Calibri" pitchFamily="34" charset="-122"/>
                <a:cs typeface="Calibri" pitchFamily="34" charset="-120"/>
              </a:rPr>
              <a:t>Onset date, dechallenge, outcome, concomitant medicines. Most reports in the world’s databases are valid and hard to assess, because these are the fields people leave blank.</a:t>
            </a:r>
            <a:endParaRPr lang="en-US" sz="1250" dirty="0"/>
          </a:p>
        </p:txBody>
      </p:sp>
      <p:sp>
        <p:nvSpPr>
          <p:cNvPr id="12" name="Text 10"/>
          <p:cNvSpPr txBox="1"/>
          <p:nvPr/>
        </p:nvSpPr>
        <p:spPr>
          <a:xfrm>
            <a:off x="566928" y="3913632"/>
            <a:ext cx="10972800" cy="310896"/>
          </a:xfrm>
          <a:prstGeom prst="rect">
            <a:avLst/>
          </a:prstGeom>
          <a:noFill/>
          <a:ln/>
        </p:spPr>
        <p:txBody>
          <a:bodyPr wrap="square" lIns="0" tIns="0" rIns="0" bIns="0" rtlCol="0" anchor="ctr"/>
          <a:lstStyle/>
          <a:p>
            <a:pPr indent="0" marL="0">
              <a:buNone/>
            </a:pPr>
            <a:r>
              <a:rPr lang="en-US" sz="1600" b="1" dirty="0">
                <a:solidFill>
                  <a:srgbClr val="0F2B3D"/>
                </a:solidFill>
                <a:latin typeface="Cambria" pitchFamily="34" charset="0"/>
                <a:ea typeface="Cambria" pitchFamily="34" charset="-122"/>
                <a:cs typeface="Cambria" pitchFamily="34" charset="-120"/>
              </a:rPr>
              <a:t>The five fields that carry the reasoning</a:t>
            </a:r>
            <a:endParaRPr lang="en-US" sz="1600" dirty="0"/>
          </a:p>
        </p:txBody>
      </p:sp>
      <p:sp>
        <p:nvSpPr>
          <p:cNvPr id="13" name="Shape 11"/>
          <p:cNvSpPr/>
          <p:nvPr/>
        </p:nvSpPr>
        <p:spPr>
          <a:xfrm>
            <a:off x="566928" y="4224528"/>
            <a:ext cx="2084832" cy="1554480"/>
          </a:xfrm>
          <a:prstGeom prst="roundRect">
            <a:avLst>
              <a:gd name="adj" fmla="val 3529"/>
            </a:avLst>
          </a:prstGeom>
          <a:solidFill>
            <a:srgbClr val="DCFCE7"/>
          </a:solidFill>
          <a:ln w="12700">
            <a:solidFill>
              <a:srgbClr val="E2E8F0"/>
            </a:solidFill>
            <a:prstDash val="solid"/>
          </a:ln>
        </p:spPr>
      </p:sp>
      <p:sp>
        <p:nvSpPr>
          <p:cNvPr id="14" name="Shape 12"/>
          <p:cNvSpPr/>
          <p:nvPr/>
        </p:nvSpPr>
        <p:spPr>
          <a:xfrm>
            <a:off x="1426464" y="4389120"/>
            <a:ext cx="384048" cy="384048"/>
          </a:xfrm>
          <a:prstGeom prst="ellipse">
            <a:avLst/>
          </a:prstGeom>
          <a:solidFill>
            <a:srgbClr val="15803D"/>
          </a:solidFill>
          <a:ln/>
        </p:spPr>
      </p:sp>
      <p:sp>
        <p:nvSpPr>
          <p:cNvPr id="15" name="Text 13"/>
          <p:cNvSpPr txBox="1"/>
          <p:nvPr/>
        </p:nvSpPr>
        <p:spPr>
          <a:xfrm>
            <a:off x="1426464" y="4389120"/>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6" name="Text 14"/>
          <p:cNvSpPr txBox="1"/>
          <p:nvPr/>
        </p:nvSpPr>
        <p:spPr>
          <a:xfrm>
            <a:off x="704088" y="4846320"/>
            <a:ext cx="1810512" cy="457200"/>
          </a:xfrm>
          <a:prstGeom prst="rect">
            <a:avLst/>
          </a:prstGeom>
          <a:noFill/>
          <a:ln/>
        </p:spPr>
        <p:txBody>
          <a:bodyPr wrap="square" lIns="0" tIns="0" rIns="0" bIns="0" rtlCol="0" anchor="t"/>
          <a:lstStyle/>
          <a:p>
            <a:pPr algn="ctr" indent="0" marL="0">
              <a:lnSpc>
                <a:spcPts val="1600"/>
              </a:lnSpc>
              <a:buNone/>
            </a:pPr>
            <a:r>
              <a:rPr lang="en-US" sz="1200" b="1" dirty="0">
                <a:solidFill>
                  <a:srgbClr val="0F2B3D"/>
                </a:solidFill>
                <a:latin typeface="Cambria" pitchFamily="34" charset="0"/>
                <a:ea typeface="Cambria" pitchFamily="34" charset="-122"/>
                <a:cs typeface="Cambria" pitchFamily="34" charset="-120"/>
              </a:rPr>
              <a:t>Drug start date</a:t>
            </a:r>
            <a:endParaRPr lang="en-US" sz="1200" dirty="0"/>
          </a:p>
        </p:txBody>
      </p:sp>
      <p:sp>
        <p:nvSpPr>
          <p:cNvPr id="17" name="Text 15"/>
          <p:cNvSpPr txBox="1"/>
          <p:nvPr/>
        </p:nvSpPr>
        <p:spPr>
          <a:xfrm>
            <a:off x="704088" y="5303520"/>
            <a:ext cx="1810512" cy="420624"/>
          </a:xfrm>
          <a:prstGeom prst="rect">
            <a:avLst/>
          </a:prstGeom>
          <a:noFill/>
          <a:ln/>
        </p:spPr>
        <p:txBody>
          <a:bodyPr wrap="square" lIns="0" tIns="0" rIns="0" bIns="0" rtlCol="0" anchor="t"/>
          <a:lstStyle/>
          <a:p>
            <a:pPr algn="ctr" indent="0" marL="0">
              <a:lnSpc>
                <a:spcPts val="1300"/>
              </a:lnSpc>
              <a:buNone/>
            </a:pPr>
            <a:r>
              <a:rPr lang="en-US" sz="1020" dirty="0">
                <a:solidFill>
                  <a:srgbClr val="14532D"/>
                </a:solidFill>
                <a:latin typeface="Calibri" pitchFamily="34" charset="0"/>
                <a:ea typeface="Calibri" pitchFamily="34" charset="-122"/>
                <a:cs typeface="Calibri" pitchFamily="34" charset="-120"/>
              </a:rPr>
              <a:t>half of the temporal relationship</a:t>
            </a:r>
            <a:endParaRPr lang="en-US" sz="1020" dirty="0"/>
          </a:p>
        </p:txBody>
      </p:sp>
      <p:sp>
        <p:nvSpPr>
          <p:cNvPr id="18" name="Shape 16"/>
          <p:cNvSpPr/>
          <p:nvPr/>
        </p:nvSpPr>
        <p:spPr>
          <a:xfrm>
            <a:off x="2807208" y="4224528"/>
            <a:ext cx="2084832" cy="1554480"/>
          </a:xfrm>
          <a:prstGeom prst="roundRect">
            <a:avLst>
              <a:gd name="adj" fmla="val 3529"/>
            </a:avLst>
          </a:prstGeom>
          <a:solidFill>
            <a:srgbClr val="DCFCE7"/>
          </a:solidFill>
          <a:ln w="12700">
            <a:solidFill>
              <a:srgbClr val="E2E8F0"/>
            </a:solidFill>
            <a:prstDash val="solid"/>
          </a:ln>
        </p:spPr>
      </p:sp>
      <p:sp>
        <p:nvSpPr>
          <p:cNvPr id="19" name="Shape 17"/>
          <p:cNvSpPr/>
          <p:nvPr/>
        </p:nvSpPr>
        <p:spPr>
          <a:xfrm>
            <a:off x="3666744" y="4389120"/>
            <a:ext cx="384048" cy="384048"/>
          </a:xfrm>
          <a:prstGeom prst="ellipse">
            <a:avLst/>
          </a:prstGeom>
          <a:solidFill>
            <a:srgbClr val="15803D"/>
          </a:solidFill>
          <a:ln/>
        </p:spPr>
      </p:sp>
      <p:sp>
        <p:nvSpPr>
          <p:cNvPr id="20" name="Text 18"/>
          <p:cNvSpPr txBox="1"/>
          <p:nvPr/>
        </p:nvSpPr>
        <p:spPr>
          <a:xfrm>
            <a:off x="3666744" y="4389120"/>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21" name="Text 19"/>
          <p:cNvSpPr txBox="1"/>
          <p:nvPr/>
        </p:nvSpPr>
        <p:spPr>
          <a:xfrm>
            <a:off x="2944368" y="4846320"/>
            <a:ext cx="1810512" cy="457200"/>
          </a:xfrm>
          <a:prstGeom prst="rect">
            <a:avLst/>
          </a:prstGeom>
          <a:noFill/>
          <a:ln/>
        </p:spPr>
        <p:txBody>
          <a:bodyPr wrap="square" lIns="0" tIns="0" rIns="0" bIns="0" rtlCol="0" anchor="t"/>
          <a:lstStyle/>
          <a:p>
            <a:pPr algn="ctr" indent="0" marL="0">
              <a:lnSpc>
                <a:spcPts val="1600"/>
              </a:lnSpc>
              <a:buNone/>
            </a:pPr>
            <a:r>
              <a:rPr lang="en-US" sz="1200" b="1" dirty="0">
                <a:solidFill>
                  <a:srgbClr val="0F2B3D"/>
                </a:solidFill>
                <a:latin typeface="Cambria" pitchFamily="34" charset="0"/>
                <a:ea typeface="Cambria" pitchFamily="34" charset="-122"/>
                <a:cs typeface="Cambria" pitchFamily="34" charset="-120"/>
              </a:rPr>
              <a:t>Event onset date</a:t>
            </a:r>
            <a:endParaRPr lang="en-US" sz="1200" dirty="0"/>
          </a:p>
        </p:txBody>
      </p:sp>
      <p:sp>
        <p:nvSpPr>
          <p:cNvPr id="22" name="Text 20"/>
          <p:cNvSpPr txBox="1"/>
          <p:nvPr/>
        </p:nvSpPr>
        <p:spPr>
          <a:xfrm>
            <a:off x="2944368" y="5303520"/>
            <a:ext cx="1810512" cy="420624"/>
          </a:xfrm>
          <a:prstGeom prst="rect">
            <a:avLst/>
          </a:prstGeom>
          <a:noFill/>
          <a:ln/>
        </p:spPr>
        <p:txBody>
          <a:bodyPr wrap="square" lIns="0" tIns="0" rIns="0" bIns="0" rtlCol="0" anchor="t"/>
          <a:lstStyle/>
          <a:p>
            <a:pPr algn="ctr" indent="0" marL="0">
              <a:lnSpc>
                <a:spcPts val="1300"/>
              </a:lnSpc>
              <a:buNone/>
            </a:pPr>
            <a:r>
              <a:rPr lang="en-US" sz="1020" dirty="0">
                <a:solidFill>
                  <a:srgbClr val="14532D"/>
                </a:solidFill>
                <a:latin typeface="Calibri" pitchFamily="34" charset="0"/>
                <a:ea typeface="Calibri" pitchFamily="34" charset="-122"/>
                <a:cs typeface="Calibri" pitchFamily="34" charset="-120"/>
              </a:rPr>
              <a:t>the other half</a:t>
            </a:r>
            <a:endParaRPr lang="en-US" sz="1020" dirty="0"/>
          </a:p>
        </p:txBody>
      </p:sp>
      <p:sp>
        <p:nvSpPr>
          <p:cNvPr id="23" name="Shape 21"/>
          <p:cNvSpPr/>
          <p:nvPr/>
        </p:nvSpPr>
        <p:spPr>
          <a:xfrm>
            <a:off x="5047488" y="4224528"/>
            <a:ext cx="2084832" cy="1554480"/>
          </a:xfrm>
          <a:prstGeom prst="roundRect">
            <a:avLst>
              <a:gd name="adj" fmla="val 3529"/>
            </a:avLst>
          </a:prstGeom>
          <a:solidFill>
            <a:srgbClr val="DCFCE7"/>
          </a:solidFill>
          <a:ln w="12700">
            <a:solidFill>
              <a:srgbClr val="E2E8F0"/>
            </a:solidFill>
            <a:prstDash val="solid"/>
          </a:ln>
        </p:spPr>
      </p:sp>
      <p:sp>
        <p:nvSpPr>
          <p:cNvPr id="24" name="Shape 22"/>
          <p:cNvSpPr/>
          <p:nvPr/>
        </p:nvSpPr>
        <p:spPr>
          <a:xfrm>
            <a:off x="5907024" y="4389120"/>
            <a:ext cx="384048" cy="384048"/>
          </a:xfrm>
          <a:prstGeom prst="ellipse">
            <a:avLst/>
          </a:prstGeom>
          <a:solidFill>
            <a:srgbClr val="15803D"/>
          </a:solidFill>
          <a:ln/>
        </p:spPr>
      </p:sp>
      <p:sp>
        <p:nvSpPr>
          <p:cNvPr id="25" name="Text 23"/>
          <p:cNvSpPr txBox="1"/>
          <p:nvPr/>
        </p:nvSpPr>
        <p:spPr>
          <a:xfrm>
            <a:off x="5907024" y="4389120"/>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26" name="Text 24"/>
          <p:cNvSpPr txBox="1"/>
          <p:nvPr/>
        </p:nvSpPr>
        <p:spPr>
          <a:xfrm>
            <a:off x="5184648" y="4846320"/>
            <a:ext cx="1810512" cy="457200"/>
          </a:xfrm>
          <a:prstGeom prst="rect">
            <a:avLst/>
          </a:prstGeom>
          <a:noFill/>
          <a:ln/>
        </p:spPr>
        <p:txBody>
          <a:bodyPr wrap="square" lIns="0" tIns="0" rIns="0" bIns="0" rtlCol="0" anchor="t"/>
          <a:lstStyle/>
          <a:p>
            <a:pPr algn="ctr" indent="0" marL="0">
              <a:lnSpc>
                <a:spcPts val="1600"/>
              </a:lnSpc>
              <a:buNone/>
            </a:pPr>
            <a:r>
              <a:rPr lang="en-US" sz="1200" b="1" dirty="0">
                <a:solidFill>
                  <a:srgbClr val="0F2B3D"/>
                </a:solidFill>
                <a:latin typeface="Cambria" pitchFamily="34" charset="0"/>
                <a:ea typeface="Cambria" pitchFamily="34" charset="-122"/>
                <a:cs typeface="Cambria" pitchFamily="34" charset="-120"/>
              </a:rPr>
              <a:t>Dechallenge</a:t>
            </a:r>
            <a:endParaRPr lang="en-US" sz="1200" dirty="0"/>
          </a:p>
        </p:txBody>
      </p:sp>
      <p:sp>
        <p:nvSpPr>
          <p:cNvPr id="27" name="Text 25"/>
          <p:cNvSpPr txBox="1"/>
          <p:nvPr/>
        </p:nvSpPr>
        <p:spPr>
          <a:xfrm>
            <a:off x="5184648" y="5303520"/>
            <a:ext cx="1810512" cy="420624"/>
          </a:xfrm>
          <a:prstGeom prst="rect">
            <a:avLst/>
          </a:prstGeom>
          <a:noFill/>
          <a:ln/>
        </p:spPr>
        <p:txBody>
          <a:bodyPr wrap="square" lIns="0" tIns="0" rIns="0" bIns="0" rtlCol="0" anchor="t"/>
          <a:lstStyle/>
          <a:p>
            <a:pPr algn="ctr" indent="0" marL="0">
              <a:lnSpc>
                <a:spcPts val="1300"/>
              </a:lnSpc>
              <a:buNone/>
            </a:pPr>
            <a:r>
              <a:rPr lang="en-US" sz="1020" dirty="0">
                <a:solidFill>
                  <a:srgbClr val="14532D"/>
                </a:solidFill>
                <a:latin typeface="Calibri" pitchFamily="34" charset="0"/>
                <a:ea typeface="Calibri" pitchFamily="34" charset="-122"/>
                <a:cs typeface="Calibri" pitchFamily="34" charset="-120"/>
              </a:rPr>
              <a:t>the strongest evidence you can actually get</a:t>
            </a:r>
            <a:endParaRPr lang="en-US" sz="1020" dirty="0"/>
          </a:p>
        </p:txBody>
      </p:sp>
      <p:sp>
        <p:nvSpPr>
          <p:cNvPr id="28" name="Shape 26"/>
          <p:cNvSpPr/>
          <p:nvPr/>
        </p:nvSpPr>
        <p:spPr>
          <a:xfrm>
            <a:off x="7287768" y="4224528"/>
            <a:ext cx="2084832" cy="1554480"/>
          </a:xfrm>
          <a:prstGeom prst="roundRect">
            <a:avLst>
              <a:gd name="adj" fmla="val 3529"/>
            </a:avLst>
          </a:prstGeom>
          <a:solidFill>
            <a:srgbClr val="DCFCE7"/>
          </a:solidFill>
          <a:ln w="12700">
            <a:solidFill>
              <a:srgbClr val="E2E8F0"/>
            </a:solidFill>
            <a:prstDash val="solid"/>
          </a:ln>
        </p:spPr>
      </p:sp>
      <p:sp>
        <p:nvSpPr>
          <p:cNvPr id="29" name="Shape 27"/>
          <p:cNvSpPr/>
          <p:nvPr/>
        </p:nvSpPr>
        <p:spPr>
          <a:xfrm>
            <a:off x="8147304" y="4389120"/>
            <a:ext cx="384048" cy="384048"/>
          </a:xfrm>
          <a:prstGeom prst="ellipse">
            <a:avLst/>
          </a:prstGeom>
          <a:solidFill>
            <a:srgbClr val="15803D"/>
          </a:solidFill>
          <a:ln/>
        </p:spPr>
      </p:sp>
      <p:sp>
        <p:nvSpPr>
          <p:cNvPr id="30" name="Text 28"/>
          <p:cNvSpPr txBox="1"/>
          <p:nvPr/>
        </p:nvSpPr>
        <p:spPr>
          <a:xfrm>
            <a:off x="8147304" y="4389120"/>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31" name="Text 29"/>
          <p:cNvSpPr txBox="1"/>
          <p:nvPr/>
        </p:nvSpPr>
        <p:spPr>
          <a:xfrm>
            <a:off x="7424928" y="4846320"/>
            <a:ext cx="1810512" cy="457200"/>
          </a:xfrm>
          <a:prstGeom prst="rect">
            <a:avLst/>
          </a:prstGeom>
          <a:noFill/>
          <a:ln/>
        </p:spPr>
        <p:txBody>
          <a:bodyPr wrap="square" lIns="0" tIns="0" rIns="0" bIns="0" rtlCol="0" anchor="t"/>
          <a:lstStyle/>
          <a:p>
            <a:pPr algn="ctr" indent="0" marL="0">
              <a:lnSpc>
                <a:spcPts val="1600"/>
              </a:lnSpc>
              <a:buNone/>
            </a:pPr>
            <a:r>
              <a:rPr lang="en-US" sz="1200" b="1" dirty="0">
                <a:solidFill>
                  <a:srgbClr val="0F2B3D"/>
                </a:solidFill>
                <a:latin typeface="Cambria" pitchFamily="34" charset="0"/>
                <a:ea typeface="Cambria" pitchFamily="34" charset="-122"/>
                <a:cs typeface="Cambria" pitchFamily="34" charset="-120"/>
              </a:rPr>
              <a:t>Outcome</a:t>
            </a:r>
            <a:endParaRPr lang="en-US" sz="1200" dirty="0"/>
          </a:p>
        </p:txBody>
      </p:sp>
      <p:sp>
        <p:nvSpPr>
          <p:cNvPr id="32" name="Text 30"/>
          <p:cNvSpPr txBox="1"/>
          <p:nvPr/>
        </p:nvSpPr>
        <p:spPr>
          <a:xfrm>
            <a:off x="7424928" y="5303520"/>
            <a:ext cx="1810512" cy="420624"/>
          </a:xfrm>
          <a:prstGeom prst="rect">
            <a:avLst/>
          </a:prstGeom>
          <a:noFill/>
          <a:ln/>
        </p:spPr>
        <p:txBody>
          <a:bodyPr wrap="square" lIns="0" tIns="0" rIns="0" bIns="0" rtlCol="0" anchor="t"/>
          <a:lstStyle/>
          <a:p>
            <a:pPr algn="ctr" indent="0" marL="0">
              <a:lnSpc>
                <a:spcPts val="1300"/>
              </a:lnSpc>
              <a:buNone/>
            </a:pPr>
            <a:r>
              <a:rPr lang="en-US" sz="1020" dirty="0">
                <a:solidFill>
                  <a:srgbClr val="14532D"/>
                </a:solidFill>
                <a:latin typeface="Calibri" pitchFamily="34" charset="0"/>
                <a:ea typeface="Calibri" pitchFamily="34" charset="-122"/>
                <a:cs typeface="Calibri" pitchFamily="34" charset="-120"/>
              </a:rPr>
              <a:t>required, and the most commonly omitted</a:t>
            </a:r>
            <a:endParaRPr lang="en-US" sz="1020" dirty="0"/>
          </a:p>
        </p:txBody>
      </p:sp>
      <p:sp>
        <p:nvSpPr>
          <p:cNvPr id="33" name="Shape 31"/>
          <p:cNvSpPr/>
          <p:nvPr/>
        </p:nvSpPr>
        <p:spPr>
          <a:xfrm>
            <a:off x="9528048" y="4224528"/>
            <a:ext cx="2084832" cy="1554480"/>
          </a:xfrm>
          <a:prstGeom prst="roundRect">
            <a:avLst>
              <a:gd name="adj" fmla="val 3529"/>
            </a:avLst>
          </a:prstGeom>
          <a:solidFill>
            <a:srgbClr val="DCFCE7"/>
          </a:solidFill>
          <a:ln w="12700">
            <a:solidFill>
              <a:srgbClr val="E2E8F0"/>
            </a:solidFill>
            <a:prstDash val="solid"/>
          </a:ln>
        </p:spPr>
      </p:sp>
      <p:sp>
        <p:nvSpPr>
          <p:cNvPr id="34" name="Shape 32"/>
          <p:cNvSpPr/>
          <p:nvPr/>
        </p:nvSpPr>
        <p:spPr>
          <a:xfrm>
            <a:off x="10387584" y="4389120"/>
            <a:ext cx="384048" cy="384048"/>
          </a:xfrm>
          <a:prstGeom prst="ellipse">
            <a:avLst/>
          </a:prstGeom>
          <a:solidFill>
            <a:srgbClr val="15803D"/>
          </a:solidFill>
          <a:ln/>
        </p:spPr>
      </p:sp>
      <p:sp>
        <p:nvSpPr>
          <p:cNvPr id="35" name="Text 33"/>
          <p:cNvSpPr txBox="1"/>
          <p:nvPr/>
        </p:nvSpPr>
        <p:spPr>
          <a:xfrm>
            <a:off x="10387584" y="4389120"/>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36" name="Text 34"/>
          <p:cNvSpPr txBox="1"/>
          <p:nvPr/>
        </p:nvSpPr>
        <p:spPr>
          <a:xfrm>
            <a:off x="9665208" y="4846320"/>
            <a:ext cx="1810512" cy="457200"/>
          </a:xfrm>
          <a:prstGeom prst="rect">
            <a:avLst/>
          </a:prstGeom>
          <a:noFill/>
          <a:ln/>
        </p:spPr>
        <p:txBody>
          <a:bodyPr wrap="square" lIns="0" tIns="0" rIns="0" bIns="0" rtlCol="0" anchor="t"/>
          <a:lstStyle/>
          <a:p>
            <a:pPr algn="ctr" indent="0" marL="0">
              <a:lnSpc>
                <a:spcPts val="1600"/>
              </a:lnSpc>
              <a:buNone/>
            </a:pPr>
            <a:r>
              <a:rPr lang="en-US" sz="1200" b="1" dirty="0">
                <a:solidFill>
                  <a:srgbClr val="0F2B3D"/>
                </a:solidFill>
                <a:latin typeface="Cambria" pitchFamily="34" charset="0"/>
                <a:ea typeface="Cambria" pitchFamily="34" charset="-122"/>
                <a:cs typeface="Cambria" pitchFamily="34" charset="-120"/>
              </a:rPr>
              <a:t>Concomitant medicines</a:t>
            </a:r>
            <a:endParaRPr lang="en-US" sz="1200" dirty="0"/>
          </a:p>
        </p:txBody>
      </p:sp>
      <p:sp>
        <p:nvSpPr>
          <p:cNvPr id="37" name="Text 35"/>
          <p:cNvSpPr txBox="1"/>
          <p:nvPr/>
        </p:nvSpPr>
        <p:spPr>
          <a:xfrm>
            <a:off x="9665208" y="5303520"/>
            <a:ext cx="1810512" cy="420624"/>
          </a:xfrm>
          <a:prstGeom prst="rect">
            <a:avLst/>
          </a:prstGeom>
          <a:noFill/>
          <a:ln/>
        </p:spPr>
        <p:txBody>
          <a:bodyPr wrap="square" lIns="0" tIns="0" rIns="0" bIns="0" rtlCol="0" anchor="t"/>
          <a:lstStyle/>
          <a:p>
            <a:pPr algn="ctr" indent="0" marL="0">
              <a:lnSpc>
                <a:spcPts val="1300"/>
              </a:lnSpc>
              <a:buNone/>
            </a:pPr>
            <a:r>
              <a:rPr lang="en-US" sz="1020" dirty="0">
                <a:solidFill>
                  <a:srgbClr val="14532D"/>
                </a:solidFill>
                <a:latin typeface="Calibri" pitchFamily="34" charset="0"/>
                <a:ea typeface="Calibri" pitchFamily="34" charset="-122"/>
                <a:cs typeface="Calibri" pitchFamily="34" charset="-120"/>
              </a:rPr>
              <a:t>you cannot exclude alternatives without it</a:t>
            </a:r>
            <a:endParaRPr lang="en-US" sz="1020" dirty="0"/>
          </a:p>
        </p:txBody>
      </p:sp>
      <p:sp>
        <p:nvSpPr>
          <p:cNvPr id="38" name="Shape 36"/>
          <p:cNvSpPr/>
          <p:nvPr/>
        </p:nvSpPr>
        <p:spPr>
          <a:xfrm>
            <a:off x="566928" y="5943600"/>
            <a:ext cx="11027664" cy="585216"/>
          </a:xfrm>
          <a:prstGeom prst="roundRect">
            <a:avLst>
              <a:gd name="adj" fmla="val 9375"/>
            </a:avLst>
          </a:prstGeom>
          <a:solidFill>
            <a:srgbClr val="0F2B3D"/>
          </a:solidFill>
          <a:ln w="12700">
            <a:solidFill>
              <a:srgbClr val="E2E8F0"/>
            </a:solidFill>
            <a:prstDash val="solid"/>
          </a:ln>
        </p:spPr>
      </p:sp>
      <p:sp>
        <p:nvSpPr>
          <p:cNvPr id="39" name="Text 37"/>
          <p:cNvSpPr txBox="1"/>
          <p:nvPr/>
        </p:nvSpPr>
        <p:spPr>
          <a:xfrm>
            <a:off x="566928" y="5943600"/>
            <a:ext cx="11027664" cy="585216"/>
          </a:xfrm>
          <a:prstGeom prst="rect">
            <a:avLst/>
          </a:prstGeom>
          <a:noFill/>
          <a:ln/>
        </p:spPr>
        <p:txBody>
          <a:bodyPr wrap="square" lIns="0" tIns="0" rIns="0" bIns="0" rtlCol="0" anchor="ctr"/>
          <a:lstStyle/>
          <a:p>
            <a:pPr algn="ctr" indent="0" marL="0">
              <a:buNone/>
            </a:pPr>
            <a:r>
              <a:rPr lang="en-US" sz="1300" dirty="0">
                <a:solidFill>
                  <a:srgbClr val="CBD5E1"/>
                </a:solidFill>
                <a:latin typeface="Calibri" pitchFamily="34" charset="0"/>
                <a:ea typeface="Calibri" pitchFamily="34" charset="-122"/>
                <a:cs typeface="Calibri" pitchFamily="34" charset="-120"/>
              </a:rPr>
              <a:t>If the answer is genuinely "none", write none. A blank field is read as "not asked" — a different, worse thing.</a:t>
            </a:r>
            <a:endParaRPr lang="en-US" sz="13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84048"/>
            <a:ext cx="10058400" cy="256032"/>
          </a:xfrm>
          <a:prstGeom prst="rect">
            <a:avLst/>
          </a:prstGeom>
          <a:noFill/>
          <a:ln/>
        </p:spPr>
        <p:txBody>
          <a:bodyPr wrap="square" lIns="0" tIns="0" rIns="0" bIns="0" rtlCol="0" anchor="ctr"/>
          <a:lstStyle/>
          <a:p>
            <a:pPr indent="0" marL="0">
              <a:buNone/>
            </a:pPr>
            <a:r>
              <a:rPr lang="en-US" sz="1100" b="1" spc="250" kern="0" dirty="0">
                <a:solidFill>
                  <a:srgbClr val="0E7490"/>
                </a:solidFill>
                <a:latin typeface="Calibri" pitchFamily="34" charset="0"/>
                <a:ea typeface="Calibri" pitchFamily="34" charset="-122"/>
                <a:cs typeface="Calibri" pitchFamily="34" charset="-120"/>
              </a:rPr>
              <a:t>Follow-up</a:t>
            </a:r>
            <a:endParaRPr lang="en-US" sz="1100" dirty="0"/>
          </a:p>
        </p:txBody>
      </p:sp>
      <p:sp>
        <p:nvSpPr>
          <p:cNvPr id="3" name="Text 1"/>
          <p:cNvSpPr txBox="1"/>
          <p:nvPr/>
        </p:nvSpPr>
        <p:spPr>
          <a:xfrm>
            <a:off x="566928" y="640080"/>
            <a:ext cx="11064240" cy="548640"/>
          </a:xfrm>
          <a:prstGeom prst="rect">
            <a:avLst/>
          </a:prstGeom>
          <a:noFill/>
          <a:ln/>
        </p:spPr>
        <p:txBody>
          <a:bodyPr wrap="square" lIns="0" tIns="0" rIns="0" bIns="0" rtlCol="0" anchor="t"/>
          <a:lstStyle/>
          <a:p>
            <a:pPr indent="0" marL="0">
              <a:lnSpc>
                <a:spcPts val="3800"/>
              </a:lnSpc>
              <a:buNone/>
            </a:pPr>
            <a:r>
              <a:rPr lang="en-US" sz="3100" b="1" dirty="0">
                <a:solidFill>
                  <a:srgbClr val="0F2B3D"/>
                </a:solidFill>
                <a:latin typeface="Cambria" pitchFamily="34" charset="0"/>
                <a:ea typeface="Cambria" pitchFamily="34" charset="-122"/>
                <a:cs typeface="Cambria" pitchFamily="34" charset="-120"/>
              </a:rPr>
              <a:t>What to chase, in what order</a:t>
            </a:r>
            <a:endParaRPr lang="en-US" sz="3100" dirty="0"/>
          </a:p>
        </p:txBody>
      </p:sp>
      <p:sp>
        <p:nvSpPr>
          <p:cNvPr id="4" name="Shape 2"/>
          <p:cNvSpPr/>
          <p:nvPr/>
        </p:nvSpPr>
        <p:spPr>
          <a:xfrm>
            <a:off x="566928" y="1463040"/>
            <a:ext cx="11027664" cy="777240"/>
          </a:xfrm>
          <a:prstGeom prst="roundRect">
            <a:avLst>
              <a:gd name="adj" fmla="val 7059"/>
            </a:avLst>
          </a:prstGeom>
          <a:solidFill>
            <a:srgbClr val="DCFCE7"/>
          </a:solidFill>
          <a:ln w="12700">
            <a:solidFill>
              <a:srgbClr val="E2E8F0"/>
            </a:solidFill>
            <a:prstDash val="solid"/>
          </a:ln>
        </p:spPr>
      </p:sp>
      <p:sp>
        <p:nvSpPr>
          <p:cNvPr id="5" name="Text 3"/>
          <p:cNvSpPr txBox="1"/>
          <p:nvPr/>
        </p:nvSpPr>
        <p:spPr>
          <a:xfrm>
            <a:off x="566928" y="1627632"/>
            <a:ext cx="11027664" cy="411480"/>
          </a:xfrm>
          <a:prstGeom prst="rect">
            <a:avLst/>
          </a:prstGeom>
          <a:noFill/>
          <a:ln/>
        </p:spPr>
        <p:txBody>
          <a:bodyPr wrap="square" lIns="0" tIns="0" rIns="0" bIns="0" rtlCol="0" anchor="ctr"/>
          <a:lstStyle/>
          <a:p>
            <a:pPr algn="ctr" indent="0" marL="0">
              <a:buNone/>
            </a:pPr>
            <a:r>
              <a:rPr lang="en-US" sz="1700" b="1" dirty="0">
                <a:solidFill>
                  <a:srgbClr val="15803D"/>
                </a:solidFill>
                <a:latin typeface="Cambria" pitchFamily="34" charset="0"/>
                <a:ea typeface="Cambria" pitchFamily="34" charset="-122"/>
                <a:cs typeface="Cambria" pitchFamily="34" charset="-120"/>
              </a:rPr>
              <a:t>Most reports arrive incomplete. Follow-up is where a weak case becomes a usable one.</a:t>
            </a:r>
            <a:endParaRPr lang="en-US" sz="1700" dirty="0"/>
          </a:p>
        </p:txBody>
      </p:sp>
      <p:sp>
        <p:nvSpPr>
          <p:cNvPr id="6" name="Shape 4"/>
          <p:cNvSpPr/>
          <p:nvPr/>
        </p:nvSpPr>
        <p:spPr>
          <a:xfrm>
            <a:off x="566928" y="2450592"/>
            <a:ext cx="3456432" cy="2944368"/>
          </a:xfrm>
          <a:prstGeom prst="roundRect">
            <a:avLst>
              <a:gd name="adj" fmla="val 1863"/>
            </a:avLst>
          </a:prstGeom>
          <a:solidFill>
            <a:srgbClr val="DCFCE7"/>
          </a:solidFill>
          <a:ln w="12700">
            <a:solidFill>
              <a:srgbClr val="E2E8F0"/>
            </a:solidFill>
            <a:prstDash val="solid"/>
          </a:ln>
        </p:spPr>
      </p:sp>
      <p:sp>
        <p:nvSpPr>
          <p:cNvPr id="7" name="Text 5"/>
          <p:cNvSpPr txBox="1"/>
          <p:nvPr/>
        </p:nvSpPr>
        <p:spPr>
          <a:xfrm>
            <a:off x="795528" y="2615184"/>
            <a:ext cx="3017520" cy="530352"/>
          </a:xfrm>
          <a:prstGeom prst="rect">
            <a:avLst/>
          </a:prstGeom>
          <a:noFill/>
          <a:ln/>
        </p:spPr>
        <p:txBody>
          <a:bodyPr wrap="square" lIns="0" tIns="0" rIns="0" bIns="0" rtlCol="0" anchor="t"/>
          <a:lstStyle/>
          <a:p>
            <a:pPr indent="0" marL="0">
              <a:lnSpc>
                <a:spcPts val="1800"/>
              </a:lnSpc>
              <a:buNone/>
            </a:pPr>
            <a:r>
              <a:rPr lang="en-US" sz="1350" b="1" dirty="0">
                <a:solidFill>
                  <a:srgbClr val="15803D"/>
                </a:solidFill>
                <a:latin typeface="Cambria" pitchFamily="34" charset="0"/>
                <a:ea typeface="Cambria" pitchFamily="34" charset="-122"/>
                <a:cs typeface="Cambria" pitchFamily="34" charset="-120"/>
              </a:rPr>
              <a:t>Chase first — it changes the assessment</a:t>
            </a:r>
            <a:endParaRPr lang="en-US" sz="1350" dirty="0"/>
          </a:p>
        </p:txBody>
      </p:sp>
      <p:sp>
        <p:nvSpPr>
          <p:cNvPr id="8" name="Text 6"/>
          <p:cNvSpPr txBox="1"/>
          <p:nvPr/>
        </p:nvSpPr>
        <p:spPr>
          <a:xfrm>
            <a:off x="795528" y="3200400"/>
            <a:ext cx="3017520" cy="2057400"/>
          </a:xfrm>
          <a:prstGeom prst="rect">
            <a:avLst/>
          </a:prstGeom>
          <a:noFill/>
          <a:ln/>
        </p:spPr>
        <p:txBody>
          <a:bodyPr wrap="square" lIns="0" tIns="0" rIns="0" bIns="0" rtlCol="0" anchor="t"/>
          <a:lstStyle/>
          <a:p>
            <a:pPr marL="342900" indent="-342900">
              <a:lnSpc>
                <a:spcPts val="1600"/>
              </a:lnSpc>
              <a:spcAft>
                <a:spcPts val="600"/>
              </a:spcAft>
              <a:buSzPct val="100000"/>
              <a:buChar char="•"/>
            </a:pPr>
            <a:r>
              <a:rPr lang="en-US" sz="1100" dirty="0">
                <a:solidFill>
                  <a:srgbClr val="1E293B"/>
                </a:solidFill>
                <a:latin typeface="Calibri" pitchFamily="34" charset="0"/>
                <a:ea typeface="Calibri" pitchFamily="34" charset="-122"/>
                <a:cs typeface="Calibri" pitchFamily="34" charset="-120"/>
              </a:rPr>
              <a:t>Outcome — did the patient recover, any lasting effects?</a:t>
            </a:r>
            <a:endParaRPr lang="en-US" sz="1100" dirty="0"/>
          </a:p>
          <a:p>
            <a:pPr marL="342900" indent="-342900">
              <a:lnSpc>
                <a:spcPts val="1600"/>
              </a:lnSpc>
              <a:spcAft>
                <a:spcPts val="600"/>
              </a:spcAft>
              <a:buSzPct val="100000"/>
              <a:buChar char="•"/>
            </a:pPr>
            <a:r>
              <a:rPr lang="en-US" sz="1100" dirty="0">
                <a:solidFill>
                  <a:srgbClr val="1E293B"/>
                </a:solidFill>
                <a:latin typeface="Calibri" pitchFamily="34" charset="0"/>
                <a:ea typeface="Calibri" pitchFamily="34" charset="-122"/>
                <a:cs typeface="Calibri" pitchFamily="34" charset="-120"/>
              </a:rPr>
              <a:t>The exact dates: drug started, event began</a:t>
            </a:r>
            <a:endParaRPr lang="en-US" sz="1100" dirty="0"/>
          </a:p>
          <a:p>
            <a:pPr marL="342900" indent="-342900">
              <a:lnSpc>
                <a:spcPts val="1600"/>
              </a:lnSpc>
              <a:spcAft>
                <a:spcPts val="600"/>
              </a:spcAft>
              <a:buSzPct val="100000"/>
              <a:buChar char="•"/>
            </a:pPr>
            <a:r>
              <a:rPr lang="en-US" sz="1100" dirty="0">
                <a:solidFill>
                  <a:srgbClr val="1E293B"/>
                </a:solidFill>
                <a:latin typeface="Calibri" pitchFamily="34" charset="0"/>
                <a:ea typeface="Calibri" pitchFamily="34" charset="-122"/>
                <a:cs typeface="Calibri" pitchFamily="34" charset="-120"/>
              </a:rPr>
              <a:t>Dechallenge — what happened after stopping</a:t>
            </a:r>
            <a:endParaRPr lang="en-US" sz="1100" dirty="0"/>
          </a:p>
          <a:p>
            <a:pPr marL="342900" indent="-342900">
              <a:lnSpc>
                <a:spcPts val="1600"/>
              </a:lnSpc>
              <a:spcAft>
                <a:spcPts val="600"/>
              </a:spcAft>
              <a:buSzPct val="100000"/>
              <a:buChar char="•"/>
            </a:pPr>
            <a:r>
              <a:rPr lang="en-US" sz="1100" dirty="0">
                <a:solidFill>
                  <a:srgbClr val="1E293B"/>
                </a:solidFill>
                <a:latin typeface="Calibri" pitchFamily="34" charset="0"/>
                <a:ea typeface="Calibri" pitchFamily="34" charset="-122"/>
                <a:cs typeface="Calibri" pitchFamily="34" charset="-120"/>
              </a:rPr>
              <a:t>The complete medicine list, including over the counter</a:t>
            </a:r>
            <a:endParaRPr lang="en-US" sz="1100" dirty="0"/>
          </a:p>
        </p:txBody>
      </p:sp>
      <p:sp>
        <p:nvSpPr>
          <p:cNvPr id="9" name="Shape 7"/>
          <p:cNvSpPr/>
          <p:nvPr/>
        </p:nvSpPr>
        <p:spPr>
          <a:xfrm>
            <a:off x="4251960" y="2450592"/>
            <a:ext cx="3456432" cy="2944368"/>
          </a:xfrm>
          <a:prstGeom prst="roundRect">
            <a:avLst>
              <a:gd name="adj" fmla="val 1863"/>
            </a:avLst>
          </a:prstGeom>
          <a:solidFill>
            <a:srgbClr val="ECFEFF"/>
          </a:solidFill>
          <a:ln w="12700">
            <a:solidFill>
              <a:srgbClr val="E2E8F0"/>
            </a:solidFill>
            <a:prstDash val="solid"/>
          </a:ln>
        </p:spPr>
      </p:sp>
      <p:sp>
        <p:nvSpPr>
          <p:cNvPr id="10" name="Text 8"/>
          <p:cNvSpPr txBox="1"/>
          <p:nvPr/>
        </p:nvSpPr>
        <p:spPr>
          <a:xfrm>
            <a:off x="4480560" y="2615184"/>
            <a:ext cx="3017520" cy="530352"/>
          </a:xfrm>
          <a:prstGeom prst="rect">
            <a:avLst/>
          </a:prstGeom>
          <a:noFill/>
          <a:ln/>
        </p:spPr>
        <p:txBody>
          <a:bodyPr wrap="square" lIns="0" tIns="0" rIns="0" bIns="0" rtlCol="0" anchor="t"/>
          <a:lstStyle/>
          <a:p>
            <a:pPr indent="0" marL="0">
              <a:lnSpc>
                <a:spcPts val="1800"/>
              </a:lnSpc>
              <a:buNone/>
            </a:pPr>
            <a:r>
              <a:rPr lang="en-US" sz="1350" b="1" dirty="0">
                <a:solidFill>
                  <a:srgbClr val="0E7490"/>
                </a:solidFill>
                <a:latin typeface="Cambria" pitchFamily="34" charset="0"/>
                <a:ea typeface="Cambria" pitchFamily="34" charset="-122"/>
                <a:cs typeface="Cambria" pitchFamily="34" charset="-120"/>
              </a:rPr>
              <a:t>Chase next — it strengthens the case</a:t>
            </a:r>
            <a:endParaRPr lang="en-US" sz="1350" dirty="0"/>
          </a:p>
        </p:txBody>
      </p:sp>
      <p:sp>
        <p:nvSpPr>
          <p:cNvPr id="11" name="Text 9"/>
          <p:cNvSpPr txBox="1"/>
          <p:nvPr/>
        </p:nvSpPr>
        <p:spPr>
          <a:xfrm>
            <a:off x="4480560" y="3200400"/>
            <a:ext cx="3017520" cy="2057400"/>
          </a:xfrm>
          <a:prstGeom prst="rect">
            <a:avLst/>
          </a:prstGeom>
          <a:noFill/>
          <a:ln/>
        </p:spPr>
        <p:txBody>
          <a:bodyPr wrap="square" lIns="0" tIns="0" rIns="0" bIns="0" rtlCol="0" anchor="t"/>
          <a:lstStyle/>
          <a:p>
            <a:pPr marL="342900" indent="-342900">
              <a:lnSpc>
                <a:spcPts val="1600"/>
              </a:lnSpc>
              <a:spcAft>
                <a:spcPts val="600"/>
              </a:spcAft>
              <a:buSzPct val="100000"/>
              <a:buChar char="•"/>
            </a:pPr>
            <a:r>
              <a:rPr lang="en-US" sz="1100" dirty="0">
                <a:solidFill>
                  <a:srgbClr val="1E293B"/>
                </a:solidFill>
                <a:latin typeface="Calibri" pitchFamily="34" charset="0"/>
                <a:ea typeface="Calibri" pitchFamily="34" charset="-122"/>
                <a:cs typeface="Calibri" pitchFamily="34" charset="-120"/>
              </a:rPr>
              <a:t>Relevant laboratory results and objective evidence</a:t>
            </a:r>
            <a:endParaRPr lang="en-US" sz="1100" dirty="0"/>
          </a:p>
          <a:p>
            <a:pPr marL="342900" indent="-342900">
              <a:lnSpc>
                <a:spcPts val="1600"/>
              </a:lnSpc>
              <a:spcAft>
                <a:spcPts val="600"/>
              </a:spcAft>
              <a:buSzPct val="100000"/>
              <a:buChar char="•"/>
            </a:pPr>
            <a:r>
              <a:rPr lang="en-US" sz="1100" dirty="0">
                <a:solidFill>
                  <a:srgbClr val="1E293B"/>
                </a:solidFill>
                <a:latin typeface="Calibri" pitchFamily="34" charset="0"/>
                <a:ea typeface="Calibri" pitchFamily="34" charset="-122"/>
                <a:cs typeface="Calibri" pitchFamily="34" charset="-120"/>
              </a:rPr>
              <a:t>Dose and frequency</a:t>
            </a:r>
            <a:endParaRPr lang="en-US" sz="1100" dirty="0"/>
          </a:p>
          <a:p>
            <a:pPr marL="342900" indent="-342900">
              <a:lnSpc>
                <a:spcPts val="1600"/>
              </a:lnSpc>
              <a:spcAft>
                <a:spcPts val="600"/>
              </a:spcAft>
              <a:buSzPct val="100000"/>
              <a:buChar char="•"/>
            </a:pPr>
            <a:r>
              <a:rPr lang="en-US" sz="1100" dirty="0">
                <a:solidFill>
                  <a:srgbClr val="1E293B"/>
                </a:solidFill>
                <a:latin typeface="Calibri" pitchFamily="34" charset="0"/>
                <a:ea typeface="Calibri" pitchFamily="34" charset="-122"/>
                <a:cs typeface="Calibri" pitchFamily="34" charset="-120"/>
              </a:rPr>
              <a:t>Relevant medical history</a:t>
            </a:r>
            <a:endParaRPr lang="en-US" sz="1100" dirty="0"/>
          </a:p>
          <a:p>
            <a:pPr marL="342900" indent="-342900">
              <a:lnSpc>
                <a:spcPts val="1600"/>
              </a:lnSpc>
              <a:spcAft>
                <a:spcPts val="600"/>
              </a:spcAft>
              <a:buSzPct val="100000"/>
              <a:buChar char="•"/>
            </a:pPr>
            <a:r>
              <a:rPr lang="en-US" sz="1100" dirty="0">
                <a:solidFill>
                  <a:srgbClr val="1E293B"/>
                </a:solidFill>
                <a:latin typeface="Calibri" pitchFamily="34" charset="0"/>
                <a:ea typeface="Calibri" pitchFamily="34" charset="-122"/>
                <a:cs typeface="Calibri" pitchFamily="34" charset="-120"/>
              </a:rPr>
              <a:t>Batch number, where obtainable</a:t>
            </a:r>
            <a:endParaRPr lang="en-US" sz="1100" dirty="0"/>
          </a:p>
        </p:txBody>
      </p:sp>
      <p:sp>
        <p:nvSpPr>
          <p:cNvPr id="12" name="Shape 10"/>
          <p:cNvSpPr/>
          <p:nvPr/>
        </p:nvSpPr>
        <p:spPr>
          <a:xfrm>
            <a:off x="7936992" y="2450592"/>
            <a:ext cx="3456432" cy="2944368"/>
          </a:xfrm>
          <a:prstGeom prst="roundRect">
            <a:avLst>
              <a:gd name="adj" fmla="val 1863"/>
            </a:avLst>
          </a:prstGeom>
          <a:solidFill>
            <a:srgbClr val="FEE2E2"/>
          </a:solidFill>
          <a:ln w="12700">
            <a:solidFill>
              <a:srgbClr val="E2E8F0"/>
            </a:solidFill>
            <a:prstDash val="solid"/>
          </a:ln>
        </p:spPr>
      </p:sp>
      <p:sp>
        <p:nvSpPr>
          <p:cNvPr id="13" name="Text 11"/>
          <p:cNvSpPr txBox="1"/>
          <p:nvPr/>
        </p:nvSpPr>
        <p:spPr>
          <a:xfrm>
            <a:off x="8165592" y="2615184"/>
            <a:ext cx="3017520" cy="530352"/>
          </a:xfrm>
          <a:prstGeom prst="rect">
            <a:avLst/>
          </a:prstGeom>
          <a:noFill/>
          <a:ln/>
        </p:spPr>
        <p:txBody>
          <a:bodyPr wrap="square" lIns="0" tIns="0" rIns="0" bIns="0" rtlCol="0" anchor="t"/>
          <a:lstStyle/>
          <a:p>
            <a:pPr indent="0" marL="0">
              <a:lnSpc>
                <a:spcPts val="1800"/>
              </a:lnSpc>
              <a:buNone/>
            </a:pPr>
            <a:r>
              <a:rPr lang="en-US" sz="1350" b="1" dirty="0">
                <a:solidFill>
                  <a:srgbClr val="B91C1C"/>
                </a:solidFill>
                <a:latin typeface="Cambria" pitchFamily="34" charset="0"/>
                <a:ea typeface="Cambria" pitchFamily="34" charset="-122"/>
                <a:cs typeface="Cambria" pitchFamily="34" charset="-120"/>
              </a:rPr>
              <a:t>Do NOT chase</a:t>
            </a:r>
            <a:endParaRPr lang="en-US" sz="1350" dirty="0"/>
          </a:p>
        </p:txBody>
      </p:sp>
      <p:sp>
        <p:nvSpPr>
          <p:cNvPr id="14" name="Text 12"/>
          <p:cNvSpPr txBox="1"/>
          <p:nvPr/>
        </p:nvSpPr>
        <p:spPr>
          <a:xfrm>
            <a:off x="8165592" y="3200400"/>
            <a:ext cx="3017520" cy="2057400"/>
          </a:xfrm>
          <a:prstGeom prst="rect">
            <a:avLst/>
          </a:prstGeom>
          <a:noFill/>
          <a:ln/>
        </p:spPr>
        <p:txBody>
          <a:bodyPr wrap="square" lIns="0" tIns="0" rIns="0" bIns="0" rtlCol="0" anchor="t"/>
          <a:lstStyle/>
          <a:p>
            <a:pPr marL="342900" indent="-342900">
              <a:lnSpc>
                <a:spcPts val="1600"/>
              </a:lnSpc>
              <a:spcAft>
                <a:spcPts val="600"/>
              </a:spcAft>
              <a:buSzPct val="100000"/>
              <a:buChar char="•"/>
            </a:pPr>
            <a:r>
              <a:rPr lang="en-US" sz="1100" dirty="0">
                <a:solidFill>
                  <a:srgbClr val="1E293B"/>
                </a:solidFill>
                <a:latin typeface="Calibri" pitchFamily="34" charset="0"/>
                <a:ea typeface="Calibri" pitchFamily="34" charset="-122"/>
                <a:cs typeface="Calibri" pitchFamily="34" charset="-120"/>
              </a:rPr>
              <a:t>The patient’s full name and address</a:t>
            </a:r>
            <a:endParaRPr lang="en-US" sz="1100" dirty="0"/>
          </a:p>
          <a:p>
            <a:pPr marL="342900" indent="-342900">
              <a:lnSpc>
                <a:spcPts val="1600"/>
              </a:lnSpc>
              <a:spcAft>
                <a:spcPts val="600"/>
              </a:spcAft>
              <a:buSzPct val="100000"/>
              <a:buChar char="•"/>
            </a:pPr>
            <a:r>
              <a:rPr lang="en-US" sz="1100" dirty="0">
                <a:solidFill>
                  <a:srgbClr val="1E293B"/>
                </a:solidFill>
                <a:latin typeface="Calibri" pitchFamily="34" charset="0"/>
                <a:ea typeface="Calibri" pitchFamily="34" charset="-122"/>
                <a:cs typeface="Calibri" pitchFamily="34" charset="-120"/>
              </a:rPr>
              <a:t>Anything else the report does not need</a:t>
            </a:r>
            <a:endParaRPr lang="en-US" sz="1100" dirty="0"/>
          </a:p>
          <a:p>
            <a:pPr marL="342900" indent="-342900">
              <a:lnSpc>
                <a:spcPts val="1600"/>
              </a:lnSpc>
              <a:spcAft>
                <a:spcPts val="600"/>
              </a:spcAft>
              <a:buSzPct val="100000"/>
              <a:buChar char="•"/>
            </a:pPr>
            <a:r>
              <a:rPr lang="en-US" sz="1100" dirty="0">
                <a:solidFill>
                  <a:srgbClr val="1E293B"/>
                </a:solidFill>
                <a:latin typeface="Calibri" pitchFamily="34" charset="0"/>
                <a:ea typeface="Calibri" pitchFamily="34" charset="-122"/>
                <a:cs typeface="Calibri" pitchFamily="34" charset="-120"/>
              </a:rPr>
              <a:t>More personal data is a privacy failure, not thoroughness</a:t>
            </a:r>
            <a:endParaRPr lang="en-US" sz="1100" dirty="0"/>
          </a:p>
        </p:txBody>
      </p:sp>
      <p:sp>
        <p:nvSpPr>
          <p:cNvPr id="15" name="Shape 13"/>
          <p:cNvSpPr/>
          <p:nvPr/>
        </p:nvSpPr>
        <p:spPr>
          <a:xfrm>
            <a:off x="566928" y="5577840"/>
            <a:ext cx="11027664" cy="914400"/>
          </a:xfrm>
          <a:prstGeom prst="roundRect">
            <a:avLst>
              <a:gd name="adj" fmla="val 6000"/>
            </a:avLst>
          </a:prstGeom>
          <a:solidFill>
            <a:srgbClr val="FEF3C7"/>
          </a:solidFill>
          <a:ln w="12700">
            <a:solidFill>
              <a:srgbClr val="E2E8F0"/>
            </a:solidFill>
            <a:prstDash val="solid"/>
          </a:ln>
        </p:spPr>
      </p:sp>
      <p:sp>
        <p:nvSpPr>
          <p:cNvPr id="16" name="Text 14"/>
          <p:cNvSpPr txBox="1"/>
          <p:nvPr/>
        </p:nvSpPr>
        <p:spPr>
          <a:xfrm>
            <a:off x="886968" y="5760720"/>
            <a:ext cx="10424160" cy="594360"/>
          </a:xfrm>
          <a:prstGeom prst="rect">
            <a:avLst/>
          </a:prstGeom>
          <a:noFill/>
          <a:ln/>
        </p:spPr>
        <p:txBody>
          <a:bodyPr wrap="square" lIns="0" tIns="0" rIns="0" bIns="0" rtlCol="0" anchor="ctr"/>
          <a:lstStyle/>
          <a:p>
            <a:pPr indent="0" marL="0">
              <a:lnSpc>
                <a:spcPts val="1900"/>
              </a:lnSpc>
              <a:buNone/>
            </a:pPr>
            <a:r>
              <a:rPr lang="en-US" sz="1350" b="1" dirty="0">
                <a:solidFill>
                  <a:srgbClr val="78350F"/>
                </a:solidFill>
                <a:latin typeface="Calibri" pitchFamily="34" charset="0"/>
                <a:ea typeface="Calibri" pitchFamily="34" charset="-122"/>
                <a:cs typeface="Calibri" pitchFamily="34" charset="-120"/>
              </a:rPr>
              <a:t>The patient must be identifiable to the REPORTER, not named in the database. This is the one category where collecting less is doing the job better.</a:t>
            </a:r>
            <a:endParaRPr lang="en-US" sz="13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0F2B3D"/>
        </a:solidFill>
      </p:bgPr>
    </p:bg>
    <p:spTree>
      <p:nvGrpSpPr>
        <p:cNvPr id="1" name=""/>
        <p:cNvGrpSpPr/>
        <p:nvPr/>
      </p:nvGrpSpPr>
      <p:grpSpPr>
        <a:xfrm>
          <a:off x="0" y="0"/>
          <a:ext cx="0" cy="0"/>
          <a:chOff x="0" y="0"/>
          <a:chExt cx="0" cy="0"/>
        </a:xfrm>
      </p:grpSpPr>
      <p:sp>
        <p:nvSpPr>
          <p:cNvPr id="2" name="Shape 0"/>
          <p:cNvSpPr/>
          <p:nvPr/>
        </p:nvSpPr>
        <p:spPr>
          <a:xfrm>
            <a:off x="566928" y="2057400"/>
            <a:ext cx="1051560" cy="1051560"/>
          </a:xfrm>
          <a:prstGeom prst="ellipse">
            <a:avLst/>
          </a:prstGeom>
          <a:solidFill>
            <a:srgbClr val="0E7490"/>
          </a:solidFill>
          <a:ln/>
        </p:spPr>
      </p:sp>
      <p:sp>
        <p:nvSpPr>
          <p:cNvPr id="3" name="Text 1"/>
          <p:cNvSpPr txBox="1"/>
          <p:nvPr/>
        </p:nvSpPr>
        <p:spPr>
          <a:xfrm>
            <a:off x="566928" y="2057400"/>
            <a:ext cx="1051560" cy="1051560"/>
          </a:xfrm>
          <a:prstGeom prst="rect">
            <a:avLst/>
          </a:prstGeom>
          <a:noFill/>
          <a:ln/>
        </p:spPr>
        <p:txBody>
          <a:bodyPr wrap="square" lIns="0" tIns="0" rIns="0" bIns="0" rtlCol="0" anchor="ctr"/>
          <a:lstStyle/>
          <a:p>
            <a:pPr algn="ctr" indent="0" marL="0">
              <a:buNone/>
            </a:pPr>
            <a:r>
              <a:rPr lang="en-US" sz="3400" b="1" dirty="0">
                <a:solidFill>
                  <a:srgbClr val="FFFFFF"/>
                </a:solidFill>
                <a:latin typeface="Cambria" pitchFamily="34" charset="0"/>
                <a:ea typeface="Cambria" pitchFamily="34" charset="-122"/>
                <a:cs typeface="Cambria" pitchFamily="34" charset="-120"/>
              </a:rPr>
              <a:t>8</a:t>
            </a:r>
            <a:endParaRPr lang="en-US" sz="3400" dirty="0"/>
          </a:p>
        </p:txBody>
      </p:sp>
      <p:sp>
        <p:nvSpPr>
          <p:cNvPr id="4" name="Text 2"/>
          <p:cNvSpPr txBox="1"/>
          <p:nvPr/>
        </p:nvSpPr>
        <p:spPr>
          <a:xfrm>
            <a:off x="1874520" y="2121408"/>
            <a:ext cx="8229600" cy="274320"/>
          </a:xfrm>
          <a:prstGeom prst="rect">
            <a:avLst/>
          </a:prstGeom>
          <a:noFill/>
          <a:ln/>
        </p:spPr>
        <p:txBody>
          <a:bodyPr wrap="square" lIns="0" tIns="0" rIns="0" bIns="0" rtlCol="0" anchor="ctr"/>
          <a:lstStyle/>
          <a:p>
            <a:pPr indent="0" marL="0">
              <a:buNone/>
            </a:pPr>
            <a:r>
              <a:rPr lang="en-US" sz="1200" b="1" spc="300" kern="0" dirty="0">
                <a:solidFill>
                  <a:srgbClr val="0891B2"/>
                </a:solidFill>
                <a:latin typeface="Calibri" pitchFamily="34" charset="0"/>
                <a:ea typeface="Calibri" pitchFamily="34" charset="-122"/>
                <a:cs typeface="Calibri" pitchFamily="34" charset="-120"/>
              </a:rPr>
              <a:t>Part eight</a:t>
            </a:r>
            <a:endParaRPr lang="en-US" sz="1200" dirty="0"/>
          </a:p>
        </p:txBody>
      </p:sp>
      <p:sp>
        <p:nvSpPr>
          <p:cNvPr id="5" name="Text 3"/>
          <p:cNvSpPr txBox="1"/>
          <p:nvPr/>
        </p:nvSpPr>
        <p:spPr>
          <a:xfrm>
            <a:off x="1874520" y="2395728"/>
            <a:ext cx="9326880" cy="621792"/>
          </a:xfrm>
          <a:prstGeom prst="rect">
            <a:avLst/>
          </a:prstGeom>
          <a:noFill/>
          <a:ln/>
        </p:spPr>
        <p:txBody>
          <a:bodyPr wrap="square" lIns="0" tIns="0" rIns="0" bIns="0" rtlCol="0" anchor="t"/>
          <a:lstStyle/>
          <a:p>
            <a:pPr indent="0" marL="0">
              <a:lnSpc>
                <a:spcPts val="4600"/>
              </a:lnSpc>
              <a:buNone/>
            </a:pPr>
            <a:r>
              <a:rPr lang="en-US" sz="4000" b="1" dirty="0">
                <a:solidFill>
                  <a:srgbClr val="FFFFFF"/>
                </a:solidFill>
                <a:latin typeface="Cambria" pitchFamily="34" charset="0"/>
                <a:ea typeface="Cambria" pitchFamily="34" charset="-122"/>
                <a:cs typeface="Cambria" pitchFamily="34" charset="-120"/>
              </a:rPr>
              <a:t>From one case to a signal</a:t>
            </a:r>
            <a:endParaRPr lang="en-US" sz="4000" dirty="0"/>
          </a:p>
        </p:txBody>
      </p:sp>
      <p:sp>
        <p:nvSpPr>
          <p:cNvPr id="6" name="Text 4"/>
          <p:cNvSpPr txBox="1"/>
          <p:nvPr/>
        </p:nvSpPr>
        <p:spPr>
          <a:xfrm>
            <a:off x="1874520" y="3154680"/>
            <a:ext cx="8778240" cy="822960"/>
          </a:xfrm>
          <a:prstGeom prst="rect">
            <a:avLst/>
          </a:prstGeom>
          <a:noFill/>
          <a:ln/>
        </p:spPr>
        <p:txBody>
          <a:bodyPr wrap="square" lIns="0" tIns="0" rIns="0" bIns="0" rtlCol="0" anchor="t"/>
          <a:lstStyle/>
          <a:p>
            <a:pPr indent="0" marL="0">
              <a:lnSpc>
                <a:spcPts val="2400"/>
              </a:lnSpc>
              <a:buNone/>
            </a:pPr>
            <a:r>
              <a:rPr lang="en-US" sz="1550" dirty="0">
                <a:solidFill>
                  <a:srgbClr val="CBD5E1"/>
                </a:solidFill>
                <a:latin typeface="Calibri" pitchFamily="34" charset="0"/>
                <a:ea typeface="Calibri" pitchFamily="34" charset="-122"/>
                <a:cs typeface="Calibri" pitchFamily="34" charset="-120"/>
              </a:rPr>
              <a:t>One report is an observation. The job of the whole system is to notice when many observations mean something new.</a:t>
            </a:r>
            <a:endParaRPr lang="en-US" sz="15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84048"/>
            <a:ext cx="10058400" cy="256032"/>
          </a:xfrm>
          <a:prstGeom prst="rect">
            <a:avLst/>
          </a:prstGeom>
          <a:noFill/>
          <a:ln/>
        </p:spPr>
        <p:txBody>
          <a:bodyPr wrap="square" lIns="0" tIns="0" rIns="0" bIns="0" rtlCol="0" anchor="ctr"/>
          <a:lstStyle/>
          <a:p>
            <a:pPr indent="0" marL="0">
              <a:buNone/>
            </a:pPr>
            <a:r>
              <a:rPr lang="en-US" sz="1100" b="1" spc="250" kern="0" dirty="0">
                <a:solidFill>
                  <a:srgbClr val="0E7490"/>
                </a:solidFill>
                <a:latin typeface="Calibri" pitchFamily="34" charset="0"/>
                <a:ea typeface="Calibri" pitchFamily="34" charset="-122"/>
                <a:cs typeface="Calibri" pitchFamily="34" charset="-120"/>
              </a:rPr>
              <a:t>Definition</a:t>
            </a:r>
            <a:endParaRPr lang="en-US" sz="1100" dirty="0"/>
          </a:p>
        </p:txBody>
      </p:sp>
      <p:sp>
        <p:nvSpPr>
          <p:cNvPr id="3" name="Text 1"/>
          <p:cNvSpPr txBox="1"/>
          <p:nvPr/>
        </p:nvSpPr>
        <p:spPr>
          <a:xfrm>
            <a:off x="566928" y="640080"/>
            <a:ext cx="11064240" cy="548640"/>
          </a:xfrm>
          <a:prstGeom prst="rect">
            <a:avLst/>
          </a:prstGeom>
          <a:noFill/>
          <a:ln/>
        </p:spPr>
        <p:txBody>
          <a:bodyPr wrap="square" lIns="0" tIns="0" rIns="0" bIns="0" rtlCol="0" anchor="t"/>
          <a:lstStyle/>
          <a:p>
            <a:pPr indent="0" marL="0">
              <a:lnSpc>
                <a:spcPts val="3800"/>
              </a:lnSpc>
              <a:buNone/>
            </a:pPr>
            <a:r>
              <a:rPr lang="en-US" sz="3100" b="1" dirty="0">
                <a:solidFill>
                  <a:srgbClr val="0F2B3D"/>
                </a:solidFill>
                <a:latin typeface="Cambria" pitchFamily="34" charset="0"/>
                <a:ea typeface="Cambria" pitchFamily="34" charset="-122"/>
                <a:cs typeface="Cambria" pitchFamily="34" charset="-120"/>
              </a:rPr>
              <a:t>What a signal actually is</a:t>
            </a:r>
            <a:endParaRPr lang="en-US" sz="3100" dirty="0"/>
          </a:p>
        </p:txBody>
      </p:sp>
      <p:sp>
        <p:nvSpPr>
          <p:cNvPr id="4" name="Shape 2"/>
          <p:cNvSpPr/>
          <p:nvPr/>
        </p:nvSpPr>
        <p:spPr>
          <a:xfrm>
            <a:off x="566928" y="1463040"/>
            <a:ext cx="11027664" cy="1234440"/>
          </a:xfrm>
          <a:prstGeom prst="roundRect">
            <a:avLst>
              <a:gd name="adj" fmla="val 4444"/>
            </a:avLst>
          </a:prstGeom>
          <a:solidFill>
            <a:srgbClr val="ECFEFF"/>
          </a:solidFill>
          <a:ln w="12700">
            <a:solidFill>
              <a:srgbClr val="E2E8F0"/>
            </a:solidFill>
            <a:prstDash val="solid"/>
          </a:ln>
        </p:spPr>
      </p:sp>
      <p:sp>
        <p:nvSpPr>
          <p:cNvPr id="5" name="Text 3"/>
          <p:cNvSpPr txBox="1"/>
          <p:nvPr/>
        </p:nvSpPr>
        <p:spPr>
          <a:xfrm>
            <a:off x="932688" y="1645920"/>
            <a:ext cx="10332720" cy="914400"/>
          </a:xfrm>
          <a:prstGeom prst="rect">
            <a:avLst/>
          </a:prstGeom>
          <a:noFill/>
          <a:ln/>
        </p:spPr>
        <p:txBody>
          <a:bodyPr wrap="square" lIns="0" tIns="0" rIns="0" bIns="0" rtlCol="0" anchor="ctr"/>
          <a:lstStyle/>
          <a:p>
            <a:pPr indent="0" marL="0">
              <a:lnSpc>
                <a:spcPts val="2100"/>
              </a:lnSpc>
              <a:buNone/>
            </a:pPr>
            <a:r>
              <a:rPr lang="en-US" sz="1400" i="1" dirty="0">
                <a:solidFill>
                  <a:srgbClr val="0C4A6E"/>
                </a:solidFill>
                <a:latin typeface="Calibri" pitchFamily="34" charset="0"/>
                <a:ea typeface="Calibri" pitchFamily="34" charset="-122"/>
                <a:cs typeface="Calibri" pitchFamily="34" charset="-120"/>
              </a:rPr>
              <a:t>Information arising from one or more sources which suggests a new, potentially causal association — or a new aspect of a known association — between an intervention and an event, judged likely enough to justify verificatory action. (The sense used by WHO and CIOMS.)</a:t>
            </a:r>
            <a:endParaRPr lang="en-US" sz="1400" dirty="0"/>
          </a:p>
        </p:txBody>
      </p:sp>
      <p:sp>
        <p:nvSpPr>
          <p:cNvPr id="6" name="Text 4"/>
          <p:cNvSpPr txBox="1"/>
          <p:nvPr/>
        </p:nvSpPr>
        <p:spPr>
          <a:xfrm>
            <a:off x="566928" y="2871216"/>
            <a:ext cx="11027664" cy="320040"/>
          </a:xfrm>
          <a:prstGeom prst="rect">
            <a:avLst/>
          </a:prstGeom>
          <a:noFill/>
          <a:ln/>
        </p:spPr>
        <p:txBody>
          <a:bodyPr wrap="square" lIns="0" tIns="0" rIns="0" bIns="0" rtlCol="0" anchor="t"/>
          <a:lstStyle/>
          <a:p>
            <a:pPr indent="0" marL="0">
              <a:buNone/>
            </a:pPr>
            <a:r>
              <a:rPr lang="en-US" sz="1600" b="1" dirty="0">
                <a:solidFill>
                  <a:srgbClr val="0F2B3D"/>
                </a:solidFill>
                <a:latin typeface="Cambria" pitchFamily="34" charset="0"/>
                <a:ea typeface="Cambria" pitchFamily="34" charset="-122"/>
                <a:cs typeface="Cambria" pitchFamily="34" charset="-120"/>
              </a:rPr>
              <a:t>How a single report becomes regulatory action</a:t>
            </a:r>
            <a:endParaRPr lang="en-US" sz="1600" dirty="0"/>
          </a:p>
        </p:txBody>
      </p:sp>
      <p:sp>
        <p:nvSpPr>
          <p:cNvPr id="7" name="Shape 5"/>
          <p:cNvSpPr/>
          <p:nvPr/>
        </p:nvSpPr>
        <p:spPr>
          <a:xfrm>
            <a:off x="566928" y="3310128"/>
            <a:ext cx="365760" cy="365760"/>
          </a:xfrm>
          <a:prstGeom prst="ellipse">
            <a:avLst/>
          </a:prstGeom>
          <a:solidFill>
            <a:srgbClr val="94A3B8"/>
          </a:solidFill>
          <a:ln/>
        </p:spPr>
      </p:sp>
      <p:sp>
        <p:nvSpPr>
          <p:cNvPr id="8" name="Text 6"/>
          <p:cNvSpPr txBox="1"/>
          <p:nvPr/>
        </p:nvSpPr>
        <p:spPr>
          <a:xfrm>
            <a:off x="566928" y="33101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9" name="Text 7"/>
          <p:cNvSpPr txBox="1"/>
          <p:nvPr/>
        </p:nvSpPr>
        <p:spPr>
          <a:xfrm>
            <a:off x="1097280" y="3319272"/>
            <a:ext cx="10424160" cy="438912"/>
          </a:xfrm>
          <a:prstGeom prst="rect">
            <a:avLst/>
          </a:prstGeom>
          <a:noFill/>
          <a:ln/>
        </p:spPr>
        <p:txBody>
          <a:bodyPr wrap="square" lIns="0" tIns="0" rIns="0" bIns="0" rtlCol="0" anchor="t"/>
          <a:lstStyle/>
          <a:p>
            <a:pPr indent="0" marL="0">
              <a:lnSpc>
                <a:spcPts val="1800"/>
              </a:lnSpc>
              <a:buNone/>
            </a:pPr>
            <a:r>
              <a:rPr lang="en-US" sz="1350" dirty="0">
                <a:solidFill>
                  <a:srgbClr val="1E293B"/>
                </a:solidFill>
                <a:latin typeface="Calibri" pitchFamily="34" charset="0"/>
                <a:ea typeface="Calibri" pitchFamily="34" charset="-122"/>
                <a:cs typeface="Calibri" pitchFamily="34" charset="-120"/>
              </a:rPr>
              <a:t>A single case report</a:t>
            </a:r>
            <a:endParaRPr lang="en-US" sz="1350" dirty="0"/>
          </a:p>
        </p:txBody>
      </p:sp>
      <p:sp>
        <p:nvSpPr>
          <p:cNvPr id="10" name="Shape 8"/>
          <p:cNvSpPr/>
          <p:nvPr/>
        </p:nvSpPr>
        <p:spPr>
          <a:xfrm>
            <a:off x="566928" y="3822192"/>
            <a:ext cx="365760" cy="365760"/>
          </a:xfrm>
          <a:prstGeom prst="ellipse">
            <a:avLst/>
          </a:prstGeom>
          <a:solidFill>
            <a:srgbClr val="94A3B8"/>
          </a:solidFill>
          <a:ln/>
        </p:spPr>
      </p:sp>
      <p:sp>
        <p:nvSpPr>
          <p:cNvPr id="11" name="Text 9"/>
          <p:cNvSpPr txBox="1"/>
          <p:nvPr/>
        </p:nvSpPr>
        <p:spPr>
          <a:xfrm>
            <a:off x="566928" y="3822192"/>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2" name="Text 10"/>
          <p:cNvSpPr txBox="1"/>
          <p:nvPr/>
        </p:nvSpPr>
        <p:spPr>
          <a:xfrm>
            <a:off x="1097280" y="3831336"/>
            <a:ext cx="10424160" cy="438912"/>
          </a:xfrm>
          <a:prstGeom prst="rect">
            <a:avLst/>
          </a:prstGeom>
          <a:noFill/>
          <a:ln/>
        </p:spPr>
        <p:txBody>
          <a:bodyPr wrap="square" lIns="0" tIns="0" rIns="0" bIns="0" rtlCol="0" anchor="t"/>
          <a:lstStyle/>
          <a:p>
            <a:pPr indent="0" marL="0">
              <a:lnSpc>
                <a:spcPts val="1800"/>
              </a:lnSpc>
              <a:buNone/>
            </a:pPr>
            <a:r>
              <a:rPr lang="en-US" sz="1350" dirty="0">
                <a:solidFill>
                  <a:srgbClr val="1E293B"/>
                </a:solidFill>
                <a:latin typeface="Calibri" pitchFamily="34" charset="0"/>
                <a:ea typeface="Calibri" pitchFamily="34" charset="-122"/>
                <a:cs typeface="Calibri" pitchFamily="34" charset="-120"/>
              </a:rPr>
              <a:t>Several similar cases</a:t>
            </a:r>
            <a:endParaRPr lang="en-US" sz="1350" dirty="0"/>
          </a:p>
        </p:txBody>
      </p:sp>
      <p:sp>
        <p:nvSpPr>
          <p:cNvPr id="13" name="Shape 11"/>
          <p:cNvSpPr/>
          <p:nvPr/>
        </p:nvSpPr>
        <p:spPr>
          <a:xfrm>
            <a:off x="566928" y="4334256"/>
            <a:ext cx="365760" cy="365760"/>
          </a:xfrm>
          <a:prstGeom prst="ellipse">
            <a:avLst/>
          </a:prstGeom>
          <a:solidFill>
            <a:srgbClr val="0E7490"/>
          </a:solidFill>
          <a:ln/>
        </p:spPr>
      </p:sp>
      <p:sp>
        <p:nvSpPr>
          <p:cNvPr id="14" name="Text 12"/>
          <p:cNvSpPr txBox="1"/>
          <p:nvPr/>
        </p:nvSpPr>
        <p:spPr>
          <a:xfrm>
            <a:off x="566928" y="4334256"/>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5" name="Text 13"/>
          <p:cNvSpPr txBox="1"/>
          <p:nvPr/>
        </p:nvSpPr>
        <p:spPr>
          <a:xfrm>
            <a:off x="1097280" y="4343400"/>
            <a:ext cx="10424160" cy="438912"/>
          </a:xfrm>
          <a:prstGeom prst="rect">
            <a:avLst/>
          </a:prstGeom>
          <a:noFill/>
          <a:ln/>
        </p:spPr>
        <p:txBody>
          <a:bodyPr wrap="square" lIns="0" tIns="0" rIns="0" bIns="0" rtlCol="0" anchor="t"/>
          <a:lstStyle/>
          <a:p>
            <a:pPr indent="0" marL="0">
              <a:lnSpc>
                <a:spcPts val="1800"/>
              </a:lnSpc>
              <a:buNone/>
            </a:pPr>
            <a:r>
              <a:rPr lang="en-US" sz="1350" dirty="0">
                <a:solidFill>
                  <a:srgbClr val="1E293B"/>
                </a:solidFill>
                <a:latin typeface="Calibri" pitchFamily="34" charset="0"/>
                <a:ea typeface="Calibri" pitchFamily="34" charset="-122"/>
                <a:cs typeface="Calibri" pitchFamily="34" charset="-120"/>
              </a:rPr>
              <a:t>A recognisable pattern: same event, same drug, same time course</a:t>
            </a:r>
            <a:endParaRPr lang="en-US" sz="1350" dirty="0"/>
          </a:p>
        </p:txBody>
      </p:sp>
      <p:sp>
        <p:nvSpPr>
          <p:cNvPr id="16" name="Shape 14"/>
          <p:cNvSpPr/>
          <p:nvPr/>
        </p:nvSpPr>
        <p:spPr>
          <a:xfrm>
            <a:off x="566928" y="4846320"/>
            <a:ext cx="365760" cy="365760"/>
          </a:xfrm>
          <a:prstGeom prst="ellipse">
            <a:avLst/>
          </a:prstGeom>
          <a:solidFill>
            <a:srgbClr val="0E7490"/>
          </a:solidFill>
          <a:ln/>
        </p:spPr>
      </p:sp>
      <p:sp>
        <p:nvSpPr>
          <p:cNvPr id="17" name="Text 15"/>
          <p:cNvSpPr txBox="1"/>
          <p:nvPr/>
        </p:nvSpPr>
        <p:spPr>
          <a:xfrm>
            <a:off x="566928" y="484632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18" name="Text 16"/>
          <p:cNvSpPr txBox="1"/>
          <p:nvPr/>
        </p:nvSpPr>
        <p:spPr>
          <a:xfrm>
            <a:off x="1097280" y="4855464"/>
            <a:ext cx="10424160" cy="438912"/>
          </a:xfrm>
          <a:prstGeom prst="rect">
            <a:avLst/>
          </a:prstGeom>
          <a:noFill/>
          <a:ln/>
        </p:spPr>
        <p:txBody>
          <a:bodyPr wrap="square" lIns="0" tIns="0" rIns="0" bIns="0" rtlCol="0" anchor="t"/>
          <a:lstStyle/>
          <a:p>
            <a:pPr indent="0" marL="0">
              <a:lnSpc>
                <a:spcPts val="1800"/>
              </a:lnSpc>
              <a:buNone/>
            </a:pPr>
            <a:r>
              <a:rPr lang="en-US" sz="1350" dirty="0">
                <a:solidFill>
                  <a:srgbClr val="1E293B"/>
                </a:solidFill>
                <a:latin typeface="Calibri" pitchFamily="34" charset="0"/>
                <a:ea typeface="Calibri" pitchFamily="34" charset="-122"/>
                <a:cs typeface="Calibri" pitchFamily="34" charset="-120"/>
              </a:rPr>
              <a:t>A potential signal, formally recorded and prioritised</a:t>
            </a:r>
            <a:endParaRPr lang="en-US" sz="1350" dirty="0"/>
          </a:p>
        </p:txBody>
      </p:sp>
      <p:sp>
        <p:nvSpPr>
          <p:cNvPr id="19" name="Shape 17"/>
          <p:cNvSpPr/>
          <p:nvPr/>
        </p:nvSpPr>
        <p:spPr>
          <a:xfrm>
            <a:off x="566928" y="5358384"/>
            <a:ext cx="365760" cy="365760"/>
          </a:xfrm>
          <a:prstGeom prst="ellipse">
            <a:avLst/>
          </a:prstGeom>
          <a:solidFill>
            <a:srgbClr val="C40D16"/>
          </a:solidFill>
          <a:ln/>
        </p:spPr>
      </p:sp>
      <p:sp>
        <p:nvSpPr>
          <p:cNvPr id="20" name="Text 18"/>
          <p:cNvSpPr txBox="1"/>
          <p:nvPr/>
        </p:nvSpPr>
        <p:spPr>
          <a:xfrm>
            <a:off x="566928" y="5358384"/>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21" name="Text 19"/>
          <p:cNvSpPr txBox="1"/>
          <p:nvPr/>
        </p:nvSpPr>
        <p:spPr>
          <a:xfrm>
            <a:off x="1097280" y="5367528"/>
            <a:ext cx="10424160" cy="438912"/>
          </a:xfrm>
          <a:prstGeom prst="rect">
            <a:avLst/>
          </a:prstGeom>
          <a:noFill/>
          <a:ln/>
        </p:spPr>
        <p:txBody>
          <a:bodyPr wrap="square" lIns="0" tIns="0" rIns="0" bIns="0" rtlCol="0" anchor="t"/>
          <a:lstStyle/>
          <a:p>
            <a:pPr indent="0" marL="0">
              <a:lnSpc>
                <a:spcPts val="1800"/>
              </a:lnSpc>
              <a:buNone/>
            </a:pPr>
            <a:r>
              <a:rPr lang="en-US" sz="1350" dirty="0">
                <a:solidFill>
                  <a:srgbClr val="1E293B"/>
                </a:solidFill>
                <a:latin typeface="Calibri" pitchFamily="34" charset="0"/>
                <a:ea typeface="Calibri" pitchFamily="34" charset="-122"/>
                <a:cs typeface="Calibri" pitchFamily="34" charset="-120"/>
              </a:rPr>
              <a:t>Signal evaluation: review of all data, literature, background rates</a:t>
            </a:r>
            <a:endParaRPr lang="en-US" sz="1350" dirty="0"/>
          </a:p>
        </p:txBody>
      </p:sp>
      <p:sp>
        <p:nvSpPr>
          <p:cNvPr id="22" name="Shape 20"/>
          <p:cNvSpPr/>
          <p:nvPr/>
        </p:nvSpPr>
        <p:spPr>
          <a:xfrm>
            <a:off x="566928" y="5870448"/>
            <a:ext cx="365760" cy="365760"/>
          </a:xfrm>
          <a:prstGeom prst="ellipse">
            <a:avLst/>
          </a:prstGeom>
          <a:solidFill>
            <a:srgbClr val="C40D16"/>
          </a:solidFill>
          <a:ln/>
        </p:spPr>
      </p:sp>
      <p:sp>
        <p:nvSpPr>
          <p:cNvPr id="23" name="Text 21"/>
          <p:cNvSpPr txBox="1"/>
          <p:nvPr/>
        </p:nvSpPr>
        <p:spPr>
          <a:xfrm>
            <a:off x="566928" y="587044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6</a:t>
            </a:r>
            <a:endParaRPr lang="en-US" sz="1200" dirty="0"/>
          </a:p>
        </p:txBody>
      </p:sp>
      <p:sp>
        <p:nvSpPr>
          <p:cNvPr id="24" name="Text 22"/>
          <p:cNvSpPr txBox="1"/>
          <p:nvPr/>
        </p:nvSpPr>
        <p:spPr>
          <a:xfrm>
            <a:off x="1097280" y="5879592"/>
            <a:ext cx="10424160" cy="438912"/>
          </a:xfrm>
          <a:prstGeom prst="rect">
            <a:avLst/>
          </a:prstGeom>
          <a:noFill/>
          <a:ln/>
        </p:spPr>
        <p:txBody>
          <a:bodyPr wrap="square" lIns="0" tIns="0" rIns="0" bIns="0" rtlCol="0" anchor="t"/>
          <a:lstStyle/>
          <a:p>
            <a:pPr indent="0" marL="0">
              <a:lnSpc>
                <a:spcPts val="1800"/>
              </a:lnSpc>
              <a:buNone/>
            </a:pPr>
            <a:r>
              <a:rPr lang="en-US" sz="1350" b="1" dirty="0">
                <a:solidFill>
                  <a:srgbClr val="C40D16"/>
                </a:solidFill>
                <a:latin typeface="Calibri" pitchFamily="34" charset="0"/>
                <a:ea typeface="Calibri" pitchFamily="34" charset="-122"/>
                <a:cs typeface="Calibri" pitchFamily="34" charset="-120"/>
              </a:rPr>
              <a:t>Regulatory action: label change, restriction, direct communication to healthcare professionals, or withdrawal</a:t>
            </a:r>
            <a:endParaRPr lang="en-US" sz="13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84048"/>
            <a:ext cx="10058400" cy="256032"/>
          </a:xfrm>
          <a:prstGeom prst="rect">
            <a:avLst/>
          </a:prstGeom>
          <a:noFill/>
          <a:ln/>
        </p:spPr>
        <p:txBody>
          <a:bodyPr wrap="square" lIns="0" tIns="0" rIns="0" bIns="0" rtlCol="0" anchor="ctr"/>
          <a:lstStyle/>
          <a:p>
            <a:pPr indent="0" marL="0">
              <a:buNone/>
            </a:pPr>
            <a:r>
              <a:rPr lang="en-US" sz="1100" b="1" spc="250" kern="0" dirty="0">
                <a:solidFill>
                  <a:srgbClr val="0E7490"/>
                </a:solidFill>
                <a:latin typeface="Calibri" pitchFamily="34" charset="0"/>
                <a:ea typeface="Calibri" pitchFamily="34" charset="-122"/>
                <a:cs typeface="Calibri" pitchFamily="34" charset="-120"/>
              </a:rPr>
              <a:t>Signal detection · worked example</a:t>
            </a:r>
            <a:endParaRPr lang="en-US" sz="1100" dirty="0"/>
          </a:p>
        </p:txBody>
      </p:sp>
      <p:sp>
        <p:nvSpPr>
          <p:cNvPr id="3" name="Text 1"/>
          <p:cNvSpPr txBox="1"/>
          <p:nvPr/>
        </p:nvSpPr>
        <p:spPr>
          <a:xfrm>
            <a:off x="566928" y="640080"/>
            <a:ext cx="11064240" cy="548640"/>
          </a:xfrm>
          <a:prstGeom prst="rect">
            <a:avLst/>
          </a:prstGeom>
          <a:noFill/>
          <a:ln/>
        </p:spPr>
        <p:txBody>
          <a:bodyPr wrap="square" lIns="0" tIns="0" rIns="0" bIns="0" rtlCol="0" anchor="t"/>
          <a:lstStyle/>
          <a:p>
            <a:pPr indent="0" marL="0">
              <a:lnSpc>
                <a:spcPts val="3800"/>
              </a:lnSpc>
              <a:buNone/>
            </a:pPr>
            <a:r>
              <a:rPr lang="en-US" sz="3100" b="1" dirty="0">
                <a:solidFill>
                  <a:srgbClr val="0F2B3D"/>
                </a:solidFill>
                <a:latin typeface="Cambria" pitchFamily="34" charset="0"/>
                <a:ea typeface="Cambria" pitchFamily="34" charset="-122"/>
                <a:cs typeface="Cambria" pitchFamily="34" charset="-120"/>
              </a:rPr>
              <a:t>The biggest number is the trap</a:t>
            </a:r>
            <a:endParaRPr lang="en-US" sz="3100" dirty="0"/>
          </a:p>
        </p:txBody>
      </p:sp>
      <p:sp>
        <p:nvSpPr>
          <p:cNvPr id="4" name="Text 2"/>
          <p:cNvSpPr txBox="1"/>
          <p:nvPr/>
        </p:nvSpPr>
        <p:spPr>
          <a:xfrm>
            <a:off x="566928" y="1417320"/>
            <a:ext cx="11027664" cy="292608"/>
          </a:xfrm>
          <a:prstGeom prst="rect">
            <a:avLst/>
          </a:prstGeom>
          <a:noFill/>
          <a:ln/>
        </p:spPr>
        <p:txBody>
          <a:bodyPr wrap="square" lIns="0" tIns="0" rIns="0" bIns="0" rtlCol="0" anchor="ctr"/>
          <a:lstStyle/>
          <a:p>
            <a:pPr indent="0" marL="0">
              <a:buNone/>
            </a:pPr>
            <a:r>
              <a:rPr lang="en-US" sz="1350" b="1" dirty="0">
                <a:solidFill>
                  <a:srgbClr val="64748B"/>
                </a:solidFill>
                <a:latin typeface="Calibri" pitchFamily="34" charset="0"/>
                <a:ea typeface="Calibri" pitchFamily="34" charset="-122"/>
                <a:cs typeface="Calibri" pitchFamily="34" charset="-120"/>
              </a:rPr>
              <a:t>Drug A — Approximately 40,000 patients treated since launch 14 months ago</a:t>
            </a:r>
            <a:endParaRPr lang="en-US" sz="1350" dirty="0"/>
          </a:p>
        </p:txBody>
      </p:sp>
      <p:graphicFrame>
        <p:nvGraphicFramePr>
          <p:cNvPr id="34" name="Table 0"/>
          <p:cNvGraphicFramePr>
            <a:graphicFrameLocks noGrp="1"/>
          </p:cNvGraphicFramePr>
          <p:nvPr>
            <p:extLst>
              <p:ext uri="{D42A27DB-BD31-4B8C-83A1-F6EECF244321}">
                <p14:modId xmlns:p14="http://schemas.microsoft.com/office/powerpoint/2010/main" val="1579011935"/>
              </p:ext>
            </p:extLst>
          </p:nvPr>
        </p:nvGraphicFramePr>
        <p:xfrm>
          <a:off x="566928" y="1828800"/>
          <a:ext cx="11027664" cy="914400"/>
        </p:xfrm>
        <a:graphic>
          <a:graphicData uri="http://schemas.openxmlformats.org/drawingml/2006/table">
            <a:tbl>
              <a:tblPr/>
              <a:tblGrid>
                <a:gridCol w="3108960"/>
                <a:gridCol w="1188720"/>
                <a:gridCol w="2926080"/>
                <a:gridCol w="1554480"/>
                <a:gridCol w="2249424"/>
              </a:tblGrid>
              <a:tr h="384048">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Reported reaction</a:t>
                      </a:r>
                      <a:endParaRPr lang="en-US" sz="120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0F2B3D"/>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Cases</a:t>
                      </a:r>
                      <a:endParaRPr lang="en-US" sz="120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0F2B3D"/>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In the label?</a:t>
                      </a:r>
                      <a:endParaRPr lang="en-US" sz="120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0F2B3D"/>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Serious?</a:t>
                      </a:r>
                      <a:endParaRPr lang="en-US" sz="120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0F2B3D"/>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Signal?</a:t>
                      </a:r>
                      <a:endParaRPr lang="en-US" sz="120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0F2B3D"/>
                    </a:solidFill>
                  </a:tcPr>
                </a:tc>
              </a:tr>
              <a:tr h="384048">
                <a:tc>
                  <a:txBody>
                    <a:bodyPr/>
                    <a:lstStyle/>
                    <a:p>
                      <a:pPr indent="0" marL="0">
                        <a:buNone/>
                      </a:pPr>
                      <a:r>
                        <a:rPr lang="en-US" sz="1250" b="1" dirty="0">
                          <a:solidFill>
                            <a:srgbClr val="0F2B3D"/>
                          </a:solidFill>
                          <a:latin typeface="Calibri" pitchFamily="34" charset="0"/>
                          <a:ea typeface="Calibri" pitchFamily="34" charset="-122"/>
                          <a:cs typeface="Calibri" pitchFamily="34" charset="-120"/>
                        </a:rPr>
                        <a:t>Nausea</a:t>
                      </a:r>
                      <a:endParaRPr lang="en-US" sz="1250" dirty="0">
                        <a:latin typeface="Calibri" charset="0"/>
                        <a:ea typeface="Calibri" charset="0"/>
                        <a:cs typeface="Calibri" charset="0"/>
                      </a:endParaRPr>
                    </a:p>
                  </a:txBody>
                  <a:tcPr marL="91440" marR="91440" marT="45720" marB="45720" anchor="t">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algn="ctr" indent="0" marL="0">
                        <a:buNone/>
                      </a:pPr>
                      <a:r>
                        <a:rPr lang="en-US" sz="1500" b="1" dirty="0">
                          <a:solidFill>
                            <a:srgbClr val="64748B"/>
                          </a:solidFill>
                          <a:latin typeface="Calibri" pitchFamily="34" charset="0"/>
                          <a:ea typeface="Calibri" pitchFamily="34" charset="-122"/>
                          <a:cs typeface="Calibri" pitchFamily="34" charset="-120"/>
                        </a:rPr>
                        <a:t>15</a:t>
                      </a:r>
                      <a:endParaRPr lang="en-US" sz="1500" dirty="0">
                        <a:latin typeface="Calibri" charset="0"/>
                        <a:ea typeface="Calibri" charset="0"/>
                        <a:cs typeface="Calibri" charset="0"/>
                      </a:endParaRPr>
                    </a:p>
                  </a:txBody>
                  <a:tcPr marL="91440" marR="91440" marT="45720" marB="45720" anchor="t">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indent="0" marL="0">
                        <a:buNone/>
                      </a:pPr>
                      <a:r>
                        <a:rPr lang="en-US" sz="1250" dirty="0">
                          <a:solidFill>
                            <a:srgbClr val="1E293B"/>
                          </a:solidFill>
                          <a:latin typeface="Calibri" pitchFamily="34" charset="0"/>
                          <a:ea typeface="Calibri" pitchFamily="34" charset="-122"/>
                          <a:cs typeface="Calibri" pitchFamily="34" charset="-120"/>
                        </a:rPr>
                        <a:t>Yes</a:t>
                      </a:r>
                      <a:endParaRPr lang="en-US" sz="1250" dirty="0">
                        <a:latin typeface="Calibri" charset="0"/>
                        <a:ea typeface="Calibri" charset="0"/>
                        <a:cs typeface="Calibri" charset="0"/>
                      </a:endParaRPr>
                    </a:p>
                  </a:txBody>
                  <a:tcPr marL="91440" marR="91440" marT="45720" marB="45720" anchor="t">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indent="0" marL="0">
                        <a:buNone/>
                      </a:pPr>
                      <a:r>
                        <a:rPr lang="en-US" sz="1250" dirty="0">
                          <a:solidFill>
                            <a:srgbClr val="1E293B"/>
                          </a:solidFill>
                          <a:latin typeface="Calibri" pitchFamily="34" charset="0"/>
                          <a:ea typeface="Calibri" pitchFamily="34" charset="-122"/>
                          <a:cs typeface="Calibri" pitchFamily="34" charset="-120"/>
                        </a:rPr>
                        <a:t>No</a:t>
                      </a:r>
                      <a:endParaRPr lang="en-US" sz="1250" dirty="0">
                        <a:latin typeface="Calibri" charset="0"/>
                        <a:ea typeface="Calibri" charset="0"/>
                        <a:cs typeface="Calibri" charset="0"/>
                      </a:endParaRPr>
                    </a:p>
                  </a:txBody>
                  <a:tcPr marL="91440" marR="91440" marT="45720" marB="45720" anchor="t">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algn="ctr" indent="0" marL="0">
                        <a:buNone/>
                      </a:pPr>
                      <a:r>
                        <a:rPr lang="en-US" sz="1250" b="1" dirty="0">
                          <a:solidFill>
                            <a:srgbClr val="15803D"/>
                          </a:solidFill>
                          <a:latin typeface="Calibri" pitchFamily="34" charset="0"/>
                          <a:ea typeface="Calibri" pitchFamily="34" charset="-122"/>
                          <a:cs typeface="Calibri" pitchFamily="34" charset="-120"/>
                        </a:rPr>
                        <a:t>No</a:t>
                      </a:r>
                      <a:endParaRPr lang="en-US" sz="1250" dirty="0">
                        <a:latin typeface="Calibri" charset="0"/>
                        <a:ea typeface="Calibri" charset="0"/>
                        <a:cs typeface="Calibri" charset="0"/>
                      </a:endParaRPr>
                    </a:p>
                  </a:txBody>
                  <a:tcPr marL="91440" marR="91440" marT="45720" marB="45720" anchor="t">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r>
              <a:tr h="384048">
                <a:tc>
                  <a:txBody>
                    <a:bodyPr/>
                    <a:lstStyle/>
                    <a:p>
                      <a:pPr indent="0" marL="0">
                        <a:buNone/>
                      </a:pPr>
                      <a:r>
                        <a:rPr lang="en-US" sz="1250" b="1" dirty="0">
                          <a:solidFill>
                            <a:srgbClr val="0F2B3D"/>
                          </a:solidFill>
                          <a:latin typeface="Calibri" pitchFamily="34" charset="0"/>
                          <a:ea typeface="Calibri" pitchFamily="34" charset="-122"/>
                          <a:cs typeface="Calibri" pitchFamily="34" charset="-120"/>
                        </a:rPr>
                        <a:t>Liver injury</a:t>
                      </a:r>
                      <a:endParaRPr lang="en-US" sz="1250" dirty="0">
                        <a:latin typeface="Calibri" charset="0"/>
                        <a:ea typeface="Calibri" charset="0"/>
                        <a:cs typeface="Calibri" charset="0"/>
                      </a:endParaRPr>
                    </a:p>
                  </a:txBody>
                  <a:tcPr marL="91440" marR="91440" marT="45720" marB="45720" anchor="t">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algn="ctr" indent="0" marL="0">
                        <a:buNone/>
                      </a:pPr>
                      <a:r>
                        <a:rPr lang="en-US" sz="1500" b="1" dirty="0">
                          <a:solidFill>
                            <a:srgbClr val="B91C1C"/>
                          </a:solidFill>
                          <a:latin typeface="Calibri" pitchFamily="34" charset="0"/>
                          <a:ea typeface="Calibri" pitchFamily="34" charset="-122"/>
                          <a:cs typeface="Calibri" pitchFamily="34" charset="-120"/>
                        </a:rPr>
                        <a:t>8</a:t>
                      </a:r>
                      <a:endParaRPr lang="en-US" sz="1500" dirty="0">
                        <a:latin typeface="Calibri" charset="0"/>
                        <a:ea typeface="Calibri" charset="0"/>
                        <a:cs typeface="Calibri" charset="0"/>
                      </a:endParaRPr>
                    </a:p>
                  </a:txBody>
                  <a:tcPr marL="91440" marR="91440" marT="45720" marB="45720" anchor="t">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indent="0" marL="0">
                        <a:buNone/>
                      </a:pPr>
                      <a:r>
                        <a:rPr lang="en-US" sz="1250" b="1" dirty="0">
                          <a:solidFill>
                            <a:srgbClr val="B91C1C"/>
                          </a:solidFill>
                          <a:latin typeface="Calibri" pitchFamily="34" charset="0"/>
                          <a:ea typeface="Calibri" pitchFamily="34" charset="-122"/>
                          <a:cs typeface="Calibri" pitchFamily="34" charset="-120"/>
                        </a:rPr>
                        <a:t>No — unlabelled</a:t>
                      </a:r>
                      <a:endParaRPr lang="en-US" sz="1250" dirty="0">
                        <a:latin typeface="Calibri" charset="0"/>
                        <a:ea typeface="Calibri" charset="0"/>
                        <a:cs typeface="Calibri" charset="0"/>
                      </a:endParaRPr>
                    </a:p>
                  </a:txBody>
                  <a:tcPr marL="91440" marR="91440" marT="45720" marB="45720" anchor="t">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indent="0" marL="0">
                        <a:buNone/>
                      </a:pPr>
                      <a:r>
                        <a:rPr lang="en-US" sz="1250" b="1" dirty="0">
                          <a:solidFill>
                            <a:srgbClr val="B91C1C"/>
                          </a:solidFill>
                          <a:latin typeface="Calibri" pitchFamily="34" charset="0"/>
                          <a:ea typeface="Calibri" pitchFamily="34" charset="-122"/>
                          <a:cs typeface="Calibri" pitchFamily="34" charset="-120"/>
                        </a:rPr>
                        <a:t>Yes</a:t>
                      </a:r>
                      <a:endParaRPr lang="en-US" sz="1250" dirty="0">
                        <a:latin typeface="Calibri" charset="0"/>
                        <a:ea typeface="Calibri" charset="0"/>
                        <a:cs typeface="Calibri" charset="0"/>
                      </a:endParaRPr>
                    </a:p>
                  </a:txBody>
                  <a:tcPr marL="91440" marR="91440" marT="45720" marB="45720" anchor="t">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algn="ctr" indent="0" marL="0">
                        <a:buNone/>
                      </a:pPr>
                      <a:r>
                        <a:rPr lang="en-US" sz="1250" b="1" dirty="0">
                          <a:solidFill>
                            <a:srgbClr val="B91C1C"/>
                          </a:solidFill>
                          <a:latin typeface="Calibri" pitchFamily="34" charset="0"/>
                          <a:ea typeface="Calibri" pitchFamily="34" charset="-122"/>
                          <a:cs typeface="Calibri" pitchFamily="34" charset="-120"/>
                        </a:rPr>
                        <a:t>YES — signal</a:t>
                      </a:r>
                      <a:endParaRPr lang="en-US" sz="1250" dirty="0">
                        <a:latin typeface="Calibri" charset="0"/>
                        <a:ea typeface="Calibri" charset="0"/>
                        <a:cs typeface="Calibri" charset="0"/>
                      </a:endParaRPr>
                    </a:p>
                  </a:txBody>
                  <a:tcPr marL="91440" marR="91440" marT="45720" marB="45720" anchor="t">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r>
              <a:tr h="384048">
                <a:tc>
                  <a:txBody>
                    <a:bodyPr/>
                    <a:lstStyle/>
                    <a:p>
                      <a:pPr indent="0" marL="0">
                        <a:buNone/>
                      </a:pPr>
                      <a:r>
                        <a:rPr lang="en-US" sz="1250" b="1" dirty="0">
                          <a:solidFill>
                            <a:srgbClr val="0F2B3D"/>
                          </a:solidFill>
                          <a:latin typeface="Calibri" pitchFamily="34" charset="0"/>
                          <a:ea typeface="Calibri" pitchFamily="34" charset="-122"/>
                          <a:cs typeface="Calibri" pitchFamily="34" charset="-120"/>
                        </a:rPr>
                        <a:t>Headache</a:t>
                      </a:r>
                      <a:endParaRPr lang="en-US" sz="1250" dirty="0">
                        <a:latin typeface="Calibri" charset="0"/>
                        <a:ea typeface="Calibri" charset="0"/>
                        <a:cs typeface="Calibri" charset="0"/>
                      </a:endParaRPr>
                    </a:p>
                  </a:txBody>
                  <a:tcPr marL="91440" marR="91440" marT="45720" marB="45720" anchor="t">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algn="ctr" indent="0" marL="0">
                        <a:buNone/>
                      </a:pPr>
                      <a:r>
                        <a:rPr lang="en-US" sz="1500" b="1" dirty="0">
                          <a:solidFill>
                            <a:srgbClr val="64748B"/>
                          </a:solidFill>
                          <a:latin typeface="Calibri" pitchFamily="34" charset="0"/>
                          <a:ea typeface="Calibri" pitchFamily="34" charset="-122"/>
                          <a:cs typeface="Calibri" pitchFamily="34" charset="-120"/>
                        </a:rPr>
                        <a:t>3</a:t>
                      </a:r>
                      <a:endParaRPr lang="en-US" sz="1500" dirty="0">
                        <a:latin typeface="Calibri" charset="0"/>
                        <a:ea typeface="Calibri" charset="0"/>
                        <a:cs typeface="Calibri" charset="0"/>
                      </a:endParaRPr>
                    </a:p>
                  </a:txBody>
                  <a:tcPr marL="91440" marR="91440" marT="45720" marB="45720" anchor="t">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indent="0" marL="0">
                        <a:buNone/>
                      </a:pPr>
                      <a:r>
                        <a:rPr lang="en-US" sz="1250" dirty="0">
                          <a:solidFill>
                            <a:srgbClr val="1E293B"/>
                          </a:solidFill>
                          <a:latin typeface="Calibri" pitchFamily="34" charset="0"/>
                          <a:ea typeface="Calibri" pitchFamily="34" charset="-122"/>
                          <a:cs typeface="Calibri" pitchFamily="34" charset="-120"/>
                        </a:rPr>
                        <a:t>Yes</a:t>
                      </a:r>
                      <a:endParaRPr lang="en-US" sz="1250" dirty="0">
                        <a:latin typeface="Calibri" charset="0"/>
                        <a:ea typeface="Calibri" charset="0"/>
                        <a:cs typeface="Calibri" charset="0"/>
                      </a:endParaRPr>
                    </a:p>
                  </a:txBody>
                  <a:tcPr marL="91440" marR="91440" marT="45720" marB="45720" anchor="t">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indent="0" marL="0">
                        <a:buNone/>
                      </a:pPr>
                      <a:r>
                        <a:rPr lang="en-US" sz="1250" dirty="0">
                          <a:solidFill>
                            <a:srgbClr val="1E293B"/>
                          </a:solidFill>
                          <a:latin typeface="Calibri" pitchFamily="34" charset="0"/>
                          <a:ea typeface="Calibri" pitchFamily="34" charset="-122"/>
                          <a:cs typeface="Calibri" pitchFamily="34" charset="-120"/>
                        </a:rPr>
                        <a:t>No</a:t>
                      </a:r>
                      <a:endParaRPr lang="en-US" sz="1250" dirty="0">
                        <a:latin typeface="Calibri" charset="0"/>
                        <a:ea typeface="Calibri" charset="0"/>
                        <a:cs typeface="Calibri" charset="0"/>
                      </a:endParaRPr>
                    </a:p>
                  </a:txBody>
                  <a:tcPr marL="91440" marR="91440" marT="45720" marB="45720" anchor="t">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algn="ctr" indent="0" marL="0">
                        <a:buNone/>
                      </a:pPr>
                      <a:r>
                        <a:rPr lang="en-US" sz="1250" b="1" dirty="0">
                          <a:solidFill>
                            <a:srgbClr val="15803D"/>
                          </a:solidFill>
                          <a:latin typeface="Calibri" pitchFamily="34" charset="0"/>
                          <a:ea typeface="Calibri" pitchFamily="34" charset="-122"/>
                          <a:cs typeface="Calibri" pitchFamily="34" charset="-120"/>
                        </a:rPr>
                        <a:t>No</a:t>
                      </a:r>
                      <a:endParaRPr lang="en-US" sz="1250" dirty="0">
                        <a:latin typeface="Calibri" charset="0"/>
                        <a:ea typeface="Calibri" charset="0"/>
                        <a:cs typeface="Calibri" charset="0"/>
                      </a:endParaRPr>
                    </a:p>
                  </a:txBody>
                  <a:tcPr marL="91440" marR="91440" marT="45720" marB="45720" anchor="t">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r>
              <a:tr h="384048">
                <a:tc>
                  <a:txBody>
                    <a:bodyPr/>
                    <a:lstStyle/>
                    <a:p>
                      <a:pPr indent="0" marL="0">
                        <a:buNone/>
                      </a:pPr>
                      <a:r>
                        <a:rPr lang="en-US" sz="1250" b="1" dirty="0">
                          <a:solidFill>
                            <a:srgbClr val="0F2B3D"/>
                          </a:solidFill>
                          <a:latin typeface="Calibri" pitchFamily="34" charset="0"/>
                          <a:ea typeface="Calibri" pitchFamily="34" charset="-122"/>
                          <a:cs typeface="Calibri" pitchFamily="34" charset="-120"/>
                        </a:rPr>
                        <a:t>Rash</a:t>
                      </a:r>
                      <a:endParaRPr lang="en-US" sz="1250" dirty="0">
                        <a:latin typeface="Calibri" charset="0"/>
                        <a:ea typeface="Calibri" charset="0"/>
                        <a:cs typeface="Calibri" charset="0"/>
                      </a:endParaRPr>
                    </a:p>
                  </a:txBody>
                  <a:tcPr marL="91440" marR="91440" marT="45720" marB="45720" anchor="t">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algn="ctr" indent="0" marL="0">
                        <a:buNone/>
                      </a:pPr>
                      <a:r>
                        <a:rPr lang="en-US" sz="1500" b="1" dirty="0">
                          <a:solidFill>
                            <a:srgbClr val="64748B"/>
                          </a:solidFill>
                          <a:latin typeface="Calibri" pitchFamily="34" charset="0"/>
                          <a:ea typeface="Calibri" pitchFamily="34" charset="-122"/>
                          <a:cs typeface="Calibri" pitchFamily="34" charset="-120"/>
                        </a:rPr>
                        <a:t>2</a:t>
                      </a:r>
                      <a:endParaRPr lang="en-US" sz="1500" dirty="0">
                        <a:latin typeface="Calibri" charset="0"/>
                        <a:ea typeface="Calibri" charset="0"/>
                        <a:cs typeface="Calibri" charset="0"/>
                      </a:endParaRPr>
                    </a:p>
                  </a:txBody>
                  <a:tcPr marL="91440" marR="91440" marT="45720" marB="45720" anchor="t">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indent="0" marL="0">
                        <a:buNone/>
                      </a:pPr>
                      <a:r>
                        <a:rPr lang="en-US" sz="1250" dirty="0">
                          <a:solidFill>
                            <a:srgbClr val="1E293B"/>
                          </a:solidFill>
                          <a:latin typeface="Calibri" pitchFamily="34" charset="0"/>
                          <a:ea typeface="Calibri" pitchFamily="34" charset="-122"/>
                          <a:cs typeface="Calibri" pitchFamily="34" charset="-120"/>
                        </a:rPr>
                        <a:t>Yes</a:t>
                      </a:r>
                      <a:endParaRPr lang="en-US" sz="1250" dirty="0">
                        <a:latin typeface="Calibri" charset="0"/>
                        <a:ea typeface="Calibri" charset="0"/>
                        <a:cs typeface="Calibri" charset="0"/>
                      </a:endParaRPr>
                    </a:p>
                  </a:txBody>
                  <a:tcPr marL="91440" marR="91440" marT="45720" marB="45720" anchor="t">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indent="0" marL="0">
                        <a:buNone/>
                      </a:pPr>
                      <a:r>
                        <a:rPr lang="en-US" sz="1250" dirty="0">
                          <a:solidFill>
                            <a:srgbClr val="1E293B"/>
                          </a:solidFill>
                          <a:latin typeface="Calibri" pitchFamily="34" charset="0"/>
                          <a:ea typeface="Calibri" pitchFamily="34" charset="-122"/>
                          <a:cs typeface="Calibri" pitchFamily="34" charset="-120"/>
                        </a:rPr>
                        <a:t>No</a:t>
                      </a:r>
                      <a:endParaRPr lang="en-US" sz="1250" dirty="0">
                        <a:latin typeface="Calibri" charset="0"/>
                        <a:ea typeface="Calibri" charset="0"/>
                        <a:cs typeface="Calibri" charset="0"/>
                      </a:endParaRPr>
                    </a:p>
                  </a:txBody>
                  <a:tcPr marL="91440" marR="91440" marT="45720" marB="45720" anchor="t">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algn="ctr" indent="0" marL="0">
                        <a:buNone/>
                      </a:pPr>
                      <a:r>
                        <a:rPr lang="en-US" sz="1250" b="1" dirty="0">
                          <a:solidFill>
                            <a:srgbClr val="B45309"/>
                          </a:solidFill>
                          <a:latin typeface="Calibri" pitchFamily="34" charset="0"/>
                          <a:ea typeface="Calibri" pitchFamily="34" charset="-122"/>
                          <a:cs typeface="Calibri" pitchFamily="34" charset="-120"/>
                        </a:rPr>
                        <a:t>Watch</a:t>
                      </a:r>
                      <a:endParaRPr lang="en-US" sz="1250" dirty="0">
                        <a:latin typeface="Calibri" charset="0"/>
                        <a:ea typeface="Calibri" charset="0"/>
                        <a:cs typeface="Calibri" charset="0"/>
                      </a:endParaRPr>
                    </a:p>
                  </a:txBody>
                  <a:tcPr marL="91440" marR="91440" marT="45720" marB="45720" anchor="t">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r>
            </a:tbl>
          </a:graphicData>
        </a:graphic>
      </p:graphicFrame>
      <p:sp>
        <p:nvSpPr>
          <p:cNvPr id="6" name="Shape 3"/>
          <p:cNvSpPr/>
          <p:nvPr/>
        </p:nvSpPr>
        <p:spPr>
          <a:xfrm>
            <a:off x="566928" y="3977640"/>
            <a:ext cx="11027664" cy="1143000"/>
          </a:xfrm>
          <a:prstGeom prst="roundRect">
            <a:avLst>
              <a:gd name="adj" fmla="val 4800"/>
            </a:avLst>
          </a:prstGeom>
          <a:solidFill>
            <a:srgbClr val="FEE2E2"/>
          </a:solidFill>
          <a:ln w="12700">
            <a:solidFill>
              <a:srgbClr val="E2E8F0"/>
            </a:solidFill>
            <a:prstDash val="solid"/>
          </a:ln>
        </p:spPr>
      </p:sp>
      <p:sp>
        <p:nvSpPr>
          <p:cNvPr id="7" name="Text 4"/>
          <p:cNvSpPr txBox="1"/>
          <p:nvPr/>
        </p:nvSpPr>
        <p:spPr>
          <a:xfrm>
            <a:off x="932688" y="4133088"/>
            <a:ext cx="10332720" cy="310896"/>
          </a:xfrm>
          <a:prstGeom prst="rect">
            <a:avLst/>
          </a:prstGeom>
          <a:noFill/>
          <a:ln/>
        </p:spPr>
        <p:txBody>
          <a:bodyPr wrap="square" lIns="0" tIns="0" rIns="0" bIns="0" rtlCol="0" anchor="ctr"/>
          <a:lstStyle/>
          <a:p>
            <a:pPr indent="0" marL="0">
              <a:buNone/>
            </a:pPr>
            <a:r>
              <a:rPr lang="en-US" sz="1500" b="1" dirty="0">
                <a:solidFill>
                  <a:srgbClr val="7F1D1D"/>
                </a:solidFill>
                <a:latin typeface="Calibri" pitchFamily="34" charset="0"/>
                <a:ea typeface="Calibri" pitchFamily="34" charset="-122"/>
                <a:cs typeface="Calibri" pitchFamily="34" charset="-120"/>
              </a:rPr>
              <a:t>Nausea has 15 cases. Liver injury has 8. </a:t>
            </a:r>
            <a:pPr indent="0" marL="0">
              <a:buNone/>
            </a:pPr>
            <a:r>
              <a:rPr lang="en-US" sz="1500" b="1" dirty="0">
                <a:solidFill>
                  <a:srgbClr val="B91C1C"/>
                </a:solidFill>
                <a:latin typeface="Calibri" pitchFamily="34" charset="0"/>
                <a:ea typeface="Calibri" pitchFamily="34" charset="-122"/>
                <a:cs typeface="Calibri" pitchFamily="34" charset="-120"/>
              </a:rPr>
              <a:t>The eight are the signal.</a:t>
            </a:r>
            <a:endParaRPr lang="en-US" sz="1500" dirty="0"/>
          </a:p>
        </p:txBody>
      </p:sp>
      <p:sp>
        <p:nvSpPr>
          <p:cNvPr id="8" name="Text 5"/>
          <p:cNvSpPr txBox="1"/>
          <p:nvPr/>
        </p:nvSpPr>
        <p:spPr>
          <a:xfrm>
            <a:off x="932688" y="4462272"/>
            <a:ext cx="10332720" cy="548640"/>
          </a:xfrm>
          <a:prstGeom prst="rect">
            <a:avLst/>
          </a:prstGeom>
          <a:noFill/>
          <a:ln/>
        </p:spPr>
        <p:txBody>
          <a:bodyPr wrap="square" lIns="0" tIns="0" rIns="0" bIns="0" rtlCol="0" anchor="ctr"/>
          <a:lstStyle/>
          <a:p>
            <a:pPr indent="0" marL="0">
              <a:lnSpc>
                <a:spcPts val="1800"/>
              </a:lnSpc>
              <a:buNone/>
            </a:pPr>
            <a:r>
              <a:rPr lang="en-US" sz="1250" dirty="0">
                <a:solidFill>
                  <a:srgbClr val="7F1D1D"/>
                </a:solidFill>
                <a:latin typeface="Calibri" pitchFamily="34" charset="0"/>
                <a:ea typeface="Calibri" pitchFamily="34" charset="-122"/>
                <a:cs typeface="Calibri" pitchFamily="34" charset="-120"/>
              </a:rPr>
              <a:t>Every one of those three words is doing work: serious raises the stakes, unlabelled means it is new information, and unexpected for the class means it cannot be explained away. This is the signal.</a:t>
            </a:r>
            <a:endParaRPr lang="en-US" sz="1250" dirty="0"/>
          </a:p>
        </p:txBody>
      </p:sp>
      <p:sp>
        <p:nvSpPr>
          <p:cNvPr id="9" name="Shape 6"/>
          <p:cNvSpPr/>
          <p:nvPr/>
        </p:nvSpPr>
        <p:spPr>
          <a:xfrm>
            <a:off x="566928" y="5321808"/>
            <a:ext cx="11027664" cy="1024128"/>
          </a:xfrm>
          <a:prstGeom prst="roundRect">
            <a:avLst>
              <a:gd name="adj" fmla="val 5357"/>
            </a:avLst>
          </a:prstGeom>
          <a:solidFill>
            <a:srgbClr val="F8FAFC"/>
          </a:solidFill>
          <a:ln w="12700">
            <a:solidFill>
              <a:srgbClr val="E2E8F0"/>
            </a:solidFill>
            <a:prstDash val="solid"/>
          </a:ln>
        </p:spPr>
      </p:sp>
      <p:sp>
        <p:nvSpPr>
          <p:cNvPr id="10" name="Text 7"/>
          <p:cNvSpPr txBox="1"/>
          <p:nvPr/>
        </p:nvSpPr>
        <p:spPr>
          <a:xfrm>
            <a:off x="932688" y="5486400"/>
            <a:ext cx="10332720" cy="731520"/>
          </a:xfrm>
          <a:prstGeom prst="rect">
            <a:avLst/>
          </a:prstGeom>
          <a:noFill/>
          <a:ln/>
        </p:spPr>
        <p:txBody>
          <a:bodyPr wrap="square" lIns="0" tIns="0" rIns="0" bIns="0" rtlCol="0" anchor="ctr"/>
          <a:lstStyle/>
          <a:p>
            <a:pPr indent="0" marL="0">
              <a:lnSpc>
                <a:spcPts val="2000"/>
              </a:lnSpc>
              <a:buNone/>
            </a:pPr>
            <a:r>
              <a:rPr lang="en-US" sz="1350" b="1" dirty="0">
                <a:solidFill>
                  <a:srgbClr val="0F2B3D"/>
                </a:solidFill>
                <a:latin typeface="Calibri" pitchFamily="34" charset="0"/>
                <a:ea typeface="Calibri" pitchFamily="34" charset="-122"/>
                <a:cs typeface="Calibri" pitchFamily="34" charset="-120"/>
              </a:rPr>
              <a:t>Four things decide it — not one:  </a:t>
            </a:r>
            <a:pPr indent="0" marL="0">
              <a:lnSpc>
                <a:spcPts val="2000"/>
              </a:lnSpc>
              <a:buNone/>
            </a:pPr>
            <a:r>
              <a:rPr lang="en-US" sz="1350" dirty="0">
                <a:solidFill>
                  <a:srgbClr val="334155"/>
                </a:solidFill>
                <a:latin typeface="Calibri" pitchFamily="34" charset="0"/>
                <a:ea typeface="Calibri" pitchFamily="34" charset="-122"/>
                <a:cs typeface="Calibri" pitchFamily="34" charset="-120"/>
              </a:rPr>
              <a:t>how serious the event is  ·  whether it is already in the label  ·  how plausible it is for that drug and its class  ·  how good the individual reports are.</a:t>
            </a:r>
            <a:endParaRPr lang="en-US" sz="13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0F2B3D"/>
        </a:solidFill>
      </p:bgPr>
    </p:bg>
    <p:spTree>
      <p:nvGrpSpPr>
        <p:cNvPr id="1" name=""/>
        <p:cNvGrpSpPr/>
        <p:nvPr/>
      </p:nvGrpSpPr>
      <p:grpSpPr>
        <a:xfrm>
          <a:off x="0" y="0"/>
          <a:ext cx="0" cy="0"/>
          <a:chOff x="0" y="0"/>
          <a:chExt cx="0" cy="0"/>
        </a:xfrm>
      </p:grpSpPr>
      <p:sp>
        <p:nvSpPr>
          <p:cNvPr id="2" name="Shape 0"/>
          <p:cNvSpPr/>
          <p:nvPr/>
        </p:nvSpPr>
        <p:spPr>
          <a:xfrm>
            <a:off x="566928" y="2057400"/>
            <a:ext cx="1051560" cy="1051560"/>
          </a:xfrm>
          <a:prstGeom prst="ellipse">
            <a:avLst/>
          </a:prstGeom>
          <a:solidFill>
            <a:srgbClr val="0E7490"/>
          </a:solidFill>
          <a:ln/>
        </p:spPr>
      </p:sp>
      <p:sp>
        <p:nvSpPr>
          <p:cNvPr id="3" name="Text 1"/>
          <p:cNvSpPr txBox="1"/>
          <p:nvPr/>
        </p:nvSpPr>
        <p:spPr>
          <a:xfrm>
            <a:off x="566928" y="2057400"/>
            <a:ext cx="1051560" cy="1051560"/>
          </a:xfrm>
          <a:prstGeom prst="rect">
            <a:avLst/>
          </a:prstGeom>
          <a:noFill/>
          <a:ln/>
        </p:spPr>
        <p:txBody>
          <a:bodyPr wrap="square" lIns="0" tIns="0" rIns="0" bIns="0" rtlCol="0" anchor="ctr"/>
          <a:lstStyle/>
          <a:p>
            <a:pPr algn="ctr" indent="0" marL="0">
              <a:buNone/>
            </a:pPr>
            <a:r>
              <a:rPr lang="en-US" sz="3400" b="1" dirty="0">
                <a:solidFill>
                  <a:srgbClr val="FFFFFF"/>
                </a:solidFill>
                <a:latin typeface="Cambria" pitchFamily="34" charset="0"/>
                <a:ea typeface="Cambria" pitchFamily="34" charset="-122"/>
                <a:cs typeface="Cambria" pitchFamily="34" charset="-120"/>
              </a:rPr>
              <a:t>9</a:t>
            </a:r>
            <a:endParaRPr lang="en-US" sz="3400" dirty="0"/>
          </a:p>
        </p:txBody>
      </p:sp>
      <p:sp>
        <p:nvSpPr>
          <p:cNvPr id="4" name="Text 2"/>
          <p:cNvSpPr txBox="1"/>
          <p:nvPr/>
        </p:nvSpPr>
        <p:spPr>
          <a:xfrm>
            <a:off x="1874520" y="2121408"/>
            <a:ext cx="8229600" cy="274320"/>
          </a:xfrm>
          <a:prstGeom prst="rect">
            <a:avLst/>
          </a:prstGeom>
          <a:noFill/>
          <a:ln/>
        </p:spPr>
        <p:txBody>
          <a:bodyPr wrap="square" lIns="0" tIns="0" rIns="0" bIns="0" rtlCol="0" anchor="ctr"/>
          <a:lstStyle/>
          <a:p>
            <a:pPr indent="0" marL="0">
              <a:buNone/>
            </a:pPr>
            <a:r>
              <a:rPr lang="en-US" sz="1200" b="1" spc="300" kern="0" dirty="0">
                <a:solidFill>
                  <a:srgbClr val="0891B2"/>
                </a:solidFill>
                <a:latin typeface="Calibri" pitchFamily="34" charset="0"/>
                <a:ea typeface="Calibri" pitchFamily="34" charset="-122"/>
                <a:cs typeface="Calibri" pitchFamily="34" charset="-120"/>
              </a:rPr>
              <a:t>Part nine</a:t>
            </a:r>
            <a:endParaRPr lang="en-US" sz="1200" dirty="0"/>
          </a:p>
        </p:txBody>
      </p:sp>
      <p:sp>
        <p:nvSpPr>
          <p:cNvPr id="5" name="Text 3"/>
          <p:cNvSpPr txBox="1"/>
          <p:nvPr/>
        </p:nvSpPr>
        <p:spPr>
          <a:xfrm>
            <a:off x="1874520" y="2395728"/>
            <a:ext cx="9326880" cy="1143000"/>
          </a:xfrm>
          <a:prstGeom prst="rect">
            <a:avLst/>
          </a:prstGeom>
          <a:noFill/>
          <a:ln/>
        </p:spPr>
        <p:txBody>
          <a:bodyPr wrap="square" lIns="0" tIns="0" rIns="0" bIns="0" rtlCol="0" anchor="t"/>
          <a:lstStyle/>
          <a:p>
            <a:pPr indent="0" marL="0">
              <a:lnSpc>
                <a:spcPts val="4600"/>
              </a:lnSpc>
              <a:buNone/>
            </a:pPr>
            <a:r>
              <a:rPr lang="en-US" sz="4000" b="1" dirty="0">
                <a:solidFill>
                  <a:srgbClr val="FFFFFF"/>
                </a:solidFill>
                <a:latin typeface="Cambria" pitchFamily="34" charset="0"/>
                <a:ea typeface="Cambria" pitchFamily="34" charset="-122"/>
                <a:cs typeface="Cambria" pitchFamily="34" charset="-120"/>
              </a:rPr>
              <a:t>The case that looked like nothing</a:t>
            </a:r>
            <a:endParaRPr lang="en-US" sz="4000" dirty="0"/>
          </a:p>
        </p:txBody>
      </p:sp>
      <p:sp>
        <p:nvSpPr>
          <p:cNvPr id="6" name="Text 4"/>
          <p:cNvSpPr txBox="1"/>
          <p:nvPr/>
        </p:nvSpPr>
        <p:spPr>
          <a:xfrm>
            <a:off x="1874520" y="3639312"/>
            <a:ext cx="8778240" cy="822960"/>
          </a:xfrm>
          <a:prstGeom prst="rect">
            <a:avLst/>
          </a:prstGeom>
          <a:noFill/>
          <a:ln/>
        </p:spPr>
        <p:txBody>
          <a:bodyPr wrap="square" lIns="0" tIns="0" rIns="0" bIns="0" rtlCol="0" anchor="t"/>
          <a:lstStyle/>
          <a:p>
            <a:pPr indent="0" marL="0">
              <a:lnSpc>
                <a:spcPts val="2400"/>
              </a:lnSpc>
              <a:buNone/>
            </a:pPr>
            <a:r>
              <a:rPr lang="en-US" sz="1550" dirty="0">
                <a:solidFill>
                  <a:srgbClr val="CBD5E1"/>
                </a:solidFill>
                <a:latin typeface="Calibri" pitchFamily="34" charset="0"/>
                <a:ea typeface="Calibri" pitchFamily="34" charset="-122"/>
                <a:cs typeface="Calibri" pitchFamily="34" charset="-120"/>
              </a:rPr>
              <a:t>A three-line phone call about dizziness. Everything in this course, used at once, on one patient.</a:t>
            </a:r>
            <a:endParaRPr lang="en-US" sz="15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84048"/>
            <a:ext cx="10058400" cy="256032"/>
          </a:xfrm>
          <a:prstGeom prst="rect">
            <a:avLst/>
          </a:prstGeom>
          <a:noFill/>
          <a:ln/>
        </p:spPr>
        <p:txBody>
          <a:bodyPr wrap="square" lIns="0" tIns="0" rIns="0" bIns="0" rtlCol="0" anchor="ctr"/>
          <a:lstStyle/>
          <a:p>
            <a:pPr indent="0" marL="0">
              <a:buNone/>
            </a:pPr>
            <a:r>
              <a:rPr lang="en-US" sz="1100" b="1" spc="250" kern="0" dirty="0">
                <a:solidFill>
                  <a:srgbClr val="0E7490"/>
                </a:solidFill>
                <a:latin typeface="Calibri" pitchFamily="34" charset="0"/>
                <a:ea typeface="Calibri" pitchFamily="34" charset="-122"/>
                <a:cs typeface="Calibri" pitchFamily="34" charset="-120"/>
              </a:rPr>
              <a:t>Final case · what you are given</a:t>
            </a:r>
            <a:endParaRPr lang="en-US" sz="1100" dirty="0"/>
          </a:p>
        </p:txBody>
      </p:sp>
      <p:sp>
        <p:nvSpPr>
          <p:cNvPr id="3" name="Text 1"/>
          <p:cNvSpPr txBox="1"/>
          <p:nvPr/>
        </p:nvSpPr>
        <p:spPr>
          <a:xfrm>
            <a:off x="566928" y="640080"/>
            <a:ext cx="11064240" cy="548640"/>
          </a:xfrm>
          <a:prstGeom prst="rect">
            <a:avLst/>
          </a:prstGeom>
          <a:noFill/>
          <a:ln/>
        </p:spPr>
        <p:txBody>
          <a:bodyPr wrap="square" lIns="0" tIns="0" rIns="0" bIns="0" rtlCol="0" anchor="t"/>
          <a:lstStyle/>
          <a:p>
            <a:pPr indent="0" marL="0">
              <a:lnSpc>
                <a:spcPts val="3800"/>
              </a:lnSpc>
              <a:buNone/>
            </a:pPr>
            <a:r>
              <a:rPr lang="en-US" sz="3100" b="1" dirty="0">
                <a:solidFill>
                  <a:srgbClr val="0F2B3D"/>
                </a:solidFill>
                <a:latin typeface="Cambria" pitchFamily="34" charset="0"/>
                <a:ea typeface="Cambria" pitchFamily="34" charset="-122"/>
                <a:cs typeface="Cambria" pitchFamily="34" charset="-120"/>
              </a:rPr>
              <a:t>This is the entire handover</a:t>
            </a:r>
            <a:endParaRPr lang="en-US" sz="3100" dirty="0"/>
          </a:p>
        </p:txBody>
      </p:sp>
      <p:sp>
        <p:nvSpPr>
          <p:cNvPr id="4" name="Shape 2"/>
          <p:cNvSpPr/>
          <p:nvPr/>
        </p:nvSpPr>
        <p:spPr>
          <a:xfrm>
            <a:off x="566928" y="1463040"/>
            <a:ext cx="11027664" cy="3703320"/>
          </a:xfrm>
          <a:prstGeom prst="roundRect">
            <a:avLst>
              <a:gd name="adj" fmla="val 1481"/>
            </a:avLst>
          </a:prstGeom>
          <a:solidFill>
            <a:srgbClr val="F8FAFC"/>
          </a:solidFill>
          <a:ln w="12700">
            <a:solidFill>
              <a:srgbClr val="E2E8F0"/>
            </a:solidFill>
            <a:prstDash val="solid"/>
          </a:ln>
        </p:spPr>
      </p:sp>
      <p:sp>
        <p:nvSpPr>
          <p:cNvPr id="5" name="Text 3"/>
          <p:cNvSpPr txBox="1"/>
          <p:nvPr/>
        </p:nvSpPr>
        <p:spPr>
          <a:xfrm>
            <a:off x="886968" y="1691640"/>
            <a:ext cx="4937760" cy="219456"/>
          </a:xfrm>
          <a:prstGeom prst="rect">
            <a:avLst/>
          </a:prstGeom>
          <a:noFill/>
          <a:ln/>
        </p:spPr>
        <p:txBody>
          <a:bodyPr wrap="square" lIns="0" tIns="0" rIns="0" bIns="0" rtlCol="0" anchor="ctr"/>
          <a:lstStyle/>
          <a:p>
            <a:pPr indent="0" marL="0">
              <a:buNone/>
            </a:pPr>
            <a:r>
              <a:rPr lang="en-US" sz="1000" b="1" spc="150" kern="0" dirty="0">
                <a:solidFill>
                  <a:srgbClr val="0E7490"/>
                </a:solidFill>
                <a:latin typeface="Calibri" pitchFamily="34" charset="0"/>
                <a:ea typeface="Calibri" pitchFamily="34" charset="-122"/>
                <a:cs typeface="Calibri" pitchFamily="34" charset="-120"/>
              </a:rPr>
              <a:t>PATIENT</a:t>
            </a:r>
            <a:endParaRPr lang="en-US" sz="1000" dirty="0"/>
          </a:p>
        </p:txBody>
      </p:sp>
      <p:sp>
        <p:nvSpPr>
          <p:cNvPr id="6" name="Text 4"/>
          <p:cNvSpPr txBox="1"/>
          <p:nvPr/>
        </p:nvSpPr>
        <p:spPr>
          <a:xfrm>
            <a:off x="886968" y="1929384"/>
            <a:ext cx="4937760" cy="566928"/>
          </a:xfrm>
          <a:prstGeom prst="rect">
            <a:avLst/>
          </a:prstGeom>
          <a:noFill/>
          <a:ln/>
        </p:spPr>
        <p:txBody>
          <a:bodyPr wrap="square" lIns="0" tIns="0" rIns="0" bIns="0" rtlCol="0" anchor="ctr"/>
          <a:lstStyle/>
          <a:p>
            <a:pPr indent="0" marL="0">
              <a:lnSpc>
                <a:spcPts val="1800"/>
              </a:lnSpc>
              <a:buNone/>
            </a:pPr>
            <a:r>
              <a:rPr lang="en-US" sz="1300" dirty="0">
                <a:solidFill>
                  <a:srgbClr val="1E293B"/>
                </a:solidFill>
                <a:latin typeface="Calibri" pitchFamily="34" charset="0"/>
                <a:ea typeface="Calibri" pitchFamily="34" charset="-122"/>
                <a:cs typeface="Calibri" pitchFamily="34" charset="-120"/>
              </a:rPr>
              <a:t>67 years old</a:t>
            </a:r>
            <a:endParaRPr lang="en-US" sz="1300" dirty="0"/>
          </a:p>
        </p:txBody>
      </p:sp>
      <p:sp>
        <p:nvSpPr>
          <p:cNvPr id="7" name="Text 5"/>
          <p:cNvSpPr txBox="1"/>
          <p:nvPr/>
        </p:nvSpPr>
        <p:spPr>
          <a:xfrm>
            <a:off x="6236208" y="1691640"/>
            <a:ext cx="4937760" cy="219456"/>
          </a:xfrm>
          <a:prstGeom prst="rect">
            <a:avLst/>
          </a:prstGeom>
          <a:noFill/>
          <a:ln/>
        </p:spPr>
        <p:txBody>
          <a:bodyPr wrap="square" lIns="0" tIns="0" rIns="0" bIns="0" rtlCol="0" anchor="ctr"/>
          <a:lstStyle/>
          <a:p>
            <a:pPr indent="0" marL="0">
              <a:buNone/>
            </a:pPr>
            <a:r>
              <a:rPr lang="en-US" sz="1000" b="1" spc="150" kern="0" dirty="0">
                <a:solidFill>
                  <a:srgbClr val="0E7490"/>
                </a:solidFill>
                <a:latin typeface="Calibri" pitchFamily="34" charset="0"/>
                <a:ea typeface="Calibri" pitchFamily="34" charset="-122"/>
                <a:cs typeface="Calibri" pitchFamily="34" charset="-120"/>
              </a:rPr>
              <a:t>CONDITIONS</a:t>
            </a:r>
            <a:endParaRPr lang="en-US" sz="1000" dirty="0"/>
          </a:p>
        </p:txBody>
      </p:sp>
      <p:sp>
        <p:nvSpPr>
          <p:cNvPr id="8" name="Text 6"/>
          <p:cNvSpPr txBox="1"/>
          <p:nvPr/>
        </p:nvSpPr>
        <p:spPr>
          <a:xfrm>
            <a:off x="6236208" y="1929384"/>
            <a:ext cx="4937760" cy="566928"/>
          </a:xfrm>
          <a:prstGeom prst="rect">
            <a:avLst/>
          </a:prstGeom>
          <a:noFill/>
          <a:ln/>
        </p:spPr>
        <p:txBody>
          <a:bodyPr wrap="square" lIns="0" tIns="0" rIns="0" bIns="0" rtlCol="0" anchor="ctr"/>
          <a:lstStyle/>
          <a:p>
            <a:pPr indent="0" marL="0">
              <a:lnSpc>
                <a:spcPts val="1800"/>
              </a:lnSpc>
              <a:buNone/>
            </a:pPr>
            <a:r>
              <a:rPr lang="en-US" sz="1300" dirty="0">
                <a:solidFill>
                  <a:srgbClr val="1E293B"/>
                </a:solidFill>
                <a:latin typeface="Calibri" pitchFamily="34" charset="0"/>
                <a:ea typeface="Calibri" pitchFamily="34" charset="-122"/>
                <a:cs typeface="Calibri" pitchFamily="34" charset="-120"/>
              </a:rPr>
              <a:t>Type 2 diabetes for 11 years. Hypertension.</a:t>
            </a:r>
            <a:endParaRPr lang="en-US" sz="1300" dirty="0"/>
          </a:p>
        </p:txBody>
      </p:sp>
      <p:sp>
        <p:nvSpPr>
          <p:cNvPr id="9" name="Text 7"/>
          <p:cNvSpPr txBox="1"/>
          <p:nvPr/>
        </p:nvSpPr>
        <p:spPr>
          <a:xfrm>
            <a:off x="886968" y="2560320"/>
            <a:ext cx="4937760" cy="219456"/>
          </a:xfrm>
          <a:prstGeom prst="rect">
            <a:avLst/>
          </a:prstGeom>
          <a:noFill/>
          <a:ln/>
        </p:spPr>
        <p:txBody>
          <a:bodyPr wrap="square" lIns="0" tIns="0" rIns="0" bIns="0" rtlCol="0" anchor="ctr"/>
          <a:lstStyle/>
          <a:p>
            <a:pPr indent="0" marL="0">
              <a:buNone/>
            </a:pPr>
            <a:r>
              <a:rPr lang="en-US" sz="1000" b="1" spc="150" kern="0" dirty="0">
                <a:solidFill>
                  <a:srgbClr val="0E7490"/>
                </a:solidFill>
                <a:latin typeface="Calibri" pitchFamily="34" charset="0"/>
                <a:ea typeface="Calibri" pitchFamily="34" charset="-122"/>
                <a:cs typeface="Calibri" pitchFamily="34" charset="-120"/>
              </a:rPr>
              <a:t>MEDICINES</a:t>
            </a:r>
            <a:endParaRPr lang="en-US" sz="1000" dirty="0"/>
          </a:p>
        </p:txBody>
      </p:sp>
      <p:sp>
        <p:nvSpPr>
          <p:cNvPr id="10" name="Text 8"/>
          <p:cNvSpPr txBox="1"/>
          <p:nvPr/>
        </p:nvSpPr>
        <p:spPr>
          <a:xfrm>
            <a:off x="886968" y="2798064"/>
            <a:ext cx="4937760" cy="566928"/>
          </a:xfrm>
          <a:prstGeom prst="rect">
            <a:avLst/>
          </a:prstGeom>
          <a:noFill/>
          <a:ln/>
        </p:spPr>
        <p:txBody>
          <a:bodyPr wrap="square" lIns="0" tIns="0" rIns="0" bIns="0" rtlCol="0" anchor="ctr"/>
          <a:lstStyle/>
          <a:p>
            <a:pPr indent="0" marL="0">
              <a:lnSpc>
                <a:spcPts val="1800"/>
              </a:lnSpc>
              <a:buNone/>
            </a:pPr>
            <a:r>
              <a:rPr lang="en-US" sz="1300" dirty="0">
                <a:solidFill>
                  <a:srgbClr val="1E293B"/>
                </a:solidFill>
                <a:latin typeface="Calibri" pitchFamily="34" charset="0"/>
                <a:ea typeface="Calibri" pitchFamily="34" charset="-122"/>
                <a:cs typeface="Calibri" pitchFamily="34" charset="-120"/>
              </a:rPr>
              <a:t>Metformin 1 g twice daily (long-standing) + one other antidiabetic tablet, recently started</a:t>
            </a:r>
            <a:endParaRPr lang="en-US" sz="1300" dirty="0"/>
          </a:p>
        </p:txBody>
      </p:sp>
      <p:sp>
        <p:nvSpPr>
          <p:cNvPr id="11" name="Text 9"/>
          <p:cNvSpPr txBox="1"/>
          <p:nvPr/>
        </p:nvSpPr>
        <p:spPr>
          <a:xfrm>
            <a:off x="6236208" y="2560320"/>
            <a:ext cx="4937760" cy="219456"/>
          </a:xfrm>
          <a:prstGeom prst="rect">
            <a:avLst/>
          </a:prstGeom>
          <a:noFill/>
          <a:ln/>
        </p:spPr>
        <p:txBody>
          <a:bodyPr wrap="square" lIns="0" tIns="0" rIns="0" bIns="0" rtlCol="0" anchor="ctr"/>
          <a:lstStyle/>
          <a:p>
            <a:pPr indent="0" marL="0">
              <a:buNone/>
            </a:pPr>
            <a:r>
              <a:rPr lang="en-US" sz="1000" b="1" spc="150" kern="0" dirty="0">
                <a:solidFill>
                  <a:srgbClr val="0E7490"/>
                </a:solidFill>
                <a:latin typeface="Calibri" pitchFamily="34" charset="0"/>
                <a:ea typeface="Calibri" pitchFamily="34" charset="-122"/>
                <a:cs typeface="Calibri" pitchFamily="34" charset="-120"/>
              </a:rPr>
              <a:t>NEW MEDICINE</a:t>
            </a:r>
            <a:endParaRPr lang="en-US" sz="1000" dirty="0"/>
          </a:p>
        </p:txBody>
      </p:sp>
      <p:sp>
        <p:nvSpPr>
          <p:cNvPr id="12" name="Text 10"/>
          <p:cNvSpPr txBox="1"/>
          <p:nvPr/>
        </p:nvSpPr>
        <p:spPr>
          <a:xfrm>
            <a:off x="6236208" y="2798064"/>
            <a:ext cx="4937760" cy="566928"/>
          </a:xfrm>
          <a:prstGeom prst="rect">
            <a:avLst/>
          </a:prstGeom>
          <a:noFill/>
          <a:ln/>
        </p:spPr>
        <p:txBody>
          <a:bodyPr wrap="square" lIns="0" tIns="0" rIns="0" bIns="0" rtlCol="0" anchor="ctr"/>
          <a:lstStyle/>
          <a:p>
            <a:pPr indent="0" marL="0">
              <a:lnSpc>
                <a:spcPts val="1800"/>
              </a:lnSpc>
              <a:buNone/>
            </a:pPr>
            <a:r>
              <a:rPr lang="en-US" sz="1300" dirty="0">
                <a:solidFill>
                  <a:srgbClr val="1E293B"/>
                </a:solidFill>
                <a:latin typeface="Calibri" pitchFamily="34" charset="0"/>
                <a:ea typeface="Calibri" pitchFamily="34" charset="-122"/>
                <a:cs typeface="Calibri" pitchFamily="34" charset="-120"/>
              </a:rPr>
              <a:t>Started about three weeks ago. The patient cannot name it.</a:t>
            </a:r>
            <a:endParaRPr lang="en-US" sz="1300" dirty="0"/>
          </a:p>
        </p:txBody>
      </p:sp>
      <p:sp>
        <p:nvSpPr>
          <p:cNvPr id="13" name="Text 11"/>
          <p:cNvSpPr txBox="1"/>
          <p:nvPr/>
        </p:nvSpPr>
        <p:spPr>
          <a:xfrm>
            <a:off x="886968" y="3429000"/>
            <a:ext cx="4937760" cy="219456"/>
          </a:xfrm>
          <a:prstGeom prst="rect">
            <a:avLst/>
          </a:prstGeom>
          <a:noFill/>
          <a:ln/>
        </p:spPr>
        <p:txBody>
          <a:bodyPr wrap="square" lIns="0" tIns="0" rIns="0" bIns="0" rtlCol="0" anchor="ctr"/>
          <a:lstStyle/>
          <a:p>
            <a:pPr indent="0" marL="0">
              <a:buNone/>
            </a:pPr>
            <a:r>
              <a:rPr lang="en-US" sz="1000" b="1" spc="150" kern="0" dirty="0">
                <a:solidFill>
                  <a:srgbClr val="0E7490"/>
                </a:solidFill>
                <a:latin typeface="Calibri" pitchFamily="34" charset="0"/>
                <a:ea typeface="Calibri" pitchFamily="34" charset="-122"/>
                <a:cs typeface="Calibri" pitchFamily="34" charset="-120"/>
              </a:rPr>
              <a:t>COMPLAINT</a:t>
            </a:r>
            <a:endParaRPr lang="en-US" sz="1000" dirty="0"/>
          </a:p>
        </p:txBody>
      </p:sp>
      <p:sp>
        <p:nvSpPr>
          <p:cNvPr id="14" name="Text 12"/>
          <p:cNvSpPr txBox="1"/>
          <p:nvPr/>
        </p:nvSpPr>
        <p:spPr>
          <a:xfrm>
            <a:off x="886968" y="3666744"/>
            <a:ext cx="4937760" cy="566928"/>
          </a:xfrm>
          <a:prstGeom prst="rect">
            <a:avLst/>
          </a:prstGeom>
          <a:noFill/>
          <a:ln/>
        </p:spPr>
        <p:txBody>
          <a:bodyPr wrap="square" lIns="0" tIns="0" rIns="0" bIns="0" rtlCol="0" anchor="ctr"/>
          <a:lstStyle/>
          <a:p>
            <a:pPr indent="0" marL="0">
              <a:lnSpc>
                <a:spcPts val="1800"/>
              </a:lnSpc>
              <a:buNone/>
            </a:pPr>
            <a:r>
              <a:rPr lang="en-US" sz="1300" dirty="0">
                <a:solidFill>
                  <a:srgbClr val="1E293B"/>
                </a:solidFill>
                <a:latin typeface="Calibri" pitchFamily="34" charset="0"/>
                <a:ea typeface="Calibri" pitchFamily="34" charset="-122"/>
                <a:cs typeface="Calibri" pitchFamily="34" charset="-120"/>
              </a:rPr>
              <a:t>Dizziness. Several episodes, mostly late morning.</a:t>
            </a:r>
            <a:endParaRPr lang="en-US" sz="1300" dirty="0"/>
          </a:p>
        </p:txBody>
      </p:sp>
      <p:sp>
        <p:nvSpPr>
          <p:cNvPr id="15" name="Text 13"/>
          <p:cNvSpPr txBox="1"/>
          <p:nvPr/>
        </p:nvSpPr>
        <p:spPr>
          <a:xfrm>
            <a:off x="6236208" y="3429000"/>
            <a:ext cx="4937760" cy="219456"/>
          </a:xfrm>
          <a:prstGeom prst="rect">
            <a:avLst/>
          </a:prstGeom>
          <a:noFill/>
          <a:ln/>
        </p:spPr>
        <p:txBody>
          <a:bodyPr wrap="square" lIns="0" tIns="0" rIns="0" bIns="0" rtlCol="0" anchor="ctr"/>
          <a:lstStyle/>
          <a:p>
            <a:pPr indent="0" marL="0">
              <a:buNone/>
            </a:pPr>
            <a:r>
              <a:rPr lang="en-US" sz="1000" b="1" spc="150" kern="0" dirty="0">
                <a:solidFill>
                  <a:srgbClr val="0E7490"/>
                </a:solidFill>
                <a:latin typeface="Calibri" pitchFamily="34" charset="0"/>
                <a:ea typeface="Calibri" pitchFamily="34" charset="-122"/>
                <a:cs typeface="Calibri" pitchFamily="34" charset="-120"/>
              </a:rPr>
              <a:t>LABORATORY</a:t>
            </a:r>
            <a:endParaRPr lang="en-US" sz="1000" dirty="0"/>
          </a:p>
        </p:txBody>
      </p:sp>
      <p:sp>
        <p:nvSpPr>
          <p:cNvPr id="16" name="Text 14"/>
          <p:cNvSpPr txBox="1"/>
          <p:nvPr/>
        </p:nvSpPr>
        <p:spPr>
          <a:xfrm>
            <a:off x="6236208" y="3666744"/>
            <a:ext cx="4937760" cy="566928"/>
          </a:xfrm>
          <a:prstGeom prst="rect">
            <a:avLst/>
          </a:prstGeom>
          <a:noFill/>
          <a:ln/>
        </p:spPr>
        <p:txBody>
          <a:bodyPr wrap="square" lIns="0" tIns="0" rIns="0" bIns="0" rtlCol="0" anchor="ctr"/>
          <a:lstStyle/>
          <a:p>
            <a:pPr indent="0" marL="0">
              <a:lnSpc>
                <a:spcPts val="1800"/>
              </a:lnSpc>
              <a:buNone/>
            </a:pPr>
            <a:r>
              <a:rPr lang="en-US" sz="1300" dirty="0">
                <a:solidFill>
                  <a:srgbClr val="1E293B"/>
                </a:solidFill>
                <a:latin typeface="Calibri" pitchFamily="34" charset="0"/>
                <a:ea typeface="Calibri" pitchFamily="34" charset="-122"/>
                <a:cs typeface="Calibri" pitchFamily="34" charset="-120"/>
              </a:rPr>
              <a:t>One laboratory value is available on the referral slip.</a:t>
            </a:r>
            <a:endParaRPr lang="en-US" sz="1300" dirty="0"/>
          </a:p>
        </p:txBody>
      </p:sp>
      <p:sp>
        <p:nvSpPr>
          <p:cNvPr id="17" name="Text 15"/>
          <p:cNvSpPr txBox="1"/>
          <p:nvPr/>
        </p:nvSpPr>
        <p:spPr>
          <a:xfrm>
            <a:off x="886968" y="4297680"/>
            <a:ext cx="4937760" cy="219456"/>
          </a:xfrm>
          <a:prstGeom prst="rect">
            <a:avLst/>
          </a:prstGeom>
          <a:noFill/>
          <a:ln/>
        </p:spPr>
        <p:txBody>
          <a:bodyPr wrap="square" lIns="0" tIns="0" rIns="0" bIns="0" rtlCol="0" anchor="ctr"/>
          <a:lstStyle/>
          <a:p>
            <a:pPr indent="0" marL="0">
              <a:buNone/>
            </a:pPr>
            <a:r>
              <a:rPr lang="en-US" sz="1000" b="1" spc="150" kern="0" dirty="0">
                <a:solidFill>
                  <a:srgbClr val="0E7490"/>
                </a:solidFill>
                <a:latin typeface="Calibri" pitchFamily="34" charset="0"/>
                <a:ea typeface="Calibri" pitchFamily="34" charset="-122"/>
                <a:cs typeface="Calibri" pitchFamily="34" charset="-120"/>
              </a:rPr>
              <a:t>PAST HISTORY</a:t>
            </a:r>
            <a:endParaRPr lang="en-US" sz="1000" dirty="0"/>
          </a:p>
        </p:txBody>
      </p:sp>
      <p:sp>
        <p:nvSpPr>
          <p:cNvPr id="18" name="Text 16"/>
          <p:cNvSpPr txBox="1"/>
          <p:nvPr/>
        </p:nvSpPr>
        <p:spPr>
          <a:xfrm>
            <a:off x="886968" y="4535424"/>
            <a:ext cx="4937760" cy="566928"/>
          </a:xfrm>
          <a:prstGeom prst="rect">
            <a:avLst/>
          </a:prstGeom>
          <a:noFill/>
          <a:ln/>
        </p:spPr>
        <p:txBody>
          <a:bodyPr wrap="square" lIns="0" tIns="0" rIns="0" bIns="0" rtlCol="0" anchor="ctr"/>
          <a:lstStyle/>
          <a:p>
            <a:pPr indent="0" marL="0">
              <a:lnSpc>
                <a:spcPts val="1800"/>
              </a:lnSpc>
              <a:buNone/>
            </a:pPr>
            <a:r>
              <a:rPr lang="en-US" sz="1300" dirty="0">
                <a:solidFill>
                  <a:srgbClr val="1E293B"/>
                </a:solidFill>
                <a:latin typeface="Calibri" pitchFamily="34" charset="0"/>
                <a:ea typeface="Calibri" pitchFamily="34" charset="-122"/>
                <a:cs typeface="Calibri" pitchFamily="34" charset="-120"/>
              </a:rPr>
              <a:t>Hypertension, on treatment</a:t>
            </a:r>
            <a:endParaRPr lang="en-US" sz="1300" dirty="0"/>
          </a:p>
        </p:txBody>
      </p:sp>
      <p:sp>
        <p:nvSpPr>
          <p:cNvPr id="19" name="Text 17"/>
          <p:cNvSpPr txBox="1"/>
          <p:nvPr/>
        </p:nvSpPr>
        <p:spPr>
          <a:xfrm>
            <a:off x="6236208" y="4297680"/>
            <a:ext cx="4937760" cy="219456"/>
          </a:xfrm>
          <a:prstGeom prst="rect">
            <a:avLst/>
          </a:prstGeom>
          <a:noFill/>
          <a:ln/>
        </p:spPr>
        <p:txBody>
          <a:bodyPr wrap="square" lIns="0" tIns="0" rIns="0" bIns="0" rtlCol="0" anchor="ctr"/>
          <a:lstStyle/>
          <a:p>
            <a:pPr indent="0" marL="0">
              <a:buNone/>
            </a:pPr>
            <a:r>
              <a:rPr lang="en-US" sz="1000" b="1" spc="150" kern="0" dirty="0">
                <a:solidFill>
                  <a:srgbClr val="0E7490"/>
                </a:solidFill>
                <a:latin typeface="Calibri" pitchFamily="34" charset="0"/>
                <a:ea typeface="Calibri" pitchFamily="34" charset="-122"/>
                <a:cs typeface="Calibri" pitchFamily="34" charset="-120"/>
              </a:rPr>
              <a:t>REPORTER</a:t>
            </a:r>
            <a:endParaRPr lang="en-US" sz="1000" dirty="0"/>
          </a:p>
        </p:txBody>
      </p:sp>
      <p:sp>
        <p:nvSpPr>
          <p:cNvPr id="20" name="Text 18"/>
          <p:cNvSpPr txBox="1"/>
          <p:nvPr/>
        </p:nvSpPr>
        <p:spPr>
          <a:xfrm>
            <a:off x="6236208" y="4535424"/>
            <a:ext cx="4937760" cy="566928"/>
          </a:xfrm>
          <a:prstGeom prst="rect">
            <a:avLst/>
          </a:prstGeom>
          <a:noFill/>
          <a:ln/>
        </p:spPr>
        <p:txBody>
          <a:bodyPr wrap="square" lIns="0" tIns="0" rIns="0" bIns="0" rtlCol="0" anchor="ctr"/>
          <a:lstStyle/>
          <a:p>
            <a:pPr indent="0" marL="0">
              <a:lnSpc>
                <a:spcPts val="1800"/>
              </a:lnSpc>
              <a:buNone/>
            </a:pPr>
            <a:r>
              <a:rPr lang="en-US" sz="1300" dirty="0">
                <a:solidFill>
                  <a:srgbClr val="1E293B"/>
                </a:solidFill>
                <a:latin typeface="Calibri" pitchFamily="34" charset="0"/>
                <a:ea typeface="Calibri" pitchFamily="34" charset="-122"/>
                <a:cs typeface="Calibri" pitchFamily="34" charset="-120"/>
              </a:rPr>
              <a:t>Telephone call from a community pharmacist</a:t>
            </a:r>
            <a:endParaRPr lang="en-US" sz="1300" dirty="0"/>
          </a:p>
        </p:txBody>
      </p:sp>
      <p:sp>
        <p:nvSpPr>
          <p:cNvPr id="21" name="Shape 19"/>
          <p:cNvSpPr/>
          <p:nvPr/>
        </p:nvSpPr>
        <p:spPr>
          <a:xfrm>
            <a:off x="566928" y="5349240"/>
            <a:ext cx="11027664" cy="960120"/>
          </a:xfrm>
          <a:prstGeom prst="roundRect">
            <a:avLst>
              <a:gd name="adj" fmla="val 5714"/>
            </a:avLst>
          </a:prstGeom>
          <a:solidFill>
            <a:srgbClr val="FEF3C7"/>
          </a:solidFill>
          <a:ln w="12700">
            <a:solidFill>
              <a:srgbClr val="E2E8F0"/>
            </a:solidFill>
            <a:prstDash val="solid"/>
          </a:ln>
        </p:spPr>
      </p:sp>
      <p:sp>
        <p:nvSpPr>
          <p:cNvPr id="22" name="Text 20"/>
          <p:cNvSpPr txBox="1"/>
          <p:nvPr/>
        </p:nvSpPr>
        <p:spPr>
          <a:xfrm>
            <a:off x="932688" y="5532120"/>
            <a:ext cx="10332720" cy="640080"/>
          </a:xfrm>
          <a:prstGeom prst="rect">
            <a:avLst/>
          </a:prstGeom>
          <a:noFill/>
          <a:ln/>
        </p:spPr>
        <p:txBody>
          <a:bodyPr wrap="square" lIns="0" tIns="0" rIns="0" bIns="0" rtlCol="0" anchor="ctr"/>
          <a:lstStyle/>
          <a:p>
            <a:pPr indent="0" marL="0">
              <a:lnSpc>
                <a:spcPts val="1900"/>
              </a:lnSpc>
              <a:buNone/>
            </a:pPr>
            <a:r>
              <a:rPr lang="en-US" sz="1350" b="1" dirty="0">
                <a:solidFill>
                  <a:srgbClr val="78350F"/>
                </a:solidFill>
                <a:latin typeface="Calibri" pitchFamily="34" charset="0"/>
                <a:ea typeface="Calibri" pitchFamily="34" charset="-122"/>
                <a:cs typeface="Calibri" pitchFamily="34" charset="-120"/>
              </a:rPr>
              <a:t>“That is everything the call contained. Nothing else was recorded.”  The drug is unnamed. The laboratory value was never read out. There are no dates. This is what a real referral looks like.</a:t>
            </a:r>
            <a:endParaRPr lang="en-US" sz="13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84048"/>
            <a:ext cx="10058400" cy="256032"/>
          </a:xfrm>
          <a:prstGeom prst="rect">
            <a:avLst/>
          </a:prstGeom>
          <a:noFill/>
          <a:ln/>
        </p:spPr>
        <p:txBody>
          <a:bodyPr wrap="square" lIns="0" tIns="0" rIns="0" bIns="0" rtlCol="0" anchor="ctr"/>
          <a:lstStyle/>
          <a:p>
            <a:pPr indent="0" marL="0">
              <a:buNone/>
            </a:pPr>
            <a:r>
              <a:rPr lang="en-US" sz="1100" b="1" spc="250" kern="0" dirty="0">
                <a:solidFill>
                  <a:srgbClr val="0E7490"/>
                </a:solidFill>
                <a:latin typeface="Calibri" pitchFamily="34" charset="0"/>
                <a:ea typeface="Calibri" pitchFamily="34" charset="-122"/>
                <a:cs typeface="Calibri" pitchFamily="34" charset="-120"/>
              </a:rPr>
              <a:t>Final case · what is missing</a:t>
            </a:r>
            <a:endParaRPr lang="en-US" sz="1100" dirty="0"/>
          </a:p>
        </p:txBody>
      </p:sp>
      <p:sp>
        <p:nvSpPr>
          <p:cNvPr id="3" name="Text 1"/>
          <p:cNvSpPr txBox="1"/>
          <p:nvPr/>
        </p:nvSpPr>
        <p:spPr>
          <a:xfrm>
            <a:off x="566928" y="640080"/>
            <a:ext cx="11064240" cy="786384"/>
          </a:xfrm>
          <a:prstGeom prst="rect">
            <a:avLst/>
          </a:prstGeom>
          <a:noFill/>
          <a:ln/>
        </p:spPr>
        <p:txBody>
          <a:bodyPr wrap="square" lIns="0" tIns="0" rIns="0" bIns="0" rtlCol="0" anchor="t"/>
          <a:lstStyle/>
          <a:p>
            <a:pPr indent="0" marL="0">
              <a:lnSpc>
                <a:spcPts val="3200"/>
              </a:lnSpc>
              <a:buNone/>
            </a:pPr>
            <a:r>
              <a:rPr lang="en-US" sz="2500" b="1" dirty="0">
                <a:solidFill>
                  <a:srgbClr val="0F2B3D"/>
                </a:solidFill>
                <a:latin typeface="Cambria" pitchFamily="34" charset="0"/>
                <a:ea typeface="Cambria" pitchFamily="34" charset="-122"/>
                <a:cs typeface="Cambria" pitchFamily="34" charset="-120"/>
              </a:rPr>
              <a:t>The first move is not an answer — it is a list</a:t>
            </a:r>
            <a:endParaRPr lang="en-US" sz="2500" dirty="0"/>
          </a:p>
        </p:txBody>
      </p:sp>
      <p:sp>
        <p:nvSpPr>
          <p:cNvPr id="4" name="Text 2"/>
          <p:cNvSpPr txBox="1"/>
          <p:nvPr/>
        </p:nvSpPr>
        <p:spPr>
          <a:xfrm>
            <a:off x="566928" y="1371600"/>
            <a:ext cx="11027664" cy="292608"/>
          </a:xfrm>
          <a:prstGeom prst="rect">
            <a:avLst/>
          </a:prstGeom>
          <a:noFill/>
          <a:ln/>
        </p:spPr>
        <p:txBody>
          <a:bodyPr wrap="square" lIns="0" tIns="0" rIns="0" bIns="0" rtlCol="0" anchor="t"/>
          <a:lstStyle/>
          <a:p>
            <a:pPr indent="0" marL="0">
              <a:buNone/>
            </a:pPr>
            <a:r>
              <a:rPr lang="en-US" sz="1400" dirty="0">
                <a:solidFill>
                  <a:srgbClr val="64748B"/>
                </a:solidFill>
                <a:latin typeface="Calibri" pitchFamily="34" charset="0"/>
                <a:ea typeface="Calibri" pitchFamily="34" charset="-122"/>
                <a:cs typeface="Calibri" pitchFamily="34" charset="-120"/>
              </a:rPr>
              <a:t>10 things are missing. These four come first.</a:t>
            </a:r>
            <a:endParaRPr lang="en-US" sz="1400" dirty="0"/>
          </a:p>
        </p:txBody>
      </p:sp>
      <p:sp>
        <p:nvSpPr>
          <p:cNvPr id="5" name="Shape 3"/>
          <p:cNvSpPr/>
          <p:nvPr/>
        </p:nvSpPr>
        <p:spPr>
          <a:xfrm>
            <a:off x="566928" y="1783080"/>
            <a:ext cx="5321808" cy="1335024"/>
          </a:xfrm>
          <a:prstGeom prst="roundRect">
            <a:avLst>
              <a:gd name="adj" fmla="val 4110"/>
            </a:avLst>
          </a:prstGeom>
          <a:solidFill>
            <a:srgbClr val="FEE2E2"/>
          </a:solidFill>
          <a:ln w="12700">
            <a:solidFill>
              <a:srgbClr val="E2E8F0"/>
            </a:solidFill>
            <a:prstDash val="solid"/>
          </a:ln>
        </p:spPr>
      </p:sp>
      <p:sp>
        <p:nvSpPr>
          <p:cNvPr id="6" name="Shape 4"/>
          <p:cNvSpPr/>
          <p:nvPr/>
        </p:nvSpPr>
        <p:spPr>
          <a:xfrm>
            <a:off x="795528" y="1965960"/>
            <a:ext cx="329184" cy="329184"/>
          </a:xfrm>
          <a:prstGeom prst="ellipse">
            <a:avLst/>
          </a:prstGeom>
          <a:solidFill>
            <a:srgbClr val="B91C1C"/>
          </a:solidFill>
          <a:ln/>
        </p:spPr>
      </p:sp>
      <p:sp>
        <p:nvSpPr>
          <p:cNvPr id="7" name="Text 5"/>
          <p:cNvSpPr txBox="1"/>
          <p:nvPr/>
        </p:nvSpPr>
        <p:spPr>
          <a:xfrm>
            <a:off x="795528" y="1965960"/>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8" name="Text 6"/>
          <p:cNvSpPr txBox="1"/>
          <p:nvPr/>
        </p:nvSpPr>
        <p:spPr>
          <a:xfrm>
            <a:off x="1225296" y="1938528"/>
            <a:ext cx="4434840" cy="402336"/>
          </a:xfrm>
          <a:prstGeom prst="rect">
            <a:avLst/>
          </a:prstGeom>
          <a:noFill/>
          <a:ln/>
        </p:spPr>
        <p:txBody>
          <a:bodyPr wrap="square" lIns="0" tIns="0" rIns="0" bIns="0" rtlCol="0" anchor="t"/>
          <a:lstStyle/>
          <a:p>
            <a:pPr indent="0" marL="0">
              <a:lnSpc>
                <a:spcPts val="1700"/>
              </a:lnSpc>
              <a:buNone/>
            </a:pPr>
            <a:r>
              <a:rPr lang="en-US" sz="1250" b="1" dirty="0">
                <a:solidFill>
                  <a:srgbClr val="0F2B3D"/>
                </a:solidFill>
                <a:latin typeface="Cambria" pitchFamily="34" charset="0"/>
                <a:ea typeface="Cambria" pitchFamily="34" charset="-122"/>
                <a:cs typeface="Cambria" pitchFamily="34" charset="-120"/>
              </a:rPr>
              <a:t>The name, dose and strength of the new medicine</a:t>
            </a:r>
            <a:endParaRPr lang="en-US" sz="1250" dirty="0"/>
          </a:p>
        </p:txBody>
      </p:sp>
      <p:sp>
        <p:nvSpPr>
          <p:cNvPr id="9" name="Text 7"/>
          <p:cNvSpPr txBox="1"/>
          <p:nvPr/>
        </p:nvSpPr>
        <p:spPr>
          <a:xfrm>
            <a:off x="795528" y="2423160"/>
            <a:ext cx="4892040" cy="566928"/>
          </a:xfrm>
          <a:prstGeom prst="rect">
            <a:avLst/>
          </a:prstGeom>
          <a:noFill/>
          <a:ln/>
        </p:spPr>
        <p:txBody>
          <a:bodyPr wrap="square" lIns="0" tIns="0" rIns="0" bIns="0" rtlCol="0" anchor="t"/>
          <a:lstStyle/>
          <a:p>
            <a:pPr indent="0" marL="0">
              <a:lnSpc>
                <a:spcPts val="1500"/>
              </a:lnSpc>
              <a:buNone/>
            </a:pPr>
            <a:r>
              <a:rPr lang="en-US" sz="1080" dirty="0">
                <a:solidFill>
                  <a:srgbClr val="475569"/>
                </a:solidFill>
                <a:latin typeface="Calibri" pitchFamily="34" charset="0"/>
                <a:ea typeface="Calibri" pitchFamily="34" charset="-122"/>
                <a:cs typeface="Calibri" pitchFamily="34" charset="-120"/>
              </a:rPr>
              <a:t>You cannot assess a case against an unnamed drug. This is the first phone call to make, and the dispensing record will answer it.</a:t>
            </a:r>
            <a:endParaRPr lang="en-US" sz="1080" dirty="0"/>
          </a:p>
        </p:txBody>
      </p:sp>
      <p:sp>
        <p:nvSpPr>
          <p:cNvPr id="10" name="Shape 8"/>
          <p:cNvSpPr/>
          <p:nvPr/>
        </p:nvSpPr>
        <p:spPr>
          <a:xfrm>
            <a:off x="6190488" y="1783080"/>
            <a:ext cx="5321808" cy="1335024"/>
          </a:xfrm>
          <a:prstGeom prst="roundRect">
            <a:avLst>
              <a:gd name="adj" fmla="val 4110"/>
            </a:avLst>
          </a:prstGeom>
          <a:solidFill>
            <a:srgbClr val="FEE2E2"/>
          </a:solidFill>
          <a:ln w="12700">
            <a:solidFill>
              <a:srgbClr val="E2E8F0"/>
            </a:solidFill>
            <a:prstDash val="solid"/>
          </a:ln>
        </p:spPr>
      </p:sp>
      <p:sp>
        <p:nvSpPr>
          <p:cNvPr id="11" name="Shape 9"/>
          <p:cNvSpPr/>
          <p:nvPr/>
        </p:nvSpPr>
        <p:spPr>
          <a:xfrm>
            <a:off x="6419088" y="1965960"/>
            <a:ext cx="329184" cy="329184"/>
          </a:xfrm>
          <a:prstGeom prst="ellipse">
            <a:avLst/>
          </a:prstGeom>
          <a:solidFill>
            <a:srgbClr val="B91C1C"/>
          </a:solidFill>
          <a:ln/>
        </p:spPr>
      </p:sp>
      <p:sp>
        <p:nvSpPr>
          <p:cNvPr id="12" name="Text 10"/>
          <p:cNvSpPr txBox="1"/>
          <p:nvPr/>
        </p:nvSpPr>
        <p:spPr>
          <a:xfrm>
            <a:off x="6419088" y="1965960"/>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3" name="Text 11"/>
          <p:cNvSpPr txBox="1"/>
          <p:nvPr/>
        </p:nvSpPr>
        <p:spPr>
          <a:xfrm>
            <a:off x="6848856" y="1938528"/>
            <a:ext cx="4434840" cy="402336"/>
          </a:xfrm>
          <a:prstGeom prst="rect">
            <a:avLst/>
          </a:prstGeom>
          <a:noFill/>
          <a:ln/>
        </p:spPr>
        <p:txBody>
          <a:bodyPr wrap="square" lIns="0" tIns="0" rIns="0" bIns="0" rtlCol="0" anchor="t"/>
          <a:lstStyle/>
          <a:p>
            <a:pPr indent="0" marL="0">
              <a:lnSpc>
                <a:spcPts val="1700"/>
              </a:lnSpc>
              <a:buNone/>
            </a:pPr>
            <a:r>
              <a:rPr lang="en-US" sz="1250" b="1" dirty="0">
                <a:solidFill>
                  <a:srgbClr val="0F2B3D"/>
                </a:solidFill>
                <a:latin typeface="Cambria" pitchFamily="34" charset="0"/>
                <a:ea typeface="Cambria" pitchFamily="34" charset="-122"/>
                <a:cs typeface="Cambria" pitchFamily="34" charset="-120"/>
              </a:rPr>
              <a:t>What the laboratory value actually is</a:t>
            </a:r>
            <a:endParaRPr lang="en-US" sz="1250" dirty="0"/>
          </a:p>
        </p:txBody>
      </p:sp>
      <p:sp>
        <p:nvSpPr>
          <p:cNvPr id="14" name="Text 12"/>
          <p:cNvSpPr txBox="1"/>
          <p:nvPr/>
        </p:nvSpPr>
        <p:spPr>
          <a:xfrm>
            <a:off x="6419088" y="2423160"/>
            <a:ext cx="4892040" cy="566928"/>
          </a:xfrm>
          <a:prstGeom prst="rect">
            <a:avLst/>
          </a:prstGeom>
          <a:noFill/>
          <a:ln/>
        </p:spPr>
        <p:txBody>
          <a:bodyPr wrap="square" lIns="0" tIns="0" rIns="0" bIns="0" rtlCol="0" anchor="t"/>
          <a:lstStyle/>
          <a:p>
            <a:pPr indent="0" marL="0">
              <a:lnSpc>
                <a:spcPts val="1500"/>
              </a:lnSpc>
              <a:buNone/>
            </a:pPr>
            <a:r>
              <a:rPr lang="en-US" sz="1080" dirty="0">
                <a:solidFill>
                  <a:srgbClr val="475569"/>
                </a:solidFill>
                <a:latin typeface="Calibri" pitchFamily="34" charset="0"/>
                <a:ea typeface="Calibri" pitchFamily="34" charset="-122"/>
                <a:cs typeface="Calibri" pitchFamily="34" charset="-120"/>
              </a:rPr>
              <a:t>A value was mentioned and not read. In a diabetic with dizziness, a glucose reading either makes the case or breaks it.</a:t>
            </a:r>
            <a:endParaRPr lang="en-US" sz="1080" dirty="0"/>
          </a:p>
        </p:txBody>
      </p:sp>
      <p:sp>
        <p:nvSpPr>
          <p:cNvPr id="15" name="Shape 13"/>
          <p:cNvSpPr/>
          <p:nvPr/>
        </p:nvSpPr>
        <p:spPr>
          <a:xfrm>
            <a:off x="566928" y="3264408"/>
            <a:ext cx="5321808" cy="1335024"/>
          </a:xfrm>
          <a:prstGeom prst="roundRect">
            <a:avLst>
              <a:gd name="adj" fmla="val 4110"/>
            </a:avLst>
          </a:prstGeom>
          <a:solidFill>
            <a:srgbClr val="FEE2E2"/>
          </a:solidFill>
          <a:ln w="12700">
            <a:solidFill>
              <a:srgbClr val="E2E8F0"/>
            </a:solidFill>
            <a:prstDash val="solid"/>
          </a:ln>
        </p:spPr>
      </p:sp>
      <p:sp>
        <p:nvSpPr>
          <p:cNvPr id="16" name="Shape 14"/>
          <p:cNvSpPr/>
          <p:nvPr/>
        </p:nvSpPr>
        <p:spPr>
          <a:xfrm>
            <a:off x="795528" y="3447288"/>
            <a:ext cx="329184" cy="329184"/>
          </a:xfrm>
          <a:prstGeom prst="ellipse">
            <a:avLst/>
          </a:prstGeom>
          <a:solidFill>
            <a:srgbClr val="B91C1C"/>
          </a:solidFill>
          <a:ln/>
        </p:spPr>
      </p:sp>
      <p:sp>
        <p:nvSpPr>
          <p:cNvPr id="17" name="Text 15"/>
          <p:cNvSpPr txBox="1"/>
          <p:nvPr/>
        </p:nvSpPr>
        <p:spPr>
          <a:xfrm>
            <a:off x="795528" y="3447288"/>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8" name="Text 16"/>
          <p:cNvSpPr txBox="1"/>
          <p:nvPr/>
        </p:nvSpPr>
        <p:spPr>
          <a:xfrm>
            <a:off x="1225296" y="3419856"/>
            <a:ext cx="4434840" cy="402336"/>
          </a:xfrm>
          <a:prstGeom prst="rect">
            <a:avLst/>
          </a:prstGeom>
          <a:noFill/>
          <a:ln/>
        </p:spPr>
        <p:txBody>
          <a:bodyPr wrap="square" lIns="0" tIns="0" rIns="0" bIns="0" rtlCol="0" anchor="t"/>
          <a:lstStyle/>
          <a:p>
            <a:pPr indent="0" marL="0">
              <a:lnSpc>
                <a:spcPts val="1700"/>
              </a:lnSpc>
              <a:buNone/>
            </a:pPr>
            <a:r>
              <a:rPr lang="en-US" sz="1250" b="1" dirty="0">
                <a:solidFill>
                  <a:srgbClr val="0F2B3D"/>
                </a:solidFill>
                <a:latin typeface="Cambria" pitchFamily="34" charset="0"/>
                <a:ea typeface="Cambria" pitchFamily="34" charset="-122"/>
                <a:cs typeface="Cambria" pitchFamily="34" charset="-120"/>
              </a:rPr>
              <a:t>Exact dates: when the new drug started, when the dizziness started</a:t>
            </a:r>
            <a:endParaRPr lang="en-US" sz="1250" dirty="0"/>
          </a:p>
        </p:txBody>
      </p:sp>
      <p:sp>
        <p:nvSpPr>
          <p:cNvPr id="19" name="Text 17"/>
          <p:cNvSpPr txBox="1"/>
          <p:nvPr/>
        </p:nvSpPr>
        <p:spPr>
          <a:xfrm>
            <a:off x="795528" y="3904488"/>
            <a:ext cx="4892040" cy="566928"/>
          </a:xfrm>
          <a:prstGeom prst="rect">
            <a:avLst/>
          </a:prstGeom>
          <a:noFill/>
          <a:ln/>
        </p:spPr>
        <p:txBody>
          <a:bodyPr wrap="square" lIns="0" tIns="0" rIns="0" bIns="0" rtlCol="0" anchor="t"/>
          <a:lstStyle/>
          <a:p>
            <a:pPr indent="0" marL="0">
              <a:lnSpc>
                <a:spcPts val="1500"/>
              </a:lnSpc>
              <a:buNone/>
            </a:pPr>
            <a:r>
              <a:rPr lang="en-US" sz="1080" dirty="0">
                <a:solidFill>
                  <a:srgbClr val="475569"/>
                </a:solidFill>
                <a:latin typeface="Calibri" pitchFamily="34" charset="0"/>
                <a:ea typeface="Calibri" pitchFamily="34" charset="-122"/>
                <a:cs typeface="Calibri" pitchFamily="34" charset="-120"/>
              </a:rPr>
              <a:t>Without the interval between them there is no temporal relationship, and without that there is no causality assessment.</a:t>
            </a:r>
            <a:endParaRPr lang="en-US" sz="1080" dirty="0"/>
          </a:p>
        </p:txBody>
      </p:sp>
      <p:sp>
        <p:nvSpPr>
          <p:cNvPr id="20" name="Shape 18"/>
          <p:cNvSpPr/>
          <p:nvPr/>
        </p:nvSpPr>
        <p:spPr>
          <a:xfrm>
            <a:off x="6190488" y="3264408"/>
            <a:ext cx="5321808" cy="1335024"/>
          </a:xfrm>
          <a:prstGeom prst="roundRect">
            <a:avLst>
              <a:gd name="adj" fmla="val 4110"/>
            </a:avLst>
          </a:prstGeom>
          <a:solidFill>
            <a:srgbClr val="ECFEFF"/>
          </a:solidFill>
          <a:ln w="12700">
            <a:solidFill>
              <a:srgbClr val="E2E8F0"/>
            </a:solidFill>
            <a:prstDash val="solid"/>
          </a:ln>
        </p:spPr>
      </p:sp>
      <p:sp>
        <p:nvSpPr>
          <p:cNvPr id="21" name="Shape 19"/>
          <p:cNvSpPr/>
          <p:nvPr/>
        </p:nvSpPr>
        <p:spPr>
          <a:xfrm>
            <a:off x="6419088" y="3447288"/>
            <a:ext cx="329184" cy="329184"/>
          </a:xfrm>
          <a:prstGeom prst="ellipse">
            <a:avLst/>
          </a:prstGeom>
          <a:solidFill>
            <a:srgbClr val="0E7490"/>
          </a:solidFill>
          <a:ln/>
        </p:spPr>
      </p:sp>
      <p:sp>
        <p:nvSpPr>
          <p:cNvPr id="22" name="Text 20"/>
          <p:cNvSpPr txBox="1"/>
          <p:nvPr/>
        </p:nvSpPr>
        <p:spPr>
          <a:xfrm>
            <a:off x="6419088" y="3447288"/>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23" name="Text 21"/>
          <p:cNvSpPr txBox="1"/>
          <p:nvPr/>
        </p:nvSpPr>
        <p:spPr>
          <a:xfrm>
            <a:off x="6848856" y="3419856"/>
            <a:ext cx="4434840" cy="402336"/>
          </a:xfrm>
          <a:prstGeom prst="rect">
            <a:avLst/>
          </a:prstGeom>
          <a:noFill/>
          <a:ln/>
        </p:spPr>
        <p:txBody>
          <a:bodyPr wrap="square" lIns="0" tIns="0" rIns="0" bIns="0" rtlCol="0" anchor="t"/>
          <a:lstStyle/>
          <a:p>
            <a:pPr indent="0" marL="0">
              <a:lnSpc>
                <a:spcPts val="1700"/>
              </a:lnSpc>
              <a:buNone/>
            </a:pPr>
            <a:r>
              <a:rPr lang="en-US" sz="1250" b="1" dirty="0">
                <a:solidFill>
                  <a:srgbClr val="0F2B3D"/>
                </a:solidFill>
                <a:latin typeface="Cambria" pitchFamily="34" charset="0"/>
                <a:ea typeface="Cambria" pitchFamily="34" charset="-122"/>
                <a:cs typeface="Cambria" pitchFamily="34" charset="-120"/>
              </a:rPr>
              <a:t>What "dizziness" actually means to this patient</a:t>
            </a:r>
            <a:endParaRPr lang="en-US" sz="1250" dirty="0"/>
          </a:p>
        </p:txBody>
      </p:sp>
      <p:sp>
        <p:nvSpPr>
          <p:cNvPr id="24" name="Text 22"/>
          <p:cNvSpPr txBox="1"/>
          <p:nvPr/>
        </p:nvSpPr>
        <p:spPr>
          <a:xfrm>
            <a:off x="6419088" y="3904488"/>
            <a:ext cx="4892040" cy="566928"/>
          </a:xfrm>
          <a:prstGeom prst="rect">
            <a:avLst/>
          </a:prstGeom>
          <a:noFill/>
          <a:ln/>
        </p:spPr>
        <p:txBody>
          <a:bodyPr wrap="square" lIns="0" tIns="0" rIns="0" bIns="0" rtlCol="0" anchor="t"/>
          <a:lstStyle/>
          <a:p>
            <a:pPr indent="0" marL="0">
              <a:lnSpc>
                <a:spcPts val="1500"/>
              </a:lnSpc>
              <a:buNone/>
            </a:pPr>
            <a:r>
              <a:rPr lang="en-US" sz="1080" dirty="0">
                <a:solidFill>
                  <a:srgbClr val="475569"/>
                </a:solidFill>
                <a:latin typeface="Calibri" pitchFamily="34" charset="0"/>
                <a:ea typeface="Calibri" pitchFamily="34" charset="-122"/>
                <a:cs typeface="Calibri" pitchFamily="34" charset="-120"/>
              </a:rPr>
              <a:t>Room spinning, about to faint, unsteady, or confused? These are four different events with four different codes and four different causes.</a:t>
            </a:r>
            <a:endParaRPr lang="en-US" sz="1080" dirty="0"/>
          </a:p>
        </p:txBody>
      </p:sp>
      <p:sp>
        <p:nvSpPr>
          <p:cNvPr id="25" name="Text 23"/>
          <p:cNvSpPr txBox="1"/>
          <p:nvPr/>
        </p:nvSpPr>
        <p:spPr>
          <a:xfrm>
            <a:off x="566928" y="4828032"/>
            <a:ext cx="11027664" cy="457200"/>
          </a:xfrm>
          <a:prstGeom prst="rect">
            <a:avLst/>
          </a:prstGeom>
          <a:noFill/>
          <a:ln/>
        </p:spPr>
        <p:txBody>
          <a:bodyPr wrap="square" lIns="0" tIns="0" rIns="0" bIns="0" rtlCol="0" anchor="t"/>
          <a:lstStyle/>
          <a:p>
            <a:pPr indent="0" marL="0">
              <a:lnSpc>
                <a:spcPts val="1700"/>
              </a:lnSpc>
              <a:buNone/>
            </a:pPr>
            <a:r>
              <a:rPr lang="en-US" sz="1180" b="1" dirty="0">
                <a:solidFill>
                  <a:srgbClr val="0F2B3D"/>
                </a:solidFill>
                <a:latin typeface="Calibri" pitchFamily="34" charset="0"/>
                <a:ea typeface="Calibri" pitchFamily="34" charset="-122"/>
                <a:cs typeface="Calibri" pitchFamily="34" charset="-120"/>
              </a:rPr>
              <a:t>And 6 more: </a:t>
            </a:r>
            <a:pPr indent="0" marL="0">
              <a:lnSpc>
                <a:spcPts val="1700"/>
              </a:lnSpc>
              <a:buNone/>
            </a:pPr>
            <a:r>
              <a:rPr lang="en-US" sz="1180" dirty="0">
                <a:solidFill>
                  <a:srgbClr val="475569"/>
                </a:solidFill>
                <a:latin typeface="Calibri" pitchFamily="34" charset="0"/>
                <a:ea typeface="Calibri" pitchFamily="34" charset="-122"/>
                <a:cs typeface="Calibri" pitchFamily="34" charset="-120"/>
              </a:rPr>
              <a:t>When in the day the episodes happen, and in relation to meals  ·  Which antihypertensive, at what dose  ·  Kidney function — creatinine and eGFR  ·  complete medicine list, including over-the-counter and herbal  ·  has happened since — has anything been stopped or changed?  ·  Full reporter details and contact.</a:t>
            </a:r>
            <a:endParaRPr lang="en-US" sz="1180" dirty="0"/>
          </a:p>
        </p:txBody>
      </p:sp>
      <p:sp>
        <p:nvSpPr>
          <p:cNvPr id="26" name="Shape 24"/>
          <p:cNvSpPr/>
          <p:nvPr/>
        </p:nvSpPr>
        <p:spPr>
          <a:xfrm>
            <a:off x="566928" y="5394960"/>
            <a:ext cx="11027664" cy="960120"/>
          </a:xfrm>
          <a:prstGeom prst="roundRect">
            <a:avLst>
              <a:gd name="adj" fmla="val 5714"/>
            </a:avLst>
          </a:prstGeom>
          <a:solidFill>
            <a:srgbClr val="F8FAFC"/>
          </a:solidFill>
          <a:ln w="12700">
            <a:solidFill>
              <a:srgbClr val="E2E8F0"/>
            </a:solidFill>
            <a:prstDash val="solid"/>
          </a:ln>
        </p:spPr>
      </p:sp>
      <p:sp>
        <p:nvSpPr>
          <p:cNvPr id="27" name="Text 25"/>
          <p:cNvSpPr txBox="1"/>
          <p:nvPr/>
        </p:nvSpPr>
        <p:spPr>
          <a:xfrm>
            <a:off x="932688" y="5394960"/>
            <a:ext cx="10332720" cy="960120"/>
          </a:xfrm>
          <a:prstGeom prst="rect">
            <a:avLst/>
          </a:prstGeom>
          <a:noFill/>
          <a:ln/>
        </p:spPr>
        <p:txBody>
          <a:bodyPr wrap="square" lIns="0" tIns="0" rIns="0" bIns="0" rtlCol="0" anchor="ctr"/>
          <a:lstStyle/>
          <a:p>
            <a:pPr indent="0" marL="0">
              <a:lnSpc>
                <a:spcPts val="2000"/>
              </a:lnSpc>
              <a:buNone/>
            </a:pPr>
            <a:r>
              <a:rPr lang="en-US" sz="1400" b="1" dirty="0">
                <a:solidFill>
                  <a:srgbClr val="0F2B3D"/>
                </a:solidFill>
                <a:latin typeface="Calibri" pitchFamily="34" charset="0"/>
                <a:ea typeface="Calibri" pitchFamily="34" charset="-122"/>
                <a:cs typeface="Calibri" pitchFamily="34" charset="-120"/>
              </a:rPr>
              <a:t>Nobody in the room can diagnose this patient. Everybody in the room can write this list — and the list is what actually gets the case solved.</a:t>
            </a:r>
            <a:endParaRPr lang="en-US" sz="14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84048"/>
            <a:ext cx="10058400" cy="256032"/>
          </a:xfrm>
          <a:prstGeom prst="rect">
            <a:avLst/>
          </a:prstGeom>
          <a:noFill/>
          <a:ln/>
        </p:spPr>
        <p:txBody>
          <a:bodyPr wrap="square" lIns="0" tIns="0" rIns="0" bIns="0" rtlCol="0" anchor="ctr"/>
          <a:lstStyle/>
          <a:p>
            <a:pPr indent="0" marL="0">
              <a:buNone/>
            </a:pPr>
            <a:r>
              <a:rPr lang="en-US" sz="1100" b="1" spc="250" kern="0" dirty="0">
                <a:solidFill>
                  <a:srgbClr val="0E7490"/>
                </a:solidFill>
                <a:latin typeface="Calibri" pitchFamily="34" charset="0"/>
                <a:ea typeface="Calibri" pitchFamily="34" charset="-122"/>
                <a:cs typeface="Calibri" pitchFamily="34" charset="-120"/>
              </a:rPr>
              <a:t>Final case · the investigation</a:t>
            </a:r>
            <a:endParaRPr lang="en-US" sz="1100" dirty="0"/>
          </a:p>
        </p:txBody>
      </p:sp>
      <p:sp>
        <p:nvSpPr>
          <p:cNvPr id="3" name="Text 1"/>
          <p:cNvSpPr txBox="1"/>
          <p:nvPr/>
        </p:nvSpPr>
        <p:spPr>
          <a:xfrm>
            <a:off x="566928" y="640080"/>
            <a:ext cx="11064240" cy="548640"/>
          </a:xfrm>
          <a:prstGeom prst="rect">
            <a:avLst/>
          </a:prstGeom>
          <a:noFill/>
          <a:ln/>
        </p:spPr>
        <p:txBody>
          <a:bodyPr wrap="square" lIns="0" tIns="0" rIns="0" bIns="0" rtlCol="0" anchor="t"/>
          <a:lstStyle/>
          <a:p>
            <a:pPr indent="0" marL="0">
              <a:lnSpc>
                <a:spcPts val="3800"/>
              </a:lnSpc>
              <a:buNone/>
            </a:pPr>
            <a:r>
              <a:rPr lang="en-US" sz="3100" b="1" dirty="0">
                <a:solidFill>
                  <a:srgbClr val="0F2B3D"/>
                </a:solidFill>
                <a:latin typeface="Cambria" pitchFamily="34" charset="0"/>
                <a:ea typeface="Cambria" pitchFamily="34" charset="-122"/>
                <a:cs typeface="Cambria" pitchFamily="34" charset="-120"/>
              </a:rPr>
              <a:t>Five places to look — and what each one gave</a:t>
            </a:r>
            <a:endParaRPr lang="en-US" sz="3100" dirty="0"/>
          </a:p>
        </p:txBody>
      </p:sp>
      <p:sp>
        <p:nvSpPr>
          <p:cNvPr id="4" name="Shape 2"/>
          <p:cNvSpPr/>
          <p:nvPr/>
        </p:nvSpPr>
        <p:spPr>
          <a:xfrm>
            <a:off x="566928" y="1426464"/>
            <a:ext cx="11027664" cy="877824"/>
          </a:xfrm>
          <a:prstGeom prst="roundRect">
            <a:avLst>
              <a:gd name="adj" fmla="val 6250"/>
            </a:avLst>
          </a:prstGeom>
          <a:solidFill>
            <a:srgbClr val="F8FAFC"/>
          </a:solidFill>
          <a:ln w="12700">
            <a:solidFill>
              <a:srgbClr val="E2E8F0"/>
            </a:solidFill>
            <a:prstDash val="solid"/>
          </a:ln>
        </p:spPr>
      </p:sp>
      <p:sp>
        <p:nvSpPr>
          <p:cNvPr id="5" name="Shape 3"/>
          <p:cNvSpPr/>
          <p:nvPr/>
        </p:nvSpPr>
        <p:spPr>
          <a:xfrm>
            <a:off x="822960" y="1673352"/>
            <a:ext cx="384048" cy="384048"/>
          </a:xfrm>
          <a:prstGeom prst="ellipse">
            <a:avLst/>
          </a:prstGeom>
          <a:solidFill>
            <a:srgbClr val="0E7490"/>
          </a:solidFill>
          <a:ln/>
        </p:spPr>
      </p:sp>
      <p:sp>
        <p:nvSpPr>
          <p:cNvPr id="6" name="Text 4"/>
          <p:cNvSpPr txBox="1"/>
          <p:nvPr/>
        </p:nvSpPr>
        <p:spPr>
          <a:xfrm>
            <a:off x="822960" y="1673352"/>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7" name="Text 5"/>
          <p:cNvSpPr txBox="1"/>
          <p:nvPr/>
        </p:nvSpPr>
        <p:spPr>
          <a:xfrm>
            <a:off x="1344168" y="1536192"/>
            <a:ext cx="3017520" cy="292608"/>
          </a:xfrm>
          <a:prstGeom prst="rect">
            <a:avLst/>
          </a:prstGeom>
          <a:noFill/>
          <a:ln/>
        </p:spPr>
        <p:txBody>
          <a:bodyPr wrap="square" lIns="0" tIns="0" rIns="0" bIns="0" rtlCol="0" anchor="t"/>
          <a:lstStyle/>
          <a:p>
            <a:pPr indent="0" marL="0">
              <a:buNone/>
            </a:pPr>
            <a:r>
              <a:rPr lang="en-US" sz="1300" b="1" dirty="0">
                <a:solidFill>
                  <a:srgbClr val="0E7490"/>
                </a:solidFill>
                <a:latin typeface="Cambria" pitchFamily="34" charset="0"/>
                <a:ea typeface="Cambria" pitchFamily="34" charset="-122"/>
                <a:cs typeface="Cambria" pitchFamily="34" charset="-120"/>
              </a:rPr>
              <a:t>Pharmacy dispensing record</a:t>
            </a:r>
            <a:endParaRPr lang="en-US" sz="1300" dirty="0"/>
          </a:p>
        </p:txBody>
      </p:sp>
      <p:sp>
        <p:nvSpPr>
          <p:cNvPr id="8" name="Text 6"/>
          <p:cNvSpPr txBox="1"/>
          <p:nvPr/>
        </p:nvSpPr>
        <p:spPr>
          <a:xfrm>
            <a:off x="1344168" y="1828800"/>
            <a:ext cx="9966960" cy="438912"/>
          </a:xfrm>
          <a:prstGeom prst="rect">
            <a:avLst/>
          </a:prstGeom>
          <a:noFill/>
          <a:ln/>
        </p:spPr>
        <p:txBody>
          <a:bodyPr wrap="square" lIns="0" tIns="0" rIns="0" bIns="0" rtlCol="0" anchor="t"/>
          <a:lstStyle/>
          <a:p>
            <a:pPr indent="0" marL="0">
              <a:lnSpc>
                <a:spcPts val="1600"/>
              </a:lnSpc>
              <a:buNone/>
            </a:pPr>
            <a:r>
              <a:rPr lang="en-US" sz="1150" dirty="0">
                <a:solidFill>
                  <a:srgbClr val="334155"/>
                </a:solidFill>
                <a:latin typeface="Calibri" pitchFamily="34" charset="0"/>
                <a:ea typeface="Calibri" pitchFamily="34" charset="-122"/>
                <a:cs typeface="Calibri" pitchFamily="34" charset="-120"/>
              </a:rPr>
              <a:t>The drug has a name: glimepiride 2 mg, first dispensed 24 August. And an over-the-counter ibuprofen nobody mentioned and nobody prescribed.</a:t>
            </a:r>
            <a:endParaRPr lang="en-US" sz="1150" dirty="0"/>
          </a:p>
        </p:txBody>
      </p:sp>
      <p:sp>
        <p:nvSpPr>
          <p:cNvPr id="9" name="Shape 7"/>
          <p:cNvSpPr/>
          <p:nvPr/>
        </p:nvSpPr>
        <p:spPr>
          <a:xfrm>
            <a:off x="566928" y="2377440"/>
            <a:ext cx="11027664" cy="877824"/>
          </a:xfrm>
          <a:prstGeom prst="roundRect">
            <a:avLst>
              <a:gd name="adj" fmla="val 6250"/>
            </a:avLst>
          </a:prstGeom>
          <a:solidFill>
            <a:srgbClr val="FEF2F2"/>
          </a:solidFill>
          <a:ln w="12700">
            <a:solidFill>
              <a:srgbClr val="E2E8F0"/>
            </a:solidFill>
            <a:prstDash val="solid"/>
          </a:ln>
        </p:spPr>
      </p:sp>
      <p:sp>
        <p:nvSpPr>
          <p:cNvPr id="10" name="Shape 8"/>
          <p:cNvSpPr/>
          <p:nvPr/>
        </p:nvSpPr>
        <p:spPr>
          <a:xfrm>
            <a:off x="822960" y="2624328"/>
            <a:ext cx="384048" cy="384048"/>
          </a:xfrm>
          <a:prstGeom prst="ellipse">
            <a:avLst/>
          </a:prstGeom>
          <a:solidFill>
            <a:srgbClr val="C40D16"/>
          </a:solidFill>
          <a:ln/>
        </p:spPr>
      </p:sp>
      <p:sp>
        <p:nvSpPr>
          <p:cNvPr id="11" name="Text 9"/>
          <p:cNvSpPr txBox="1"/>
          <p:nvPr/>
        </p:nvSpPr>
        <p:spPr>
          <a:xfrm>
            <a:off x="822960" y="2624328"/>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2" name="Text 10"/>
          <p:cNvSpPr txBox="1"/>
          <p:nvPr/>
        </p:nvSpPr>
        <p:spPr>
          <a:xfrm>
            <a:off x="1344168" y="2487168"/>
            <a:ext cx="3017520" cy="292608"/>
          </a:xfrm>
          <a:prstGeom prst="rect">
            <a:avLst/>
          </a:prstGeom>
          <a:noFill/>
          <a:ln/>
        </p:spPr>
        <p:txBody>
          <a:bodyPr wrap="square" lIns="0" tIns="0" rIns="0" bIns="0" rtlCol="0" anchor="t"/>
          <a:lstStyle/>
          <a:p>
            <a:pPr indent="0" marL="0">
              <a:buNone/>
            </a:pPr>
            <a:r>
              <a:rPr lang="en-US" sz="1300" b="1" dirty="0">
                <a:solidFill>
                  <a:srgbClr val="C40D16"/>
                </a:solidFill>
                <a:latin typeface="Cambria" pitchFamily="34" charset="0"/>
                <a:ea typeface="Cambria" pitchFamily="34" charset="-122"/>
                <a:cs typeface="Cambria" pitchFamily="34" charset="-120"/>
              </a:rPr>
              <a:t>Laboratory results</a:t>
            </a:r>
            <a:endParaRPr lang="en-US" sz="1300" dirty="0"/>
          </a:p>
        </p:txBody>
      </p:sp>
      <p:sp>
        <p:nvSpPr>
          <p:cNvPr id="13" name="Text 11"/>
          <p:cNvSpPr txBox="1"/>
          <p:nvPr/>
        </p:nvSpPr>
        <p:spPr>
          <a:xfrm>
            <a:off x="1344168" y="2779776"/>
            <a:ext cx="9966960" cy="438912"/>
          </a:xfrm>
          <a:prstGeom prst="rect">
            <a:avLst/>
          </a:prstGeom>
          <a:noFill/>
          <a:ln/>
        </p:spPr>
        <p:txBody>
          <a:bodyPr wrap="square" lIns="0" tIns="0" rIns="0" bIns="0" rtlCol="0" anchor="t"/>
          <a:lstStyle/>
          <a:p>
            <a:pPr indent="0" marL="0">
              <a:lnSpc>
                <a:spcPts val="1600"/>
              </a:lnSpc>
              <a:buNone/>
            </a:pPr>
            <a:r>
              <a:rPr lang="en-US" sz="1150" dirty="0">
                <a:solidFill>
                  <a:srgbClr val="334155"/>
                </a:solidFill>
                <a:latin typeface="Calibri" pitchFamily="34" charset="0"/>
                <a:ea typeface="Calibri" pitchFamily="34" charset="-122"/>
                <a:cs typeface="Calibri" pitchFamily="34" charset="-120"/>
              </a:rPr>
              <a:t>Glucose 52 mg/dL during an episode. eGFR fallen from 52 to 38. The HbA1c of 7.9% looks reassuring and is a trap — it lags 8–12 weeks and still describes the period before this drug.</a:t>
            </a:r>
            <a:endParaRPr lang="en-US" sz="1150" dirty="0"/>
          </a:p>
        </p:txBody>
      </p:sp>
      <p:sp>
        <p:nvSpPr>
          <p:cNvPr id="14" name="Shape 12"/>
          <p:cNvSpPr/>
          <p:nvPr/>
        </p:nvSpPr>
        <p:spPr>
          <a:xfrm>
            <a:off x="566928" y="3328416"/>
            <a:ext cx="11027664" cy="877824"/>
          </a:xfrm>
          <a:prstGeom prst="roundRect">
            <a:avLst>
              <a:gd name="adj" fmla="val 6250"/>
            </a:avLst>
          </a:prstGeom>
          <a:solidFill>
            <a:srgbClr val="F8FAFC"/>
          </a:solidFill>
          <a:ln w="12700">
            <a:solidFill>
              <a:srgbClr val="E2E8F0"/>
            </a:solidFill>
            <a:prstDash val="solid"/>
          </a:ln>
        </p:spPr>
      </p:sp>
      <p:sp>
        <p:nvSpPr>
          <p:cNvPr id="15" name="Shape 13"/>
          <p:cNvSpPr/>
          <p:nvPr/>
        </p:nvSpPr>
        <p:spPr>
          <a:xfrm>
            <a:off x="822960" y="3575304"/>
            <a:ext cx="384048" cy="384048"/>
          </a:xfrm>
          <a:prstGeom prst="ellipse">
            <a:avLst/>
          </a:prstGeom>
          <a:solidFill>
            <a:srgbClr val="0E7490"/>
          </a:solidFill>
          <a:ln/>
        </p:spPr>
      </p:sp>
      <p:sp>
        <p:nvSpPr>
          <p:cNvPr id="16" name="Text 14"/>
          <p:cNvSpPr txBox="1"/>
          <p:nvPr/>
        </p:nvSpPr>
        <p:spPr>
          <a:xfrm>
            <a:off x="822960" y="3575304"/>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7" name="Text 15"/>
          <p:cNvSpPr txBox="1"/>
          <p:nvPr/>
        </p:nvSpPr>
        <p:spPr>
          <a:xfrm>
            <a:off x="1344168" y="3438144"/>
            <a:ext cx="3017520" cy="292608"/>
          </a:xfrm>
          <a:prstGeom prst="rect">
            <a:avLst/>
          </a:prstGeom>
          <a:noFill/>
          <a:ln/>
        </p:spPr>
        <p:txBody>
          <a:bodyPr wrap="square" lIns="0" tIns="0" rIns="0" bIns="0" rtlCol="0" anchor="t"/>
          <a:lstStyle/>
          <a:p>
            <a:pPr indent="0" marL="0">
              <a:buNone/>
            </a:pPr>
            <a:r>
              <a:rPr lang="en-US" sz="1300" b="1" dirty="0">
                <a:solidFill>
                  <a:srgbClr val="0E7490"/>
                </a:solidFill>
                <a:latin typeface="Cambria" pitchFamily="34" charset="0"/>
                <a:ea typeface="Cambria" pitchFamily="34" charset="-122"/>
                <a:cs typeface="Cambria" pitchFamily="34" charset="-120"/>
              </a:rPr>
              <a:t>Patient interview</a:t>
            </a:r>
            <a:endParaRPr lang="en-US" sz="1300" dirty="0"/>
          </a:p>
        </p:txBody>
      </p:sp>
      <p:sp>
        <p:nvSpPr>
          <p:cNvPr id="18" name="Text 16"/>
          <p:cNvSpPr txBox="1"/>
          <p:nvPr/>
        </p:nvSpPr>
        <p:spPr>
          <a:xfrm>
            <a:off x="1344168" y="3730752"/>
            <a:ext cx="9966960" cy="438912"/>
          </a:xfrm>
          <a:prstGeom prst="rect">
            <a:avLst/>
          </a:prstGeom>
          <a:noFill/>
          <a:ln/>
        </p:spPr>
        <p:txBody>
          <a:bodyPr wrap="square" lIns="0" tIns="0" rIns="0" bIns="0" rtlCol="0" anchor="t"/>
          <a:lstStyle/>
          <a:p>
            <a:pPr indent="0" marL="0">
              <a:lnSpc>
                <a:spcPts val="1600"/>
              </a:lnSpc>
              <a:buNone/>
            </a:pPr>
            <a:r>
              <a:rPr lang="en-US" sz="1150" dirty="0">
                <a:solidFill>
                  <a:srgbClr val="334155"/>
                </a:solidFill>
                <a:latin typeface="Calibri" pitchFamily="34" charset="0"/>
                <a:ea typeface="Calibri" pitchFamily="34" charset="-122"/>
                <a:cs typeface="Calibri" pitchFamily="34" charset="-120"/>
              </a:rPr>
              <a:t>Sweating and shaking, before lunch, on an empty stomach, relieved by sugar. And she has been eating less on her own initiative.</a:t>
            </a:r>
            <a:endParaRPr lang="en-US" sz="1150" dirty="0"/>
          </a:p>
        </p:txBody>
      </p:sp>
      <p:sp>
        <p:nvSpPr>
          <p:cNvPr id="19" name="Shape 17"/>
          <p:cNvSpPr/>
          <p:nvPr/>
        </p:nvSpPr>
        <p:spPr>
          <a:xfrm>
            <a:off x="566928" y="4279392"/>
            <a:ext cx="11027664" cy="877824"/>
          </a:xfrm>
          <a:prstGeom prst="roundRect">
            <a:avLst>
              <a:gd name="adj" fmla="val 6250"/>
            </a:avLst>
          </a:prstGeom>
          <a:solidFill>
            <a:srgbClr val="F8FAFC"/>
          </a:solidFill>
          <a:ln w="12700">
            <a:solidFill>
              <a:srgbClr val="E2E8F0"/>
            </a:solidFill>
            <a:prstDash val="solid"/>
          </a:ln>
        </p:spPr>
      </p:sp>
      <p:sp>
        <p:nvSpPr>
          <p:cNvPr id="20" name="Shape 18"/>
          <p:cNvSpPr/>
          <p:nvPr/>
        </p:nvSpPr>
        <p:spPr>
          <a:xfrm>
            <a:off x="822960" y="4526280"/>
            <a:ext cx="384048" cy="384048"/>
          </a:xfrm>
          <a:prstGeom prst="ellipse">
            <a:avLst/>
          </a:prstGeom>
          <a:solidFill>
            <a:srgbClr val="0E7490"/>
          </a:solidFill>
          <a:ln/>
        </p:spPr>
      </p:sp>
      <p:sp>
        <p:nvSpPr>
          <p:cNvPr id="21" name="Text 19"/>
          <p:cNvSpPr txBox="1"/>
          <p:nvPr/>
        </p:nvSpPr>
        <p:spPr>
          <a:xfrm>
            <a:off x="822960" y="4526280"/>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22" name="Text 20"/>
          <p:cNvSpPr txBox="1"/>
          <p:nvPr/>
        </p:nvSpPr>
        <p:spPr>
          <a:xfrm>
            <a:off x="1344168" y="4389120"/>
            <a:ext cx="3017520" cy="292608"/>
          </a:xfrm>
          <a:prstGeom prst="rect">
            <a:avLst/>
          </a:prstGeom>
          <a:noFill/>
          <a:ln/>
        </p:spPr>
        <p:txBody>
          <a:bodyPr wrap="square" lIns="0" tIns="0" rIns="0" bIns="0" rtlCol="0" anchor="t"/>
          <a:lstStyle/>
          <a:p>
            <a:pPr indent="0" marL="0">
              <a:buNone/>
            </a:pPr>
            <a:r>
              <a:rPr lang="en-US" sz="1300" b="1" dirty="0">
                <a:solidFill>
                  <a:srgbClr val="0E7490"/>
                </a:solidFill>
                <a:latin typeface="Cambria" pitchFamily="34" charset="0"/>
                <a:ea typeface="Cambria" pitchFamily="34" charset="-122"/>
                <a:cs typeface="Cambria" pitchFamily="34" charset="-120"/>
              </a:rPr>
              <a:t>Prescriber notes</a:t>
            </a:r>
            <a:endParaRPr lang="en-US" sz="1300" dirty="0"/>
          </a:p>
        </p:txBody>
      </p:sp>
      <p:sp>
        <p:nvSpPr>
          <p:cNvPr id="23" name="Text 21"/>
          <p:cNvSpPr txBox="1"/>
          <p:nvPr/>
        </p:nvSpPr>
        <p:spPr>
          <a:xfrm>
            <a:off x="1344168" y="4681728"/>
            <a:ext cx="9966960" cy="438912"/>
          </a:xfrm>
          <a:prstGeom prst="rect">
            <a:avLst/>
          </a:prstGeom>
          <a:noFill/>
          <a:ln/>
        </p:spPr>
        <p:txBody>
          <a:bodyPr wrap="square" lIns="0" tIns="0" rIns="0" bIns="0" rtlCol="0" anchor="t"/>
          <a:lstStyle/>
          <a:p>
            <a:pPr indent="0" marL="0">
              <a:lnSpc>
                <a:spcPts val="1600"/>
              </a:lnSpc>
              <a:buNone/>
            </a:pPr>
            <a:r>
              <a:rPr lang="en-US" sz="1150" dirty="0">
                <a:solidFill>
                  <a:srgbClr val="334155"/>
                </a:solidFill>
                <a:latin typeface="Calibri" pitchFamily="34" charset="0"/>
                <a:ea typeface="Calibri" pitchFamily="34" charset="-122"/>
                <a:cs typeface="Calibri" pitchFamily="34" charset="-120"/>
              </a:rPr>
              <a:t>The dates, so you finally have an interval. And BP 138/82 sitting, 130/78 standing — no postural drop, so the main alternative is ruled out.</a:t>
            </a:r>
            <a:endParaRPr lang="en-US" sz="1150" dirty="0"/>
          </a:p>
        </p:txBody>
      </p:sp>
      <p:sp>
        <p:nvSpPr>
          <p:cNvPr id="24" name="Shape 22"/>
          <p:cNvSpPr/>
          <p:nvPr/>
        </p:nvSpPr>
        <p:spPr>
          <a:xfrm>
            <a:off x="566928" y="5230368"/>
            <a:ext cx="11027664" cy="877824"/>
          </a:xfrm>
          <a:prstGeom prst="roundRect">
            <a:avLst>
              <a:gd name="adj" fmla="val 6250"/>
            </a:avLst>
          </a:prstGeom>
          <a:solidFill>
            <a:srgbClr val="F8FAFC"/>
          </a:solidFill>
          <a:ln w="12700">
            <a:solidFill>
              <a:srgbClr val="E2E8F0"/>
            </a:solidFill>
            <a:prstDash val="solid"/>
          </a:ln>
        </p:spPr>
      </p:sp>
      <p:sp>
        <p:nvSpPr>
          <p:cNvPr id="25" name="Shape 23"/>
          <p:cNvSpPr/>
          <p:nvPr/>
        </p:nvSpPr>
        <p:spPr>
          <a:xfrm>
            <a:off x="822960" y="5477256"/>
            <a:ext cx="384048" cy="384048"/>
          </a:xfrm>
          <a:prstGeom prst="ellipse">
            <a:avLst/>
          </a:prstGeom>
          <a:solidFill>
            <a:srgbClr val="0E7490"/>
          </a:solidFill>
          <a:ln/>
        </p:spPr>
      </p:sp>
      <p:sp>
        <p:nvSpPr>
          <p:cNvPr id="26" name="Text 24"/>
          <p:cNvSpPr txBox="1"/>
          <p:nvPr/>
        </p:nvSpPr>
        <p:spPr>
          <a:xfrm>
            <a:off x="822960" y="5477256"/>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27" name="Text 25"/>
          <p:cNvSpPr txBox="1"/>
          <p:nvPr/>
        </p:nvSpPr>
        <p:spPr>
          <a:xfrm>
            <a:off x="1344168" y="5340096"/>
            <a:ext cx="3017520" cy="292608"/>
          </a:xfrm>
          <a:prstGeom prst="rect">
            <a:avLst/>
          </a:prstGeom>
          <a:noFill/>
          <a:ln/>
        </p:spPr>
        <p:txBody>
          <a:bodyPr wrap="square" lIns="0" tIns="0" rIns="0" bIns="0" rtlCol="0" anchor="t"/>
          <a:lstStyle/>
          <a:p>
            <a:pPr indent="0" marL="0">
              <a:buNone/>
            </a:pPr>
            <a:r>
              <a:rPr lang="en-US" sz="1300" b="1" dirty="0">
                <a:solidFill>
                  <a:srgbClr val="0E7490"/>
                </a:solidFill>
                <a:latin typeface="Cambria" pitchFamily="34" charset="0"/>
                <a:ea typeface="Cambria" pitchFamily="34" charset="-122"/>
                <a:cs typeface="Cambria" pitchFamily="34" charset="-120"/>
              </a:rPr>
              <a:t>Reporter details</a:t>
            </a:r>
            <a:endParaRPr lang="en-US" sz="1300" dirty="0"/>
          </a:p>
        </p:txBody>
      </p:sp>
      <p:sp>
        <p:nvSpPr>
          <p:cNvPr id="28" name="Text 26"/>
          <p:cNvSpPr txBox="1"/>
          <p:nvPr/>
        </p:nvSpPr>
        <p:spPr>
          <a:xfrm>
            <a:off x="1344168" y="5632704"/>
            <a:ext cx="9966960" cy="438912"/>
          </a:xfrm>
          <a:prstGeom prst="rect">
            <a:avLst/>
          </a:prstGeom>
          <a:noFill/>
          <a:ln/>
        </p:spPr>
        <p:txBody>
          <a:bodyPr wrap="square" lIns="0" tIns="0" rIns="0" bIns="0" rtlCol="0" anchor="t"/>
          <a:lstStyle/>
          <a:p>
            <a:pPr indent="0" marL="0">
              <a:lnSpc>
                <a:spcPts val="1600"/>
              </a:lnSpc>
              <a:buNone/>
            </a:pPr>
            <a:r>
              <a:rPr lang="en-US" sz="1150" dirty="0">
                <a:solidFill>
                  <a:srgbClr val="334155"/>
                </a:solidFill>
                <a:latin typeface="Calibri" pitchFamily="34" charset="0"/>
                <a:ea typeface="Calibri" pitchFamily="34" charset="-122"/>
                <a:cs typeface="Calibri" pitchFamily="34" charset="-120"/>
              </a:rPr>
              <a:t>Identifiable, contactable, willing to follow up. The case is now a valid, followable ICSR.</a:t>
            </a:r>
            <a:endParaRPr lang="en-US" sz="1150" dirty="0"/>
          </a:p>
        </p:txBody>
      </p:sp>
      <p:sp>
        <p:nvSpPr>
          <p:cNvPr id="29" name="Text 27"/>
          <p:cNvSpPr txBox="1"/>
          <p:nvPr/>
        </p:nvSpPr>
        <p:spPr>
          <a:xfrm>
            <a:off x="566928" y="6263640"/>
            <a:ext cx="11027664" cy="310896"/>
          </a:xfrm>
          <a:prstGeom prst="rect">
            <a:avLst/>
          </a:prstGeom>
          <a:noFill/>
          <a:ln/>
        </p:spPr>
        <p:txBody>
          <a:bodyPr wrap="square" lIns="0" tIns="0" rIns="0" bIns="0" rtlCol="0" anchor="t"/>
          <a:lstStyle/>
          <a:p>
            <a:pPr algn="ctr" indent="0" marL="0">
              <a:buNone/>
            </a:pPr>
            <a:r>
              <a:rPr lang="en-US" sz="1500" b="1" dirty="0">
                <a:solidFill>
                  <a:srgbClr val="0F2B3D"/>
                </a:solidFill>
                <a:latin typeface="Cambria" pitchFamily="34" charset="0"/>
                <a:ea typeface="Cambria" pitchFamily="34" charset="-122"/>
                <a:cs typeface="Cambria" pitchFamily="34" charset="-120"/>
              </a:rPr>
              <a:t>Nothing here required a diagnosis. It required five phone calls.</a:t>
            </a:r>
            <a:endParaRPr lang="en-US" sz="15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84048"/>
            <a:ext cx="10058400" cy="256032"/>
          </a:xfrm>
          <a:prstGeom prst="rect">
            <a:avLst/>
          </a:prstGeom>
          <a:noFill/>
          <a:ln/>
        </p:spPr>
        <p:txBody>
          <a:bodyPr wrap="square" lIns="0" tIns="0" rIns="0" bIns="0" rtlCol="0" anchor="ctr"/>
          <a:lstStyle/>
          <a:p>
            <a:pPr indent="0" marL="0">
              <a:buNone/>
            </a:pPr>
            <a:r>
              <a:rPr lang="en-US" sz="1100" b="1" spc="250" kern="0" dirty="0">
                <a:solidFill>
                  <a:srgbClr val="0E7490"/>
                </a:solidFill>
                <a:latin typeface="Calibri" pitchFamily="34" charset="0"/>
                <a:ea typeface="Calibri" pitchFamily="34" charset="-122"/>
                <a:cs typeface="Calibri" pitchFamily="34" charset="-120"/>
              </a:rPr>
              <a:t>Final case · the assessment</a:t>
            </a:r>
            <a:endParaRPr lang="en-US" sz="1100" dirty="0"/>
          </a:p>
        </p:txBody>
      </p:sp>
      <p:sp>
        <p:nvSpPr>
          <p:cNvPr id="3" name="Text 1"/>
          <p:cNvSpPr txBox="1"/>
          <p:nvPr/>
        </p:nvSpPr>
        <p:spPr>
          <a:xfrm>
            <a:off x="566928" y="640080"/>
            <a:ext cx="11064240" cy="548640"/>
          </a:xfrm>
          <a:prstGeom prst="rect">
            <a:avLst/>
          </a:prstGeom>
          <a:noFill/>
          <a:ln/>
        </p:spPr>
        <p:txBody>
          <a:bodyPr wrap="square" lIns="0" tIns="0" rIns="0" bIns="0" rtlCol="0" anchor="t"/>
          <a:lstStyle/>
          <a:p>
            <a:pPr indent="0" marL="0">
              <a:lnSpc>
                <a:spcPts val="3800"/>
              </a:lnSpc>
              <a:buNone/>
            </a:pPr>
            <a:r>
              <a:rPr lang="en-US" sz="3100" b="1" dirty="0">
                <a:solidFill>
                  <a:srgbClr val="0F2B3D"/>
                </a:solidFill>
                <a:latin typeface="Cambria" pitchFamily="34" charset="0"/>
                <a:ea typeface="Cambria" pitchFamily="34" charset="-122"/>
                <a:cs typeface="Cambria" pitchFamily="34" charset="-120"/>
              </a:rPr>
              <a:t>What it actually was</a:t>
            </a:r>
            <a:endParaRPr lang="en-US" sz="3100" dirty="0"/>
          </a:p>
        </p:txBody>
      </p:sp>
      <p:sp>
        <p:nvSpPr>
          <p:cNvPr id="4" name="Shape 2"/>
          <p:cNvSpPr/>
          <p:nvPr/>
        </p:nvSpPr>
        <p:spPr>
          <a:xfrm>
            <a:off x="566928" y="1371600"/>
            <a:ext cx="11027664" cy="896112"/>
          </a:xfrm>
          <a:prstGeom prst="roundRect">
            <a:avLst>
              <a:gd name="adj" fmla="val 6122"/>
            </a:avLst>
          </a:prstGeom>
          <a:solidFill>
            <a:srgbClr val="FEE2E2"/>
          </a:solidFill>
          <a:ln w="12700">
            <a:solidFill>
              <a:srgbClr val="E2E8F0"/>
            </a:solidFill>
            <a:prstDash val="solid"/>
          </a:ln>
        </p:spPr>
      </p:sp>
      <p:sp>
        <p:nvSpPr>
          <p:cNvPr id="5" name="Text 3"/>
          <p:cNvSpPr txBox="1"/>
          <p:nvPr/>
        </p:nvSpPr>
        <p:spPr>
          <a:xfrm>
            <a:off x="932688" y="1371600"/>
            <a:ext cx="10332720" cy="896112"/>
          </a:xfrm>
          <a:prstGeom prst="rect">
            <a:avLst/>
          </a:prstGeom>
          <a:noFill/>
          <a:ln/>
        </p:spPr>
        <p:txBody>
          <a:bodyPr wrap="square" lIns="0" tIns="0" rIns="0" bIns="0" rtlCol="0" anchor="ctr"/>
          <a:lstStyle/>
          <a:p>
            <a:pPr indent="0" marL="0">
              <a:lnSpc>
                <a:spcPts val="2200"/>
              </a:lnSpc>
              <a:buNone/>
            </a:pPr>
            <a:r>
              <a:rPr lang="en-US" sz="1600" dirty="0">
                <a:solidFill>
                  <a:srgbClr val="7F1D1D"/>
                </a:solidFill>
                <a:latin typeface="Calibri" pitchFamily="34" charset="0"/>
                <a:ea typeface="Calibri" pitchFamily="34" charset="-122"/>
                <a:cs typeface="Calibri" pitchFamily="34" charset="-120"/>
              </a:rPr>
              <a:t>Reported as </a:t>
            </a:r>
            <a:pPr indent="0" marL="0">
              <a:lnSpc>
                <a:spcPts val="2200"/>
              </a:lnSpc>
              <a:buNone/>
            </a:pPr>
            <a:r>
              <a:rPr lang="en-US" sz="1600" i="1" dirty="0">
                <a:solidFill>
                  <a:srgbClr val="7F1D1D"/>
                </a:solidFill>
                <a:latin typeface="Calibri" pitchFamily="34" charset="0"/>
                <a:ea typeface="Calibri" pitchFamily="34" charset="-122"/>
                <a:cs typeface="Calibri" pitchFamily="34" charset="-120"/>
              </a:rPr>
              <a:t>“dizziness”</a:t>
            </a:r>
            <a:pPr indent="0" marL="0">
              <a:lnSpc>
                <a:spcPts val="2200"/>
              </a:lnSpc>
              <a:buNone/>
            </a:pPr>
            <a:r>
              <a:rPr lang="en-US" sz="1600" b="1" dirty="0">
                <a:solidFill>
                  <a:srgbClr val="B91C1C"/>
                </a:solidFill>
                <a:latin typeface="Calibri" pitchFamily="34" charset="0"/>
                <a:ea typeface="Calibri" pitchFamily="34" charset="-122"/>
                <a:cs typeface="Calibri" pitchFamily="34" charset="-120"/>
              </a:rPr>
              <a:t>   →   </a:t>
            </a:r>
            <a:pPr indent="0" marL="0">
              <a:lnSpc>
                <a:spcPts val="2200"/>
              </a:lnSpc>
              <a:buNone/>
            </a:pPr>
            <a:r>
              <a:rPr lang="en-US" sz="1600" b="1" dirty="0">
                <a:solidFill>
                  <a:srgbClr val="B91C1C"/>
                </a:solidFill>
                <a:latin typeface="Calibri" pitchFamily="34" charset="0"/>
                <a:ea typeface="Calibri" pitchFamily="34" charset="-122"/>
                <a:cs typeface="Calibri" pitchFamily="34" charset="-120"/>
              </a:rPr>
              <a:t>Hypoglycaemia (capillary glucose 52 mg/dL during a symptomatic episode)</a:t>
            </a:r>
            <a:endParaRPr lang="en-US" sz="1600" dirty="0"/>
          </a:p>
        </p:txBody>
      </p:sp>
      <p:sp>
        <p:nvSpPr>
          <p:cNvPr id="6" name="Text 4"/>
          <p:cNvSpPr txBox="1"/>
          <p:nvPr/>
        </p:nvSpPr>
        <p:spPr>
          <a:xfrm>
            <a:off x="566928" y="2505456"/>
            <a:ext cx="2011680" cy="256032"/>
          </a:xfrm>
          <a:prstGeom prst="rect">
            <a:avLst/>
          </a:prstGeom>
          <a:noFill/>
          <a:ln/>
        </p:spPr>
        <p:txBody>
          <a:bodyPr wrap="square" lIns="0" tIns="0" rIns="0" bIns="0" rtlCol="0" anchor="t"/>
          <a:lstStyle/>
          <a:p>
            <a:pPr indent="0" marL="0">
              <a:buNone/>
            </a:pPr>
            <a:r>
              <a:rPr lang="en-US" sz="1050" b="1" spc="150" kern="0" dirty="0">
                <a:solidFill>
                  <a:srgbClr val="0E7490"/>
                </a:solidFill>
                <a:latin typeface="Calibri" pitchFamily="34" charset="0"/>
                <a:ea typeface="Calibri" pitchFamily="34" charset="-122"/>
                <a:cs typeface="Calibri" pitchFamily="34" charset="-120"/>
              </a:rPr>
              <a:t>SUSPECT DRUG</a:t>
            </a:r>
            <a:endParaRPr lang="en-US" sz="1050" dirty="0"/>
          </a:p>
        </p:txBody>
      </p:sp>
      <p:sp>
        <p:nvSpPr>
          <p:cNvPr id="7" name="Text 5"/>
          <p:cNvSpPr txBox="1"/>
          <p:nvPr/>
        </p:nvSpPr>
        <p:spPr>
          <a:xfrm>
            <a:off x="2670048" y="2487168"/>
            <a:ext cx="8924544" cy="457200"/>
          </a:xfrm>
          <a:prstGeom prst="rect">
            <a:avLst/>
          </a:prstGeom>
          <a:noFill/>
          <a:ln/>
        </p:spPr>
        <p:txBody>
          <a:bodyPr wrap="square" lIns="0" tIns="0" rIns="0" bIns="0" rtlCol="0" anchor="t"/>
          <a:lstStyle/>
          <a:p>
            <a:pPr indent="0" marL="0">
              <a:lnSpc>
                <a:spcPts val="1700"/>
              </a:lnSpc>
              <a:buNone/>
            </a:pPr>
            <a:r>
              <a:rPr lang="en-US" sz="1250" dirty="0">
                <a:solidFill>
                  <a:srgbClr val="1E293B"/>
                </a:solidFill>
                <a:latin typeface="Calibri" pitchFamily="34" charset="0"/>
                <a:ea typeface="Calibri" pitchFamily="34" charset="-122"/>
                <a:cs typeface="Calibri" pitchFamily="34" charset="-120"/>
              </a:rPr>
              <a:t>Glimepiride 2 mg once daily, started 24 August 2026</a:t>
            </a:r>
            <a:endParaRPr lang="en-US" sz="1250" dirty="0"/>
          </a:p>
        </p:txBody>
      </p:sp>
      <p:sp>
        <p:nvSpPr>
          <p:cNvPr id="8" name="Text 6"/>
          <p:cNvSpPr txBox="1"/>
          <p:nvPr/>
        </p:nvSpPr>
        <p:spPr>
          <a:xfrm>
            <a:off x="566928" y="3163824"/>
            <a:ext cx="2011680" cy="256032"/>
          </a:xfrm>
          <a:prstGeom prst="rect">
            <a:avLst/>
          </a:prstGeom>
          <a:noFill/>
          <a:ln/>
        </p:spPr>
        <p:txBody>
          <a:bodyPr wrap="square" lIns="0" tIns="0" rIns="0" bIns="0" rtlCol="0" anchor="t"/>
          <a:lstStyle/>
          <a:p>
            <a:pPr indent="0" marL="0">
              <a:buNone/>
            </a:pPr>
            <a:r>
              <a:rPr lang="en-US" sz="1050" b="1" spc="150" kern="0" dirty="0">
                <a:solidFill>
                  <a:srgbClr val="0E7490"/>
                </a:solidFill>
                <a:latin typeface="Calibri" pitchFamily="34" charset="0"/>
                <a:ea typeface="Calibri" pitchFamily="34" charset="-122"/>
                <a:cs typeface="Calibri" pitchFamily="34" charset="-120"/>
              </a:rPr>
              <a:t>CODED TERM</a:t>
            </a:r>
            <a:endParaRPr lang="en-US" sz="1050" dirty="0"/>
          </a:p>
        </p:txBody>
      </p:sp>
      <p:sp>
        <p:nvSpPr>
          <p:cNvPr id="9" name="Text 7"/>
          <p:cNvSpPr txBox="1"/>
          <p:nvPr/>
        </p:nvSpPr>
        <p:spPr>
          <a:xfrm>
            <a:off x="2670048" y="3145536"/>
            <a:ext cx="8924544" cy="457200"/>
          </a:xfrm>
          <a:prstGeom prst="rect">
            <a:avLst/>
          </a:prstGeom>
          <a:noFill/>
          <a:ln/>
        </p:spPr>
        <p:txBody>
          <a:bodyPr wrap="square" lIns="0" tIns="0" rIns="0" bIns="0" rtlCol="0" anchor="t"/>
          <a:lstStyle/>
          <a:p>
            <a:pPr indent="0" marL="0">
              <a:lnSpc>
                <a:spcPts val="1700"/>
              </a:lnSpc>
              <a:buNone/>
            </a:pPr>
            <a:r>
              <a:rPr lang="en-US" sz="1250" dirty="0">
                <a:solidFill>
                  <a:srgbClr val="1E293B"/>
                </a:solidFill>
                <a:latin typeface="Calibri" pitchFamily="34" charset="0"/>
                <a:ea typeface="Calibri" pitchFamily="34" charset="-122"/>
                <a:cs typeface="Calibri" pitchFamily="34" charset="-120"/>
              </a:rPr>
              <a:t>Hypoglycaemia — Metabolism and nutrition disorders</a:t>
            </a:r>
            <a:endParaRPr lang="en-US" sz="1250" dirty="0"/>
          </a:p>
        </p:txBody>
      </p:sp>
      <p:sp>
        <p:nvSpPr>
          <p:cNvPr id="10" name="Text 8"/>
          <p:cNvSpPr txBox="1"/>
          <p:nvPr/>
        </p:nvSpPr>
        <p:spPr>
          <a:xfrm>
            <a:off x="566928" y="3822192"/>
            <a:ext cx="2011680" cy="256032"/>
          </a:xfrm>
          <a:prstGeom prst="rect">
            <a:avLst/>
          </a:prstGeom>
          <a:noFill/>
          <a:ln/>
        </p:spPr>
        <p:txBody>
          <a:bodyPr wrap="square" lIns="0" tIns="0" rIns="0" bIns="0" rtlCol="0" anchor="t"/>
          <a:lstStyle/>
          <a:p>
            <a:pPr indent="0" marL="0">
              <a:buNone/>
            </a:pPr>
            <a:r>
              <a:rPr lang="en-US" sz="1050" b="1" spc="150" kern="0" dirty="0">
                <a:solidFill>
                  <a:srgbClr val="0E7490"/>
                </a:solidFill>
                <a:latin typeface="Calibri" pitchFamily="34" charset="0"/>
                <a:ea typeface="Calibri" pitchFamily="34" charset="-122"/>
                <a:cs typeface="Calibri" pitchFamily="34" charset="-120"/>
              </a:rPr>
              <a:t>SERIOUS?</a:t>
            </a:r>
            <a:endParaRPr lang="en-US" sz="1050" dirty="0"/>
          </a:p>
        </p:txBody>
      </p:sp>
      <p:sp>
        <p:nvSpPr>
          <p:cNvPr id="11" name="Text 9"/>
          <p:cNvSpPr txBox="1"/>
          <p:nvPr/>
        </p:nvSpPr>
        <p:spPr>
          <a:xfrm>
            <a:off x="2670048" y="3803904"/>
            <a:ext cx="8924544" cy="713232"/>
          </a:xfrm>
          <a:prstGeom prst="rect">
            <a:avLst/>
          </a:prstGeom>
          <a:noFill/>
          <a:ln/>
        </p:spPr>
        <p:txBody>
          <a:bodyPr wrap="square" lIns="0" tIns="0" rIns="0" bIns="0" rtlCol="0" anchor="t"/>
          <a:lstStyle/>
          <a:p>
            <a:pPr indent="0" marL="0">
              <a:lnSpc>
                <a:spcPts val="1700"/>
              </a:lnSpc>
              <a:buNone/>
            </a:pPr>
            <a:r>
              <a:rPr lang="en-US" sz="1250" b="1" dirty="0">
                <a:solidFill>
                  <a:srgbClr val="B91C1C"/>
                </a:solidFill>
                <a:latin typeface="Calibri" pitchFamily="34" charset="0"/>
                <a:ea typeface="Calibri" pitchFamily="34" charset="-122"/>
                <a:cs typeface="Calibri" pitchFamily="34" charset="-120"/>
              </a:rPr>
              <a:t>YES — other medically important condition: recurrent symptomatic hypoglycaemia, with episodes severe enough to put a 67-year-old on the floor, and falling renal function</a:t>
            </a:r>
            <a:endParaRPr lang="en-US" sz="1250" dirty="0"/>
          </a:p>
        </p:txBody>
      </p:sp>
      <p:sp>
        <p:nvSpPr>
          <p:cNvPr id="12" name="Text 10"/>
          <p:cNvSpPr txBox="1"/>
          <p:nvPr/>
        </p:nvSpPr>
        <p:spPr>
          <a:xfrm>
            <a:off x="566928" y="4736592"/>
            <a:ext cx="2011680" cy="256032"/>
          </a:xfrm>
          <a:prstGeom prst="rect">
            <a:avLst/>
          </a:prstGeom>
          <a:noFill/>
          <a:ln/>
        </p:spPr>
        <p:txBody>
          <a:bodyPr wrap="square" lIns="0" tIns="0" rIns="0" bIns="0" rtlCol="0" anchor="t"/>
          <a:lstStyle/>
          <a:p>
            <a:pPr indent="0" marL="0">
              <a:buNone/>
            </a:pPr>
            <a:r>
              <a:rPr lang="en-US" sz="1050" b="1" spc="150" kern="0" dirty="0">
                <a:solidFill>
                  <a:srgbClr val="0E7490"/>
                </a:solidFill>
                <a:latin typeface="Calibri" pitchFamily="34" charset="0"/>
                <a:ea typeface="Calibri" pitchFamily="34" charset="-122"/>
                <a:cs typeface="Calibri" pitchFamily="34" charset="-120"/>
              </a:rPr>
              <a:t>CAUSALITY</a:t>
            </a:r>
            <a:endParaRPr lang="en-US" sz="1050" dirty="0"/>
          </a:p>
        </p:txBody>
      </p:sp>
      <p:sp>
        <p:nvSpPr>
          <p:cNvPr id="13" name="Text 11"/>
          <p:cNvSpPr txBox="1"/>
          <p:nvPr/>
        </p:nvSpPr>
        <p:spPr>
          <a:xfrm>
            <a:off x="2670048" y="4718304"/>
            <a:ext cx="8924544" cy="1024128"/>
          </a:xfrm>
          <a:prstGeom prst="rect">
            <a:avLst/>
          </a:prstGeom>
          <a:noFill/>
          <a:ln/>
        </p:spPr>
        <p:txBody>
          <a:bodyPr wrap="square" lIns="0" tIns="0" rIns="0" bIns="0" rtlCol="0" anchor="t"/>
          <a:lstStyle/>
          <a:p>
            <a:pPr indent="0" marL="0">
              <a:lnSpc>
                <a:spcPts val="1700"/>
              </a:lnSpc>
              <a:buNone/>
            </a:pPr>
            <a:r>
              <a:rPr lang="en-US" sz="1250" b="1" dirty="0">
                <a:solidFill>
                  <a:srgbClr val="B45309"/>
                </a:solidFill>
                <a:latin typeface="Calibri" pitchFamily="34" charset="0"/>
                <a:ea typeface="Calibri" pitchFamily="34" charset="-122"/>
                <a:cs typeface="Calibri" pitchFamily="34" charset="-120"/>
              </a:rPr>
              <a:t>Probable (WHO-UMC). Reasonable time relationship, a well-recognised reaction to the drug class, made more likely by declining renal function and reduced food intake, with no postural drop to support the main alternative. No dechallenge at the time of the report, which is what keeps it from "Certain".</a:t>
            </a:r>
            <a:endParaRPr lang="en-US" sz="1250" dirty="0"/>
          </a:p>
        </p:txBody>
      </p:sp>
      <p:sp>
        <p:nvSpPr>
          <p:cNvPr id="14" name="Shape 12"/>
          <p:cNvSpPr/>
          <p:nvPr/>
        </p:nvSpPr>
        <p:spPr>
          <a:xfrm>
            <a:off x="566928" y="5943600"/>
            <a:ext cx="11027664" cy="603504"/>
          </a:xfrm>
          <a:prstGeom prst="roundRect">
            <a:avLst>
              <a:gd name="adj" fmla="val 9091"/>
            </a:avLst>
          </a:prstGeom>
          <a:solidFill>
            <a:srgbClr val="ECFEFF"/>
          </a:solidFill>
          <a:ln w="12700">
            <a:solidFill>
              <a:srgbClr val="E2E8F0"/>
            </a:solidFill>
            <a:prstDash val="solid"/>
          </a:ln>
        </p:spPr>
      </p:sp>
      <p:sp>
        <p:nvSpPr>
          <p:cNvPr id="15" name="Text 13"/>
          <p:cNvSpPr txBox="1"/>
          <p:nvPr/>
        </p:nvSpPr>
        <p:spPr>
          <a:xfrm>
            <a:off x="932688" y="5943600"/>
            <a:ext cx="10332720" cy="603504"/>
          </a:xfrm>
          <a:prstGeom prst="rect">
            <a:avLst/>
          </a:prstGeom>
          <a:noFill/>
          <a:ln/>
        </p:spPr>
        <p:txBody>
          <a:bodyPr wrap="square" lIns="0" tIns="0" rIns="0" bIns="0" rtlCol="0" anchor="ctr"/>
          <a:lstStyle/>
          <a:p>
            <a:pPr indent="0" marL="0">
              <a:buNone/>
            </a:pPr>
            <a:r>
              <a:rPr lang="en-US" sz="1250" b="1" dirty="0">
                <a:solidFill>
                  <a:srgbClr val="0C4A6E"/>
                </a:solidFill>
                <a:latin typeface="Calibri" pitchFamily="34" charset="0"/>
                <a:ea typeface="Calibri" pitchFamily="34" charset="-122"/>
                <a:cs typeface="Calibri" pitchFamily="34" charset="-120"/>
              </a:rPr>
              <a:t>Probable, not Certain — the drug had not yet been stopped when the case was reported. No dechallenge, no upgrade.</a:t>
            </a:r>
            <a:endParaRPr lang="en-US" sz="125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84048"/>
            <a:ext cx="10058400" cy="256032"/>
          </a:xfrm>
          <a:prstGeom prst="rect">
            <a:avLst/>
          </a:prstGeom>
          <a:noFill/>
          <a:ln/>
        </p:spPr>
        <p:txBody>
          <a:bodyPr wrap="square" lIns="0" tIns="0" rIns="0" bIns="0" rtlCol="0" anchor="ctr"/>
          <a:lstStyle/>
          <a:p>
            <a:pPr indent="0" marL="0">
              <a:buNone/>
            </a:pPr>
            <a:r>
              <a:rPr lang="en-US" sz="1100" b="1" spc="250" kern="0" dirty="0">
                <a:solidFill>
                  <a:srgbClr val="0E7490"/>
                </a:solidFill>
                <a:latin typeface="Calibri" pitchFamily="34" charset="0"/>
                <a:ea typeface="Calibri" pitchFamily="34" charset="-122"/>
                <a:cs typeface="Calibri" pitchFamily="34" charset="-120"/>
              </a:rPr>
              <a:t>Final case · contributing factors</a:t>
            </a:r>
            <a:endParaRPr lang="en-US" sz="1100" dirty="0"/>
          </a:p>
        </p:txBody>
      </p:sp>
      <p:sp>
        <p:nvSpPr>
          <p:cNvPr id="3" name="Text 1"/>
          <p:cNvSpPr txBox="1"/>
          <p:nvPr/>
        </p:nvSpPr>
        <p:spPr>
          <a:xfrm>
            <a:off x="566928" y="640080"/>
            <a:ext cx="11064240" cy="548640"/>
          </a:xfrm>
          <a:prstGeom prst="rect">
            <a:avLst/>
          </a:prstGeom>
          <a:noFill/>
          <a:ln/>
        </p:spPr>
        <p:txBody>
          <a:bodyPr wrap="square" lIns="0" tIns="0" rIns="0" bIns="0" rtlCol="0" anchor="t"/>
          <a:lstStyle/>
          <a:p>
            <a:pPr indent="0" marL="0">
              <a:lnSpc>
                <a:spcPts val="3800"/>
              </a:lnSpc>
              <a:buNone/>
            </a:pPr>
            <a:r>
              <a:rPr lang="en-US" sz="3100" b="1" dirty="0">
                <a:solidFill>
                  <a:srgbClr val="0F2B3D"/>
                </a:solidFill>
                <a:latin typeface="Cambria" pitchFamily="34" charset="0"/>
                <a:ea typeface="Cambria" pitchFamily="34" charset="-122"/>
                <a:cs typeface="Cambria" pitchFamily="34" charset="-120"/>
              </a:rPr>
              <a:t>Five things made it happen, not one</a:t>
            </a:r>
            <a:endParaRPr lang="en-US" sz="3100" dirty="0"/>
          </a:p>
        </p:txBody>
      </p:sp>
      <p:sp>
        <p:nvSpPr>
          <p:cNvPr id="4" name="Shape 2"/>
          <p:cNvSpPr/>
          <p:nvPr/>
        </p:nvSpPr>
        <p:spPr>
          <a:xfrm>
            <a:off x="566928" y="1426464"/>
            <a:ext cx="402336" cy="402336"/>
          </a:xfrm>
          <a:prstGeom prst="ellipse">
            <a:avLst/>
          </a:prstGeom>
          <a:solidFill>
            <a:srgbClr val="B45309"/>
          </a:solidFill>
          <a:ln/>
        </p:spPr>
      </p:sp>
      <p:sp>
        <p:nvSpPr>
          <p:cNvPr id="5" name="Text 3"/>
          <p:cNvSpPr txBox="1"/>
          <p:nvPr/>
        </p:nvSpPr>
        <p:spPr>
          <a:xfrm>
            <a:off x="566928" y="1426464"/>
            <a:ext cx="402336" cy="40233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6" name="Text 4"/>
          <p:cNvSpPr txBox="1"/>
          <p:nvPr/>
        </p:nvSpPr>
        <p:spPr>
          <a:xfrm>
            <a:off x="1133856" y="1453896"/>
            <a:ext cx="10424160" cy="475488"/>
          </a:xfrm>
          <a:prstGeom prst="rect">
            <a:avLst/>
          </a:prstGeom>
          <a:noFill/>
          <a:ln/>
        </p:spPr>
        <p:txBody>
          <a:bodyPr wrap="square" lIns="0" tIns="0" rIns="0" bIns="0" rtlCol="0" anchor="t"/>
          <a:lstStyle/>
          <a:p>
            <a:pPr indent="0" marL="0">
              <a:lnSpc>
                <a:spcPts val="1900"/>
              </a:lnSpc>
              <a:buNone/>
            </a:pPr>
            <a:r>
              <a:rPr lang="en-US" sz="1350" dirty="0">
                <a:solidFill>
                  <a:srgbClr val="1E293B"/>
                </a:solidFill>
                <a:latin typeface="Calibri" pitchFamily="34" charset="0"/>
                <a:ea typeface="Calibri" pitchFamily="34" charset="-122"/>
                <a:cs typeface="Calibri" pitchFamily="34" charset="-120"/>
              </a:rPr>
              <a:t>Falling eGFR (52 to 38) — the glimepiride is accumulating</a:t>
            </a:r>
            <a:endParaRPr lang="en-US" sz="1350" dirty="0"/>
          </a:p>
        </p:txBody>
      </p:sp>
      <p:sp>
        <p:nvSpPr>
          <p:cNvPr id="7" name="Shape 5"/>
          <p:cNvSpPr/>
          <p:nvPr/>
        </p:nvSpPr>
        <p:spPr>
          <a:xfrm>
            <a:off x="566928" y="2066544"/>
            <a:ext cx="402336" cy="402336"/>
          </a:xfrm>
          <a:prstGeom prst="ellipse">
            <a:avLst/>
          </a:prstGeom>
          <a:solidFill>
            <a:srgbClr val="B45309"/>
          </a:solidFill>
          <a:ln/>
        </p:spPr>
      </p:sp>
      <p:sp>
        <p:nvSpPr>
          <p:cNvPr id="8" name="Text 6"/>
          <p:cNvSpPr txBox="1"/>
          <p:nvPr/>
        </p:nvSpPr>
        <p:spPr>
          <a:xfrm>
            <a:off x="566928" y="2066544"/>
            <a:ext cx="402336" cy="40233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9" name="Text 7"/>
          <p:cNvSpPr txBox="1"/>
          <p:nvPr/>
        </p:nvSpPr>
        <p:spPr>
          <a:xfrm>
            <a:off x="1133856" y="2093976"/>
            <a:ext cx="10424160" cy="475488"/>
          </a:xfrm>
          <a:prstGeom prst="rect">
            <a:avLst/>
          </a:prstGeom>
          <a:noFill/>
          <a:ln/>
        </p:spPr>
        <p:txBody>
          <a:bodyPr wrap="square" lIns="0" tIns="0" rIns="0" bIns="0" rtlCol="0" anchor="t"/>
          <a:lstStyle/>
          <a:p>
            <a:pPr indent="0" marL="0">
              <a:lnSpc>
                <a:spcPts val="1900"/>
              </a:lnSpc>
              <a:buNone/>
            </a:pPr>
            <a:r>
              <a:rPr lang="en-US" sz="1350" dirty="0">
                <a:solidFill>
                  <a:srgbClr val="1E293B"/>
                </a:solidFill>
                <a:latin typeface="Calibri" pitchFamily="34" charset="0"/>
                <a:ea typeface="Calibri" pitchFamily="34" charset="-122"/>
                <a:cs typeface="Calibri" pitchFamily="34" charset="-120"/>
              </a:rPr>
              <a:t>Reduced food intake, self-initiated, while on an insulin secretagogue</a:t>
            </a:r>
            <a:endParaRPr lang="en-US" sz="1350" dirty="0"/>
          </a:p>
        </p:txBody>
      </p:sp>
      <p:sp>
        <p:nvSpPr>
          <p:cNvPr id="10" name="Shape 8"/>
          <p:cNvSpPr/>
          <p:nvPr/>
        </p:nvSpPr>
        <p:spPr>
          <a:xfrm>
            <a:off x="566928" y="2706624"/>
            <a:ext cx="402336" cy="402336"/>
          </a:xfrm>
          <a:prstGeom prst="ellipse">
            <a:avLst/>
          </a:prstGeom>
          <a:solidFill>
            <a:srgbClr val="B45309"/>
          </a:solidFill>
          <a:ln/>
        </p:spPr>
      </p:sp>
      <p:sp>
        <p:nvSpPr>
          <p:cNvPr id="11" name="Text 9"/>
          <p:cNvSpPr txBox="1"/>
          <p:nvPr/>
        </p:nvSpPr>
        <p:spPr>
          <a:xfrm>
            <a:off x="566928" y="2706624"/>
            <a:ext cx="402336" cy="40233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2" name="Text 10"/>
          <p:cNvSpPr txBox="1"/>
          <p:nvPr/>
        </p:nvSpPr>
        <p:spPr>
          <a:xfrm>
            <a:off x="1133856" y="2734056"/>
            <a:ext cx="10424160" cy="475488"/>
          </a:xfrm>
          <a:prstGeom prst="rect">
            <a:avLst/>
          </a:prstGeom>
          <a:noFill/>
          <a:ln/>
        </p:spPr>
        <p:txBody>
          <a:bodyPr wrap="square" lIns="0" tIns="0" rIns="0" bIns="0" rtlCol="0" anchor="t"/>
          <a:lstStyle/>
          <a:p>
            <a:pPr indent="0" marL="0">
              <a:lnSpc>
                <a:spcPts val="1900"/>
              </a:lnSpc>
              <a:buNone/>
            </a:pPr>
            <a:r>
              <a:rPr lang="en-US" sz="1350" dirty="0">
                <a:solidFill>
                  <a:srgbClr val="1E293B"/>
                </a:solidFill>
                <a:latin typeface="Calibri" pitchFamily="34" charset="0"/>
                <a:ea typeface="Calibri" pitchFamily="34" charset="-122"/>
                <a:cs typeface="Calibri" pitchFamily="34" charset="-120"/>
              </a:rPr>
              <a:t>Morning dose taken before eating</a:t>
            </a:r>
            <a:endParaRPr lang="en-US" sz="1350" dirty="0"/>
          </a:p>
        </p:txBody>
      </p:sp>
      <p:sp>
        <p:nvSpPr>
          <p:cNvPr id="13" name="Shape 11"/>
          <p:cNvSpPr/>
          <p:nvPr/>
        </p:nvSpPr>
        <p:spPr>
          <a:xfrm>
            <a:off x="566928" y="3346704"/>
            <a:ext cx="402336" cy="402336"/>
          </a:xfrm>
          <a:prstGeom prst="ellipse">
            <a:avLst/>
          </a:prstGeom>
          <a:solidFill>
            <a:srgbClr val="B45309"/>
          </a:solidFill>
          <a:ln/>
        </p:spPr>
      </p:sp>
      <p:sp>
        <p:nvSpPr>
          <p:cNvPr id="14" name="Text 12"/>
          <p:cNvSpPr txBox="1"/>
          <p:nvPr/>
        </p:nvSpPr>
        <p:spPr>
          <a:xfrm>
            <a:off x="566928" y="3346704"/>
            <a:ext cx="402336" cy="40233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15" name="Text 13"/>
          <p:cNvSpPr txBox="1"/>
          <p:nvPr/>
        </p:nvSpPr>
        <p:spPr>
          <a:xfrm>
            <a:off x="1133856" y="3374136"/>
            <a:ext cx="10424160" cy="475488"/>
          </a:xfrm>
          <a:prstGeom prst="rect">
            <a:avLst/>
          </a:prstGeom>
          <a:noFill/>
          <a:ln/>
        </p:spPr>
        <p:txBody>
          <a:bodyPr wrap="square" lIns="0" tIns="0" rIns="0" bIns="0" rtlCol="0" anchor="t"/>
          <a:lstStyle/>
          <a:p>
            <a:pPr indent="0" marL="0">
              <a:lnSpc>
                <a:spcPts val="1900"/>
              </a:lnSpc>
              <a:buNone/>
            </a:pPr>
            <a:r>
              <a:rPr lang="en-US" sz="1350" dirty="0">
                <a:solidFill>
                  <a:srgbClr val="1E293B"/>
                </a:solidFill>
                <a:latin typeface="Calibri" pitchFamily="34" charset="0"/>
                <a:ea typeface="Calibri" pitchFamily="34" charset="-122"/>
                <a:cs typeface="Calibri" pitchFamily="34" charset="-120"/>
              </a:rPr>
              <a:t>Enalapril, which potentiates the hypoglycaemic effect</a:t>
            </a:r>
            <a:endParaRPr lang="en-US" sz="1350" dirty="0"/>
          </a:p>
        </p:txBody>
      </p:sp>
      <p:sp>
        <p:nvSpPr>
          <p:cNvPr id="16" name="Shape 14"/>
          <p:cNvSpPr/>
          <p:nvPr/>
        </p:nvSpPr>
        <p:spPr>
          <a:xfrm>
            <a:off x="566928" y="3986784"/>
            <a:ext cx="402336" cy="402336"/>
          </a:xfrm>
          <a:prstGeom prst="ellipse">
            <a:avLst/>
          </a:prstGeom>
          <a:solidFill>
            <a:srgbClr val="B45309"/>
          </a:solidFill>
          <a:ln/>
        </p:spPr>
      </p:sp>
      <p:sp>
        <p:nvSpPr>
          <p:cNvPr id="17" name="Text 15"/>
          <p:cNvSpPr txBox="1"/>
          <p:nvPr/>
        </p:nvSpPr>
        <p:spPr>
          <a:xfrm>
            <a:off x="566928" y="3986784"/>
            <a:ext cx="402336" cy="40233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18" name="Text 16"/>
          <p:cNvSpPr txBox="1"/>
          <p:nvPr/>
        </p:nvSpPr>
        <p:spPr>
          <a:xfrm>
            <a:off x="1133856" y="4014216"/>
            <a:ext cx="10424160" cy="475488"/>
          </a:xfrm>
          <a:prstGeom prst="rect">
            <a:avLst/>
          </a:prstGeom>
          <a:noFill/>
          <a:ln/>
        </p:spPr>
        <p:txBody>
          <a:bodyPr wrap="square" lIns="0" tIns="0" rIns="0" bIns="0" rtlCol="0" anchor="t"/>
          <a:lstStyle/>
          <a:p>
            <a:pPr indent="0" marL="0">
              <a:lnSpc>
                <a:spcPts val="1900"/>
              </a:lnSpc>
              <a:buNone/>
            </a:pPr>
            <a:r>
              <a:rPr lang="en-US" sz="1350" dirty="0">
                <a:solidFill>
                  <a:srgbClr val="1E293B"/>
                </a:solidFill>
                <a:latin typeface="Calibri" pitchFamily="34" charset="0"/>
                <a:ea typeface="Calibri" pitchFamily="34" charset="-122"/>
                <a:cs typeface="Calibri" pitchFamily="34" charset="-120"/>
              </a:rPr>
              <a:t>Over-the-counter ibuprofen, which with the enalapril is very likely contributing to the renal decline that caused the accumulation</a:t>
            </a:r>
            <a:endParaRPr lang="en-US" sz="1350" dirty="0"/>
          </a:p>
        </p:txBody>
      </p:sp>
      <p:sp>
        <p:nvSpPr>
          <p:cNvPr id="19" name="Text 17"/>
          <p:cNvSpPr txBox="1"/>
          <p:nvPr/>
        </p:nvSpPr>
        <p:spPr>
          <a:xfrm>
            <a:off x="566928" y="4700016"/>
            <a:ext cx="11027664" cy="310896"/>
          </a:xfrm>
          <a:prstGeom prst="rect">
            <a:avLst/>
          </a:prstGeom>
          <a:noFill/>
          <a:ln/>
        </p:spPr>
        <p:txBody>
          <a:bodyPr wrap="square" lIns="0" tIns="0" rIns="0" bIns="0" rtlCol="0" anchor="t"/>
          <a:lstStyle/>
          <a:p>
            <a:pPr indent="0" marL="0">
              <a:buNone/>
            </a:pPr>
            <a:r>
              <a:rPr lang="en-US" sz="1600" b="1" dirty="0">
                <a:solidFill>
                  <a:srgbClr val="C40D16"/>
                </a:solidFill>
                <a:latin typeface="Cambria" pitchFamily="34" charset="0"/>
                <a:ea typeface="Cambria" pitchFamily="34" charset="-122"/>
                <a:cs typeface="Cambria" pitchFamily="34" charset="-120"/>
              </a:rPr>
              <a:t>And three things nobody had noticed at all</a:t>
            </a:r>
            <a:endParaRPr lang="en-US" sz="1600" dirty="0"/>
          </a:p>
        </p:txBody>
      </p:sp>
      <p:sp>
        <p:nvSpPr>
          <p:cNvPr id="20" name="Shape 18"/>
          <p:cNvSpPr/>
          <p:nvPr/>
        </p:nvSpPr>
        <p:spPr>
          <a:xfrm>
            <a:off x="566928" y="5074920"/>
            <a:ext cx="11027664" cy="1280160"/>
          </a:xfrm>
          <a:prstGeom prst="roundRect">
            <a:avLst>
              <a:gd name="adj" fmla="val 4286"/>
            </a:avLst>
          </a:prstGeom>
          <a:solidFill>
            <a:srgbClr val="FEE2E2"/>
          </a:solidFill>
          <a:ln w="12700">
            <a:solidFill>
              <a:srgbClr val="E2E8F0"/>
            </a:solidFill>
            <a:prstDash val="solid"/>
          </a:ln>
        </p:spPr>
      </p:sp>
      <p:sp>
        <p:nvSpPr>
          <p:cNvPr id="21" name="Text 19"/>
          <p:cNvSpPr txBox="1"/>
          <p:nvPr/>
        </p:nvSpPr>
        <p:spPr>
          <a:xfrm>
            <a:off x="932688" y="5257800"/>
            <a:ext cx="10332720" cy="1005840"/>
          </a:xfrm>
          <a:prstGeom prst="rect">
            <a:avLst/>
          </a:prstGeom>
          <a:noFill/>
          <a:ln/>
        </p:spPr>
        <p:txBody>
          <a:bodyPr wrap="square" lIns="0" tIns="0" rIns="0" bIns="0" rtlCol="0" anchor="t"/>
          <a:lstStyle/>
          <a:p>
            <a:pPr marL="342900" indent="-342900">
              <a:lnSpc>
                <a:spcPts val="1600"/>
              </a:lnSpc>
              <a:spcAft>
                <a:spcPts val="600"/>
              </a:spcAft>
              <a:buSzPct val="100000"/>
              <a:buChar char="•"/>
            </a:pPr>
            <a:r>
              <a:rPr lang="en-US" sz="1120" dirty="0">
                <a:solidFill>
                  <a:srgbClr val="1E293B"/>
                </a:solidFill>
                <a:latin typeface="Calibri" pitchFamily="34" charset="0"/>
                <a:ea typeface="Calibri" pitchFamily="34" charset="-122"/>
                <a:cs typeface="Calibri" pitchFamily="34" charset="-120"/>
              </a:rPr>
              <a:t>Metformin has not been reviewed against the new eGFR of 38 — not contraindicated, but the dose should be reduced.</a:t>
            </a:r>
            <a:endParaRPr lang="en-US" sz="1120" dirty="0"/>
          </a:p>
          <a:p>
            <a:pPr marL="342900" indent="-342900">
              <a:lnSpc>
                <a:spcPts val="1600"/>
              </a:lnSpc>
              <a:spcAft>
                <a:spcPts val="600"/>
              </a:spcAft>
              <a:buSzPct val="100000"/>
              <a:buChar char="•"/>
            </a:pPr>
            <a:r>
              <a:rPr lang="en-US" sz="1120" dirty="0">
                <a:solidFill>
                  <a:srgbClr val="1E293B"/>
                </a:solidFill>
                <a:latin typeface="Calibri" pitchFamily="34" charset="0"/>
                <a:ea typeface="Calibri" pitchFamily="34" charset="-122"/>
                <a:cs typeface="Calibri" pitchFamily="34" charset="-120"/>
              </a:rPr>
              <a:t>Ibuprofen plus enalapril is driving the renal decline, and nobody has flagged it.</a:t>
            </a:r>
            <a:endParaRPr lang="en-US" sz="1120" dirty="0"/>
          </a:p>
          <a:p>
            <a:pPr marL="342900" indent="-342900">
              <a:lnSpc>
                <a:spcPts val="1600"/>
              </a:lnSpc>
              <a:spcAft>
                <a:spcPts val="600"/>
              </a:spcAft>
              <a:buSzPct val="100000"/>
              <a:buChar char="•"/>
            </a:pPr>
            <a:r>
              <a:rPr lang="en-US" sz="1120" dirty="0">
                <a:solidFill>
                  <a:srgbClr val="1E293B"/>
                </a:solidFill>
                <a:latin typeface="Calibri" pitchFamily="34" charset="0"/>
                <a:ea typeface="Calibri" pitchFamily="34" charset="-122"/>
                <a:cs typeface="Calibri" pitchFamily="34" charset="-120"/>
              </a:rPr>
              <a:t>Chasing the HbA1c target in a 67-year-old with falling kidneys will look like success while she keeps having hypos.</a:t>
            </a:r>
            <a:endParaRPr lang="en-US" sz="112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0F2B3D"/>
        </a:solidFill>
      </p:bgPr>
    </p:bg>
    <p:spTree>
      <p:nvGrpSpPr>
        <p:cNvPr id="1" name=""/>
        <p:cNvGrpSpPr/>
        <p:nvPr/>
      </p:nvGrpSpPr>
      <p:grpSpPr>
        <a:xfrm>
          <a:off x="0" y="0"/>
          <a:ext cx="0" cy="0"/>
          <a:chOff x="0" y="0"/>
          <a:chExt cx="0" cy="0"/>
        </a:xfrm>
      </p:grpSpPr>
      <p:sp>
        <p:nvSpPr>
          <p:cNvPr id="2" name="Shape 0"/>
          <p:cNvSpPr/>
          <p:nvPr/>
        </p:nvSpPr>
        <p:spPr>
          <a:xfrm>
            <a:off x="10058400" y="4937760"/>
            <a:ext cx="2926080" cy="2926080"/>
          </a:xfrm>
          <a:prstGeom prst="ellipse">
            <a:avLst/>
          </a:prstGeom>
          <a:solidFill>
            <a:srgbClr val="0E7490"/>
          </a:solidFill>
          <a:ln/>
        </p:spPr>
      </p:sp>
      <p:sp>
        <p:nvSpPr>
          <p:cNvPr id="3" name="Text 1"/>
          <p:cNvSpPr txBox="1"/>
          <p:nvPr/>
        </p:nvSpPr>
        <p:spPr>
          <a:xfrm>
            <a:off x="566928" y="420624"/>
            <a:ext cx="7315200" cy="256032"/>
          </a:xfrm>
          <a:prstGeom prst="rect">
            <a:avLst/>
          </a:prstGeom>
          <a:noFill/>
          <a:ln/>
        </p:spPr>
        <p:txBody>
          <a:bodyPr wrap="square" lIns="0" tIns="0" rIns="0" bIns="0" rtlCol="0" anchor="t"/>
          <a:lstStyle/>
          <a:p>
            <a:pPr indent="0" marL="0">
              <a:buNone/>
            </a:pPr>
            <a:r>
              <a:rPr lang="en-US" sz="1100" b="1" spc="250" kern="0" dirty="0">
                <a:solidFill>
                  <a:srgbClr val="0891B2"/>
                </a:solidFill>
                <a:latin typeface="Calibri" pitchFamily="34" charset="0"/>
                <a:ea typeface="Calibri" pitchFamily="34" charset="-122"/>
                <a:cs typeface="Calibri" pitchFamily="34" charset="-120"/>
              </a:rPr>
              <a:t>FINAL CASE · WHAT TO TAKE AWAY</a:t>
            </a:r>
            <a:endParaRPr lang="en-US" sz="1100" dirty="0"/>
          </a:p>
        </p:txBody>
      </p:sp>
      <p:sp>
        <p:nvSpPr>
          <p:cNvPr id="4" name="Text 2"/>
          <p:cNvSpPr txBox="1"/>
          <p:nvPr/>
        </p:nvSpPr>
        <p:spPr>
          <a:xfrm>
            <a:off x="566928" y="731520"/>
            <a:ext cx="11064240" cy="566928"/>
          </a:xfrm>
          <a:prstGeom prst="rect">
            <a:avLst/>
          </a:prstGeom>
          <a:noFill/>
          <a:ln/>
        </p:spPr>
        <p:txBody>
          <a:bodyPr wrap="square" lIns="0" tIns="0" rIns="0" bIns="0" rtlCol="0" anchor="t"/>
          <a:lstStyle/>
          <a:p>
            <a:pPr indent="0" marL="0">
              <a:buNone/>
            </a:pPr>
            <a:r>
              <a:rPr lang="en-US" sz="3100" b="1" dirty="0">
                <a:solidFill>
                  <a:srgbClr val="FFFFFF"/>
                </a:solidFill>
                <a:latin typeface="Cambria" pitchFamily="34" charset="0"/>
                <a:ea typeface="Cambria" pitchFamily="34" charset="-122"/>
                <a:cs typeface="Cambria" pitchFamily="34" charset="-120"/>
              </a:rPr>
              <a:t>The lesson</a:t>
            </a:r>
            <a:endParaRPr lang="en-US" sz="3100" dirty="0"/>
          </a:p>
        </p:txBody>
      </p:sp>
      <p:sp>
        <p:nvSpPr>
          <p:cNvPr id="5" name="Text 3"/>
          <p:cNvSpPr txBox="1"/>
          <p:nvPr/>
        </p:nvSpPr>
        <p:spPr>
          <a:xfrm>
            <a:off x="566928" y="1536192"/>
            <a:ext cx="10607040" cy="1920240"/>
          </a:xfrm>
          <a:prstGeom prst="rect">
            <a:avLst/>
          </a:prstGeom>
          <a:noFill/>
          <a:ln/>
        </p:spPr>
        <p:txBody>
          <a:bodyPr wrap="square" lIns="0" tIns="0" rIns="0" bIns="0" rtlCol="0" anchor="t"/>
          <a:lstStyle/>
          <a:p>
            <a:pPr indent="0" marL="0">
              <a:lnSpc>
                <a:spcPts val="2800"/>
              </a:lnSpc>
              <a:buNone/>
            </a:pPr>
            <a:r>
              <a:rPr lang="en-US" sz="1700" dirty="0">
                <a:solidFill>
                  <a:srgbClr val="FFFFFF"/>
                </a:solidFill>
                <a:latin typeface="Cambria" pitchFamily="34" charset="0"/>
                <a:ea typeface="Cambria" pitchFamily="34" charset="-122"/>
                <a:cs typeface="Cambria" pitchFamily="34" charset="-120"/>
              </a:rPr>
              <a:t>The reported complaint was "dizziness". The actual case was recurrent drug-induced hypoglycaemia in a patient whose kidney function had quietly fallen, made worse by a painkiller she did not consider a medicine and by eating less on her own initiative. Nothing in the original phone call said any of that. It came out of asking what was missing, and then going and getting it.</a:t>
            </a:r>
            <a:endParaRPr lang="en-US" sz="1700" dirty="0"/>
          </a:p>
        </p:txBody>
      </p:sp>
      <p:sp>
        <p:nvSpPr>
          <p:cNvPr id="6" name="Text 4"/>
          <p:cNvSpPr txBox="1"/>
          <p:nvPr/>
        </p:nvSpPr>
        <p:spPr>
          <a:xfrm>
            <a:off x="566928" y="3611880"/>
            <a:ext cx="5486400" cy="256032"/>
          </a:xfrm>
          <a:prstGeom prst="rect">
            <a:avLst/>
          </a:prstGeom>
          <a:noFill/>
          <a:ln/>
        </p:spPr>
        <p:txBody>
          <a:bodyPr wrap="square" lIns="0" tIns="0" rIns="0" bIns="0" rtlCol="0" anchor="t"/>
          <a:lstStyle/>
          <a:p>
            <a:pPr indent="0" marL="0">
              <a:buNone/>
            </a:pPr>
            <a:r>
              <a:rPr lang="en-US" sz="1100" b="1" spc="250" kern="0" dirty="0">
                <a:solidFill>
                  <a:srgbClr val="0891B2"/>
                </a:solidFill>
                <a:latin typeface="Calibri" pitchFamily="34" charset="0"/>
                <a:ea typeface="Calibri" pitchFamily="34" charset="-122"/>
                <a:cs typeface="Calibri" pitchFamily="34" charset="-120"/>
              </a:rPr>
              <a:t>WHAT HAPPENS NEXT</a:t>
            </a:r>
            <a:endParaRPr lang="en-US" sz="1100" dirty="0"/>
          </a:p>
        </p:txBody>
      </p:sp>
      <p:sp>
        <p:nvSpPr>
          <p:cNvPr id="7" name="Shape 5"/>
          <p:cNvSpPr/>
          <p:nvPr/>
        </p:nvSpPr>
        <p:spPr>
          <a:xfrm>
            <a:off x="566928" y="4069080"/>
            <a:ext cx="128016" cy="128016"/>
          </a:xfrm>
          <a:prstGeom prst="ellipse">
            <a:avLst/>
          </a:prstGeom>
          <a:solidFill>
            <a:srgbClr val="0891B2"/>
          </a:solidFill>
          <a:ln/>
        </p:spPr>
      </p:sp>
      <p:sp>
        <p:nvSpPr>
          <p:cNvPr id="8" name="Text 6"/>
          <p:cNvSpPr txBox="1"/>
          <p:nvPr/>
        </p:nvSpPr>
        <p:spPr>
          <a:xfrm>
            <a:off x="859536" y="3986784"/>
            <a:ext cx="5029200" cy="530352"/>
          </a:xfrm>
          <a:prstGeom prst="rect">
            <a:avLst/>
          </a:prstGeom>
          <a:noFill/>
          <a:ln/>
        </p:spPr>
        <p:txBody>
          <a:bodyPr wrap="square" lIns="0" tIns="0" rIns="0" bIns="0" rtlCol="0" anchor="t"/>
          <a:lstStyle/>
          <a:p>
            <a:pPr indent="0" marL="0">
              <a:lnSpc>
                <a:spcPts val="1600"/>
              </a:lnSpc>
              <a:buNone/>
            </a:pPr>
            <a:r>
              <a:rPr lang="en-US" sz="1180" dirty="0">
                <a:solidFill>
                  <a:srgbClr val="CBD5E1"/>
                </a:solidFill>
                <a:latin typeface="Calibri" pitchFamily="34" charset="0"/>
                <a:ea typeface="Calibri" pitchFamily="34" charset="-122"/>
                <a:cs typeface="Calibri" pitchFamily="34" charset="-120"/>
              </a:rPr>
              <a:t>Stop the glimepiride, or reduce it substantially, and discuss with the prescriber today.</a:t>
            </a:r>
            <a:endParaRPr lang="en-US" sz="1180" dirty="0"/>
          </a:p>
        </p:txBody>
      </p:sp>
      <p:sp>
        <p:nvSpPr>
          <p:cNvPr id="9" name="Shape 7"/>
          <p:cNvSpPr/>
          <p:nvPr/>
        </p:nvSpPr>
        <p:spPr>
          <a:xfrm>
            <a:off x="6053328" y="4069080"/>
            <a:ext cx="128016" cy="128016"/>
          </a:xfrm>
          <a:prstGeom prst="ellipse">
            <a:avLst/>
          </a:prstGeom>
          <a:solidFill>
            <a:srgbClr val="0891B2"/>
          </a:solidFill>
          <a:ln/>
        </p:spPr>
      </p:sp>
      <p:sp>
        <p:nvSpPr>
          <p:cNvPr id="10" name="Text 8"/>
          <p:cNvSpPr txBox="1"/>
          <p:nvPr/>
        </p:nvSpPr>
        <p:spPr>
          <a:xfrm>
            <a:off x="6345936" y="3986784"/>
            <a:ext cx="5029200" cy="530352"/>
          </a:xfrm>
          <a:prstGeom prst="rect">
            <a:avLst/>
          </a:prstGeom>
          <a:noFill/>
          <a:ln/>
        </p:spPr>
        <p:txBody>
          <a:bodyPr wrap="square" lIns="0" tIns="0" rIns="0" bIns="0" rtlCol="0" anchor="t"/>
          <a:lstStyle/>
          <a:p>
            <a:pPr indent="0" marL="0">
              <a:lnSpc>
                <a:spcPts val="1600"/>
              </a:lnSpc>
              <a:buNone/>
            </a:pPr>
            <a:r>
              <a:rPr lang="en-US" sz="1180" dirty="0">
                <a:solidFill>
                  <a:srgbClr val="CBD5E1"/>
                </a:solidFill>
                <a:latin typeface="Calibri" pitchFamily="34" charset="0"/>
                <a:ea typeface="Calibri" pitchFamily="34" charset="-122"/>
                <a:cs typeface="Calibri" pitchFamily="34" charset="-120"/>
              </a:rPr>
              <a:t>Stop the over-the-counter ibuprofen and explain why.</a:t>
            </a:r>
            <a:endParaRPr lang="en-US" sz="1180" dirty="0"/>
          </a:p>
        </p:txBody>
      </p:sp>
      <p:sp>
        <p:nvSpPr>
          <p:cNvPr id="11" name="Shape 9"/>
          <p:cNvSpPr/>
          <p:nvPr/>
        </p:nvSpPr>
        <p:spPr>
          <a:xfrm>
            <a:off x="566928" y="4672584"/>
            <a:ext cx="128016" cy="128016"/>
          </a:xfrm>
          <a:prstGeom prst="ellipse">
            <a:avLst/>
          </a:prstGeom>
          <a:solidFill>
            <a:srgbClr val="0891B2"/>
          </a:solidFill>
          <a:ln/>
        </p:spPr>
      </p:sp>
      <p:sp>
        <p:nvSpPr>
          <p:cNvPr id="12" name="Text 10"/>
          <p:cNvSpPr txBox="1"/>
          <p:nvPr/>
        </p:nvSpPr>
        <p:spPr>
          <a:xfrm>
            <a:off x="859536" y="4590288"/>
            <a:ext cx="5029200" cy="530352"/>
          </a:xfrm>
          <a:prstGeom prst="rect">
            <a:avLst/>
          </a:prstGeom>
          <a:noFill/>
          <a:ln/>
        </p:spPr>
        <p:txBody>
          <a:bodyPr wrap="square" lIns="0" tIns="0" rIns="0" bIns="0" rtlCol="0" anchor="t"/>
          <a:lstStyle/>
          <a:p>
            <a:pPr indent="0" marL="0">
              <a:lnSpc>
                <a:spcPts val="1600"/>
              </a:lnSpc>
              <a:buNone/>
            </a:pPr>
            <a:r>
              <a:rPr lang="en-US" sz="1180" dirty="0">
                <a:solidFill>
                  <a:srgbClr val="CBD5E1"/>
                </a:solidFill>
                <a:latin typeface="Calibri" pitchFamily="34" charset="0"/>
                <a:ea typeface="Calibri" pitchFamily="34" charset="-122"/>
                <a:cs typeface="Calibri" pitchFamily="34" charset="-120"/>
              </a:rPr>
              <a:t>Review metformin dose against the current eGFR.</a:t>
            </a:r>
            <a:endParaRPr lang="en-US" sz="1180" dirty="0"/>
          </a:p>
        </p:txBody>
      </p:sp>
      <p:sp>
        <p:nvSpPr>
          <p:cNvPr id="13" name="Shape 11"/>
          <p:cNvSpPr/>
          <p:nvPr/>
        </p:nvSpPr>
        <p:spPr>
          <a:xfrm>
            <a:off x="6053328" y="4672584"/>
            <a:ext cx="128016" cy="128016"/>
          </a:xfrm>
          <a:prstGeom prst="ellipse">
            <a:avLst/>
          </a:prstGeom>
          <a:solidFill>
            <a:srgbClr val="0891B2"/>
          </a:solidFill>
          <a:ln/>
        </p:spPr>
      </p:sp>
      <p:sp>
        <p:nvSpPr>
          <p:cNvPr id="14" name="Text 12"/>
          <p:cNvSpPr txBox="1"/>
          <p:nvPr/>
        </p:nvSpPr>
        <p:spPr>
          <a:xfrm>
            <a:off x="6345936" y="4590288"/>
            <a:ext cx="5029200" cy="530352"/>
          </a:xfrm>
          <a:prstGeom prst="rect">
            <a:avLst/>
          </a:prstGeom>
          <a:noFill/>
          <a:ln/>
        </p:spPr>
        <p:txBody>
          <a:bodyPr wrap="square" lIns="0" tIns="0" rIns="0" bIns="0" rtlCol="0" anchor="t"/>
          <a:lstStyle/>
          <a:p>
            <a:pPr indent="0" marL="0">
              <a:lnSpc>
                <a:spcPts val="1600"/>
              </a:lnSpc>
              <a:buNone/>
            </a:pPr>
            <a:r>
              <a:rPr lang="en-US" sz="1180" dirty="0">
                <a:solidFill>
                  <a:srgbClr val="CBD5E1"/>
                </a:solidFill>
                <a:latin typeface="Calibri" pitchFamily="34" charset="0"/>
                <a:ea typeface="Calibri" pitchFamily="34" charset="-122"/>
                <a:cs typeface="Calibri" pitchFamily="34" charset="-120"/>
              </a:rPr>
              <a:t>Repeat renal function.</a:t>
            </a:r>
            <a:endParaRPr lang="en-US" sz="1180" dirty="0"/>
          </a:p>
        </p:txBody>
      </p:sp>
      <p:sp>
        <p:nvSpPr>
          <p:cNvPr id="15" name="Shape 13"/>
          <p:cNvSpPr/>
          <p:nvPr/>
        </p:nvSpPr>
        <p:spPr>
          <a:xfrm>
            <a:off x="566928" y="5276088"/>
            <a:ext cx="128016" cy="128016"/>
          </a:xfrm>
          <a:prstGeom prst="ellipse">
            <a:avLst/>
          </a:prstGeom>
          <a:solidFill>
            <a:srgbClr val="0891B2"/>
          </a:solidFill>
          <a:ln/>
        </p:spPr>
      </p:sp>
      <p:sp>
        <p:nvSpPr>
          <p:cNvPr id="16" name="Text 14"/>
          <p:cNvSpPr txBox="1"/>
          <p:nvPr/>
        </p:nvSpPr>
        <p:spPr>
          <a:xfrm>
            <a:off x="859536" y="5193792"/>
            <a:ext cx="5029200" cy="530352"/>
          </a:xfrm>
          <a:prstGeom prst="rect">
            <a:avLst/>
          </a:prstGeom>
          <a:noFill/>
          <a:ln/>
        </p:spPr>
        <p:txBody>
          <a:bodyPr wrap="square" lIns="0" tIns="0" rIns="0" bIns="0" rtlCol="0" anchor="t"/>
          <a:lstStyle/>
          <a:p>
            <a:pPr indent="0" marL="0">
              <a:lnSpc>
                <a:spcPts val="1600"/>
              </a:lnSpc>
              <a:buNone/>
            </a:pPr>
            <a:r>
              <a:rPr lang="en-US" sz="1180" dirty="0">
                <a:solidFill>
                  <a:srgbClr val="CBD5E1"/>
                </a:solidFill>
                <a:latin typeface="Calibri" pitchFamily="34" charset="0"/>
                <a:ea typeface="Calibri" pitchFamily="34" charset="-122"/>
                <a:cs typeface="Calibri" pitchFamily="34" charset="-120"/>
              </a:rPr>
              <a:t>Relax the HbA1c target for a 67-year-old with renal impairment.</a:t>
            </a:r>
            <a:endParaRPr lang="en-US" sz="1180" dirty="0"/>
          </a:p>
        </p:txBody>
      </p:sp>
      <p:sp>
        <p:nvSpPr>
          <p:cNvPr id="17" name="Shape 15"/>
          <p:cNvSpPr/>
          <p:nvPr/>
        </p:nvSpPr>
        <p:spPr>
          <a:xfrm>
            <a:off x="6053328" y="5276088"/>
            <a:ext cx="128016" cy="128016"/>
          </a:xfrm>
          <a:prstGeom prst="ellipse">
            <a:avLst/>
          </a:prstGeom>
          <a:solidFill>
            <a:srgbClr val="0891B2"/>
          </a:solidFill>
          <a:ln/>
        </p:spPr>
      </p:sp>
      <p:sp>
        <p:nvSpPr>
          <p:cNvPr id="18" name="Text 16"/>
          <p:cNvSpPr txBox="1"/>
          <p:nvPr/>
        </p:nvSpPr>
        <p:spPr>
          <a:xfrm>
            <a:off x="6345936" y="5193792"/>
            <a:ext cx="5029200" cy="530352"/>
          </a:xfrm>
          <a:prstGeom prst="rect">
            <a:avLst/>
          </a:prstGeom>
          <a:noFill/>
          <a:ln/>
        </p:spPr>
        <p:txBody>
          <a:bodyPr wrap="square" lIns="0" tIns="0" rIns="0" bIns="0" rtlCol="0" anchor="t"/>
          <a:lstStyle/>
          <a:p>
            <a:pPr indent="0" marL="0">
              <a:lnSpc>
                <a:spcPts val="1600"/>
              </a:lnSpc>
              <a:buNone/>
            </a:pPr>
            <a:r>
              <a:rPr lang="en-US" sz="1180" dirty="0">
                <a:solidFill>
                  <a:srgbClr val="CBD5E1"/>
                </a:solidFill>
                <a:latin typeface="Calibri" pitchFamily="34" charset="0"/>
                <a:ea typeface="Calibri" pitchFamily="34" charset="-122"/>
                <a:cs typeface="Calibri" pitchFamily="34" charset="-120"/>
              </a:rPr>
              <a:t>Teach the patient and family to recognise and treat hypoglycaemia, and not to skip meals.</a:t>
            </a:r>
            <a:endParaRPr lang="en-US" sz="1180" dirty="0"/>
          </a:p>
        </p:txBody>
      </p:sp>
      <p:sp>
        <p:nvSpPr>
          <p:cNvPr id="19" name="Text 17"/>
          <p:cNvSpPr txBox="1"/>
          <p:nvPr/>
        </p:nvSpPr>
        <p:spPr>
          <a:xfrm>
            <a:off x="566928" y="6080760"/>
            <a:ext cx="10607040" cy="365760"/>
          </a:xfrm>
          <a:prstGeom prst="rect">
            <a:avLst/>
          </a:prstGeom>
          <a:noFill/>
          <a:ln/>
        </p:spPr>
        <p:txBody>
          <a:bodyPr wrap="square" lIns="0" tIns="0" rIns="0" bIns="0" rtlCol="0" anchor="t"/>
          <a:lstStyle/>
          <a:p>
            <a:pPr indent="0" marL="0">
              <a:buNone/>
            </a:pPr>
            <a:r>
              <a:rPr lang="en-US" sz="1400" b="1" i="1" dirty="0">
                <a:solidFill>
                  <a:srgbClr val="FFFFFF"/>
                </a:solidFill>
                <a:latin typeface="Calibri" pitchFamily="34" charset="0"/>
                <a:ea typeface="Calibri" pitchFamily="34" charset="-122"/>
                <a:cs typeface="Calibri" pitchFamily="34" charset="-120"/>
              </a:rPr>
              <a:t>Stop the drug, file the report, follow it up for outcome. All three, or none of it counted.</a:t>
            </a:r>
            <a:endParaRPr lang="en-US" sz="14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84048"/>
            <a:ext cx="10058400" cy="256032"/>
          </a:xfrm>
          <a:prstGeom prst="rect">
            <a:avLst/>
          </a:prstGeom>
          <a:noFill/>
          <a:ln/>
        </p:spPr>
        <p:txBody>
          <a:bodyPr wrap="square" lIns="0" tIns="0" rIns="0" bIns="0" rtlCol="0" anchor="ctr"/>
          <a:lstStyle/>
          <a:p>
            <a:pPr indent="0" marL="0">
              <a:buNone/>
            </a:pPr>
            <a:r>
              <a:rPr lang="en-US" sz="1100" b="1" spc="250" kern="0" dirty="0">
                <a:solidFill>
                  <a:srgbClr val="0E7490"/>
                </a:solidFill>
                <a:latin typeface="Calibri" pitchFamily="34" charset="0"/>
                <a:ea typeface="Calibri" pitchFamily="34" charset="-122"/>
                <a:cs typeface="Calibri" pitchFamily="34" charset="-120"/>
              </a:rPr>
              <a:t>Hands-on</a:t>
            </a:r>
            <a:endParaRPr lang="en-US" sz="1100" dirty="0"/>
          </a:p>
        </p:txBody>
      </p:sp>
      <p:sp>
        <p:nvSpPr>
          <p:cNvPr id="3" name="Text 1"/>
          <p:cNvSpPr txBox="1"/>
          <p:nvPr/>
        </p:nvSpPr>
        <p:spPr>
          <a:xfrm>
            <a:off x="566928" y="640080"/>
            <a:ext cx="11064240" cy="548640"/>
          </a:xfrm>
          <a:prstGeom prst="rect">
            <a:avLst/>
          </a:prstGeom>
          <a:noFill/>
          <a:ln/>
        </p:spPr>
        <p:txBody>
          <a:bodyPr wrap="square" lIns="0" tIns="0" rIns="0" bIns="0" rtlCol="0" anchor="t"/>
          <a:lstStyle/>
          <a:p>
            <a:pPr indent="0" marL="0">
              <a:lnSpc>
                <a:spcPts val="3800"/>
              </a:lnSpc>
              <a:buNone/>
            </a:pPr>
            <a:r>
              <a:rPr lang="en-US" sz="3100" b="1" dirty="0">
                <a:solidFill>
                  <a:srgbClr val="0F2B3D"/>
                </a:solidFill>
                <a:latin typeface="Cambria" pitchFamily="34" charset="0"/>
                <a:ea typeface="Cambria" pitchFamily="34" charset="-122"/>
                <a:cs typeface="Cambria" pitchFamily="34" charset="-120"/>
              </a:rPr>
              <a:t>Two things you can use after today</a:t>
            </a:r>
            <a:endParaRPr lang="en-US" sz="3100" dirty="0"/>
          </a:p>
        </p:txBody>
      </p:sp>
      <p:sp>
        <p:nvSpPr>
          <p:cNvPr id="4" name="Shape 2"/>
          <p:cNvSpPr/>
          <p:nvPr/>
        </p:nvSpPr>
        <p:spPr>
          <a:xfrm>
            <a:off x="566928" y="1481328"/>
            <a:ext cx="5321808" cy="4160520"/>
          </a:xfrm>
          <a:prstGeom prst="roundRect">
            <a:avLst>
              <a:gd name="adj" fmla="val 1319"/>
            </a:avLst>
          </a:prstGeom>
          <a:solidFill>
            <a:srgbClr val="ECFEFF"/>
          </a:solidFill>
          <a:ln w="12700">
            <a:solidFill>
              <a:srgbClr val="E2E8F0"/>
            </a:solidFill>
            <a:prstDash val="solid"/>
          </a:ln>
        </p:spPr>
      </p:sp>
      <p:sp>
        <p:nvSpPr>
          <p:cNvPr id="5" name="Text 3"/>
          <p:cNvSpPr txBox="1"/>
          <p:nvPr/>
        </p:nvSpPr>
        <p:spPr>
          <a:xfrm>
            <a:off x="914400" y="1737360"/>
            <a:ext cx="4663440" cy="438912"/>
          </a:xfrm>
          <a:prstGeom prst="rect">
            <a:avLst/>
          </a:prstGeom>
          <a:noFill/>
          <a:ln/>
        </p:spPr>
        <p:txBody>
          <a:bodyPr wrap="square" lIns="0" tIns="0" rIns="0" bIns="0" rtlCol="0" anchor="ctr"/>
          <a:lstStyle/>
          <a:p>
            <a:pPr indent="0" marL="0">
              <a:buNone/>
            </a:pPr>
            <a:r>
              <a:rPr lang="en-US" sz="2400" b="1" dirty="0">
                <a:solidFill>
                  <a:srgbClr val="0E7490"/>
                </a:solidFill>
                <a:latin typeface="Cambria" pitchFamily="34" charset="0"/>
                <a:ea typeface="Cambria" pitchFamily="34" charset="-122"/>
                <a:cs typeface="Cambria" pitchFamily="34" charset="-120"/>
              </a:rPr>
              <a:t>PV Foundations</a:t>
            </a:r>
            <a:endParaRPr lang="en-US" sz="2400" dirty="0"/>
          </a:p>
        </p:txBody>
      </p:sp>
      <p:sp>
        <p:nvSpPr>
          <p:cNvPr id="6" name="Text 4"/>
          <p:cNvSpPr txBox="1"/>
          <p:nvPr/>
        </p:nvSpPr>
        <p:spPr>
          <a:xfrm>
            <a:off x="914400" y="2212848"/>
            <a:ext cx="4663440" cy="292608"/>
          </a:xfrm>
          <a:prstGeom prst="rect">
            <a:avLst/>
          </a:prstGeom>
          <a:noFill/>
          <a:ln/>
        </p:spPr>
        <p:txBody>
          <a:bodyPr wrap="square" lIns="0" tIns="0" rIns="0" bIns="0" rtlCol="0" anchor="ctr"/>
          <a:lstStyle/>
          <a:p>
            <a:pPr indent="0" marL="0">
              <a:buNone/>
            </a:pPr>
            <a:r>
              <a:rPr lang="en-US" sz="1250" b="1" dirty="0">
                <a:solidFill>
                  <a:srgbClr val="64748B"/>
                </a:solidFill>
                <a:latin typeface="Calibri" pitchFamily="34" charset="0"/>
                <a:ea typeface="Calibri" pitchFamily="34" charset="-122"/>
                <a:cs typeface="Calibri" pitchFamily="34" charset="-120"/>
              </a:rPr>
              <a:t>The workshop, as a self-paced trainer</a:t>
            </a:r>
            <a:endParaRPr lang="en-US" sz="1250" dirty="0"/>
          </a:p>
        </p:txBody>
      </p:sp>
      <p:sp>
        <p:nvSpPr>
          <p:cNvPr id="7" name="Text 5"/>
          <p:cNvSpPr txBox="1"/>
          <p:nvPr/>
        </p:nvSpPr>
        <p:spPr>
          <a:xfrm>
            <a:off x="914400" y="2633472"/>
            <a:ext cx="4663440" cy="2834640"/>
          </a:xfrm>
          <a:prstGeom prst="rect">
            <a:avLst/>
          </a:prstGeom>
          <a:noFill/>
          <a:ln/>
        </p:spPr>
        <p:txBody>
          <a:bodyPr wrap="square" lIns="0" tIns="0" rIns="0" bIns="0" rtlCol="0" anchor="t"/>
          <a:lstStyle/>
          <a:p>
            <a:pPr marL="342900" indent="-342900">
              <a:lnSpc>
                <a:spcPts val="1700"/>
              </a:lnSpc>
              <a:spcAft>
                <a:spcPts val="600"/>
              </a:spcAft>
              <a:buSzPct val="100000"/>
              <a:buChar char="•"/>
            </a:pPr>
            <a:r>
              <a:rPr lang="en-US" sz="1200" dirty="0">
                <a:solidFill>
                  <a:srgbClr val="1E293B"/>
                </a:solidFill>
                <a:latin typeface="Calibri" pitchFamily="34" charset="0"/>
                <a:ea typeface="Calibri" pitchFamily="34" charset="-122"/>
                <a:cs typeface="Calibri" pitchFamily="34" charset="-120"/>
              </a:rPr>
              <a:t>Thirteen stations, in the order taught today</a:t>
            </a:r>
            <a:endParaRPr lang="en-US" sz="1200" dirty="0"/>
          </a:p>
          <a:p>
            <a:pPr marL="342900" indent="-342900">
              <a:lnSpc>
                <a:spcPts val="1700"/>
              </a:lnSpc>
              <a:spcAft>
                <a:spcPts val="600"/>
              </a:spcAft>
              <a:buSzPct val="100000"/>
              <a:buChar char="•"/>
            </a:pPr>
            <a:r>
              <a:rPr lang="en-US" sz="1200" dirty="0">
                <a:solidFill>
                  <a:srgbClr val="1E293B"/>
                </a:solidFill>
                <a:latin typeface="Calibri" pitchFamily="34" charset="0"/>
                <a:ea typeface="Calibri" pitchFamily="34" charset="-122"/>
                <a:cs typeface="Calibri" pitchFamily="34" charset="-120"/>
              </a:rPr>
              <a:t>Beginner, Intermediate and Challenge modes</a:t>
            </a:r>
            <a:endParaRPr lang="en-US" sz="1200" dirty="0"/>
          </a:p>
          <a:p>
            <a:pPr marL="342900" indent="-342900">
              <a:lnSpc>
                <a:spcPts val="1700"/>
              </a:lnSpc>
              <a:spcAft>
                <a:spcPts val="600"/>
              </a:spcAft>
              <a:buSzPct val="100000"/>
              <a:buChar char="•"/>
            </a:pPr>
            <a:r>
              <a:rPr lang="en-US" sz="1200" dirty="0">
                <a:solidFill>
                  <a:srgbClr val="1E293B"/>
                </a:solidFill>
                <a:latin typeface="Calibri" pitchFamily="34" charset="0"/>
                <a:ea typeface="Calibri" pitchFamily="34" charset="-122"/>
                <a:cs typeface="Calibri" pitchFamily="34" charset="-120"/>
              </a:rPr>
              <a:t>A “Why?” prompt on every decision you make</a:t>
            </a:r>
            <a:endParaRPr lang="en-US" sz="1200" dirty="0"/>
          </a:p>
          <a:p>
            <a:pPr marL="342900" indent="-342900">
              <a:lnSpc>
                <a:spcPts val="1700"/>
              </a:lnSpc>
              <a:spcAft>
                <a:spcPts val="600"/>
              </a:spcAft>
              <a:buSzPct val="100000"/>
              <a:buChar char="•"/>
            </a:pPr>
            <a:r>
              <a:rPr lang="en-US" sz="1200" dirty="0">
                <a:solidFill>
                  <a:srgbClr val="1E293B"/>
                </a:solidFill>
                <a:latin typeface="Calibri" pitchFamily="34" charset="0"/>
                <a:ea typeface="Calibri" pitchFamily="34" charset="-122"/>
                <a:cs typeface="Calibri" pitchFamily="34" charset="-120"/>
              </a:rPr>
              <a:t>Drug cards, interaction checker, MedDRA-shaped term search</a:t>
            </a:r>
            <a:endParaRPr lang="en-US" sz="1200" dirty="0"/>
          </a:p>
          <a:p>
            <a:pPr marL="342900" indent="-342900">
              <a:lnSpc>
                <a:spcPts val="1700"/>
              </a:lnSpc>
              <a:spcAft>
                <a:spcPts val="600"/>
              </a:spcAft>
              <a:buSzPct val="100000"/>
              <a:buChar char="•"/>
            </a:pPr>
            <a:r>
              <a:rPr lang="en-US" sz="1200" dirty="0">
                <a:solidFill>
                  <a:srgbClr val="1E293B"/>
                </a:solidFill>
                <a:latin typeface="Calibri" pitchFamily="34" charset="0"/>
                <a:ea typeface="Calibri" pitchFamily="34" charset="-122"/>
                <a:cs typeface="Calibri" pitchFamily="34" charset="-120"/>
              </a:rPr>
              <a:t>The final case, scored, with a costed investigation desk</a:t>
            </a:r>
            <a:endParaRPr lang="en-US" sz="1200" dirty="0"/>
          </a:p>
          <a:p>
            <a:pPr marL="342900" indent="-342900">
              <a:lnSpc>
                <a:spcPts val="1700"/>
              </a:lnSpc>
              <a:spcAft>
                <a:spcPts val="600"/>
              </a:spcAft>
              <a:buSzPct val="100000"/>
              <a:buChar char="•"/>
            </a:pPr>
            <a:r>
              <a:rPr lang="en-US" sz="1200" dirty="0">
                <a:solidFill>
                  <a:srgbClr val="1E293B"/>
                </a:solidFill>
                <a:latin typeface="Calibri" pitchFamily="34" charset="0"/>
                <a:ea typeface="Calibri" pitchFamily="34" charset="-122"/>
                <a:cs typeface="Calibri" pitchFamily="34" charset="-120"/>
              </a:rPr>
              <a:t>A completion certificate and a hands-on experience certificate</a:t>
            </a:r>
            <a:endParaRPr lang="en-US" sz="1200" dirty="0"/>
          </a:p>
        </p:txBody>
      </p:sp>
      <p:sp>
        <p:nvSpPr>
          <p:cNvPr id="8" name="Shape 6"/>
          <p:cNvSpPr/>
          <p:nvPr/>
        </p:nvSpPr>
        <p:spPr>
          <a:xfrm>
            <a:off x="6190488" y="1481328"/>
            <a:ext cx="5321808" cy="4160520"/>
          </a:xfrm>
          <a:prstGeom prst="roundRect">
            <a:avLst>
              <a:gd name="adj" fmla="val 1319"/>
            </a:avLst>
          </a:prstGeom>
          <a:solidFill>
            <a:srgbClr val="FEF2F2"/>
          </a:solidFill>
          <a:ln w="12700">
            <a:solidFill>
              <a:srgbClr val="E2E8F0"/>
            </a:solidFill>
            <a:prstDash val="solid"/>
          </a:ln>
        </p:spPr>
      </p:sp>
      <p:sp>
        <p:nvSpPr>
          <p:cNvPr id="9" name="Text 7"/>
          <p:cNvSpPr txBox="1"/>
          <p:nvPr/>
        </p:nvSpPr>
        <p:spPr>
          <a:xfrm>
            <a:off x="6537960" y="1737360"/>
            <a:ext cx="4663440" cy="438912"/>
          </a:xfrm>
          <a:prstGeom prst="rect">
            <a:avLst/>
          </a:prstGeom>
          <a:noFill/>
          <a:ln/>
        </p:spPr>
        <p:txBody>
          <a:bodyPr wrap="square" lIns="0" tIns="0" rIns="0" bIns="0" rtlCol="0" anchor="ctr"/>
          <a:lstStyle/>
          <a:p>
            <a:pPr indent="0" marL="0">
              <a:buNone/>
            </a:pPr>
            <a:r>
              <a:rPr lang="en-US" sz="2400" b="1" dirty="0">
                <a:solidFill>
                  <a:srgbClr val="C40D16"/>
                </a:solidFill>
                <a:latin typeface="Cambria" pitchFamily="34" charset="0"/>
                <a:ea typeface="Cambria" pitchFamily="34" charset="-122"/>
                <a:cs typeface="Cambria" pitchFamily="34" charset="-120"/>
              </a:rPr>
              <a:t>PV Lab</a:t>
            </a:r>
            <a:endParaRPr lang="en-US" sz="2400" dirty="0"/>
          </a:p>
        </p:txBody>
      </p:sp>
      <p:sp>
        <p:nvSpPr>
          <p:cNvPr id="10" name="Text 8"/>
          <p:cNvSpPr txBox="1"/>
          <p:nvPr/>
        </p:nvSpPr>
        <p:spPr>
          <a:xfrm>
            <a:off x="6537960" y="2212848"/>
            <a:ext cx="4663440" cy="292608"/>
          </a:xfrm>
          <a:prstGeom prst="rect">
            <a:avLst/>
          </a:prstGeom>
          <a:noFill/>
          <a:ln/>
        </p:spPr>
        <p:txBody>
          <a:bodyPr wrap="square" lIns="0" tIns="0" rIns="0" bIns="0" rtlCol="0" anchor="ctr"/>
          <a:lstStyle/>
          <a:p>
            <a:pPr indent="0" marL="0">
              <a:buNone/>
            </a:pPr>
            <a:r>
              <a:rPr lang="en-US" sz="1250" b="1" dirty="0">
                <a:solidFill>
                  <a:srgbClr val="64748B"/>
                </a:solidFill>
                <a:latin typeface="Calibri" pitchFamily="34" charset="0"/>
                <a:ea typeface="Calibri" pitchFamily="34" charset="-122"/>
                <a:cs typeface="Calibri" pitchFamily="34" charset="-120"/>
              </a:rPr>
              <a:t>A working safety-database simulation</a:t>
            </a:r>
            <a:endParaRPr lang="en-US" sz="1250" dirty="0"/>
          </a:p>
        </p:txBody>
      </p:sp>
      <p:sp>
        <p:nvSpPr>
          <p:cNvPr id="11" name="Text 9"/>
          <p:cNvSpPr txBox="1"/>
          <p:nvPr/>
        </p:nvSpPr>
        <p:spPr>
          <a:xfrm>
            <a:off x="6537960" y="2633472"/>
            <a:ext cx="4663440" cy="2834640"/>
          </a:xfrm>
          <a:prstGeom prst="rect">
            <a:avLst/>
          </a:prstGeom>
          <a:noFill/>
          <a:ln/>
        </p:spPr>
        <p:txBody>
          <a:bodyPr wrap="square" lIns="0" tIns="0" rIns="0" bIns="0" rtlCol="0" anchor="t"/>
          <a:lstStyle/>
          <a:p>
            <a:pPr marL="342900" indent="-342900">
              <a:lnSpc>
                <a:spcPts val="1700"/>
              </a:lnSpc>
              <a:spcAft>
                <a:spcPts val="600"/>
              </a:spcAft>
              <a:buSzPct val="100000"/>
              <a:buChar char="•"/>
            </a:pPr>
            <a:r>
              <a:rPr lang="en-US" sz="1200" dirty="0">
                <a:solidFill>
                  <a:srgbClr val="1E293B"/>
                </a:solidFill>
                <a:latin typeface="Calibri" pitchFamily="34" charset="0"/>
                <a:ea typeface="Calibri" pitchFamily="34" charset="-122"/>
                <a:cs typeface="Calibri" pitchFamily="34" charset="-120"/>
              </a:rPr>
              <a:t>Six roles: intake, PV officer, coder, medical reviewer, QC, manager</a:t>
            </a:r>
            <a:endParaRPr lang="en-US" sz="1200" dirty="0"/>
          </a:p>
          <a:p>
            <a:pPr marL="342900" indent="-342900">
              <a:lnSpc>
                <a:spcPts val="1700"/>
              </a:lnSpc>
              <a:spcAft>
                <a:spcPts val="600"/>
              </a:spcAft>
              <a:buSzPct val="100000"/>
              <a:buChar char="•"/>
            </a:pPr>
            <a:r>
              <a:rPr lang="en-US" sz="1200" dirty="0">
                <a:solidFill>
                  <a:srgbClr val="1E293B"/>
                </a:solidFill>
                <a:latin typeface="Calibri" pitchFamily="34" charset="0"/>
                <a:ea typeface="Calibri" pitchFamily="34" charset="-122"/>
                <a:cs typeface="Calibri" pitchFamily="34" charset="-120"/>
              </a:rPr>
              <a:t>A full case lifecycle with permission-checked transitions</a:t>
            </a:r>
            <a:endParaRPr lang="en-US" sz="1200" dirty="0"/>
          </a:p>
          <a:p>
            <a:pPr marL="342900" indent="-342900">
              <a:lnSpc>
                <a:spcPts val="1700"/>
              </a:lnSpc>
              <a:spcAft>
                <a:spcPts val="600"/>
              </a:spcAft>
              <a:buSzPct val="100000"/>
              <a:buChar char="•"/>
            </a:pPr>
            <a:r>
              <a:rPr lang="en-US" sz="1200" dirty="0">
                <a:solidFill>
                  <a:srgbClr val="1E293B"/>
                </a:solidFill>
                <a:latin typeface="Calibri" pitchFamily="34" charset="0"/>
                <a:ea typeface="Calibri" pitchFamily="34" charset="-122"/>
                <a:cs typeface="Calibri" pitchFamily="34" charset="-120"/>
              </a:rPr>
              <a:t>Coding, causality, narrative, medical review, QC, ICSR export</a:t>
            </a:r>
            <a:endParaRPr lang="en-US" sz="1200" dirty="0"/>
          </a:p>
          <a:p>
            <a:pPr marL="342900" indent="-342900">
              <a:lnSpc>
                <a:spcPts val="1700"/>
              </a:lnSpc>
              <a:spcAft>
                <a:spcPts val="600"/>
              </a:spcAft>
              <a:buSzPct val="100000"/>
              <a:buChar char="•"/>
            </a:pPr>
            <a:r>
              <a:rPr lang="en-US" sz="1200" dirty="0">
                <a:solidFill>
                  <a:srgbClr val="1E293B"/>
                </a:solidFill>
                <a:latin typeface="Calibri" pitchFamily="34" charset="0"/>
                <a:ea typeface="Calibri" pitchFamily="34" charset="-122"/>
                <a:cs typeface="Calibri" pitchFamily="34" charset="-120"/>
              </a:rPr>
              <a:t>Signal detection, literature screening, analytics</a:t>
            </a:r>
            <a:endParaRPr lang="en-US" sz="1200" dirty="0"/>
          </a:p>
          <a:p>
            <a:pPr marL="342900" indent="-342900">
              <a:lnSpc>
                <a:spcPts val="1700"/>
              </a:lnSpc>
              <a:spcAft>
                <a:spcPts val="600"/>
              </a:spcAft>
              <a:buSzPct val="100000"/>
              <a:buChar char="•"/>
            </a:pPr>
            <a:r>
              <a:rPr lang="en-US" sz="1200" dirty="0">
                <a:solidFill>
                  <a:srgbClr val="1E293B"/>
                </a:solidFill>
                <a:latin typeface="Calibri" pitchFamily="34" charset="0"/>
                <a:ea typeface="Calibri" pitchFamily="34" charset="-122"/>
                <a:cs typeface="Calibri" pitchFamily="34" charset="-120"/>
              </a:rPr>
              <a:t>An append-only audit trail on every action</a:t>
            </a:r>
            <a:endParaRPr lang="en-US" sz="1200" dirty="0"/>
          </a:p>
          <a:p>
            <a:pPr marL="342900" indent="-342900">
              <a:lnSpc>
                <a:spcPts val="1700"/>
              </a:lnSpc>
              <a:spcAft>
                <a:spcPts val="600"/>
              </a:spcAft>
              <a:buSzPct val="100000"/>
              <a:buChar char="•"/>
            </a:pPr>
            <a:r>
              <a:rPr lang="en-US" sz="1200" dirty="0">
                <a:solidFill>
                  <a:srgbClr val="1E293B"/>
                </a:solidFill>
                <a:latin typeface="Calibri" pitchFamily="34" charset="0"/>
                <a:ea typeface="Calibri" pitchFamily="34" charset="-122"/>
                <a:cs typeface="Calibri" pitchFamily="34" charset="-120"/>
              </a:rPr>
              <a:t>Ten training cases with worked answer keys</a:t>
            </a:r>
            <a:endParaRPr lang="en-US" sz="1200" dirty="0"/>
          </a:p>
        </p:txBody>
      </p:sp>
      <p:sp>
        <p:nvSpPr>
          <p:cNvPr id="12" name="Shape 10"/>
          <p:cNvSpPr/>
          <p:nvPr/>
        </p:nvSpPr>
        <p:spPr>
          <a:xfrm>
            <a:off x="566928" y="5852160"/>
            <a:ext cx="11027664" cy="749808"/>
          </a:xfrm>
          <a:prstGeom prst="roundRect">
            <a:avLst>
              <a:gd name="adj" fmla="val 7317"/>
            </a:avLst>
          </a:prstGeom>
          <a:solidFill>
            <a:srgbClr val="F8FAFC"/>
          </a:solidFill>
          <a:ln w="12700">
            <a:solidFill>
              <a:srgbClr val="E2E8F0"/>
            </a:solidFill>
            <a:prstDash val="solid"/>
          </a:ln>
        </p:spPr>
      </p:sp>
      <p:sp>
        <p:nvSpPr>
          <p:cNvPr id="13" name="Text 11"/>
          <p:cNvSpPr txBox="1"/>
          <p:nvPr/>
        </p:nvSpPr>
        <p:spPr>
          <a:xfrm>
            <a:off x="932688" y="6016752"/>
            <a:ext cx="10332720" cy="457200"/>
          </a:xfrm>
          <a:prstGeom prst="rect">
            <a:avLst/>
          </a:prstGeom>
          <a:noFill/>
          <a:ln/>
        </p:spPr>
        <p:txBody>
          <a:bodyPr wrap="square" lIns="0" tIns="0" rIns="0" bIns="0" rtlCol="0" anchor="ctr"/>
          <a:lstStyle/>
          <a:p>
            <a:pPr indent="0" marL="0">
              <a:lnSpc>
                <a:spcPts val="1800"/>
              </a:lnSpc>
              <a:buNone/>
            </a:pPr>
            <a:r>
              <a:rPr lang="en-US" sz="1250" b="1" dirty="0">
                <a:solidFill>
                  <a:srgbClr val="0F2B3D"/>
                </a:solidFill>
                <a:latin typeface="Calibri" pitchFamily="34" charset="0"/>
                <a:ea typeface="Calibri" pitchFamily="34" charset="-122"/>
                <a:cs typeface="Calibri" pitchFamily="34" charset="-120"/>
              </a:rPr>
              <a:t>Both are educational simulations. </a:t>
            </a:r>
            <a:pPr indent="0" marL="0">
              <a:lnSpc>
                <a:spcPts val="1800"/>
              </a:lnSpc>
              <a:buNone/>
            </a:pPr>
            <a:r>
              <a:rPr lang="en-US" sz="1250" dirty="0">
                <a:solidFill>
                  <a:srgbClr val="334155"/>
                </a:solidFill>
                <a:latin typeface="Calibri" pitchFamily="34" charset="0"/>
                <a:ea typeface="Calibri" pitchFamily="34" charset="-122"/>
                <a:cs typeface="Calibri" pitchFamily="34" charset="-120"/>
              </a:rPr>
              <a:t>Fictional data throughout. Not connected to any patient record or regulatory system, and nothing entered into them is a report to anybody.</a:t>
            </a:r>
            <a:endParaRPr lang="en-US" sz="125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84048"/>
            <a:ext cx="10058400" cy="256032"/>
          </a:xfrm>
          <a:prstGeom prst="rect">
            <a:avLst/>
          </a:prstGeom>
          <a:noFill/>
          <a:ln/>
        </p:spPr>
        <p:txBody>
          <a:bodyPr wrap="square" lIns="0" tIns="0" rIns="0" bIns="0" rtlCol="0" anchor="ctr"/>
          <a:lstStyle/>
          <a:p>
            <a:pPr indent="0" marL="0">
              <a:buNone/>
            </a:pPr>
            <a:r>
              <a:rPr lang="en-US" sz="1100" b="1" spc="250" kern="0" dirty="0">
                <a:solidFill>
                  <a:srgbClr val="0E7490"/>
                </a:solidFill>
                <a:latin typeface="Calibri" pitchFamily="34" charset="0"/>
                <a:ea typeface="Calibri" pitchFamily="34" charset="-122"/>
                <a:cs typeface="Calibri" pitchFamily="34" charset="-120"/>
              </a:rPr>
              <a:t>Close</a:t>
            </a:r>
            <a:endParaRPr lang="en-US" sz="1100" dirty="0"/>
          </a:p>
        </p:txBody>
      </p:sp>
      <p:sp>
        <p:nvSpPr>
          <p:cNvPr id="3" name="Text 1"/>
          <p:cNvSpPr txBox="1"/>
          <p:nvPr/>
        </p:nvSpPr>
        <p:spPr>
          <a:xfrm>
            <a:off x="566928" y="640080"/>
            <a:ext cx="11064240" cy="548640"/>
          </a:xfrm>
          <a:prstGeom prst="rect">
            <a:avLst/>
          </a:prstGeom>
          <a:noFill/>
          <a:ln/>
        </p:spPr>
        <p:txBody>
          <a:bodyPr wrap="square" lIns="0" tIns="0" rIns="0" bIns="0" rtlCol="0" anchor="t"/>
          <a:lstStyle/>
          <a:p>
            <a:pPr indent="0" marL="0">
              <a:lnSpc>
                <a:spcPts val="3800"/>
              </a:lnSpc>
              <a:buNone/>
            </a:pPr>
            <a:r>
              <a:rPr lang="en-US" sz="3100" b="1" dirty="0">
                <a:solidFill>
                  <a:srgbClr val="0F2B3D"/>
                </a:solidFill>
                <a:latin typeface="Cambria" pitchFamily="34" charset="0"/>
                <a:ea typeface="Cambria" pitchFamily="34" charset="-122"/>
                <a:cs typeface="Cambria" pitchFamily="34" charset="-120"/>
              </a:rPr>
              <a:t>If you remember six things</a:t>
            </a:r>
            <a:endParaRPr lang="en-US" sz="3100" dirty="0"/>
          </a:p>
        </p:txBody>
      </p:sp>
      <p:sp>
        <p:nvSpPr>
          <p:cNvPr id="4" name="Shape 2"/>
          <p:cNvSpPr/>
          <p:nvPr/>
        </p:nvSpPr>
        <p:spPr>
          <a:xfrm>
            <a:off x="566928" y="1481328"/>
            <a:ext cx="5321808" cy="1371600"/>
          </a:xfrm>
          <a:prstGeom prst="roundRect">
            <a:avLst>
              <a:gd name="adj" fmla="val 4000"/>
            </a:avLst>
          </a:prstGeom>
          <a:solidFill>
            <a:srgbClr val="F1F5F9"/>
          </a:solidFill>
          <a:ln w="12700">
            <a:solidFill>
              <a:srgbClr val="E2E8F0"/>
            </a:solidFill>
            <a:prstDash val="solid"/>
          </a:ln>
        </p:spPr>
      </p:sp>
      <p:sp>
        <p:nvSpPr>
          <p:cNvPr id="5" name="Shape 3"/>
          <p:cNvSpPr/>
          <p:nvPr/>
        </p:nvSpPr>
        <p:spPr>
          <a:xfrm>
            <a:off x="841248" y="1700784"/>
            <a:ext cx="365760" cy="365760"/>
          </a:xfrm>
          <a:prstGeom prst="ellipse">
            <a:avLst/>
          </a:prstGeom>
          <a:solidFill>
            <a:srgbClr val="0F2B3D"/>
          </a:solidFill>
          <a:ln/>
        </p:spPr>
      </p:sp>
      <p:sp>
        <p:nvSpPr>
          <p:cNvPr id="6" name="Text 4"/>
          <p:cNvSpPr txBox="1"/>
          <p:nvPr/>
        </p:nvSpPr>
        <p:spPr>
          <a:xfrm>
            <a:off x="841248" y="1700784"/>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7" name="Text 5"/>
          <p:cNvSpPr txBox="1"/>
          <p:nvPr/>
        </p:nvSpPr>
        <p:spPr>
          <a:xfrm>
            <a:off x="1316736" y="1682496"/>
            <a:ext cx="4343400" cy="365760"/>
          </a:xfrm>
          <a:prstGeom prst="rect">
            <a:avLst/>
          </a:prstGeom>
          <a:noFill/>
          <a:ln/>
        </p:spPr>
        <p:txBody>
          <a:bodyPr wrap="square" lIns="0" tIns="0" rIns="0" bIns="0" rtlCol="0" anchor="ctr"/>
          <a:lstStyle/>
          <a:p>
            <a:pPr indent="0" marL="0">
              <a:buNone/>
            </a:pPr>
            <a:r>
              <a:rPr lang="en-US" sz="1350" b="1" dirty="0">
                <a:solidFill>
                  <a:srgbClr val="0F2B3D"/>
                </a:solidFill>
                <a:latin typeface="Cambria" pitchFamily="34" charset="0"/>
                <a:ea typeface="Cambria" pitchFamily="34" charset="-122"/>
                <a:cs typeface="Cambria" pitchFamily="34" charset="-120"/>
              </a:rPr>
              <a:t>A reaction is not a failure</a:t>
            </a:r>
            <a:endParaRPr lang="en-US" sz="1350" dirty="0"/>
          </a:p>
        </p:txBody>
      </p:sp>
      <p:sp>
        <p:nvSpPr>
          <p:cNvPr id="8" name="Text 6"/>
          <p:cNvSpPr txBox="1"/>
          <p:nvPr/>
        </p:nvSpPr>
        <p:spPr>
          <a:xfrm>
            <a:off x="841248" y="2121408"/>
            <a:ext cx="4800600" cy="658368"/>
          </a:xfrm>
          <a:prstGeom prst="rect">
            <a:avLst/>
          </a:prstGeom>
          <a:noFill/>
          <a:ln/>
        </p:spPr>
        <p:txBody>
          <a:bodyPr wrap="square" lIns="0" tIns="0" rIns="0" bIns="0" rtlCol="0" anchor="ctr"/>
          <a:lstStyle/>
          <a:p>
            <a:pPr indent="0" marL="0">
              <a:lnSpc>
                <a:spcPts val="1600"/>
              </a:lnSpc>
              <a:buNone/>
            </a:pPr>
            <a:r>
              <a:rPr lang="en-US" sz="1150" dirty="0">
                <a:solidFill>
                  <a:srgbClr val="475569"/>
                </a:solidFill>
                <a:latin typeface="Calibri" pitchFamily="34" charset="0"/>
                <a:ea typeface="Calibri" pitchFamily="34" charset="-122"/>
                <a:cs typeface="Calibri" pitchFamily="34" charset="-120"/>
              </a:rPr>
              <a:t>Reporting one is how the label gets corrected for everybody else. Nobody is blamed for a report.</a:t>
            </a:r>
            <a:endParaRPr lang="en-US" sz="1150" dirty="0"/>
          </a:p>
        </p:txBody>
      </p:sp>
      <p:sp>
        <p:nvSpPr>
          <p:cNvPr id="9" name="Shape 7"/>
          <p:cNvSpPr/>
          <p:nvPr/>
        </p:nvSpPr>
        <p:spPr>
          <a:xfrm>
            <a:off x="6190488" y="1481328"/>
            <a:ext cx="5321808" cy="1371600"/>
          </a:xfrm>
          <a:prstGeom prst="roundRect">
            <a:avLst>
              <a:gd name="adj" fmla="val 4000"/>
            </a:avLst>
          </a:prstGeom>
          <a:solidFill>
            <a:srgbClr val="F1F5F9"/>
          </a:solidFill>
          <a:ln w="12700">
            <a:solidFill>
              <a:srgbClr val="E2E8F0"/>
            </a:solidFill>
            <a:prstDash val="solid"/>
          </a:ln>
        </p:spPr>
      </p:sp>
      <p:sp>
        <p:nvSpPr>
          <p:cNvPr id="10" name="Shape 8"/>
          <p:cNvSpPr/>
          <p:nvPr/>
        </p:nvSpPr>
        <p:spPr>
          <a:xfrm>
            <a:off x="6464808" y="1700784"/>
            <a:ext cx="365760" cy="365760"/>
          </a:xfrm>
          <a:prstGeom prst="ellipse">
            <a:avLst/>
          </a:prstGeom>
          <a:solidFill>
            <a:srgbClr val="0E7490"/>
          </a:solidFill>
          <a:ln/>
        </p:spPr>
      </p:sp>
      <p:sp>
        <p:nvSpPr>
          <p:cNvPr id="11" name="Text 9"/>
          <p:cNvSpPr txBox="1"/>
          <p:nvPr/>
        </p:nvSpPr>
        <p:spPr>
          <a:xfrm>
            <a:off x="6464808" y="1700784"/>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2" name="Text 10"/>
          <p:cNvSpPr txBox="1"/>
          <p:nvPr/>
        </p:nvSpPr>
        <p:spPr>
          <a:xfrm>
            <a:off x="6940296" y="1682496"/>
            <a:ext cx="4343400" cy="365760"/>
          </a:xfrm>
          <a:prstGeom prst="rect">
            <a:avLst/>
          </a:prstGeom>
          <a:noFill/>
          <a:ln/>
        </p:spPr>
        <p:txBody>
          <a:bodyPr wrap="square" lIns="0" tIns="0" rIns="0" bIns="0" rtlCol="0" anchor="ctr"/>
          <a:lstStyle/>
          <a:p>
            <a:pPr indent="0" marL="0">
              <a:buNone/>
            </a:pPr>
            <a:r>
              <a:rPr lang="en-US" sz="1350" b="1" dirty="0">
                <a:solidFill>
                  <a:srgbClr val="0F2B3D"/>
                </a:solidFill>
                <a:latin typeface="Cambria" pitchFamily="34" charset="0"/>
                <a:ea typeface="Cambria" pitchFamily="34" charset="-122"/>
                <a:cs typeface="Cambria" pitchFamily="34" charset="-120"/>
              </a:rPr>
              <a:t>Look it up</a:t>
            </a:r>
            <a:endParaRPr lang="en-US" sz="1350" dirty="0"/>
          </a:p>
        </p:txBody>
      </p:sp>
      <p:sp>
        <p:nvSpPr>
          <p:cNvPr id="13" name="Text 11"/>
          <p:cNvSpPr txBox="1"/>
          <p:nvPr/>
        </p:nvSpPr>
        <p:spPr>
          <a:xfrm>
            <a:off x="6464808" y="2121408"/>
            <a:ext cx="4800600" cy="658368"/>
          </a:xfrm>
          <a:prstGeom prst="rect">
            <a:avLst/>
          </a:prstGeom>
          <a:noFill/>
          <a:ln/>
        </p:spPr>
        <p:txBody>
          <a:bodyPr wrap="square" lIns="0" tIns="0" rIns="0" bIns="0" rtlCol="0" anchor="ctr"/>
          <a:lstStyle/>
          <a:p>
            <a:pPr indent="0" marL="0">
              <a:lnSpc>
                <a:spcPts val="1600"/>
              </a:lnSpc>
              <a:buNone/>
            </a:pPr>
            <a:r>
              <a:rPr lang="en-US" sz="1150" dirty="0">
                <a:solidFill>
                  <a:srgbClr val="475569"/>
                </a:solidFill>
                <a:latin typeface="Calibri" pitchFamily="34" charset="0"/>
                <a:ea typeface="Calibri" pitchFamily="34" charset="-122"/>
                <a:cs typeface="Calibri" pitchFamily="34" charset="-120"/>
              </a:rPr>
              <a:t>Nobody memorises interactions. Competence is knowing to check, and knowing where.</a:t>
            </a:r>
            <a:endParaRPr lang="en-US" sz="1150" dirty="0"/>
          </a:p>
        </p:txBody>
      </p:sp>
      <p:sp>
        <p:nvSpPr>
          <p:cNvPr id="14" name="Shape 12"/>
          <p:cNvSpPr/>
          <p:nvPr/>
        </p:nvSpPr>
        <p:spPr>
          <a:xfrm>
            <a:off x="566928" y="3017520"/>
            <a:ext cx="5321808" cy="1371600"/>
          </a:xfrm>
          <a:prstGeom prst="roundRect">
            <a:avLst>
              <a:gd name="adj" fmla="val 4000"/>
            </a:avLst>
          </a:prstGeom>
          <a:solidFill>
            <a:srgbClr val="F1F5F9"/>
          </a:solidFill>
          <a:ln w="12700">
            <a:solidFill>
              <a:srgbClr val="E2E8F0"/>
            </a:solidFill>
            <a:prstDash val="solid"/>
          </a:ln>
        </p:spPr>
      </p:sp>
      <p:sp>
        <p:nvSpPr>
          <p:cNvPr id="15" name="Shape 13"/>
          <p:cNvSpPr/>
          <p:nvPr/>
        </p:nvSpPr>
        <p:spPr>
          <a:xfrm>
            <a:off x="841248" y="3236976"/>
            <a:ext cx="365760" cy="365760"/>
          </a:xfrm>
          <a:prstGeom prst="ellipse">
            <a:avLst/>
          </a:prstGeom>
          <a:solidFill>
            <a:srgbClr val="0F2B3D"/>
          </a:solidFill>
          <a:ln/>
        </p:spPr>
      </p:sp>
      <p:sp>
        <p:nvSpPr>
          <p:cNvPr id="16" name="Text 14"/>
          <p:cNvSpPr txBox="1"/>
          <p:nvPr/>
        </p:nvSpPr>
        <p:spPr>
          <a:xfrm>
            <a:off x="841248" y="3236976"/>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7" name="Text 15"/>
          <p:cNvSpPr txBox="1"/>
          <p:nvPr/>
        </p:nvSpPr>
        <p:spPr>
          <a:xfrm>
            <a:off x="1316736" y="3218688"/>
            <a:ext cx="4343400" cy="365760"/>
          </a:xfrm>
          <a:prstGeom prst="rect">
            <a:avLst/>
          </a:prstGeom>
          <a:noFill/>
          <a:ln/>
        </p:spPr>
        <p:txBody>
          <a:bodyPr wrap="square" lIns="0" tIns="0" rIns="0" bIns="0" rtlCol="0" anchor="ctr"/>
          <a:lstStyle/>
          <a:p>
            <a:pPr indent="0" marL="0">
              <a:buNone/>
            </a:pPr>
            <a:r>
              <a:rPr lang="en-US" sz="1350" b="1" dirty="0">
                <a:solidFill>
                  <a:srgbClr val="0F2B3D"/>
                </a:solidFill>
                <a:latin typeface="Cambria" pitchFamily="34" charset="0"/>
                <a:ea typeface="Cambria" pitchFamily="34" charset="-122"/>
                <a:cs typeface="Cambria" pitchFamily="34" charset="-120"/>
              </a:rPr>
              <a:t>Serious is not severe</a:t>
            </a:r>
            <a:endParaRPr lang="en-US" sz="1350" dirty="0"/>
          </a:p>
        </p:txBody>
      </p:sp>
      <p:sp>
        <p:nvSpPr>
          <p:cNvPr id="18" name="Text 16"/>
          <p:cNvSpPr txBox="1"/>
          <p:nvPr/>
        </p:nvSpPr>
        <p:spPr>
          <a:xfrm>
            <a:off x="841248" y="3657600"/>
            <a:ext cx="4800600" cy="658368"/>
          </a:xfrm>
          <a:prstGeom prst="rect">
            <a:avLst/>
          </a:prstGeom>
          <a:noFill/>
          <a:ln/>
        </p:spPr>
        <p:txBody>
          <a:bodyPr wrap="square" lIns="0" tIns="0" rIns="0" bIns="0" rtlCol="0" anchor="ctr"/>
          <a:lstStyle/>
          <a:p>
            <a:pPr indent="0" marL="0">
              <a:lnSpc>
                <a:spcPts val="1600"/>
              </a:lnSpc>
              <a:buNone/>
            </a:pPr>
            <a:r>
              <a:rPr lang="en-US" sz="1150" dirty="0">
                <a:solidFill>
                  <a:srgbClr val="475569"/>
                </a:solidFill>
                <a:latin typeface="Calibri" pitchFamily="34" charset="0"/>
                <a:ea typeface="Calibri" pitchFamily="34" charset="-122"/>
                <a:cs typeface="Calibri" pitchFamily="34" charset="-120"/>
              </a:rPr>
              <a:t>Serious is a regulatory category with six criteria. Severe is how bad it felt. A mild event can be serious; an agonising one may not be.</a:t>
            </a:r>
            <a:endParaRPr lang="en-US" sz="1150" dirty="0"/>
          </a:p>
        </p:txBody>
      </p:sp>
      <p:sp>
        <p:nvSpPr>
          <p:cNvPr id="19" name="Shape 17"/>
          <p:cNvSpPr/>
          <p:nvPr/>
        </p:nvSpPr>
        <p:spPr>
          <a:xfrm>
            <a:off x="6190488" y="3017520"/>
            <a:ext cx="5321808" cy="1371600"/>
          </a:xfrm>
          <a:prstGeom prst="roundRect">
            <a:avLst>
              <a:gd name="adj" fmla="val 4000"/>
            </a:avLst>
          </a:prstGeom>
          <a:solidFill>
            <a:srgbClr val="F1F5F9"/>
          </a:solidFill>
          <a:ln w="12700">
            <a:solidFill>
              <a:srgbClr val="E2E8F0"/>
            </a:solidFill>
            <a:prstDash val="solid"/>
          </a:ln>
        </p:spPr>
      </p:sp>
      <p:sp>
        <p:nvSpPr>
          <p:cNvPr id="20" name="Shape 18"/>
          <p:cNvSpPr/>
          <p:nvPr/>
        </p:nvSpPr>
        <p:spPr>
          <a:xfrm>
            <a:off x="6464808" y="3236976"/>
            <a:ext cx="365760" cy="365760"/>
          </a:xfrm>
          <a:prstGeom prst="ellipse">
            <a:avLst/>
          </a:prstGeom>
          <a:solidFill>
            <a:srgbClr val="0E7490"/>
          </a:solidFill>
          <a:ln/>
        </p:spPr>
      </p:sp>
      <p:sp>
        <p:nvSpPr>
          <p:cNvPr id="21" name="Text 19"/>
          <p:cNvSpPr txBox="1"/>
          <p:nvPr/>
        </p:nvSpPr>
        <p:spPr>
          <a:xfrm>
            <a:off x="6464808" y="3236976"/>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22" name="Text 20"/>
          <p:cNvSpPr txBox="1"/>
          <p:nvPr/>
        </p:nvSpPr>
        <p:spPr>
          <a:xfrm>
            <a:off x="6940296" y="3218688"/>
            <a:ext cx="4343400" cy="365760"/>
          </a:xfrm>
          <a:prstGeom prst="rect">
            <a:avLst/>
          </a:prstGeom>
          <a:noFill/>
          <a:ln/>
        </p:spPr>
        <p:txBody>
          <a:bodyPr wrap="square" lIns="0" tIns="0" rIns="0" bIns="0" rtlCol="0" anchor="ctr"/>
          <a:lstStyle/>
          <a:p>
            <a:pPr indent="0" marL="0">
              <a:buNone/>
            </a:pPr>
            <a:r>
              <a:rPr lang="en-US" sz="1350" b="1" dirty="0">
                <a:solidFill>
                  <a:srgbClr val="0F2B3D"/>
                </a:solidFill>
                <a:latin typeface="Cambria" pitchFamily="34" charset="0"/>
                <a:ea typeface="Cambria" pitchFamily="34" charset="-122"/>
                <a:cs typeface="Cambria" pitchFamily="34" charset="-120"/>
              </a:rPr>
              <a:t>“I don’t know yet” is an answer</a:t>
            </a:r>
            <a:endParaRPr lang="en-US" sz="1350" dirty="0"/>
          </a:p>
        </p:txBody>
      </p:sp>
      <p:sp>
        <p:nvSpPr>
          <p:cNvPr id="23" name="Text 21"/>
          <p:cNvSpPr txBox="1"/>
          <p:nvPr/>
        </p:nvSpPr>
        <p:spPr>
          <a:xfrm>
            <a:off x="6464808" y="3657600"/>
            <a:ext cx="4800600" cy="658368"/>
          </a:xfrm>
          <a:prstGeom prst="rect">
            <a:avLst/>
          </a:prstGeom>
          <a:noFill/>
          <a:ln/>
        </p:spPr>
        <p:txBody>
          <a:bodyPr wrap="square" lIns="0" tIns="0" rIns="0" bIns="0" rtlCol="0" anchor="ctr"/>
          <a:lstStyle/>
          <a:p>
            <a:pPr indent="0" marL="0">
              <a:lnSpc>
                <a:spcPts val="1600"/>
              </a:lnSpc>
              <a:buNone/>
            </a:pPr>
            <a:r>
              <a:rPr lang="en-US" sz="1150" dirty="0">
                <a:solidFill>
                  <a:srgbClr val="475569"/>
                </a:solidFill>
                <a:latin typeface="Calibri" pitchFamily="34" charset="0"/>
                <a:ea typeface="Calibri" pitchFamily="34" charset="-122"/>
                <a:cs typeface="Calibri" pitchFamily="34" charset="-120"/>
              </a:rPr>
              <a:t>Causality has a category for unassessable. Writing down what is missing beats guessing confidently.</a:t>
            </a:r>
            <a:endParaRPr lang="en-US" sz="1150" dirty="0"/>
          </a:p>
        </p:txBody>
      </p:sp>
      <p:sp>
        <p:nvSpPr>
          <p:cNvPr id="24" name="Shape 22"/>
          <p:cNvSpPr/>
          <p:nvPr/>
        </p:nvSpPr>
        <p:spPr>
          <a:xfrm>
            <a:off x="566928" y="4553712"/>
            <a:ext cx="5321808" cy="1371600"/>
          </a:xfrm>
          <a:prstGeom prst="roundRect">
            <a:avLst>
              <a:gd name="adj" fmla="val 4000"/>
            </a:avLst>
          </a:prstGeom>
          <a:solidFill>
            <a:srgbClr val="F1F5F9"/>
          </a:solidFill>
          <a:ln w="12700">
            <a:solidFill>
              <a:srgbClr val="E2E8F0"/>
            </a:solidFill>
            <a:prstDash val="solid"/>
          </a:ln>
        </p:spPr>
      </p:sp>
      <p:sp>
        <p:nvSpPr>
          <p:cNvPr id="25" name="Shape 23"/>
          <p:cNvSpPr/>
          <p:nvPr/>
        </p:nvSpPr>
        <p:spPr>
          <a:xfrm>
            <a:off x="841248" y="4773168"/>
            <a:ext cx="365760" cy="365760"/>
          </a:xfrm>
          <a:prstGeom prst="ellipse">
            <a:avLst/>
          </a:prstGeom>
          <a:solidFill>
            <a:srgbClr val="0F2B3D"/>
          </a:solidFill>
          <a:ln/>
        </p:spPr>
      </p:sp>
      <p:sp>
        <p:nvSpPr>
          <p:cNvPr id="26" name="Text 24"/>
          <p:cNvSpPr txBox="1"/>
          <p:nvPr/>
        </p:nvSpPr>
        <p:spPr>
          <a:xfrm>
            <a:off x="841248" y="477316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27" name="Text 25"/>
          <p:cNvSpPr txBox="1"/>
          <p:nvPr/>
        </p:nvSpPr>
        <p:spPr>
          <a:xfrm>
            <a:off x="1316736" y="4754880"/>
            <a:ext cx="4343400" cy="365760"/>
          </a:xfrm>
          <a:prstGeom prst="rect">
            <a:avLst/>
          </a:prstGeom>
          <a:noFill/>
          <a:ln/>
        </p:spPr>
        <p:txBody>
          <a:bodyPr wrap="square" lIns="0" tIns="0" rIns="0" bIns="0" rtlCol="0" anchor="ctr"/>
          <a:lstStyle/>
          <a:p>
            <a:pPr indent="0" marL="0">
              <a:buNone/>
            </a:pPr>
            <a:r>
              <a:rPr lang="en-US" sz="1350" b="1" dirty="0">
                <a:solidFill>
                  <a:srgbClr val="0F2B3D"/>
                </a:solidFill>
                <a:latin typeface="Cambria" pitchFamily="34" charset="0"/>
                <a:ea typeface="Cambria" pitchFamily="34" charset="-122"/>
                <a:cs typeface="Cambria" pitchFamily="34" charset="-120"/>
              </a:rPr>
              <a:t>Four elements make it real</a:t>
            </a:r>
            <a:endParaRPr lang="en-US" sz="1350" dirty="0"/>
          </a:p>
        </p:txBody>
      </p:sp>
      <p:sp>
        <p:nvSpPr>
          <p:cNvPr id="28" name="Text 26"/>
          <p:cNvSpPr txBox="1"/>
          <p:nvPr/>
        </p:nvSpPr>
        <p:spPr>
          <a:xfrm>
            <a:off x="841248" y="5193792"/>
            <a:ext cx="4800600" cy="658368"/>
          </a:xfrm>
          <a:prstGeom prst="rect">
            <a:avLst/>
          </a:prstGeom>
          <a:noFill/>
          <a:ln/>
        </p:spPr>
        <p:txBody>
          <a:bodyPr wrap="square" lIns="0" tIns="0" rIns="0" bIns="0" rtlCol="0" anchor="ctr"/>
          <a:lstStyle/>
          <a:p>
            <a:pPr indent="0" marL="0">
              <a:lnSpc>
                <a:spcPts val="1600"/>
              </a:lnSpc>
              <a:buNone/>
            </a:pPr>
            <a:r>
              <a:rPr lang="en-US" sz="1150" dirty="0">
                <a:solidFill>
                  <a:srgbClr val="475569"/>
                </a:solidFill>
                <a:latin typeface="Calibri" pitchFamily="34" charset="0"/>
                <a:ea typeface="Calibri" pitchFamily="34" charset="-122"/>
                <a:cs typeface="Calibri" pitchFamily="34" charset="-120"/>
              </a:rPr>
              <a:t>An identifiable patient, an identifiable reporter, a suspect product, an event. Without all four there is no case.</a:t>
            </a:r>
            <a:endParaRPr lang="en-US" sz="1150" dirty="0"/>
          </a:p>
        </p:txBody>
      </p:sp>
      <p:sp>
        <p:nvSpPr>
          <p:cNvPr id="29" name="Shape 27"/>
          <p:cNvSpPr/>
          <p:nvPr/>
        </p:nvSpPr>
        <p:spPr>
          <a:xfrm>
            <a:off x="6190488" y="4553712"/>
            <a:ext cx="5321808" cy="1371600"/>
          </a:xfrm>
          <a:prstGeom prst="roundRect">
            <a:avLst>
              <a:gd name="adj" fmla="val 4000"/>
            </a:avLst>
          </a:prstGeom>
          <a:solidFill>
            <a:srgbClr val="F1F5F9"/>
          </a:solidFill>
          <a:ln w="12700">
            <a:solidFill>
              <a:srgbClr val="E2E8F0"/>
            </a:solidFill>
            <a:prstDash val="solid"/>
          </a:ln>
        </p:spPr>
      </p:sp>
      <p:sp>
        <p:nvSpPr>
          <p:cNvPr id="30" name="Shape 28"/>
          <p:cNvSpPr/>
          <p:nvPr/>
        </p:nvSpPr>
        <p:spPr>
          <a:xfrm>
            <a:off x="6464808" y="4773168"/>
            <a:ext cx="365760" cy="365760"/>
          </a:xfrm>
          <a:prstGeom prst="ellipse">
            <a:avLst/>
          </a:prstGeom>
          <a:solidFill>
            <a:srgbClr val="0E7490"/>
          </a:solidFill>
          <a:ln/>
        </p:spPr>
      </p:sp>
      <p:sp>
        <p:nvSpPr>
          <p:cNvPr id="31" name="Text 29"/>
          <p:cNvSpPr txBox="1"/>
          <p:nvPr/>
        </p:nvSpPr>
        <p:spPr>
          <a:xfrm>
            <a:off x="6464808" y="477316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6</a:t>
            </a:r>
            <a:endParaRPr lang="en-US" sz="1200" dirty="0"/>
          </a:p>
        </p:txBody>
      </p:sp>
      <p:sp>
        <p:nvSpPr>
          <p:cNvPr id="32" name="Text 30"/>
          <p:cNvSpPr txBox="1"/>
          <p:nvPr/>
        </p:nvSpPr>
        <p:spPr>
          <a:xfrm>
            <a:off x="6940296" y="4754880"/>
            <a:ext cx="4343400" cy="365760"/>
          </a:xfrm>
          <a:prstGeom prst="rect">
            <a:avLst/>
          </a:prstGeom>
          <a:noFill/>
          <a:ln/>
        </p:spPr>
        <p:txBody>
          <a:bodyPr wrap="square" lIns="0" tIns="0" rIns="0" bIns="0" rtlCol="0" anchor="ctr"/>
          <a:lstStyle/>
          <a:p>
            <a:pPr indent="0" marL="0">
              <a:buNone/>
            </a:pPr>
            <a:r>
              <a:rPr lang="en-US" sz="1350" b="1" dirty="0">
                <a:solidFill>
                  <a:srgbClr val="0F2B3D"/>
                </a:solidFill>
                <a:latin typeface="Cambria" pitchFamily="34" charset="0"/>
                <a:ea typeface="Cambria" pitchFamily="34" charset="-122"/>
                <a:cs typeface="Cambria" pitchFamily="34" charset="-120"/>
              </a:rPr>
              <a:t>The signal is not the biggest number</a:t>
            </a:r>
            <a:endParaRPr lang="en-US" sz="1350" dirty="0"/>
          </a:p>
        </p:txBody>
      </p:sp>
      <p:sp>
        <p:nvSpPr>
          <p:cNvPr id="33" name="Text 31"/>
          <p:cNvSpPr txBox="1"/>
          <p:nvPr/>
        </p:nvSpPr>
        <p:spPr>
          <a:xfrm>
            <a:off x="6464808" y="5193792"/>
            <a:ext cx="4800600" cy="658368"/>
          </a:xfrm>
          <a:prstGeom prst="rect">
            <a:avLst/>
          </a:prstGeom>
          <a:noFill/>
          <a:ln/>
        </p:spPr>
        <p:txBody>
          <a:bodyPr wrap="square" lIns="0" tIns="0" rIns="0" bIns="0" rtlCol="0" anchor="ctr"/>
          <a:lstStyle/>
          <a:p>
            <a:pPr indent="0" marL="0">
              <a:lnSpc>
                <a:spcPts val="1600"/>
              </a:lnSpc>
              <a:buNone/>
            </a:pPr>
            <a:r>
              <a:rPr lang="en-US" sz="1150" dirty="0">
                <a:solidFill>
                  <a:srgbClr val="475569"/>
                </a:solidFill>
                <a:latin typeface="Calibri" pitchFamily="34" charset="0"/>
                <a:ea typeface="Calibri" pitchFamily="34" charset="-122"/>
                <a:cs typeface="Calibri" pitchFamily="34" charset="-120"/>
              </a:rPr>
              <a:t>Seriousness, labelling, plausibility and report quality decide it — not the count.</a:t>
            </a:r>
            <a:endParaRPr lang="en-US" sz="115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0F2B3D"/>
        </a:solidFill>
      </p:bgPr>
    </p:bg>
    <p:spTree>
      <p:nvGrpSpPr>
        <p:cNvPr id="1" name=""/>
        <p:cNvGrpSpPr/>
        <p:nvPr/>
      </p:nvGrpSpPr>
      <p:grpSpPr>
        <a:xfrm>
          <a:off x="0" y="0"/>
          <a:ext cx="0" cy="0"/>
          <a:chOff x="0" y="0"/>
          <a:chExt cx="0" cy="0"/>
        </a:xfrm>
      </p:grpSpPr>
      <p:sp>
        <p:nvSpPr>
          <p:cNvPr id="2" name="Shape 0"/>
          <p:cNvSpPr/>
          <p:nvPr/>
        </p:nvSpPr>
        <p:spPr>
          <a:xfrm>
            <a:off x="-1463040" y="4023360"/>
            <a:ext cx="4572000" cy="4572000"/>
          </a:xfrm>
          <a:prstGeom prst="ellipse">
            <a:avLst/>
          </a:prstGeom>
          <a:solidFill>
            <a:srgbClr val="16394F"/>
          </a:solidFill>
          <a:ln/>
        </p:spPr>
      </p:sp>
      <p:sp>
        <p:nvSpPr>
          <p:cNvPr id="3" name="Shape 1"/>
          <p:cNvSpPr/>
          <p:nvPr/>
        </p:nvSpPr>
        <p:spPr>
          <a:xfrm>
            <a:off x="9875520" y="-1097280"/>
            <a:ext cx="3291840" cy="3291840"/>
          </a:xfrm>
          <a:prstGeom prst="ellipse">
            <a:avLst/>
          </a:prstGeom>
          <a:solidFill>
            <a:srgbClr val="0E7490"/>
          </a:solidFill>
          <a:ln/>
        </p:spPr>
      </p:sp>
      <p:sp>
        <p:nvSpPr>
          <p:cNvPr id="4" name="Text 2"/>
          <p:cNvSpPr txBox="1"/>
          <p:nvPr/>
        </p:nvSpPr>
        <p:spPr>
          <a:xfrm>
            <a:off x="566928" y="1371600"/>
            <a:ext cx="7315200" cy="329184"/>
          </a:xfrm>
          <a:prstGeom prst="rect">
            <a:avLst/>
          </a:prstGeom>
          <a:noFill/>
          <a:ln/>
        </p:spPr>
        <p:txBody>
          <a:bodyPr wrap="square" lIns="0" tIns="0" rIns="0" bIns="0" rtlCol="0" anchor="ctr"/>
          <a:lstStyle/>
          <a:p>
            <a:pPr indent="0" marL="0">
              <a:buNone/>
            </a:pPr>
            <a:r>
              <a:rPr lang="en-US" sz="1200" b="1" spc="300" kern="0" dirty="0">
                <a:solidFill>
                  <a:srgbClr val="0891B2"/>
                </a:solidFill>
                <a:latin typeface="Calibri" pitchFamily="34" charset="0"/>
                <a:ea typeface="Calibri" pitchFamily="34" charset="-122"/>
                <a:cs typeface="Calibri" pitchFamily="34" charset="-120"/>
              </a:rPr>
              <a:t>The one thing</a:t>
            </a:r>
            <a:endParaRPr lang="en-US" sz="1200" dirty="0"/>
          </a:p>
        </p:txBody>
      </p:sp>
      <p:sp>
        <p:nvSpPr>
          <p:cNvPr id="5" name="Text 3"/>
          <p:cNvSpPr txBox="1"/>
          <p:nvPr/>
        </p:nvSpPr>
        <p:spPr>
          <a:xfrm>
            <a:off x="566928" y="1828800"/>
            <a:ext cx="10058400" cy="914400"/>
          </a:xfrm>
          <a:prstGeom prst="rect">
            <a:avLst/>
          </a:prstGeom>
          <a:noFill/>
          <a:ln/>
        </p:spPr>
        <p:txBody>
          <a:bodyPr wrap="square" lIns="0" tIns="0" rIns="0" bIns="0" rtlCol="0" anchor="ctr"/>
          <a:lstStyle/>
          <a:p>
            <a:pPr indent="0" marL="0">
              <a:buNone/>
            </a:pPr>
            <a:r>
              <a:rPr lang="en-US" sz="4600" b="1" dirty="0">
                <a:solidFill>
                  <a:srgbClr val="FFFFFF"/>
                </a:solidFill>
                <a:latin typeface="Cambria" pitchFamily="34" charset="0"/>
                <a:ea typeface="Cambria" pitchFamily="34" charset="-122"/>
                <a:cs typeface="Cambria" pitchFamily="34" charset="-120"/>
              </a:rPr>
              <a:t>If you see it, report it.</a:t>
            </a:r>
            <a:endParaRPr lang="en-US" sz="4600" dirty="0"/>
          </a:p>
        </p:txBody>
      </p:sp>
      <p:sp>
        <p:nvSpPr>
          <p:cNvPr id="6" name="Text 4"/>
          <p:cNvSpPr txBox="1"/>
          <p:nvPr/>
        </p:nvSpPr>
        <p:spPr>
          <a:xfrm>
            <a:off x="566928" y="2971800"/>
            <a:ext cx="8778240" cy="914400"/>
          </a:xfrm>
          <a:prstGeom prst="rect">
            <a:avLst/>
          </a:prstGeom>
          <a:noFill/>
          <a:ln/>
        </p:spPr>
        <p:txBody>
          <a:bodyPr wrap="square" lIns="0" tIns="0" rIns="0" bIns="0" rtlCol="0" anchor="ctr"/>
          <a:lstStyle/>
          <a:p>
            <a:pPr indent="0" marL="0">
              <a:lnSpc>
                <a:spcPts val="2700"/>
              </a:lnSpc>
              <a:buNone/>
            </a:pPr>
            <a:r>
              <a:rPr lang="en-US" sz="1700" dirty="0">
                <a:solidFill>
                  <a:srgbClr val="CBD5E1"/>
                </a:solidFill>
                <a:latin typeface="Calibri" pitchFamily="34" charset="0"/>
                <a:ea typeface="Calibri" pitchFamily="34" charset="-122"/>
                <a:cs typeface="Calibri" pitchFamily="34" charset="-120"/>
              </a:rPr>
              <a:t>An incomplete report that gets sent is worth more than a perfect one that doesn’t. Somebody will follow it up — that is what the system is for.</a:t>
            </a:r>
            <a:endParaRPr lang="en-US" sz="1700" dirty="0"/>
          </a:p>
        </p:txBody>
      </p:sp>
      <p:sp>
        <p:nvSpPr>
          <p:cNvPr id="7" name="Shape 5"/>
          <p:cNvSpPr/>
          <p:nvPr/>
        </p:nvSpPr>
        <p:spPr>
          <a:xfrm>
            <a:off x="566928" y="4224528"/>
            <a:ext cx="10881360" cy="960120"/>
          </a:xfrm>
          <a:prstGeom prst="roundRect">
            <a:avLst>
              <a:gd name="adj" fmla="val 5714"/>
            </a:avLst>
          </a:prstGeom>
          <a:solidFill>
            <a:srgbClr val="16394F"/>
          </a:solidFill>
          <a:ln w="12700">
            <a:solidFill>
              <a:srgbClr val="E2E8F0"/>
            </a:solidFill>
            <a:prstDash val="solid"/>
          </a:ln>
        </p:spPr>
      </p:sp>
      <p:sp>
        <p:nvSpPr>
          <p:cNvPr id="8" name="Text 6"/>
          <p:cNvSpPr txBox="1"/>
          <p:nvPr/>
        </p:nvSpPr>
        <p:spPr>
          <a:xfrm>
            <a:off x="932688" y="4370832"/>
            <a:ext cx="10149840" cy="685800"/>
          </a:xfrm>
          <a:prstGeom prst="rect">
            <a:avLst/>
          </a:prstGeom>
          <a:noFill/>
          <a:ln/>
        </p:spPr>
        <p:txBody>
          <a:bodyPr wrap="square" lIns="0" tIns="0" rIns="0" bIns="0" rtlCol="0" anchor="ctr"/>
          <a:lstStyle/>
          <a:p>
            <a:pPr indent="0" marL="0">
              <a:lnSpc>
                <a:spcPts val="1800"/>
              </a:lnSpc>
              <a:buNone/>
            </a:pPr>
            <a:r>
              <a:rPr lang="en-US" sz="1250" b="1" dirty="0">
                <a:solidFill>
                  <a:srgbClr val="0891B2"/>
                </a:solidFill>
                <a:latin typeface="Calibri" pitchFamily="34" charset="0"/>
                <a:ea typeface="Calibri" pitchFamily="34" charset="-122"/>
                <a:cs typeface="Calibri" pitchFamily="34" charset="-120"/>
              </a:rPr>
              <a:t>Report to:  </a:t>
            </a:r>
            <a:pPr indent="0" marL="0">
              <a:lnSpc>
                <a:spcPts val="1800"/>
              </a:lnSpc>
              <a:buNone/>
            </a:pPr>
            <a:r>
              <a:rPr lang="en-US" sz="1250" dirty="0">
                <a:solidFill>
                  <a:srgbClr val="CBD5E1"/>
                </a:solidFill>
                <a:latin typeface="Calibri" pitchFamily="34" charset="0"/>
                <a:ea typeface="Calibri" pitchFamily="34" charset="-122"/>
                <a:cs typeface="Calibri" pitchFamily="34" charset="-120"/>
              </a:rPr>
              <a:t>Pharmacovigilance Programme of India (PvPI) · National Coordination Centre, Indian Pharmacopoeia Commission, Ghaziabad · Suspected ADR Reporting Form, the PvPI helpline, or your hospital’s ADR monitoring centre.</a:t>
            </a:r>
            <a:endParaRPr lang="en-US" sz="1250" dirty="0"/>
          </a:p>
        </p:txBody>
      </p:sp>
      <p:sp>
        <p:nvSpPr>
          <p:cNvPr id="9" name="Text 7"/>
          <p:cNvSpPr txBox="1"/>
          <p:nvPr/>
        </p:nvSpPr>
        <p:spPr>
          <a:xfrm>
            <a:off x="566928" y="5623560"/>
            <a:ext cx="10058400" cy="822960"/>
          </a:xfrm>
          <a:prstGeom prst="rect">
            <a:avLst/>
          </a:prstGeom>
          <a:noFill/>
          <a:ln/>
        </p:spPr>
        <p:txBody>
          <a:bodyPr wrap="square" lIns="0" tIns="0" rIns="0" bIns="0" rtlCol="0" anchor="ctr"/>
          <a:lstStyle/>
          <a:p>
            <a:pPr indent="0" marL="0">
              <a:lnSpc>
                <a:spcPts val="1900"/>
              </a:lnSpc>
              <a:buNone/>
            </a:pPr>
            <a:r>
              <a:rPr lang="en-US" sz="1250" b="1" dirty="0">
                <a:solidFill>
                  <a:srgbClr val="FFFFFF"/>
                </a:solidFill>
                <a:latin typeface="Calibri" pitchFamily="34" charset="0"/>
                <a:ea typeface="Calibri" pitchFamily="34" charset="-122"/>
                <a:cs typeface="Calibri" pitchFamily="34" charset="-120"/>
              </a:rPr>
              <a:t>Alizon School of Medical &amp; Digital Intelligence</a:t>
            </a:r>
            <a:endParaRPr lang="en-US" sz="1250" dirty="0"/>
          </a:p>
          <a:p>
            <a:pPr indent="0" marL="0">
              <a:lnSpc>
                <a:spcPts val="1900"/>
              </a:lnSpc>
              <a:buNone/>
            </a:pPr>
            <a:r>
              <a:rPr lang="en-US" sz="1250" dirty="0">
                <a:solidFill>
                  <a:srgbClr val="94A3B8"/>
                </a:solidFill>
                <a:latin typeface="Calibri" pitchFamily="34" charset="0"/>
                <a:ea typeface="Calibri" pitchFamily="34" charset="-122"/>
                <a:cs typeface="Calibri" pitchFamily="34" charset="-120"/>
              </a:rPr>
              <a:t>in collaboration with Mar Dioscorus College of Pharmacy and the International Organisation for Preventive Health &amp; Medical Research Centre</a:t>
            </a:r>
            <a:endParaRPr lang="en-US" sz="12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43</Slides>
  <Notes>43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43</vt:i4>
      </vt:variant>
    </vt:vector>
  </HeadingPairs>
  <TitlesOfParts>
    <vt:vector size="4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Pharmacovigilance — Foundations</dc:title>
  <dc:subject>PptxGenJS Presentation</dc:subject>
  <dc:creator>Alizon School of Medical &amp; Digital Intelligence</dc:creator>
  <cp:lastModifiedBy>Alizon School of Medical &amp; Digital Intelligence</cp:lastModifiedBy>
  <cp:revision>1</cp:revision>
  <dcterms:created xsi:type="dcterms:W3CDTF">2026-09-19T03:31:15Z</dcterms:created>
  <dcterms:modified xsi:type="dcterms:W3CDTF">2026-09-19T03:31:15Z</dcterms:modified>
</cp:coreProperties>
</file>